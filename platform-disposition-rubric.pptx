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walk this slide:
Left — the six evidence sources we collect per report. Nothing in the middle column can be applied without them; input 1 (usage) and input 4 (code repository) do most of the work.
Middle — six principles applied in order. The first one a report matches decides its disposition, so most of the estate never reaches scoring. Expect 30-45% to exit at principles 1 and 2.
Principle 5 is the pivot for this client: the Epic custom schema is a data decision wearing a report-disposition costume. Decide per custom object whether it is redundant with Caboodle, genuinely bespoke and headed for Delta, or orphaned. The report follows the data.
Principle 6 is the scorecard, condensed. Four weighted groups totalling 100 points; a 60% concentration in one platform column is a clean call.
Right — five dispositions. Retain in BOBJ is drawn as an exception on purpose: four criteria must all hold and a sunset date is mandatory. If the retain bucket exceeds ~10% of the estate, the criteria are too soft.
Forcing function: the Oracle decommission date caps the retain bucket. If a universe dies with Oracle, retention is not an available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detail behind principle 6 on the rubric slide. Use it when a stakeholder challenges a specific disposition — walk the dimension, not the conclusion.
The retain column is deliberately framed as a diagnostic: every cell describes a condition to remediate rather than a platform virtue. Undocumented universe security in particular is a compliance liability the client already carries, and migration is the opportunity to close it.
Re-weighting guidance: Data Gravity up if the Oracle exit compresses; Rebuild Feasibility up if analyst capacity is the binding constraint rather than runway.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execution layer under the rubric — the rubric picks the lane, this slide is what the delivery team does in it.
Three points to land:
1) The paths are genuinely different. A Cogito rebuild and a Databricks replatform share almost no activities, which is why a single generic migration plan fails on this programme.
2) Step 5 is the same idea everywhere — prove equivalence before release — but the evidence differs: clinician UAT in Hyperspace for Cogito, layout fidelity and burst tests for Paginated, a known-answer question set for Genie.
3) Step 6 is the one that actually reduces BOBJ. Programmes routinely report 'migrated' at step 5 and leave the original running in parallel for a year. Track step 6.
Retire path watch-out: step 5 (disable, do not delete) exists because reversal requests almost always arrive within the first two months. A 60-90 day quarantine costs nothing and avoids a rebuild.
Retain path watch-out: step 4 is the kill switch. If the universe cannot be re-pointed off Oracle, the exception is void and the report is forced back into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change from the previous version: the database-object work no longer sits in its own lane. It now sits inside the platform it feeds, because the data target follows the report target.
Power BI reports are served from MS SQL Server, so their Oracle objects convert to SQL Server: tables, views, indexed views and T-SQL stored procedures.
Databricks AI/BI reports are served from the lakehouse, so their objects convert to Delta and Unity Catalog.
CogitoSQL has no data track at all — it reads Clarity and Caboodle, which Epic maintains. If a Cogito candidate turns out to need custom-schema data, it is not a Cogito candidate; step 1 routes it to the Databricks lane.
Sequencing rule inside each pair: the data track must clear a step before the report track clears the same step. Reconcile the data before reconciling the report, or you will chase report variances that are really data variances.
Effort concentration: tables and views convert close to mechanically on both targets. Materialized views, PL/SQL stored procedures and packages are where the schedule risk sits, because neither target has a like-for-like construct — each one is a design decision, not a conversion. Size that population before committing to a wave plan.
Consequence worth raising with the client: an object read by both a Power BI report and a Databricks report gets built twice, on two platforms. Either accept the duplication or decide a single system of record per object before phase 2 dispositions are finalised.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 view. Mobilisation and disposition are assumed complete — this slide starts from the disposition register.
Headline: the four platform paths are independent of each other and run concurrently. What limits throughput is delivery capacity per platform, not sequence between platforms. Size waves by the scarcest skill, which on this programme is usually the PL/SQL-to-target conversion capability, not report developers.
The two shaded tracks are the database migrations. They exist only for Power BI and Databricks; CogitoSQL reads Clarity and Caboodle, which Epic maintains.
The dotted gate is the one hard dependency on the slide: a report cannot clear step E (validate) until its database track has cleared step E. Break that rule and the team spends the programme chasing report variances that are really data variances.
Effort concentration inside steps 2C and 4C: tables and views convert close to mechanically. Materialized views, PL/SQL stored procedures and packages have no like-for-like construct on either target, so each is a design decision. Size that population before committing to a wave plan.
Duplication to decide early: an object read by both a Power BI report and a Databricks report is built twice, on two targets. Either accept it or nominate a single system of record per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384048" y="201168"/>
            <a:ext cx="10058400" cy="36576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Guiding Framework for Platform Disposition</a:t>
            </a:r>
            <a:endParaRPr lang="en-US" sz="2400" dirty="0"/>
          </a:p>
        </p:txBody>
      </p:sp>
      <p:sp>
        <p:nvSpPr>
          <p:cNvPr id="3" name="Text 1"/>
          <p:cNvSpPr/>
          <p:nvPr/>
        </p:nvSpPr>
        <p:spPr>
          <a:xfrm>
            <a:off x="384048" y="566928"/>
            <a:ext cx="11420856" cy="25603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Six principles, applied in order, decide the next best action for every BOBJ report. The first principle a report matches sets its disposition; only what survives all six is scored.</a:t>
            </a:r>
            <a:endParaRPr lang="en-US" sz="1050" dirty="0"/>
          </a:p>
        </p:txBody>
      </p:sp>
      <p:sp>
        <p:nvSpPr>
          <p:cNvPr id="4" name="Shape 2"/>
          <p:cNvSpPr/>
          <p:nvPr/>
        </p:nvSpPr>
        <p:spPr>
          <a:xfrm>
            <a:off x="384048" y="969264"/>
            <a:ext cx="2542032" cy="292608"/>
          </a:xfrm>
          <a:prstGeom prst="homePlate">
            <a:avLst/>
          </a:prstGeom>
          <a:solidFill>
            <a:srgbClr val="081F5C"/>
          </a:solidFill>
          <a:ln w="6350">
            <a:solidFill>
              <a:srgbClr val="081F5C"/>
            </a:solidFill>
            <a:prstDash val="solid"/>
          </a:ln>
        </p:spPr>
      </p:sp>
      <p:sp>
        <p:nvSpPr>
          <p:cNvPr id="5" name="Text 3"/>
          <p:cNvSpPr/>
          <p:nvPr/>
        </p:nvSpPr>
        <p:spPr>
          <a:xfrm>
            <a:off x="384048" y="969264"/>
            <a:ext cx="2313432" cy="292608"/>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Arial" pitchFamily="34" charset="0"/>
                <a:ea typeface="Arial" pitchFamily="34" charset="-122"/>
                <a:cs typeface="Arial" pitchFamily="34" charset="-120"/>
              </a:rPr>
              <a:t>INPUTS</a:t>
            </a:r>
            <a:endParaRPr lang="en-US" sz="1000" dirty="0"/>
          </a:p>
        </p:txBody>
      </p:sp>
      <p:sp>
        <p:nvSpPr>
          <p:cNvPr id="6" name="Shape 4"/>
          <p:cNvSpPr/>
          <p:nvPr/>
        </p:nvSpPr>
        <p:spPr>
          <a:xfrm>
            <a:off x="2834640" y="969264"/>
            <a:ext cx="5852160" cy="292608"/>
          </a:xfrm>
          <a:prstGeom prst="chevron">
            <a:avLst/>
          </a:prstGeom>
          <a:solidFill>
            <a:srgbClr val="081F5C"/>
          </a:solidFill>
          <a:ln w="6350">
            <a:solidFill>
              <a:srgbClr val="081F5C"/>
            </a:solidFill>
            <a:prstDash val="solid"/>
          </a:ln>
        </p:spPr>
      </p:sp>
      <p:sp>
        <p:nvSpPr>
          <p:cNvPr id="7" name="Text 5"/>
          <p:cNvSpPr/>
          <p:nvPr/>
        </p:nvSpPr>
        <p:spPr>
          <a:xfrm>
            <a:off x="3017520" y="969264"/>
            <a:ext cx="5532120" cy="292608"/>
          </a:xfrm>
          <a:prstGeom prst="rect">
            <a:avLst/>
          </a:prstGeom>
          <a:noFill/>
          <a:ln/>
        </p:spPr>
        <p:txBody>
          <a:bodyPr wrap="square" lIns="0" tIns="0" rIns="0" bIns="0" rtlCol="0" anchor="ctr"/>
          <a:lstStyle/>
          <a:p>
            <a:pPr algn="ctr" indent="0" marL="0">
              <a:buNone/>
            </a:pPr>
            <a:r>
              <a:rPr lang="en-US" sz="1000" b="1" spc="60" kern="0" dirty="0">
                <a:solidFill>
                  <a:srgbClr val="FFFFFF"/>
                </a:solidFill>
                <a:latin typeface="Arial" pitchFamily="34" charset="0"/>
                <a:ea typeface="Arial" pitchFamily="34" charset="-122"/>
                <a:cs typeface="Arial" pitchFamily="34" charset="-120"/>
              </a:rPr>
              <a:t>CONSIDERATIONS USED  —  GUIDING PRINCIPLES, APPLIED IN ORDER</a:t>
            </a:r>
            <a:endParaRPr lang="en-US" sz="1000" dirty="0"/>
          </a:p>
        </p:txBody>
      </p:sp>
      <p:sp>
        <p:nvSpPr>
          <p:cNvPr id="8" name="Shape 6"/>
          <p:cNvSpPr/>
          <p:nvPr/>
        </p:nvSpPr>
        <p:spPr>
          <a:xfrm>
            <a:off x="8503920" y="969264"/>
            <a:ext cx="3300984" cy="292608"/>
          </a:xfrm>
          <a:prstGeom prst="chevron">
            <a:avLst/>
          </a:prstGeom>
          <a:solidFill>
            <a:srgbClr val="081F5C"/>
          </a:solidFill>
          <a:ln w="6350">
            <a:solidFill>
              <a:srgbClr val="081F5C"/>
            </a:solidFill>
            <a:prstDash val="solid"/>
          </a:ln>
        </p:spPr>
      </p:sp>
      <p:sp>
        <p:nvSpPr>
          <p:cNvPr id="9" name="Text 7"/>
          <p:cNvSpPr/>
          <p:nvPr/>
        </p:nvSpPr>
        <p:spPr>
          <a:xfrm>
            <a:off x="8732520" y="969264"/>
            <a:ext cx="2971800" cy="292608"/>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Arial" pitchFamily="34" charset="0"/>
                <a:ea typeface="Arial" pitchFamily="34" charset="-122"/>
                <a:cs typeface="Arial" pitchFamily="34" charset="-120"/>
              </a:rPr>
              <a:t>DISPOSITION</a:t>
            </a:r>
            <a:endParaRPr lang="en-US" sz="1000" dirty="0"/>
          </a:p>
        </p:txBody>
      </p:sp>
      <p:sp>
        <p:nvSpPr>
          <p:cNvPr id="10" name="Shape 8"/>
          <p:cNvSpPr/>
          <p:nvPr/>
        </p:nvSpPr>
        <p:spPr>
          <a:xfrm>
            <a:off x="384048" y="1581912"/>
            <a:ext cx="274320" cy="274320"/>
          </a:xfrm>
          <a:prstGeom prst="rect">
            <a:avLst/>
          </a:prstGeom>
          <a:solidFill>
            <a:srgbClr val="081F5C"/>
          </a:solidFill>
          <a:ln w="6350">
            <a:solidFill>
              <a:srgbClr val="081F5C"/>
            </a:solidFill>
            <a:prstDash val="solid"/>
          </a:ln>
        </p:spPr>
      </p:sp>
      <p:sp>
        <p:nvSpPr>
          <p:cNvPr id="11" name="Text 9"/>
          <p:cNvSpPr/>
          <p:nvPr/>
        </p:nvSpPr>
        <p:spPr>
          <a:xfrm>
            <a:off x="384048" y="1581912"/>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1</a:t>
            </a:r>
            <a:endParaRPr lang="en-US" sz="950" dirty="0"/>
          </a:p>
        </p:txBody>
      </p:sp>
      <p:sp>
        <p:nvSpPr>
          <p:cNvPr id="12" name="Shape 10"/>
          <p:cNvSpPr/>
          <p:nvPr/>
        </p:nvSpPr>
        <p:spPr>
          <a:xfrm>
            <a:off x="694944" y="1417320"/>
            <a:ext cx="1901952" cy="603504"/>
          </a:xfrm>
          <a:prstGeom prst="rect">
            <a:avLst/>
          </a:prstGeom>
          <a:solidFill>
            <a:srgbClr val="F2F2F2"/>
          </a:solidFill>
          <a:ln w="6350">
            <a:solidFill>
              <a:srgbClr val="E2E2E2"/>
            </a:solidFill>
            <a:prstDash val="solid"/>
          </a:ln>
        </p:spPr>
      </p:sp>
      <p:sp>
        <p:nvSpPr>
          <p:cNvPr id="13" name="Text 11"/>
          <p:cNvSpPr/>
          <p:nvPr/>
        </p:nvSpPr>
        <p:spPr>
          <a:xfrm>
            <a:off x="694944" y="1417320"/>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BOBJ metadata &amp; audit trail</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Run counts, last-run dates, schedules and publication lists over 18 months</a:t>
            </a:r>
            <a:endParaRPr lang="en-US" sz="780" dirty="0"/>
          </a:p>
        </p:txBody>
      </p:sp>
      <p:sp>
        <p:nvSpPr>
          <p:cNvPr id="14" name="Shape 12"/>
          <p:cNvSpPr/>
          <p:nvPr/>
        </p:nvSpPr>
        <p:spPr>
          <a:xfrm>
            <a:off x="384048" y="2318004"/>
            <a:ext cx="274320" cy="274320"/>
          </a:xfrm>
          <a:prstGeom prst="rect">
            <a:avLst/>
          </a:prstGeom>
          <a:solidFill>
            <a:srgbClr val="081F5C"/>
          </a:solidFill>
          <a:ln w="6350">
            <a:solidFill>
              <a:srgbClr val="081F5C"/>
            </a:solidFill>
            <a:prstDash val="solid"/>
          </a:ln>
        </p:spPr>
      </p:sp>
      <p:sp>
        <p:nvSpPr>
          <p:cNvPr id="15" name="Text 13"/>
          <p:cNvSpPr/>
          <p:nvPr/>
        </p:nvSpPr>
        <p:spPr>
          <a:xfrm>
            <a:off x="384048" y="2318004"/>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2</a:t>
            </a:r>
            <a:endParaRPr lang="en-US" sz="950" dirty="0"/>
          </a:p>
        </p:txBody>
      </p:sp>
      <p:sp>
        <p:nvSpPr>
          <p:cNvPr id="16" name="Shape 14"/>
          <p:cNvSpPr/>
          <p:nvPr/>
        </p:nvSpPr>
        <p:spPr>
          <a:xfrm>
            <a:off x="694944" y="2153412"/>
            <a:ext cx="1901952" cy="603504"/>
          </a:xfrm>
          <a:prstGeom prst="rect">
            <a:avLst/>
          </a:prstGeom>
          <a:solidFill>
            <a:srgbClr val="F2F2F2"/>
          </a:solidFill>
          <a:ln w="6350">
            <a:solidFill>
              <a:srgbClr val="E2E2E2"/>
            </a:solidFill>
            <a:prstDash val="solid"/>
          </a:ln>
        </p:spPr>
      </p:sp>
      <p:sp>
        <p:nvSpPr>
          <p:cNvPr id="17" name="Text 15"/>
          <p:cNvSpPr/>
          <p:nvPr/>
        </p:nvSpPr>
        <p:spPr>
          <a:xfrm>
            <a:off x="694944" y="2153412"/>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Report profile</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Source data, visualisation, interaction mode, audience and latency</a:t>
            </a:r>
            <a:endParaRPr lang="en-US" sz="780" dirty="0"/>
          </a:p>
        </p:txBody>
      </p:sp>
      <p:sp>
        <p:nvSpPr>
          <p:cNvPr id="18" name="Shape 16"/>
          <p:cNvSpPr/>
          <p:nvPr/>
        </p:nvSpPr>
        <p:spPr>
          <a:xfrm>
            <a:off x="384048" y="3054096"/>
            <a:ext cx="274320" cy="274320"/>
          </a:xfrm>
          <a:prstGeom prst="rect">
            <a:avLst/>
          </a:prstGeom>
          <a:solidFill>
            <a:srgbClr val="081F5C"/>
          </a:solidFill>
          <a:ln w="6350">
            <a:solidFill>
              <a:srgbClr val="081F5C"/>
            </a:solidFill>
            <a:prstDash val="solid"/>
          </a:ln>
        </p:spPr>
      </p:sp>
      <p:sp>
        <p:nvSpPr>
          <p:cNvPr id="19" name="Text 17"/>
          <p:cNvSpPr/>
          <p:nvPr/>
        </p:nvSpPr>
        <p:spPr>
          <a:xfrm>
            <a:off x="384048" y="3054096"/>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3</a:t>
            </a:r>
            <a:endParaRPr lang="en-US" sz="950" dirty="0"/>
          </a:p>
        </p:txBody>
      </p:sp>
      <p:sp>
        <p:nvSpPr>
          <p:cNvPr id="20" name="Shape 18"/>
          <p:cNvSpPr/>
          <p:nvPr/>
        </p:nvSpPr>
        <p:spPr>
          <a:xfrm>
            <a:off x="694944" y="2889504"/>
            <a:ext cx="1901952" cy="603504"/>
          </a:xfrm>
          <a:prstGeom prst="rect">
            <a:avLst/>
          </a:prstGeom>
          <a:solidFill>
            <a:srgbClr val="F2F2F2"/>
          </a:solidFill>
          <a:ln w="6350">
            <a:solidFill>
              <a:srgbClr val="E2E2E2"/>
            </a:solidFill>
            <a:prstDash val="solid"/>
          </a:ln>
        </p:spPr>
      </p:sp>
      <p:sp>
        <p:nvSpPr>
          <p:cNvPr id="21" name="Text 19"/>
          <p:cNvSpPr/>
          <p:nvPr/>
        </p:nvSpPr>
        <p:spPr>
          <a:xfrm>
            <a:off x="694944" y="2889504"/>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Semantic complexity</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Query complexity from join count, universe contexts, metrics and aggregate awareness</a:t>
            </a:r>
            <a:endParaRPr lang="en-US" sz="780" dirty="0"/>
          </a:p>
        </p:txBody>
      </p:sp>
      <p:sp>
        <p:nvSpPr>
          <p:cNvPr id="22" name="Shape 20"/>
          <p:cNvSpPr/>
          <p:nvPr/>
        </p:nvSpPr>
        <p:spPr>
          <a:xfrm>
            <a:off x="384048" y="3790188"/>
            <a:ext cx="274320" cy="274320"/>
          </a:xfrm>
          <a:prstGeom prst="rect">
            <a:avLst/>
          </a:prstGeom>
          <a:solidFill>
            <a:srgbClr val="081F5C"/>
          </a:solidFill>
          <a:ln w="6350">
            <a:solidFill>
              <a:srgbClr val="081F5C"/>
            </a:solidFill>
            <a:prstDash val="solid"/>
          </a:ln>
        </p:spPr>
      </p:sp>
      <p:sp>
        <p:nvSpPr>
          <p:cNvPr id="23" name="Text 21"/>
          <p:cNvSpPr/>
          <p:nvPr/>
        </p:nvSpPr>
        <p:spPr>
          <a:xfrm>
            <a:off x="384048" y="379018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4</a:t>
            </a:r>
            <a:endParaRPr lang="en-US" sz="950" dirty="0"/>
          </a:p>
        </p:txBody>
      </p:sp>
      <p:sp>
        <p:nvSpPr>
          <p:cNvPr id="24" name="Shape 22"/>
          <p:cNvSpPr/>
          <p:nvPr/>
        </p:nvSpPr>
        <p:spPr>
          <a:xfrm>
            <a:off x="694944" y="3625596"/>
            <a:ext cx="1901952" cy="603504"/>
          </a:xfrm>
          <a:prstGeom prst="rect">
            <a:avLst/>
          </a:prstGeom>
          <a:solidFill>
            <a:srgbClr val="F2F2F2"/>
          </a:solidFill>
          <a:ln w="6350">
            <a:solidFill>
              <a:srgbClr val="E2E2E2"/>
            </a:solidFill>
            <a:prstDash val="solid"/>
          </a:ln>
        </p:spPr>
      </p:sp>
      <p:sp>
        <p:nvSpPr>
          <p:cNvPr id="25" name="Text 23"/>
          <p:cNvSpPr/>
          <p:nvPr/>
        </p:nvSpPr>
        <p:spPr>
          <a:xfrm>
            <a:off x="694944" y="3625596"/>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Code repository</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Table and view DDLs, stored procedures and packages, including Epic custom-schema objects</a:t>
            </a:r>
            <a:endParaRPr lang="en-US" sz="780" dirty="0"/>
          </a:p>
        </p:txBody>
      </p:sp>
      <p:sp>
        <p:nvSpPr>
          <p:cNvPr id="26" name="Shape 24"/>
          <p:cNvSpPr/>
          <p:nvPr/>
        </p:nvSpPr>
        <p:spPr>
          <a:xfrm>
            <a:off x="384048" y="4526280"/>
            <a:ext cx="274320" cy="274320"/>
          </a:xfrm>
          <a:prstGeom prst="rect">
            <a:avLst/>
          </a:prstGeom>
          <a:solidFill>
            <a:srgbClr val="081F5C"/>
          </a:solidFill>
          <a:ln w="6350">
            <a:solidFill>
              <a:srgbClr val="081F5C"/>
            </a:solidFill>
            <a:prstDash val="solid"/>
          </a:ln>
        </p:spPr>
      </p:sp>
      <p:sp>
        <p:nvSpPr>
          <p:cNvPr id="27" name="Text 25"/>
          <p:cNvSpPr/>
          <p:nvPr/>
        </p:nvSpPr>
        <p:spPr>
          <a:xfrm>
            <a:off x="384048" y="4526280"/>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5</a:t>
            </a:r>
            <a:endParaRPr lang="en-US" sz="950" dirty="0"/>
          </a:p>
        </p:txBody>
      </p:sp>
      <p:sp>
        <p:nvSpPr>
          <p:cNvPr id="28" name="Shape 26"/>
          <p:cNvSpPr/>
          <p:nvPr/>
        </p:nvSpPr>
        <p:spPr>
          <a:xfrm>
            <a:off x="694944" y="4361688"/>
            <a:ext cx="1901952" cy="603504"/>
          </a:xfrm>
          <a:prstGeom prst="rect">
            <a:avLst/>
          </a:prstGeom>
          <a:solidFill>
            <a:srgbClr val="F2F2F2"/>
          </a:solidFill>
          <a:ln w="6350">
            <a:solidFill>
              <a:srgbClr val="E2E2E2"/>
            </a:solidFill>
            <a:prstDash val="solid"/>
          </a:ln>
        </p:spPr>
      </p:sp>
      <p:sp>
        <p:nvSpPr>
          <p:cNvPr id="29" name="Text 27"/>
          <p:cNvSpPr/>
          <p:nvPr/>
        </p:nvSpPr>
        <p:spPr>
          <a:xfrm>
            <a:off x="694944" y="4361688"/>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Architecture &amp; data flow</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Current Oracle lineage and the target Cogito, SQL Server and Databricks mapping</a:t>
            </a:r>
            <a:endParaRPr lang="en-US" sz="780" dirty="0"/>
          </a:p>
        </p:txBody>
      </p:sp>
      <p:sp>
        <p:nvSpPr>
          <p:cNvPr id="30" name="Shape 28"/>
          <p:cNvSpPr/>
          <p:nvPr/>
        </p:nvSpPr>
        <p:spPr>
          <a:xfrm>
            <a:off x="384048" y="5262372"/>
            <a:ext cx="274320" cy="274320"/>
          </a:xfrm>
          <a:prstGeom prst="rect">
            <a:avLst/>
          </a:prstGeom>
          <a:solidFill>
            <a:srgbClr val="081F5C"/>
          </a:solidFill>
          <a:ln w="6350">
            <a:solidFill>
              <a:srgbClr val="081F5C"/>
            </a:solidFill>
            <a:prstDash val="solid"/>
          </a:ln>
        </p:spPr>
      </p:sp>
      <p:sp>
        <p:nvSpPr>
          <p:cNvPr id="31" name="Text 29"/>
          <p:cNvSpPr/>
          <p:nvPr/>
        </p:nvSpPr>
        <p:spPr>
          <a:xfrm>
            <a:off x="384048" y="5262372"/>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6</a:t>
            </a:r>
            <a:endParaRPr lang="en-US" sz="950" dirty="0"/>
          </a:p>
        </p:txBody>
      </p:sp>
      <p:sp>
        <p:nvSpPr>
          <p:cNvPr id="32" name="Shape 30"/>
          <p:cNvSpPr/>
          <p:nvPr/>
        </p:nvSpPr>
        <p:spPr>
          <a:xfrm>
            <a:off x="694944" y="5097780"/>
            <a:ext cx="1901952" cy="603504"/>
          </a:xfrm>
          <a:prstGeom prst="rect">
            <a:avLst/>
          </a:prstGeom>
          <a:solidFill>
            <a:srgbClr val="F2F2F2"/>
          </a:solidFill>
          <a:ln w="6350">
            <a:solidFill>
              <a:srgbClr val="E2E2E2"/>
            </a:solidFill>
            <a:prstDash val="solid"/>
          </a:ln>
        </p:spPr>
      </p:sp>
      <p:sp>
        <p:nvSpPr>
          <p:cNvPr id="33" name="Text 31"/>
          <p:cNvSpPr/>
          <p:nvPr/>
        </p:nvSpPr>
        <p:spPr>
          <a:xfrm>
            <a:off x="694944" y="5097780"/>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Asset owners &amp; support teams</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Business criticality, regulatory drivers, known defects and rebuild appetite</a:t>
            </a:r>
            <a:endParaRPr lang="en-US" sz="780" dirty="0"/>
          </a:p>
        </p:txBody>
      </p:sp>
      <p:sp>
        <p:nvSpPr>
          <p:cNvPr id="34" name="Shape 32"/>
          <p:cNvSpPr/>
          <p:nvPr/>
        </p:nvSpPr>
        <p:spPr>
          <a:xfrm>
            <a:off x="2670048" y="3310128"/>
            <a:ext cx="256032" cy="640080"/>
          </a:xfrm>
          <a:prstGeom prst="chevron">
            <a:avLst/>
          </a:prstGeom>
          <a:solidFill>
            <a:srgbClr val="EEEEEE"/>
          </a:solidFill>
          <a:ln w="6350">
            <a:solidFill>
              <a:srgbClr val="EEEEEE"/>
            </a:solidFill>
            <a:prstDash val="solid"/>
          </a:ln>
        </p:spPr>
      </p:sp>
      <p:sp>
        <p:nvSpPr>
          <p:cNvPr id="35" name="Shape 33"/>
          <p:cNvSpPr/>
          <p:nvPr/>
        </p:nvSpPr>
        <p:spPr>
          <a:xfrm>
            <a:off x="8558784" y="3310128"/>
            <a:ext cx="256032" cy="640080"/>
          </a:xfrm>
          <a:prstGeom prst="chevron">
            <a:avLst/>
          </a:prstGeom>
          <a:solidFill>
            <a:srgbClr val="EEEEEE"/>
          </a:solidFill>
          <a:ln w="6350">
            <a:solidFill>
              <a:srgbClr val="EEEEEE"/>
            </a:solidFill>
            <a:prstDash val="solid"/>
          </a:ln>
        </p:spPr>
      </p:sp>
      <p:sp>
        <p:nvSpPr>
          <p:cNvPr id="36" name="Shape 34"/>
          <p:cNvSpPr/>
          <p:nvPr/>
        </p:nvSpPr>
        <p:spPr>
          <a:xfrm>
            <a:off x="3035808" y="1344168"/>
            <a:ext cx="5468112" cy="4507992"/>
          </a:xfrm>
          <a:prstGeom prst="rect">
            <a:avLst/>
          </a:prstGeom>
          <a:solidFill>
            <a:srgbClr val="FFFFFF"/>
          </a:solidFill>
          <a:ln w="12700">
            <a:solidFill>
              <a:srgbClr val="495D20"/>
            </a:solidFill>
            <a:prstDash val="dash"/>
          </a:ln>
        </p:spPr>
      </p:sp>
      <p:sp>
        <p:nvSpPr>
          <p:cNvPr id="37" name="Shape 35"/>
          <p:cNvSpPr/>
          <p:nvPr/>
        </p:nvSpPr>
        <p:spPr>
          <a:xfrm>
            <a:off x="3154680" y="1463040"/>
            <a:ext cx="2542032" cy="905256"/>
          </a:xfrm>
          <a:prstGeom prst="rect">
            <a:avLst/>
          </a:prstGeom>
          <a:solidFill>
            <a:srgbClr val="ADDAFB"/>
          </a:solidFill>
          <a:ln w="6350">
            <a:solidFill>
              <a:srgbClr val="ADDAFB"/>
            </a:solidFill>
            <a:prstDash val="solid"/>
          </a:ln>
        </p:spPr>
      </p:sp>
      <p:sp>
        <p:nvSpPr>
          <p:cNvPr id="38" name="Text 36"/>
          <p:cNvSpPr/>
          <p:nvPr/>
        </p:nvSpPr>
        <p:spPr>
          <a:xfrm>
            <a:off x="3154680" y="1463040"/>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1.  Prove it is still used</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Read 18 months of run history from the BOBJ audit trail. Check for a legal hold or a regulatory driver. Retire the report when nobody runs it and nothing requires it.</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Retire</a:t>
            </a:r>
            <a:endParaRPr lang="en-US" sz="850" dirty="0"/>
          </a:p>
        </p:txBody>
      </p:sp>
      <p:sp>
        <p:nvSpPr>
          <p:cNvPr id="39" name="Shape 37"/>
          <p:cNvSpPr/>
          <p:nvPr/>
        </p:nvSpPr>
        <p:spPr>
          <a:xfrm>
            <a:off x="5843016" y="1463040"/>
            <a:ext cx="2542032" cy="905256"/>
          </a:xfrm>
          <a:prstGeom prst="rect">
            <a:avLst/>
          </a:prstGeom>
          <a:solidFill>
            <a:srgbClr val="ADDAFB"/>
          </a:solidFill>
          <a:ln w="6350">
            <a:solidFill>
              <a:srgbClr val="ADDAFB"/>
            </a:solidFill>
            <a:prstDash val="solid"/>
          </a:ln>
        </p:spPr>
      </p:sp>
      <p:sp>
        <p:nvSpPr>
          <p:cNvPr id="40" name="Text 38"/>
          <p:cNvSpPr/>
          <p:nvPr/>
        </p:nvSpPr>
        <p:spPr>
          <a:xfrm>
            <a:off x="5843016" y="1463040"/>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2.  Collapse the duplicates</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Compare Report DNA signatures across the estate. Name one survivor for each duplicate group. Redirect the other consumers to it and retire the copies.</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Consolidate</a:t>
            </a:r>
            <a:endParaRPr lang="en-US" sz="850" dirty="0"/>
          </a:p>
        </p:txBody>
      </p:sp>
      <p:sp>
        <p:nvSpPr>
          <p:cNvPr id="41" name="Shape 39"/>
          <p:cNvSpPr/>
          <p:nvPr/>
        </p:nvSpPr>
        <p:spPr>
          <a:xfrm>
            <a:off x="3154680" y="2487168"/>
            <a:ext cx="2542032" cy="905256"/>
          </a:xfrm>
          <a:prstGeom prst="rect">
            <a:avLst/>
          </a:prstGeom>
          <a:solidFill>
            <a:srgbClr val="ADDAFB"/>
          </a:solidFill>
          <a:ln w="6350">
            <a:solidFill>
              <a:srgbClr val="ADDAFB"/>
            </a:solidFill>
            <a:prstDash val="solid"/>
          </a:ln>
        </p:spPr>
      </p:sp>
      <p:sp>
        <p:nvSpPr>
          <p:cNvPr id="42" name="Text 40"/>
          <p:cNvSpPr/>
          <p:nvPr/>
        </p:nvSpPr>
        <p:spPr>
          <a:xfrm>
            <a:off x="3154680" y="2487168"/>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3.  Keep clinical work inside Epic</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Ask where the report is consumed and what data it reads. Send it to Cogito when it runs on Epic data and drives action inside the clinical workflow.</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CogitoSQL</a:t>
            </a:r>
            <a:endParaRPr lang="en-US" sz="850" dirty="0"/>
          </a:p>
        </p:txBody>
      </p:sp>
      <p:sp>
        <p:nvSpPr>
          <p:cNvPr id="43" name="Shape 41"/>
          <p:cNvSpPr/>
          <p:nvPr/>
        </p:nvSpPr>
        <p:spPr>
          <a:xfrm>
            <a:off x="5843016" y="2487168"/>
            <a:ext cx="2542032" cy="905256"/>
          </a:xfrm>
          <a:prstGeom prst="rect">
            <a:avLst/>
          </a:prstGeom>
          <a:solidFill>
            <a:srgbClr val="ADDAFB"/>
          </a:solidFill>
          <a:ln w="6350">
            <a:solidFill>
              <a:srgbClr val="ADDAFB"/>
            </a:solidFill>
            <a:prstDash val="solid"/>
          </a:ln>
        </p:spPr>
      </p:sp>
      <p:sp>
        <p:nvSpPr>
          <p:cNvPr id="44" name="Text 42"/>
          <p:cNvSpPr/>
          <p:nvPr/>
        </p:nvSpPr>
        <p:spPr>
          <a:xfrm>
            <a:off x="5843016" y="2487168"/>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4.  Honour the format obligations</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Flag statutory layouts, pixel-exact output and scheduled PDF bursts. Rebuild these as Paginated Reports, which reproduce the layout Crystal delivered.</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Power BI Paginated</a:t>
            </a:r>
            <a:endParaRPr lang="en-US" sz="850" dirty="0"/>
          </a:p>
        </p:txBody>
      </p:sp>
      <p:sp>
        <p:nvSpPr>
          <p:cNvPr id="45" name="Shape 43"/>
          <p:cNvSpPr/>
          <p:nvPr/>
        </p:nvSpPr>
        <p:spPr>
          <a:xfrm>
            <a:off x="3154680" y="3511296"/>
            <a:ext cx="5230368" cy="749808"/>
          </a:xfrm>
          <a:prstGeom prst="rect">
            <a:avLst/>
          </a:prstGeom>
          <a:solidFill>
            <a:srgbClr val="ADDAFB"/>
          </a:solidFill>
          <a:ln w="6350">
            <a:solidFill>
              <a:srgbClr val="ADDAFB"/>
            </a:solidFill>
            <a:prstDash val="solid"/>
          </a:ln>
        </p:spPr>
      </p:sp>
      <p:sp>
        <p:nvSpPr>
          <p:cNvPr id="46" name="Text 44"/>
          <p:cNvSpPr/>
          <p:nvPr/>
        </p:nvSpPr>
        <p:spPr>
          <a:xfrm>
            <a:off x="3154680" y="3511296"/>
            <a:ext cx="5230368" cy="749808"/>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5.  Settle the custom schema before the report</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Trace every Epic custom object the report reads. Decide one of three outcomes for each: re-derive it from Clarity or Caboodle, re-home it to Delta, or retire it together with the reports that depend on it. Move the report only once its data has a home.</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Report disposition follows the data decision</a:t>
            </a:r>
            <a:endParaRPr lang="en-US" sz="850" dirty="0"/>
          </a:p>
        </p:txBody>
      </p:sp>
      <p:sp>
        <p:nvSpPr>
          <p:cNvPr id="47" name="Shape 45"/>
          <p:cNvSpPr/>
          <p:nvPr/>
        </p:nvSpPr>
        <p:spPr>
          <a:xfrm>
            <a:off x="3154680" y="4379976"/>
            <a:ext cx="5230368" cy="1353312"/>
          </a:xfrm>
          <a:prstGeom prst="rect">
            <a:avLst/>
          </a:prstGeom>
          <a:solidFill>
            <a:srgbClr val="ADDAFB"/>
          </a:solidFill>
          <a:ln w="6350">
            <a:solidFill>
              <a:srgbClr val="ADDAFB"/>
            </a:solidFill>
            <a:prstDash val="solid"/>
          </a:ln>
        </p:spPr>
      </p:sp>
      <p:sp>
        <p:nvSpPr>
          <p:cNvPr id="48" name="Text 46"/>
          <p:cNvSpPr/>
          <p:nvPr/>
        </p:nvSpPr>
        <p:spPr>
          <a:xfrm>
            <a:off x="3154680" y="4379976"/>
            <a:ext cx="5230368" cy="1353312"/>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6.  Score what survives  —  the platform fit scorecard</a:t>
            </a:r>
            <a:endParaRPr lang="en-US" sz="850" dirty="0"/>
          </a:p>
          <a:p>
            <a:pPr indent="0" marL="0">
              <a:lnSpc>
                <a:spcPct val="95000"/>
              </a:lnSpc>
              <a:spcAft>
                <a:spcPts val="400"/>
              </a:spcAft>
              <a:buNone/>
            </a:pPr>
            <a:r>
              <a:rPr lang="en-US" sz="740" dirty="0">
                <a:solidFill>
                  <a:srgbClr val="1A1A1A"/>
                </a:solidFill>
                <a:latin typeface="Arial" pitchFamily="34" charset="0"/>
                <a:ea typeface="Arial" pitchFamily="34" charset="-122"/>
                <a:cs typeface="Arial" pitchFamily="34" charset="-120"/>
              </a:rPr>
              <a:t>Score every remaining report on four weighted groups: Data Gravity 20 — where its data will live once Oracle is gone; Consumption Pattern 30 — who uses the report and how they use it; Rebuild Feasibility 25 — what it costs to recreate the logic; Runtime &amp; Control 25 — what the target platform must enforce at run time.</a:t>
            </a:r>
            <a:endParaRPr lang="en-US" sz="850" dirty="0"/>
          </a:p>
          <a:p>
            <a:pPr indent="0" marL="0">
              <a:lnSpc>
                <a:spcPct val="95000"/>
              </a:lnSpc>
              <a:spcAft>
                <a:spcPts val="400"/>
              </a:spcAft>
              <a:buNone/>
            </a:pPr>
            <a:r>
              <a:rPr lang="en-US" sz="740" dirty="0">
                <a:solidFill>
                  <a:srgbClr val="1A1A1A"/>
                </a:solidFill>
                <a:latin typeface="Arial" pitchFamily="34" charset="0"/>
                <a:ea typeface="Arial" pitchFamily="34" charset="-122"/>
                <a:cs typeface="Arial" pitchFamily="34" charset="-120"/>
              </a:rPr>
              <a:t>Assign the platform that takes 60% or more of the weighted points. Split the report into two assets when the points split, rather than forcing a compromise platform. Break ties toward the platform that removes the most BOBJ universes and jobs in this wave. Escalate to the retain exception only when nothing reaches 60%.</a:t>
            </a:r>
            <a:endParaRPr lang="en-US" sz="850" dirty="0"/>
          </a:p>
          <a:p>
            <a:pPr indent="0" marL="0">
              <a:lnSpc>
                <a:spcPct val="95000"/>
              </a:lnSpc>
              <a:spcAft>
                <a:spcPts val="400"/>
              </a:spcAft>
              <a:buNone/>
            </a:pPr>
            <a:r>
              <a:rPr lang="en-US" sz="680" i="1" dirty="0">
                <a:solidFill>
                  <a:srgbClr val="2E4A85"/>
                </a:solidFill>
                <a:latin typeface="Arial" pitchFamily="34" charset="0"/>
                <a:ea typeface="Arial" pitchFamily="34" charset="-122"/>
                <a:cs typeface="Arial" pitchFamily="34" charset="-120"/>
              </a:rPr>
              <a:t>Seven scored dimensions sit behind the four groups — detail on the Platform Fit Scorecard.</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CogitoSQL  ·  Power BI  ·  Databricks AI/BI</a:t>
            </a:r>
            <a:endParaRPr lang="en-US" sz="850" dirty="0"/>
          </a:p>
        </p:txBody>
      </p:sp>
      <p:sp>
        <p:nvSpPr>
          <p:cNvPr id="49" name="Shape 47"/>
          <p:cNvSpPr/>
          <p:nvPr/>
        </p:nvSpPr>
        <p:spPr>
          <a:xfrm>
            <a:off x="8887968" y="1417320"/>
            <a:ext cx="2916936" cy="201168"/>
          </a:xfrm>
          <a:prstGeom prst="rect">
            <a:avLst/>
          </a:prstGeom>
          <a:solidFill>
            <a:srgbClr val="68349A"/>
          </a:solidFill>
          <a:ln w="6350">
            <a:solidFill>
              <a:srgbClr val="68349A"/>
            </a:solidFill>
            <a:prstDash val="solid"/>
          </a:ln>
        </p:spPr>
      </p:sp>
      <p:sp>
        <p:nvSpPr>
          <p:cNvPr id="50" name="Text 48"/>
          <p:cNvSpPr/>
          <p:nvPr/>
        </p:nvSpPr>
        <p:spPr>
          <a:xfrm>
            <a:off x="8887968" y="141732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CogitoSQL</a:t>
            </a:r>
            <a:endParaRPr lang="en-US" sz="850" dirty="0"/>
          </a:p>
        </p:txBody>
      </p:sp>
      <p:sp>
        <p:nvSpPr>
          <p:cNvPr id="51" name="Shape 49"/>
          <p:cNvSpPr/>
          <p:nvPr/>
        </p:nvSpPr>
        <p:spPr>
          <a:xfrm>
            <a:off x="8887968" y="1618488"/>
            <a:ext cx="2916936" cy="621792"/>
          </a:xfrm>
          <a:prstGeom prst="rect">
            <a:avLst/>
          </a:prstGeom>
          <a:solidFill>
            <a:srgbClr val="FFFFFF"/>
          </a:solidFill>
          <a:ln w="9525">
            <a:solidFill>
              <a:srgbClr val="D8D8D8"/>
            </a:solidFill>
            <a:prstDash val="solid"/>
          </a:ln>
        </p:spPr>
      </p:sp>
      <p:sp>
        <p:nvSpPr>
          <p:cNvPr id="52" name="Text 50"/>
          <p:cNvSpPr/>
          <p:nvPr/>
        </p:nvSpPr>
        <p:spPr>
          <a:xfrm>
            <a:off x="8887968" y="161848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Rearchitect. Rebuild in Reporting Workbench, Radar or SlicerDicer on Clarity and Caboodle.</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3, or a Data Gravity plus in-workflow score</a:t>
            </a:r>
            <a:endParaRPr lang="en-US" sz="720" dirty="0"/>
          </a:p>
        </p:txBody>
      </p:sp>
      <p:sp>
        <p:nvSpPr>
          <p:cNvPr id="53" name="Shape 51"/>
          <p:cNvSpPr/>
          <p:nvPr/>
        </p:nvSpPr>
        <p:spPr>
          <a:xfrm>
            <a:off x="8887968" y="2308860"/>
            <a:ext cx="2916936" cy="201168"/>
          </a:xfrm>
          <a:prstGeom prst="rect">
            <a:avLst/>
          </a:prstGeom>
          <a:solidFill>
            <a:srgbClr val="CEF8FC"/>
          </a:solidFill>
          <a:ln w="6350">
            <a:solidFill>
              <a:srgbClr val="CEF8FC"/>
            </a:solidFill>
            <a:prstDash val="solid"/>
          </a:ln>
        </p:spPr>
      </p:sp>
      <p:sp>
        <p:nvSpPr>
          <p:cNvPr id="54" name="Text 52"/>
          <p:cNvSpPr/>
          <p:nvPr/>
        </p:nvSpPr>
        <p:spPr>
          <a:xfrm>
            <a:off x="8887968" y="2308860"/>
            <a:ext cx="2916936" cy="201168"/>
          </a:xfrm>
          <a:prstGeom prst="rect">
            <a:avLst/>
          </a:prstGeom>
          <a:noFill/>
          <a:ln/>
        </p:spPr>
        <p:txBody>
          <a:bodyPr wrap="square" lIns="0" tIns="0" rIns="0" bIns="0" rtlCol="0" anchor="ctr"/>
          <a:lstStyle/>
          <a:p>
            <a:pPr algn="ctr" indent="0" marL="0">
              <a:buNone/>
            </a:pPr>
            <a:r>
              <a:rPr lang="en-US" sz="850" b="1" dirty="0">
                <a:solidFill>
                  <a:srgbClr val="081F5C"/>
                </a:solidFill>
                <a:latin typeface="Arial" pitchFamily="34" charset="0"/>
                <a:ea typeface="Arial" pitchFamily="34" charset="-122"/>
                <a:cs typeface="Arial" pitchFamily="34" charset="-120"/>
              </a:rPr>
              <a:t>Power BI</a:t>
            </a:r>
            <a:endParaRPr lang="en-US" sz="850" dirty="0"/>
          </a:p>
        </p:txBody>
      </p:sp>
      <p:sp>
        <p:nvSpPr>
          <p:cNvPr id="55" name="Shape 53"/>
          <p:cNvSpPr/>
          <p:nvPr/>
        </p:nvSpPr>
        <p:spPr>
          <a:xfrm>
            <a:off x="8887968" y="2510028"/>
            <a:ext cx="2916936" cy="621792"/>
          </a:xfrm>
          <a:prstGeom prst="rect">
            <a:avLst/>
          </a:prstGeom>
          <a:solidFill>
            <a:srgbClr val="FFFFFF"/>
          </a:solidFill>
          <a:ln w="9525">
            <a:solidFill>
              <a:srgbClr val="D8D8D8"/>
            </a:solidFill>
            <a:prstDash val="solid"/>
          </a:ln>
        </p:spPr>
      </p:sp>
      <p:sp>
        <p:nvSpPr>
          <p:cNvPr id="56" name="Text 54"/>
          <p:cNvSpPr/>
          <p:nvPr/>
        </p:nvSpPr>
        <p:spPr>
          <a:xfrm>
            <a:off x="8887968" y="251002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Rearchitect. Build a curated semantic model; use Paginated Reports for statutory and bursted output.</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4, or a Consumption plus Format score</a:t>
            </a:r>
            <a:endParaRPr lang="en-US" sz="720" dirty="0"/>
          </a:p>
        </p:txBody>
      </p:sp>
      <p:sp>
        <p:nvSpPr>
          <p:cNvPr id="57" name="Shape 55"/>
          <p:cNvSpPr/>
          <p:nvPr/>
        </p:nvSpPr>
        <p:spPr>
          <a:xfrm>
            <a:off x="8887968" y="3200400"/>
            <a:ext cx="2916936" cy="201168"/>
          </a:xfrm>
          <a:prstGeom prst="rect">
            <a:avLst/>
          </a:prstGeom>
          <a:solidFill>
            <a:srgbClr val="CEF8FC"/>
          </a:solidFill>
          <a:ln w="6350">
            <a:solidFill>
              <a:srgbClr val="CEF8FC"/>
            </a:solidFill>
            <a:prstDash val="solid"/>
          </a:ln>
        </p:spPr>
      </p:sp>
      <p:sp>
        <p:nvSpPr>
          <p:cNvPr id="58" name="Text 56"/>
          <p:cNvSpPr/>
          <p:nvPr/>
        </p:nvSpPr>
        <p:spPr>
          <a:xfrm>
            <a:off x="8887968" y="3200400"/>
            <a:ext cx="2916936" cy="201168"/>
          </a:xfrm>
          <a:prstGeom prst="rect">
            <a:avLst/>
          </a:prstGeom>
          <a:noFill/>
          <a:ln/>
        </p:spPr>
        <p:txBody>
          <a:bodyPr wrap="square" lIns="0" tIns="0" rIns="0" bIns="0" rtlCol="0" anchor="ctr"/>
          <a:lstStyle/>
          <a:p>
            <a:pPr algn="ctr" indent="0" marL="0">
              <a:buNone/>
            </a:pPr>
            <a:r>
              <a:rPr lang="en-US" sz="850" b="1" dirty="0">
                <a:solidFill>
                  <a:srgbClr val="081F5C"/>
                </a:solidFill>
                <a:latin typeface="Arial" pitchFamily="34" charset="0"/>
                <a:ea typeface="Arial" pitchFamily="34" charset="-122"/>
                <a:cs typeface="Arial" pitchFamily="34" charset="-120"/>
              </a:rPr>
              <a:t>Databricks AI/BI</a:t>
            </a:r>
            <a:endParaRPr lang="en-US" sz="850" dirty="0"/>
          </a:p>
        </p:txBody>
      </p:sp>
      <p:sp>
        <p:nvSpPr>
          <p:cNvPr id="59" name="Shape 57"/>
          <p:cNvSpPr/>
          <p:nvPr/>
        </p:nvSpPr>
        <p:spPr>
          <a:xfrm>
            <a:off x="8887968" y="3401568"/>
            <a:ext cx="2916936" cy="621792"/>
          </a:xfrm>
          <a:prstGeom prst="rect">
            <a:avLst/>
          </a:prstGeom>
          <a:solidFill>
            <a:srgbClr val="FFFFFF"/>
          </a:solidFill>
          <a:ln w="9525">
            <a:solidFill>
              <a:srgbClr val="D8D8D8"/>
            </a:solidFill>
            <a:prstDash val="solid"/>
          </a:ln>
        </p:spPr>
      </p:sp>
      <p:sp>
        <p:nvSpPr>
          <p:cNvPr id="60" name="Text 58"/>
          <p:cNvSpPr/>
          <p:nvPr/>
        </p:nvSpPr>
        <p:spPr>
          <a:xfrm>
            <a:off x="8887968" y="340156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Replatform. Land the data in Delta, then rebuild as AI/BI dashboards with Genie for exploration.</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5, or a Data Gravity plus ad-hoc score</a:t>
            </a:r>
            <a:endParaRPr lang="en-US" sz="720" dirty="0"/>
          </a:p>
        </p:txBody>
      </p:sp>
      <p:sp>
        <p:nvSpPr>
          <p:cNvPr id="61" name="Shape 59"/>
          <p:cNvSpPr/>
          <p:nvPr/>
        </p:nvSpPr>
        <p:spPr>
          <a:xfrm>
            <a:off x="8887968" y="4091940"/>
            <a:ext cx="2916936" cy="201168"/>
          </a:xfrm>
          <a:prstGeom prst="rect">
            <a:avLst/>
          </a:prstGeom>
          <a:solidFill>
            <a:srgbClr val="707070"/>
          </a:solidFill>
          <a:ln w="6350">
            <a:solidFill>
              <a:srgbClr val="707070"/>
            </a:solidFill>
            <a:prstDash val="solid"/>
          </a:ln>
        </p:spPr>
      </p:sp>
      <p:sp>
        <p:nvSpPr>
          <p:cNvPr id="62" name="Text 60"/>
          <p:cNvSpPr/>
          <p:nvPr/>
        </p:nvSpPr>
        <p:spPr>
          <a:xfrm>
            <a:off x="8887968" y="409194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Retire / Consolidate</a:t>
            </a:r>
            <a:endParaRPr lang="en-US" sz="850" dirty="0"/>
          </a:p>
        </p:txBody>
      </p:sp>
      <p:sp>
        <p:nvSpPr>
          <p:cNvPr id="63" name="Shape 61"/>
          <p:cNvSpPr/>
          <p:nvPr/>
        </p:nvSpPr>
        <p:spPr>
          <a:xfrm>
            <a:off x="8887968" y="4293108"/>
            <a:ext cx="2916936" cy="621792"/>
          </a:xfrm>
          <a:prstGeom prst="rect">
            <a:avLst/>
          </a:prstGeom>
          <a:solidFill>
            <a:srgbClr val="FFFFFF"/>
          </a:solidFill>
          <a:ln w="9525">
            <a:solidFill>
              <a:srgbClr val="D8D8D8"/>
            </a:solidFill>
            <a:prstDash val="solid"/>
          </a:ln>
        </p:spPr>
      </p:sp>
      <p:sp>
        <p:nvSpPr>
          <p:cNvPr id="64" name="Text 62"/>
          <p:cNvSpPr/>
          <p:nvPr/>
        </p:nvSpPr>
        <p:spPr>
          <a:xfrm>
            <a:off x="8887968" y="429310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Run as-is to a fixed retirement date. Redirect consumers to the surviving asset, then decommission.</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principles 1 and 2 — never scored</a:t>
            </a:r>
            <a:endParaRPr lang="en-US" sz="720" dirty="0"/>
          </a:p>
        </p:txBody>
      </p:sp>
      <p:sp>
        <p:nvSpPr>
          <p:cNvPr id="65" name="Shape 63"/>
          <p:cNvSpPr/>
          <p:nvPr/>
        </p:nvSpPr>
        <p:spPr>
          <a:xfrm>
            <a:off x="8887968" y="4983480"/>
            <a:ext cx="2916936" cy="201168"/>
          </a:xfrm>
          <a:prstGeom prst="rect">
            <a:avLst/>
          </a:prstGeom>
          <a:solidFill>
            <a:srgbClr val="081F5C"/>
          </a:solidFill>
          <a:ln w="6350">
            <a:solidFill>
              <a:srgbClr val="081F5C"/>
            </a:solidFill>
            <a:prstDash val="solid"/>
          </a:ln>
        </p:spPr>
      </p:sp>
      <p:sp>
        <p:nvSpPr>
          <p:cNvPr id="66" name="Text 64"/>
          <p:cNvSpPr/>
          <p:nvPr/>
        </p:nvSpPr>
        <p:spPr>
          <a:xfrm>
            <a:off x="8887968" y="498348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Retain in BOBJ  —  exception</a:t>
            </a:r>
            <a:endParaRPr lang="en-US" sz="850" dirty="0"/>
          </a:p>
        </p:txBody>
      </p:sp>
      <p:sp>
        <p:nvSpPr>
          <p:cNvPr id="67" name="Shape 65"/>
          <p:cNvSpPr/>
          <p:nvPr/>
        </p:nvSpPr>
        <p:spPr>
          <a:xfrm>
            <a:off x="8887968" y="5184648"/>
            <a:ext cx="2916936" cy="621792"/>
          </a:xfrm>
          <a:prstGeom prst="rect">
            <a:avLst/>
          </a:prstGeom>
          <a:solidFill>
            <a:srgbClr val="FFFFFF"/>
          </a:solidFill>
          <a:ln w="12700">
            <a:solidFill>
              <a:srgbClr val="081F5C"/>
            </a:solidFill>
            <a:prstDash val="dash"/>
          </a:ln>
        </p:spPr>
      </p:sp>
      <p:sp>
        <p:nvSpPr>
          <p:cNvPr id="68" name="Text 66"/>
          <p:cNvSpPr/>
          <p:nvPr/>
        </p:nvSpPr>
        <p:spPr>
          <a:xfrm>
            <a:off x="8887968" y="518464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Keep only when all four hold: rebuild over 40 hours, no equivalent this wave, named owner accepts, universe survives the Oracle exit. Set a sunset date.</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Escalation from principle 6 only</a:t>
            </a:r>
            <a:endParaRPr lang="en-US" sz="720" dirty="0"/>
          </a:p>
        </p:txBody>
      </p:sp>
      <p:sp>
        <p:nvSpPr>
          <p:cNvPr id="69" name="Shape 67"/>
          <p:cNvSpPr/>
          <p:nvPr/>
        </p:nvSpPr>
        <p:spPr>
          <a:xfrm>
            <a:off x="384048" y="5943600"/>
            <a:ext cx="11420856" cy="384048"/>
          </a:xfrm>
          <a:prstGeom prst="rect">
            <a:avLst/>
          </a:prstGeom>
          <a:solidFill>
            <a:srgbClr val="EAF5FD"/>
          </a:solidFill>
          <a:ln w="9525">
            <a:solidFill>
              <a:srgbClr val="C9E3F7"/>
            </a:solidFill>
            <a:prstDash val="solid"/>
          </a:ln>
        </p:spPr>
      </p:sp>
      <p:sp>
        <p:nvSpPr>
          <p:cNvPr id="70" name="Text 68"/>
          <p:cNvSpPr/>
          <p:nvPr/>
        </p:nvSpPr>
        <p:spPr>
          <a:xfrm>
            <a:off x="384048" y="5943600"/>
            <a:ext cx="11420856" cy="384048"/>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every principle, not at go-live.  </a:t>
            </a:r>
            <a:pPr indent="0" marL="0">
              <a:lnSpc>
                <a:spcPct val="95000"/>
              </a:lnSpc>
              <a:buNone/>
            </a:pPr>
            <a:r>
              <a:rPr lang="en-US" sz="700" dirty="0">
                <a:solidFill>
                  <a:srgbClr val="1A1A1A"/>
                </a:solidFill>
                <a:latin typeface="Arial" pitchFamily="34" charset="0"/>
                <a:ea typeface="Arial" pitchFamily="34" charset="-122"/>
                <a:cs typeface="Arial" pitchFamily="34" charset="-120"/>
              </a:rPr>
              <a:t>Document the security-model translation before any asset moves: map BOBJ universe restrictions to Unity Catalog row filters and column masks, or to Power BI semantic-model RLS. Audit every BOBJ publication that emails PHI to a distribution list. Scope Databricks Genie spaces to curated gold tables only, never to raw custom-schema extracts. Confirm state record-retention obligations before deleting the output of any retired report.</a:t>
            </a:r>
            <a:endParaRPr lang="en-US" sz="700" dirty="0"/>
          </a:p>
        </p:txBody>
      </p:sp>
      <p:sp>
        <p:nvSpPr>
          <p:cNvPr id="71" name="Text 69"/>
          <p:cNvSpPr/>
          <p:nvPr/>
        </p:nvSpPr>
        <p:spPr>
          <a:xfrm>
            <a:off x="384048" y="6373368"/>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Principles are applied in order and the first match decides — a report that exits at principle 1 or 2 is never scored. Usage evidence draws on the BOBJ CMS audit trail over a rolling 18 months; a 90-day window understates quarterly and annual regulatory reporting.</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84048" y="219456"/>
            <a:ext cx="10972800" cy="384048"/>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Platform Fit Scorecard  —  the Seven Dimensions Behind the Four Groups</a:t>
            </a:r>
            <a:endParaRPr lang="en-US" sz="2400" dirty="0"/>
          </a:p>
        </p:txBody>
      </p:sp>
      <p:sp>
        <p:nvSpPr>
          <p:cNvPr id="3" name="Text 1"/>
          <p:cNvSpPr/>
          <p:nvPr/>
        </p:nvSpPr>
        <p:spPr>
          <a:xfrm>
            <a:off x="384048" y="585216"/>
            <a:ext cx="11420856" cy="384048"/>
          </a:xfrm>
          <a:prstGeom prst="rect">
            <a:avLst/>
          </a:prstGeom>
          <a:noFill/>
          <a:ln/>
        </p:spPr>
        <p:txBody>
          <a:bodyPr wrap="square" lIns="0" tIns="0" rIns="0" bIns="0" rtlCol="0" anchor="ctr"/>
          <a:lstStyle/>
          <a:p>
            <a:pPr indent="0" marL="0">
              <a:lnSpc>
                <a:spcPct val="95000"/>
              </a:lnSpc>
              <a:buNone/>
            </a:pPr>
            <a:r>
              <a:rPr lang="en-US" sz="1050" dirty="0">
                <a:solidFill>
                  <a:srgbClr val="1A1A1A"/>
                </a:solidFill>
                <a:latin typeface="Arial" pitchFamily="34" charset="0"/>
                <a:ea typeface="Arial" pitchFamily="34" charset="-122"/>
                <a:cs typeface="Arial" pitchFamily="34" charset="-120"/>
              </a:rPr>
              <a:t>Applied only to reports that reach principle 6.  The four groups on the rubric are rollups of these seven scored dimensions:  </a:t>
            </a:r>
            <a:pPr indent="0" marL="0">
              <a:lnSpc>
                <a:spcPct val="95000"/>
              </a:lnSpc>
              <a:buNone/>
            </a:pPr>
            <a:r>
              <a:rPr lang="en-US" sz="1050" b="1" dirty="0">
                <a:solidFill>
                  <a:srgbClr val="081F5C"/>
                </a:solidFill>
                <a:latin typeface="Arial" pitchFamily="34" charset="0"/>
                <a:ea typeface="Arial" pitchFamily="34" charset="-122"/>
                <a:cs typeface="Arial" pitchFamily="34" charset="-120"/>
              </a:rPr>
              <a:t>Data Gravity 20 = Data source  ·  Consumption Pattern 30 = Audience 15 + Interaction mode 15  ·  Rebuild Feasibility 25 = Semantic complexity 15 + Format fidelity 10  ·  Runtime &amp; Control 25 = Latency 10 + Governance &amp; RLS 15.</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84048" y="1060704"/>
          <a:ext cx="11420856" cy="914400"/>
        </p:xfrm>
        <a:graphic>
          <a:graphicData uri="http://schemas.openxmlformats.org/drawingml/2006/table">
            <a:tbl>
              <a:tblPr/>
              <a:tblGrid>
                <a:gridCol w="1078992"/>
                <a:gridCol w="1207008"/>
                <a:gridCol w="365760"/>
                <a:gridCol w="2212848"/>
                <a:gridCol w="2212848"/>
                <a:gridCol w="2212848"/>
                <a:gridCol w="2130552"/>
              </a:tblGrid>
              <a:tr h="292608">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Rubric group</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Scored dimension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Wt</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CogitoSQL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68349A"/>
                    </a:solidFill>
                  </a:tcPr>
                </a:tc>
                <a:tc>
                  <a:txBody>
                    <a:bodyPr/>
                    <a:lstStyle/>
                    <a:p>
                      <a:pPr algn="ctr" indent="0" marL="0">
                        <a:buNone/>
                      </a:pPr>
                      <a:r>
                        <a:rPr lang="en-US" sz="800" b="1" dirty="0">
                          <a:solidFill>
                            <a:srgbClr val="081F5C"/>
                          </a:solidFill>
                          <a:latin typeface="Arial" pitchFamily="34" charset="0"/>
                          <a:ea typeface="Arial" pitchFamily="34" charset="-122"/>
                          <a:cs typeface="Arial" pitchFamily="34" charset="-120"/>
                        </a:rPr>
                        <a:t>Power BI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CEF8FC"/>
                    </a:solidFill>
                  </a:tcPr>
                </a:tc>
                <a:tc>
                  <a:txBody>
                    <a:bodyPr/>
                    <a:lstStyle/>
                    <a:p>
                      <a:pPr algn="ctr" indent="0" marL="0">
                        <a:buNone/>
                      </a:pPr>
                      <a:r>
                        <a:rPr lang="en-US" sz="800" b="1" dirty="0">
                          <a:solidFill>
                            <a:srgbClr val="081F5C"/>
                          </a:solidFill>
                          <a:latin typeface="Arial" pitchFamily="34" charset="0"/>
                          <a:ea typeface="Arial" pitchFamily="34" charset="-122"/>
                          <a:cs typeface="Arial" pitchFamily="34" charset="-120"/>
                        </a:rPr>
                        <a:t>Databricks AI/BI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CEF8F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Retain signal  (diagnostic only)</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707070"/>
                    </a:solidFill>
                  </a:tcPr>
                </a:tc>
              </a:tr>
              <a:tr h="566928">
                <a:tc>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Data Gravity</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20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Data source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Clarity / Caboodle-native; Epic-delivered content already covers the model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Curated SQL Server gold layer or mart reachable through the gateway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Lakehouse-native, multi-source, high volume, or re-homed custom schema</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Universe still bound to Oracle objects with no re-platform target defined</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02920">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Consumption Pattern</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30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Audience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Clinicians and unit operations working inside Hyperspace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Executives and broad enterprise distribution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Analysts and data science running their own exploration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 small legacy user pocket with no growth and no owner</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Interaction mode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Worklist, in-context lookup, patient-level action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Curated dashboards, mobile, scheduled subscriptions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Ad-hoc exploration, Genie natural-language query, notebook-adjacent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Static scheduled output that nobody interacts with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66928">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Rebuild Feasibility</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25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Semantic complexity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Epic-delivered content, or a thin custom layer over 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Rebuildable as a Power BI semantic model within the wave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Expressible as SQL or Unity Catalog metric views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Deep universe logic — contexts, aggregate awareness — with nobody able to rebuild 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Format fidelity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Low — operational lists and worklists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High — Paginated Reports absorb statutory and bursted layouts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Low to medium — analytic canvas, exportable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Crystal-grade pixel fidelity that Paginated genuinely cannot reach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Runtime &amp; Control</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25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Latency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Near-real-time from Chronicles via Reporting Workbench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Hourly or daily refresh is acceptable to the consumer</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Streaming-to-batch on Delta with incremental refresh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Overnight batch only, with no latency pressure at all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66928">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Governance &amp; RLS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Epic security classes inherit automatically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Entra-driven RLS enforced on the semantic model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Unity Catalog row filters, column masks, lineage and full audit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Undocumented universe security nobody owns — a liability, not a justification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bl>
          </a:graphicData>
        </a:graphic>
      </p:graphicFrame>
      <p:sp>
        <p:nvSpPr>
          <p:cNvPr id="5" name="Shape 2"/>
          <p:cNvSpPr/>
          <p:nvPr/>
        </p:nvSpPr>
        <p:spPr>
          <a:xfrm>
            <a:off x="384048" y="5394960"/>
            <a:ext cx="11420856" cy="786384"/>
          </a:xfrm>
          <a:prstGeom prst="rect">
            <a:avLst/>
          </a:prstGeom>
          <a:solidFill>
            <a:srgbClr val="ADDAFB"/>
          </a:solidFill>
          <a:ln w="6350">
            <a:solidFill>
              <a:srgbClr val="ADDAFB"/>
            </a:solidFill>
            <a:prstDash val="solid"/>
          </a:ln>
        </p:spPr>
      </p:sp>
      <p:sp>
        <p:nvSpPr>
          <p:cNvPr id="6" name="Text 3"/>
          <p:cNvSpPr/>
          <p:nvPr/>
        </p:nvSpPr>
        <p:spPr>
          <a:xfrm>
            <a:off x="384048" y="5394960"/>
            <a:ext cx="11420856" cy="786384"/>
          </a:xfrm>
          <a:prstGeom prst="rect">
            <a:avLst/>
          </a:prstGeom>
          <a:noFill/>
          <a:ln/>
        </p:spPr>
        <p:txBody>
          <a:bodyPr wrap="square" lIns="508" tIns="1778" rIns="1778" bIns="508" rtlCol="0" anchor="ctr"/>
          <a:lstStyle/>
          <a:p>
            <a:pPr indent="0" marL="0">
              <a:lnSpc>
                <a:spcPct val="95000"/>
              </a:lnSpc>
              <a:buNone/>
            </a:pPr>
            <a:r>
              <a:rPr lang="en-US" sz="900" b="1" dirty="0">
                <a:solidFill>
                  <a:srgbClr val="081F5C"/>
                </a:solidFill>
                <a:latin typeface="Arial" pitchFamily="34" charset="0"/>
                <a:ea typeface="Arial" pitchFamily="34" charset="-122"/>
                <a:cs typeface="Arial" pitchFamily="34" charset="-120"/>
              </a:rPr>
              <a:t>Planning heuristic for an Epic-based BOBJ estate</a:t>
            </a:r>
            <a:endParaRPr lang="en-US" sz="900" dirty="0"/>
          </a:p>
          <a:p>
            <a:pPr indent="0" marL="0">
              <a:lnSpc>
                <a:spcPct val="95000"/>
              </a:lnSpc>
              <a:spcBef>
                <a:spcPts val="200"/>
              </a:spcBef>
              <a:spcAft>
                <a:spcPts val="200"/>
              </a:spcAft>
              <a:buNone/>
            </a:pPr>
            <a:r>
              <a:rPr lang="en-US" sz="900" b="1" dirty="0">
                <a:solidFill>
                  <a:srgbClr val="1A1A1A"/>
                </a:solidFill>
                <a:latin typeface="Arial" pitchFamily="34" charset="0"/>
                <a:ea typeface="Arial" pitchFamily="34" charset="-122"/>
                <a:cs typeface="Arial" pitchFamily="34" charset="-120"/>
              </a:rPr>
              <a:t>30–45% retire or consolidate   ·   15–25% CogitoSQL   ·   20–30% Power BI including paginated   ·   10–20% Databricks AI/BI   ·   under 10% time-boxed retain</a:t>
            </a:r>
            <a:endParaRPr lang="en-US" sz="900" dirty="0"/>
          </a:p>
          <a:p>
            <a:pPr indent="0" marL="0">
              <a:lnSpc>
                <a:spcPct val="95000"/>
              </a:lnSpc>
              <a:buNone/>
            </a:pPr>
            <a:r>
              <a:rPr lang="en-US" sz="740" dirty="0">
                <a:solidFill>
                  <a:srgbClr val="1A1A1A"/>
                </a:solidFill>
                <a:latin typeface="Arial" pitchFamily="34" charset="0"/>
                <a:ea typeface="Arial" pitchFamily="34" charset="-122"/>
                <a:cs typeface="Arial" pitchFamily="34" charset="-120"/>
              </a:rPr>
              <a:t>If the retain bucket lands above 10% after scoring, the exception criteria are too soft — tighten the rebuild-hours ceiling, or accept L2 rather than L3 equivalence for low-criticality reports. The Oracle decommission date is the hard ceiling on the whole bucket.</a:t>
            </a:r>
            <a:endParaRPr lang="en-US" sz="900" dirty="0"/>
          </a:p>
        </p:txBody>
      </p:sp>
      <p:sp>
        <p:nvSpPr>
          <p:cNvPr id="7" name="Text 4"/>
          <p:cNvSpPr/>
          <p:nvPr/>
        </p:nvSpPr>
        <p:spPr>
          <a:xfrm>
            <a:off x="384048" y="6272784"/>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Weights sum to 100 and are tuned to a BOBJ-reduction objective; re-weight Data Gravity upward if the Oracle exit date compresses, or Rebuild Feasibility upward if analyst capacity rather than runway is the binding constraint.</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84048" y="201168"/>
            <a:ext cx="10058400" cy="36576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Sequential Activities by Disposition</a:t>
            </a:r>
            <a:endParaRPr lang="en-US" sz="2400" dirty="0"/>
          </a:p>
        </p:txBody>
      </p:sp>
      <p:sp>
        <p:nvSpPr>
          <p:cNvPr id="3" name="Text 1"/>
          <p:cNvSpPr/>
          <p:nvPr/>
        </p:nvSpPr>
        <p:spPr>
          <a:xfrm>
            <a:off x="384048" y="566928"/>
            <a:ext cx="11420856" cy="25603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Each disposition carries its own six-step runbook, executed only after the rubric has set the path. Every step carries an exit criterion, so progress is evidenced rather than asserted. Every path ends by removing the BOBJ object; the exception path ends at a dated sunset.</a:t>
            </a:r>
            <a:endParaRPr lang="en-US" sz="1050" dirty="0"/>
          </a:p>
        </p:txBody>
      </p:sp>
      <p:sp>
        <p:nvSpPr>
          <p:cNvPr id="4" name="Shape 2"/>
          <p:cNvSpPr/>
          <p:nvPr/>
        </p:nvSpPr>
        <p:spPr>
          <a:xfrm>
            <a:off x="384048" y="969264"/>
            <a:ext cx="1371600" cy="274320"/>
          </a:xfrm>
          <a:prstGeom prst="rect">
            <a:avLst/>
          </a:prstGeom>
          <a:solidFill>
            <a:srgbClr val="081F5C"/>
          </a:solidFill>
          <a:ln w="6350">
            <a:solidFill>
              <a:srgbClr val="081F5C"/>
            </a:solidFill>
            <a:prstDash val="solid"/>
          </a:ln>
        </p:spPr>
      </p:sp>
      <p:sp>
        <p:nvSpPr>
          <p:cNvPr id="5" name="Text 3"/>
          <p:cNvSpPr/>
          <p:nvPr/>
        </p:nvSpPr>
        <p:spPr>
          <a:xfrm>
            <a:off x="384048" y="969264"/>
            <a:ext cx="1371600"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DISPOSITION</a:t>
            </a:r>
            <a:endParaRPr lang="en-US" sz="800" dirty="0"/>
          </a:p>
        </p:txBody>
      </p:sp>
      <p:sp>
        <p:nvSpPr>
          <p:cNvPr id="6" name="Shape 4"/>
          <p:cNvSpPr/>
          <p:nvPr/>
        </p:nvSpPr>
        <p:spPr>
          <a:xfrm>
            <a:off x="1847088" y="969264"/>
            <a:ext cx="1506931" cy="274320"/>
          </a:xfrm>
          <a:prstGeom prst="homePlate">
            <a:avLst/>
          </a:prstGeom>
          <a:solidFill>
            <a:srgbClr val="081F5C"/>
          </a:solidFill>
          <a:ln w="6350">
            <a:solidFill>
              <a:srgbClr val="081F5C"/>
            </a:solidFill>
            <a:prstDash val="solid"/>
          </a:ln>
        </p:spPr>
      </p:sp>
      <p:sp>
        <p:nvSpPr>
          <p:cNvPr id="7" name="Text 5"/>
          <p:cNvSpPr/>
          <p:nvPr/>
        </p:nvSpPr>
        <p:spPr>
          <a:xfrm>
            <a:off x="1847088"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1</a:t>
            </a:r>
            <a:endParaRPr lang="en-US" sz="800" dirty="0"/>
          </a:p>
        </p:txBody>
      </p:sp>
      <p:sp>
        <p:nvSpPr>
          <p:cNvPr id="8" name="Shape 6"/>
          <p:cNvSpPr/>
          <p:nvPr/>
        </p:nvSpPr>
        <p:spPr>
          <a:xfrm>
            <a:off x="3354019" y="969264"/>
            <a:ext cx="1689811" cy="274320"/>
          </a:xfrm>
          <a:prstGeom prst="chevron">
            <a:avLst/>
          </a:prstGeom>
          <a:solidFill>
            <a:srgbClr val="081F5C"/>
          </a:solidFill>
          <a:ln w="6350">
            <a:solidFill>
              <a:srgbClr val="081F5C"/>
            </a:solidFill>
            <a:prstDash val="solid"/>
          </a:ln>
        </p:spPr>
      </p:sp>
      <p:sp>
        <p:nvSpPr>
          <p:cNvPr id="9" name="Text 7"/>
          <p:cNvSpPr/>
          <p:nvPr/>
        </p:nvSpPr>
        <p:spPr>
          <a:xfrm>
            <a:off x="3536899"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2</a:t>
            </a:r>
            <a:endParaRPr lang="en-US" sz="800" dirty="0"/>
          </a:p>
        </p:txBody>
      </p:sp>
      <p:sp>
        <p:nvSpPr>
          <p:cNvPr id="10" name="Shape 8"/>
          <p:cNvSpPr/>
          <p:nvPr/>
        </p:nvSpPr>
        <p:spPr>
          <a:xfrm>
            <a:off x="5043830" y="969264"/>
            <a:ext cx="1689811" cy="274320"/>
          </a:xfrm>
          <a:prstGeom prst="chevron">
            <a:avLst/>
          </a:prstGeom>
          <a:solidFill>
            <a:srgbClr val="081F5C"/>
          </a:solidFill>
          <a:ln w="6350">
            <a:solidFill>
              <a:srgbClr val="081F5C"/>
            </a:solidFill>
            <a:prstDash val="solid"/>
          </a:ln>
        </p:spPr>
      </p:sp>
      <p:sp>
        <p:nvSpPr>
          <p:cNvPr id="11" name="Text 9"/>
          <p:cNvSpPr/>
          <p:nvPr/>
        </p:nvSpPr>
        <p:spPr>
          <a:xfrm>
            <a:off x="5226710"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3</a:t>
            </a:r>
            <a:endParaRPr lang="en-US" sz="800" dirty="0"/>
          </a:p>
        </p:txBody>
      </p:sp>
      <p:sp>
        <p:nvSpPr>
          <p:cNvPr id="12" name="Shape 10"/>
          <p:cNvSpPr/>
          <p:nvPr/>
        </p:nvSpPr>
        <p:spPr>
          <a:xfrm>
            <a:off x="6733642" y="969264"/>
            <a:ext cx="1689811" cy="274320"/>
          </a:xfrm>
          <a:prstGeom prst="chevron">
            <a:avLst/>
          </a:prstGeom>
          <a:solidFill>
            <a:srgbClr val="081F5C"/>
          </a:solidFill>
          <a:ln w="6350">
            <a:solidFill>
              <a:srgbClr val="081F5C"/>
            </a:solidFill>
            <a:prstDash val="solid"/>
          </a:ln>
        </p:spPr>
      </p:sp>
      <p:sp>
        <p:nvSpPr>
          <p:cNvPr id="13" name="Text 11"/>
          <p:cNvSpPr/>
          <p:nvPr/>
        </p:nvSpPr>
        <p:spPr>
          <a:xfrm>
            <a:off x="6916522"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4</a:t>
            </a:r>
            <a:endParaRPr lang="en-US" sz="800" dirty="0"/>
          </a:p>
        </p:txBody>
      </p:sp>
      <p:sp>
        <p:nvSpPr>
          <p:cNvPr id="14" name="Shape 12"/>
          <p:cNvSpPr/>
          <p:nvPr/>
        </p:nvSpPr>
        <p:spPr>
          <a:xfrm>
            <a:off x="8423453" y="969264"/>
            <a:ext cx="1689811" cy="274320"/>
          </a:xfrm>
          <a:prstGeom prst="chevron">
            <a:avLst/>
          </a:prstGeom>
          <a:solidFill>
            <a:srgbClr val="081F5C"/>
          </a:solidFill>
          <a:ln w="6350">
            <a:solidFill>
              <a:srgbClr val="081F5C"/>
            </a:solidFill>
            <a:prstDash val="solid"/>
          </a:ln>
        </p:spPr>
      </p:sp>
      <p:sp>
        <p:nvSpPr>
          <p:cNvPr id="15" name="Text 13"/>
          <p:cNvSpPr/>
          <p:nvPr/>
        </p:nvSpPr>
        <p:spPr>
          <a:xfrm>
            <a:off x="8606333"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5</a:t>
            </a:r>
            <a:endParaRPr lang="en-US" sz="800" dirty="0"/>
          </a:p>
        </p:txBody>
      </p:sp>
      <p:sp>
        <p:nvSpPr>
          <p:cNvPr id="16" name="Shape 14"/>
          <p:cNvSpPr/>
          <p:nvPr/>
        </p:nvSpPr>
        <p:spPr>
          <a:xfrm>
            <a:off x="10113264" y="969264"/>
            <a:ext cx="1689811" cy="274320"/>
          </a:xfrm>
          <a:prstGeom prst="chevron">
            <a:avLst/>
          </a:prstGeom>
          <a:solidFill>
            <a:srgbClr val="081F5C"/>
          </a:solidFill>
          <a:ln w="6350">
            <a:solidFill>
              <a:srgbClr val="081F5C"/>
            </a:solidFill>
            <a:prstDash val="solid"/>
          </a:ln>
        </p:spPr>
      </p:sp>
      <p:sp>
        <p:nvSpPr>
          <p:cNvPr id="17" name="Text 15"/>
          <p:cNvSpPr/>
          <p:nvPr/>
        </p:nvSpPr>
        <p:spPr>
          <a:xfrm>
            <a:off x="10296144"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6</a:t>
            </a:r>
            <a:endParaRPr lang="en-US" sz="800" dirty="0"/>
          </a:p>
        </p:txBody>
      </p:sp>
      <p:sp>
        <p:nvSpPr>
          <p:cNvPr id="18" name="Shape 16"/>
          <p:cNvSpPr/>
          <p:nvPr/>
        </p:nvSpPr>
        <p:spPr>
          <a:xfrm>
            <a:off x="384048" y="1353312"/>
            <a:ext cx="1371600" cy="786384"/>
          </a:xfrm>
          <a:prstGeom prst="rect">
            <a:avLst/>
          </a:prstGeom>
          <a:solidFill>
            <a:srgbClr val="68349A"/>
          </a:solidFill>
          <a:ln w="6350">
            <a:solidFill>
              <a:srgbClr val="68349A"/>
            </a:solidFill>
            <a:prstDash val="solid"/>
          </a:ln>
        </p:spPr>
      </p:sp>
      <p:sp>
        <p:nvSpPr>
          <p:cNvPr id="19" name="Text 17"/>
          <p:cNvSpPr/>
          <p:nvPr/>
        </p:nvSpPr>
        <p:spPr>
          <a:xfrm>
            <a:off x="384048" y="1353312"/>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CogitoSQL</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Rearchitect</a:t>
            </a:r>
            <a:endParaRPr lang="en-US" sz="900" dirty="0"/>
          </a:p>
        </p:txBody>
      </p:sp>
      <p:sp>
        <p:nvSpPr>
          <p:cNvPr id="20" name="Shape 18"/>
          <p:cNvSpPr/>
          <p:nvPr/>
        </p:nvSpPr>
        <p:spPr>
          <a:xfrm>
            <a:off x="1847088" y="1353312"/>
            <a:ext cx="1506931" cy="786384"/>
          </a:xfrm>
          <a:prstGeom prst="rect">
            <a:avLst/>
          </a:prstGeom>
          <a:solidFill>
            <a:srgbClr val="ADDAFB"/>
          </a:solidFill>
          <a:ln w="6350">
            <a:solidFill>
              <a:srgbClr val="ADDAFB"/>
            </a:solidFill>
            <a:prstDash val="solid"/>
          </a:ln>
        </p:spPr>
      </p:sp>
      <p:sp>
        <p:nvSpPr>
          <p:cNvPr id="21" name="Text 19"/>
          <p:cNvSpPr/>
          <p:nvPr/>
        </p:nvSpPr>
        <p:spPr>
          <a:xfrm>
            <a:off x="1847088"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Confirm Epic-native fit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Verify every data element exists in Clarity or Caboodle. Flag any custom-schema gap.</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Gap list signed by the Cogito lead</a:t>
            </a:r>
            <a:endParaRPr lang="en-US" sz="780" dirty="0"/>
          </a:p>
        </p:txBody>
      </p:sp>
      <p:sp>
        <p:nvSpPr>
          <p:cNvPr id="22" name="Shape 20"/>
          <p:cNvSpPr/>
          <p:nvPr/>
        </p:nvSpPr>
        <p:spPr>
          <a:xfrm>
            <a:off x="3370478" y="1627632"/>
            <a:ext cx="149962" cy="237744"/>
          </a:xfrm>
          <a:prstGeom prst="chevron">
            <a:avLst/>
          </a:prstGeom>
          <a:solidFill>
            <a:srgbClr val="EEEEEE"/>
          </a:solidFill>
          <a:ln w="6350">
            <a:solidFill>
              <a:srgbClr val="EEEEEE"/>
            </a:solidFill>
            <a:prstDash val="solid"/>
          </a:ln>
        </p:spPr>
      </p:sp>
      <p:sp>
        <p:nvSpPr>
          <p:cNvPr id="23" name="Shape 21"/>
          <p:cNvSpPr/>
          <p:nvPr/>
        </p:nvSpPr>
        <p:spPr>
          <a:xfrm>
            <a:off x="3536899" y="1353312"/>
            <a:ext cx="1506931" cy="786384"/>
          </a:xfrm>
          <a:prstGeom prst="rect">
            <a:avLst/>
          </a:prstGeom>
          <a:solidFill>
            <a:srgbClr val="ADDAFB"/>
          </a:solidFill>
          <a:ln w="6350">
            <a:solidFill>
              <a:srgbClr val="ADDAFB"/>
            </a:solidFill>
            <a:prstDash val="solid"/>
          </a:ln>
        </p:spPr>
      </p:sp>
      <p:sp>
        <p:nvSpPr>
          <p:cNvPr id="24" name="Text 22"/>
          <p:cNvSpPr/>
          <p:nvPr/>
        </p:nvSpPr>
        <p:spPr>
          <a:xfrm>
            <a:off x="3536899"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Pick the Epic tool</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Choose Reporting Workbench, Radar, SlicerDicer or a governed Cogito SQL view.</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Tool decision in the asset record</a:t>
            </a:r>
            <a:endParaRPr lang="en-US" sz="780" dirty="0"/>
          </a:p>
        </p:txBody>
      </p:sp>
      <p:sp>
        <p:nvSpPr>
          <p:cNvPr id="25" name="Shape 23"/>
          <p:cNvSpPr/>
          <p:nvPr/>
        </p:nvSpPr>
        <p:spPr>
          <a:xfrm>
            <a:off x="5060290" y="1627632"/>
            <a:ext cx="149962" cy="237744"/>
          </a:xfrm>
          <a:prstGeom prst="chevron">
            <a:avLst/>
          </a:prstGeom>
          <a:solidFill>
            <a:srgbClr val="EEEEEE"/>
          </a:solidFill>
          <a:ln w="6350">
            <a:solidFill>
              <a:srgbClr val="EEEEEE"/>
            </a:solidFill>
            <a:prstDash val="solid"/>
          </a:ln>
        </p:spPr>
      </p:sp>
      <p:sp>
        <p:nvSpPr>
          <p:cNvPr id="26" name="Shape 24"/>
          <p:cNvSpPr/>
          <p:nvPr/>
        </p:nvSpPr>
        <p:spPr>
          <a:xfrm>
            <a:off x="5226710" y="1353312"/>
            <a:ext cx="1506931" cy="786384"/>
          </a:xfrm>
          <a:prstGeom prst="rect">
            <a:avLst/>
          </a:prstGeom>
          <a:solidFill>
            <a:srgbClr val="ADDAFB"/>
          </a:solidFill>
          <a:ln w="6350">
            <a:solidFill>
              <a:srgbClr val="ADDAFB"/>
            </a:solidFill>
            <a:prstDash val="solid"/>
          </a:ln>
        </p:spPr>
      </p:sp>
      <p:sp>
        <p:nvSpPr>
          <p:cNvPr id="27" name="Text 25"/>
          <p:cNvSpPr/>
          <p:nvPr/>
        </p:nvSpPr>
        <p:spPr>
          <a:xfrm>
            <a:off x="5226710"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Translate the security</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Map universe restrictions onto Epic security classes and template security.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Mapping reviewed by Epic security</a:t>
            </a:r>
            <a:endParaRPr lang="en-US" sz="780" dirty="0"/>
          </a:p>
        </p:txBody>
      </p:sp>
      <p:sp>
        <p:nvSpPr>
          <p:cNvPr id="28" name="Shape 26"/>
          <p:cNvSpPr/>
          <p:nvPr/>
        </p:nvSpPr>
        <p:spPr>
          <a:xfrm>
            <a:off x="6750101" y="1627632"/>
            <a:ext cx="149962" cy="237744"/>
          </a:xfrm>
          <a:prstGeom prst="chevron">
            <a:avLst/>
          </a:prstGeom>
          <a:solidFill>
            <a:srgbClr val="EEEEEE"/>
          </a:solidFill>
          <a:ln w="6350">
            <a:solidFill>
              <a:srgbClr val="EEEEEE"/>
            </a:solidFill>
            <a:prstDash val="solid"/>
          </a:ln>
        </p:spPr>
      </p:sp>
      <p:sp>
        <p:nvSpPr>
          <p:cNvPr id="29" name="Shape 27"/>
          <p:cNvSpPr/>
          <p:nvPr/>
        </p:nvSpPr>
        <p:spPr>
          <a:xfrm>
            <a:off x="6916522" y="1353312"/>
            <a:ext cx="1506931" cy="786384"/>
          </a:xfrm>
          <a:prstGeom prst="rect">
            <a:avLst/>
          </a:prstGeom>
          <a:solidFill>
            <a:srgbClr val="ADDAFB"/>
          </a:solidFill>
          <a:ln w="6350">
            <a:solidFill>
              <a:srgbClr val="ADDAFB"/>
            </a:solidFill>
            <a:prstDash val="solid"/>
          </a:ln>
        </p:spPr>
      </p:sp>
      <p:sp>
        <p:nvSpPr>
          <p:cNvPr id="30" name="Text 28"/>
          <p:cNvSpPr/>
          <p:nvPr/>
        </p:nvSpPr>
        <p:spPr>
          <a:xfrm>
            <a:off x="6916522"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Build in non-prod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Configure the template. Peer-review it against the source report specification.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Build peer-reviewed in non-prod</a:t>
            </a:r>
            <a:endParaRPr lang="en-US" sz="780" dirty="0"/>
          </a:p>
        </p:txBody>
      </p:sp>
      <p:sp>
        <p:nvSpPr>
          <p:cNvPr id="31" name="Shape 29"/>
          <p:cNvSpPr/>
          <p:nvPr/>
        </p:nvSpPr>
        <p:spPr>
          <a:xfrm>
            <a:off x="8439912" y="1627632"/>
            <a:ext cx="149962" cy="237744"/>
          </a:xfrm>
          <a:prstGeom prst="chevron">
            <a:avLst/>
          </a:prstGeom>
          <a:solidFill>
            <a:srgbClr val="EEEEEE"/>
          </a:solidFill>
          <a:ln w="6350">
            <a:solidFill>
              <a:srgbClr val="EEEEEE"/>
            </a:solidFill>
            <a:prstDash val="solid"/>
          </a:ln>
        </p:spPr>
      </p:sp>
      <p:sp>
        <p:nvSpPr>
          <p:cNvPr id="32" name="Shape 30"/>
          <p:cNvSpPr/>
          <p:nvPr/>
        </p:nvSpPr>
        <p:spPr>
          <a:xfrm>
            <a:off x="8606333" y="1353312"/>
            <a:ext cx="1506931" cy="786384"/>
          </a:xfrm>
          <a:prstGeom prst="rect">
            <a:avLst/>
          </a:prstGeom>
          <a:solidFill>
            <a:srgbClr val="ADDAFB"/>
          </a:solidFill>
          <a:ln w="6350">
            <a:solidFill>
              <a:srgbClr val="ADDAFB"/>
            </a:solidFill>
            <a:prstDash val="solid"/>
          </a:ln>
        </p:spPr>
      </p:sp>
      <p:sp>
        <p:nvSpPr>
          <p:cNvPr id="33" name="Text 31"/>
          <p:cNvSpPr/>
          <p:nvPr/>
        </p:nvSpPr>
        <p:spPr>
          <a:xfrm>
            <a:off x="8606333"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rows and totals to L2+. Run clinician UAT inside Hyperspace context.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pack and UAT sign-off</a:t>
            </a:r>
            <a:endParaRPr lang="en-US" sz="780" dirty="0"/>
          </a:p>
        </p:txBody>
      </p:sp>
      <p:sp>
        <p:nvSpPr>
          <p:cNvPr id="34" name="Shape 32"/>
          <p:cNvSpPr/>
          <p:nvPr/>
        </p:nvSpPr>
        <p:spPr>
          <a:xfrm>
            <a:off x="10129723" y="1627632"/>
            <a:ext cx="149962" cy="237744"/>
          </a:xfrm>
          <a:prstGeom prst="chevron">
            <a:avLst/>
          </a:prstGeom>
          <a:solidFill>
            <a:srgbClr val="EEEEEE"/>
          </a:solidFill>
          <a:ln w="6350">
            <a:solidFill>
              <a:srgbClr val="EEEEEE"/>
            </a:solidFill>
            <a:prstDash val="solid"/>
          </a:ln>
        </p:spPr>
      </p:sp>
      <p:sp>
        <p:nvSpPr>
          <p:cNvPr id="35" name="Shape 33"/>
          <p:cNvSpPr/>
          <p:nvPr/>
        </p:nvSpPr>
        <p:spPr>
          <a:xfrm>
            <a:off x="10296144" y="1353312"/>
            <a:ext cx="1506931" cy="786384"/>
          </a:xfrm>
          <a:prstGeom prst="rect">
            <a:avLst/>
          </a:prstGeom>
          <a:solidFill>
            <a:srgbClr val="ADDAFB"/>
          </a:solidFill>
          <a:ln w="6350">
            <a:solidFill>
              <a:srgbClr val="ADDAFB"/>
            </a:solidFill>
            <a:prstDash val="solid"/>
          </a:ln>
        </p:spPr>
      </p:sp>
      <p:sp>
        <p:nvSpPr>
          <p:cNvPr id="36" name="Text 34"/>
          <p:cNvSpPr/>
          <p:nvPr/>
        </p:nvSpPr>
        <p:spPr>
          <a:xfrm>
            <a:off x="10296144"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Publish to the release, redirect users, disable schedules, decommission the object.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schedules off</a:t>
            </a:r>
            <a:endParaRPr lang="en-US" sz="780" dirty="0"/>
          </a:p>
        </p:txBody>
      </p:sp>
      <p:sp>
        <p:nvSpPr>
          <p:cNvPr id="37" name="Shape 35"/>
          <p:cNvSpPr/>
          <p:nvPr/>
        </p:nvSpPr>
        <p:spPr>
          <a:xfrm>
            <a:off x="384048" y="2258568"/>
            <a:ext cx="1371600" cy="786384"/>
          </a:xfrm>
          <a:prstGeom prst="rect">
            <a:avLst/>
          </a:prstGeom>
          <a:solidFill>
            <a:srgbClr val="CEF8FC"/>
          </a:solidFill>
          <a:ln w="6350">
            <a:solidFill>
              <a:srgbClr val="CEF8FC"/>
            </a:solidFill>
            <a:prstDash val="solid"/>
          </a:ln>
        </p:spPr>
      </p:sp>
      <p:sp>
        <p:nvSpPr>
          <p:cNvPr id="38" name="Text 36"/>
          <p:cNvSpPr/>
          <p:nvPr/>
        </p:nvSpPr>
        <p:spPr>
          <a:xfrm>
            <a:off x="384048" y="2258568"/>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081F5C"/>
                </a:solidFill>
                <a:latin typeface="Arial" pitchFamily="34" charset="0"/>
                <a:ea typeface="Arial" pitchFamily="34" charset="-122"/>
                <a:cs typeface="Arial" pitchFamily="34" charset="-120"/>
              </a:rPr>
              <a:t>Power BI</a:t>
            </a:r>
            <a:endParaRPr lang="en-US" sz="900" dirty="0"/>
          </a:p>
          <a:p>
            <a:pPr algn="ctr" indent="0" marL="0">
              <a:lnSpc>
                <a:spcPct val="95000"/>
              </a:lnSpc>
              <a:buNone/>
            </a:pPr>
            <a:r>
              <a:rPr lang="en-US" sz="740" i="1" dirty="0">
                <a:solidFill>
                  <a:srgbClr val="081F5C"/>
                </a:solidFill>
                <a:latin typeface="Arial" pitchFamily="34" charset="0"/>
                <a:ea typeface="Arial" pitchFamily="34" charset="-122"/>
                <a:cs typeface="Arial" pitchFamily="34" charset="-120"/>
              </a:rPr>
              <a:t>Rearchitect</a:t>
            </a:r>
            <a:endParaRPr lang="en-US" sz="900" dirty="0"/>
          </a:p>
        </p:txBody>
      </p:sp>
      <p:sp>
        <p:nvSpPr>
          <p:cNvPr id="39" name="Shape 37"/>
          <p:cNvSpPr/>
          <p:nvPr/>
        </p:nvSpPr>
        <p:spPr>
          <a:xfrm>
            <a:off x="1847088" y="2258568"/>
            <a:ext cx="1506931" cy="786384"/>
          </a:xfrm>
          <a:prstGeom prst="rect">
            <a:avLst/>
          </a:prstGeom>
          <a:solidFill>
            <a:srgbClr val="ADDAFB"/>
          </a:solidFill>
          <a:ln w="6350">
            <a:solidFill>
              <a:srgbClr val="ADDAFB"/>
            </a:solidFill>
            <a:prstDash val="solid"/>
          </a:ln>
        </p:spPr>
      </p:sp>
      <p:sp>
        <p:nvSpPr>
          <p:cNvPr id="40" name="Text 38"/>
          <p:cNvSpPr/>
          <p:nvPr/>
        </p:nvSpPr>
        <p:spPr>
          <a:xfrm>
            <a:off x="1847088"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Split the workload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Decide interactive semantic model, Paginated Report, or both from one dataset.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Workload split recorded per artifact</a:t>
            </a:r>
            <a:endParaRPr lang="en-US" sz="780" dirty="0"/>
          </a:p>
        </p:txBody>
      </p:sp>
      <p:sp>
        <p:nvSpPr>
          <p:cNvPr id="41" name="Shape 39"/>
          <p:cNvSpPr/>
          <p:nvPr/>
        </p:nvSpPr>
        <p:spPr>
          <a:xfrm>
            <a:off x="3370478" y="2532888"/>
            <a:ext cx="149962" cy="237744"/>
          </a:xfrm>
          <a:prstGeom prst="chevron">
            <a:avLst/>
          </a:prstGeom>
          <a:solidFill>
            <a:srgbClr val="EEEEEE"/>
          </a:solidFill>
          <a:ln w="6350">
            <a:solidFill>
              <a:srgbClr val="EEEEEE"/>
            </a:solidFill>
            <a:prstDash val="solid"/>
          </a:ln>
        </p:spPr>
      </p:sp>
      <p:sp>
        <p:nvSpPr>
          <p:cNvPr id="42" name="Shape 40"/>
          <p:cNvSpPr/>
          <p:nvPr/>
        </p:nvSpPr>
        <p:spPr>
          <a:xfrm>
            <a:off x="3536899" y="2258568"/>
            <a:ext cx="1506931" cy="786384"/>
          </a:xfrm>
          <a:prstGeom prst="rect">
            <a:avLst/>
          </a:prstGeom>
          <a:solidFill>
            <a:srgbClr val="ADDAFB"/>
          </a:solidFill>
          <a:ln w="6350">
            <a:solidFill>
              <a:srgbClr val="ADDAFB"/>
            </a:solidFill>
            <a:prstDash val="solid"/>
          </a:ln>
        </p:spPr>
      </p:sp>
      <p:sp>
        <p:nvSpPr>
          <p:cNvPr id="43" name="Text 41"/>
          <p:cNvSpPr/>
          <p:nvPr/>
        </p:nvSpPr>
        <p:spPr>
          <a:xfrm>
            <a:off x="3536899"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Certify the dataset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Model the gold-layer tables, define measures, certify the semantic model.</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Semantic model marked certified</a:t>
            </a:r>
            <a:endParaRPr lang="en-US" sz="780" dirty="0"/>
          </a:p>
        </p:txBody>
      </p:sp>
      <p:sp>
        <p:nvSpPr>
          <p:cNvPr id="44" name="Shape 42"/>
          <p:cNvSpPr/>
          <p:nvPr/>
        </p:nvSpPr>
        <p:spPr>
          <a:xfrm>
            <a:off x="5060290" y="2532888"/>
            <a:ext cx="149962" cy="237744"/>
          </a:xfrm>
          <a:prstGeom prst="chevron">
            <a:avLst/>
          </a:prstGeom>
          <a:solidFill>
            <a:srgbClr val="EEEEEE"/>
          </a:solidFill>
          <a:ln w="6350">
            <a:solidFill>
              <a:srgbClr val="EEEEEE"/>
            </a:solidFill>
            <a:prstDash val="solid"/>
          </a:ln>
        </p:spPr>
      </p:sp>
      <p:sp>
        <p:nvSpPr>
          <p:cNvPr id="45" name="Shape 43"/>
          <p:cNvSpPr/>
          <p:nvPr/>
        </p:nvSpPr>
        <p:spPr>
          <a:xfrm>
            <a:off x="5226710" y="2258568"/>
            <a:ext cx="1506931" cy="786384"/>
          </a:xfrm>
          <a:prstGeom prst="rect">
            <a:avLst/>
          </a:prstGeom>
          <a:solidFill>
            <a:srgbClr val="ADDAFB"/>
          </a:solidFill>
          <a:ln w="6350">
            <a:solidFill>
              <a:srgbClr val="ADDAFB"/>
            </a:solidFill>
            <a:prstDash val="solid"/>
          </a:ln>
        </p:spPr>
      </p:sp>
      <p:sp>
        <p:nvSpPr>
          <p:cNvPr id="46" name="Text 44"/>
          <p:cNvSpPr/>
          <p:nvPr/>
        </p:nvSpPr>
        <p:spPr>
          <a:xfrm>
            <a:off x="5226710"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Rebuild the artifact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Recreate the visuals, or reproduce the statutory layout in Paginated Reports.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Artifact built and peer-reviewed</a:t>
            </a:r>
            <a:endParaRPr lang="en-US" sz="780" dirty="0"/>
          </a:p>
        </p:txBody>
      </p:sp>
      <p:sp>
        <p:nvSpPr>
          <p:cNvPr id="47" name="Shape 45"/>
          <p:cNvSpPr/>
          <p:nvPr/>
        </p:nvSpPr>
        <p:spPr>
          <a:xfrm>
            <a:off x="6750101" y="2532888"/>
            <a:ext cx="149962" cy="237744"/>
          </a:xfrm>
          <a:prstGeom prst="chevron">
            <a:avLst/>
          </a:prstGeom>
          <a:solidFill>
            <a:srgbClr val="EEEEEE"/>
          </a:solidFill>
          <a:ln w="6350">
            <a:solidFill>
              <a:srgbClr val="EEEEEE"/>
            </a:solidFill>
            <a:prstDash val="solid"/>
          </a:ln>
        </p:spPr>
      </p:sp>
      <p:sp>
        <p:nvSpPr>
          <p:cNvPr id="48" name="Shape 46"/>
          <p:cNvSpPr/>
          <p:nvPr/>
        </p:nvSpPr>
        <p:spPr>
          <a:xfrm>
            <a:off x="6916522" y="2258568"/>
            <a:ext cx="1506931" cy="786384"/>
          </a:xfrm>
          <a:prstGeom prst="rect">
            <a:avLst/>
          </a:prstGeom>
          <a:solidFill>
            <a:srgbClr val="ADDAFB"/>
          </a:solidFill>
          <a:ln w="6350">
            <a:solidFill>
              <a:srgbClr val="ADDAFB"/>
            </a:solidFill>
            <a:prstDash val="solid"/>
          </a:ln>
        </p:spPr>
      </p:sp>
      <p:sp>
        <p:nvSpPr>
          <p:cNvPr id="49" name="Text 47"/>
          <p:cNvSpPr/>
          <p:nvPr/>
        </p:nvSpPr>
        <p:spPr>
          <a:xfrm>
            <a:off x="6916522"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Wire RLS and delivery</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Set Entra roles, sensitivity labels and subscriptions replacing BOBJ publications.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RLS tested with a non-privileged account</a:t>
            </a:r>
            <a:endParaRPr lang="en-US" sz="780" dirty="0"/>
          </a:p>
        </p:txBody>
      </p:sp>
      <p:sp>
        <p:nvSpPr>
          <p:cNvPr id="50" name="Shape 48"/>
          <p:cNvSpPr/>
          <p:nvPr/>
        </p:nvSpPr>
        <p:spPr>
          <a:xfrm>
            <a:off x="8439912" y="2532888"/>
            <a:ext cx="149962" cy="237744"/>
          </a:xfrm>
          <a:prstGeom prst="chevron">
            <a:avLst/>
          </a:prstGeom>
          <a:solidFill>
            <a:srgbClr val="EEEEEE"/>
          </a:solidFill>
          <a:ln w="6350">
            <a:solidFill>
              <a:srgbClr val="EEEEEE"/>
            </a:solidFill>
            <a:prstDash val="solid"/>
          </a:ln>
        </p:spPr>
      </p:sp>
      <p:sp>
        <p:nvSpPr>
          <p:cNvPr id="51" name="Shape 49"/>
          <p:cNvSpPr/>
          <p:nvPr/>
        </p:nvSpPr>
        <p:spPr>
          <a:xfrm>
            <a:off x="8606333" y="2258568"/>
            <a:ext cx="1506931" cy="786384"/>
          </a:xfrm>
          <a:prstGeom prst="rect">
            <a:avLst/>
          </a:prstGeom>
          <a:solidFill>
            <a:srgbClr val="ADDAFB"/>
          </a:solidFill>
          <a:ln w="6350">
            <a:solidFill>
              <a:srgbClr val="ADDAFB"/>
            </a:solidFill>
            <a:prstDash val="solid"/>
          </a:ln>
        </p:spPr>
      </p:sp>
      <p:sp>
        <p:nvSpPr>
          <p:cNvPr id="52" name="Text 50"/>
          <p:cNvSpPr/>
          <p:nvPr/>
        </p:nvSpPr>
        <p:spPr>
          <a:xfrm>
            <a:off x="8606333"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the data, check layout fidelity, run a full subscription burst test.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and burst-test evidence</a:t>
            </a:r>
            <a:endParaRPr lang="en-US" sz="780" dirty="0"/>
          </a:p>
        </p:txBody>
      </p:sp>
      <p:sp>
        <p:nvSpPr>
          <p:cNvPr id="53" name="Shape 51"/>
          <p:cNvSpPr/>
          <p:nvPr/>
        </p:nvSpPr>
        <p:spPr>
          <a:xfrm>
            <a:off x="10129723" y="2532888"/>
            <a:ext cx="149962" cy="237744"/>
          </a:xfrm>
          <a:prstGeom prst="chevron">
            <a:avLst/>
          </a:prstGeom>
          <a:solidFill>
            <a:srgbClr val="EEEEEE"/>
          </a:solidFill>
          <a:ln w="6350">
            <a:solidFill>
              <a:srgbClr val="EEEEEE"/>
            </a:solidFill>
            <a:prstDash val="solid"/>
          </a:ln>
        </p:spPr>
      </p:sp>
      <p:sp>
        <p:nvSpPr>
          <p:cNvPr id="54" name="Shape 52"/>
          <p:cNvSpPr/>
          <p:nvPr/>
        </p:nvSpPr>
        <p:spPr>
          <a:xfrm>
            <a:off x="10296144" y="2258568"/>
            <a:ext cx="1506931" cy="786384"/>
          </a:xfrm>
          <a:prstGeom prst="rect">
            <a:avLst/>
          </a:prstGeom>
          <a:solidFill>
            <a:srgbClr val="ADDAFB"/>
          </a:solidFill>
          <a:ln w="6350">
            <a:solidFill>
              <a:srgbClr val="ADDAFB"/>
            </a:solidFill>
            <a:prstDash val="solid"/>
          </a:ln>
        </p:spPr>
      </p:sp>
      <p:sp>
        <p:nvSpPr>
          <p:cNvPr id="55" name="Text 53"/>
          <p:cNvSpPr/>
          <p:nvPr/>
        </p:nvSpPr>
        <p:spPr>
          <a:xfrm>
            <a:off x="10296144"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Deploy through the workspace pipeline, redirect users, decommission the object.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publications off</a:t>
            </a:r>
            <a:endParaRPr lang="en-US" sz="780" dirty="0"/>
          </a:p>
        </p:txBody>
      </p:sp>
      <p:sp>
        <p:nvSpPr>
          <p:cNvPr id="56" name="Shape 54"/>
          <p:cNvSpPr/>
          <p:nvPr/>
        </p:nvSpPr>
        <p:spPr>
          <a:xfrm>
            <a:off x="384048" y="3163824"/>
            <a:ext cx="1371600" cy="786384"/>
          </a:xfrm>
          <a:prstGeom prst="rect">
            <a:avLst/>
          </a:prstGeom>
          <a:solidFill>
            <a:srgbClr val="CEF8FC"/>
          </a:solidFill>
          <a:ln w="6350">
            <a:solidFill>
              <a:srgbClr val="CEF8FC"/>
            </a:solidFill>
            <a:prstDash val="solid"/>
          </a:ln>
        </p:spPr>
      </p:sp>
      <p:sp>
        <p:nvSpPr>
          <p:cNvPr id="57" name="Text 55"/>
          <p:cNvSpPr/>
          <p:nvPr/>
        </p:nvSpPr>
        <p:spPr>
          <a:xfrm>
            <a:off x="384048" y="3163824"/>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081F5C"/>
                </a:solidFill>
                <a:latin typeface="Arial" pitchFamily="34" charset="0"/>
                <a:ea typeface="Arial" pitchFamily="34" charset="-122"/>
                <a:cs typeface="Arial" pitchFamily="34" charset="-120"/>
              </a:rPr>
              <a:t>Databricks AI/BI</a:t>
            </a:r>
            <a:endParaRPr lang="en-US" sz="900" dirty="0"/>
          </a:p>
          <a:p>
            <a:pPr algn="ctr" indent="0" marL="0">
              <a:lnSpc>
                <a:spcPct val="95000"/>
              </a:lnSpc>
              <a:buNone/>
            </a:pPr>
            <a:r>
              <a:rPr lang="en-US" sz="740" i="1" dirty="0">
                <a:solidFill>
                  <a:srgbClr val="081F5C"/>
                </a:solidFill>
                <a:latin typeface="Arial" pitchFamily="34" charset="0"/>
                <a:ea typeface="Arial" pitchFamily="34" charset="-122"/>
                <a:cs typeface="Arial" pitchFamily="34" charset="-120"/>
              </a:rPr>
              <a:t>Replatform</a:t>
            </a:r>
            <a:endParaRPr lang="en-US" sz="900" dirty="0"/>
          </a:p>
        </p:txBody>
      </p:sp>
      <p:sp>
        <p:nvSpPr>
          <p:cNvPr id="58" name="Shape 56"/>
          <p:cNvSpPr/>
          <p:nvPr/>
        </p:nvSpPr>
        <p:spPr>
          <a:xfrm>
            <a:off x="1847088" y="3163824"/>
            <a:ext cx="1506931" cy="786384"/>
          </a:xfrm>
          <a:prstGeom prst="rect">
            <a:avLst/>
          </a:prstGeom>
          <a:solidFill>
            <a:srgbClr val="ADDAFB"/>
          </a:solidFill>
          <a:ln w="6350">
            <a:solidFill>
              <a:srgbClr val="ADDAFB"/>
            </a:solidFill>
            <a:prstDash val="solid"/>
          </a:ln>
        </p:spPr>
      </p:sp>
      <p:sp>
        <p:nvSpPr>
          <p:cNvPr id="59" name="Text 57"/>
          <p:cNvSpPr/>
          <p:nvPr/>
        </p:nvSpPr>
        <p:spPr>
          <a:xfrm>
            <a:off x="1847088"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Land the source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Ingest the Oracle and Epic custom-schema objects into bronze via CDC or batch.</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Bronze feed running and monitored</a:t>
            </a:r>
            <a:endParaRPr lang="en-US" sz="780" dirty="0"/>
          </a:p>
        </p:txBody>
      </p:sp>
      <p:sp>
        <p:nvSpPr>
          <p:cNvPr id="60" name="Shape 58"/>
          <p:cNvSpPr/>
          <p:nvPr/>
        </p:nvSpPr>
        <p:spPr>
          <a:xfrm>
            <a:off x="3370478" y="3438144"/>
            <a:ext cx="149962" cy="237744"/>
          </a:xfrm>
          <a:prstGeom prst="chevron">
            <a:avLst/>
          </a:prstGeom>
          <a:solidFill>
            <a:srgbClr val="EEEEEE"/>
          </a:solidFill>
          <a:ln w="6350">
            <a:solidFill>
              <a:srgbClr val="EEEEEE"/>
            </a:solidFill>
            <a:prstDash val="solid"/>
          </a:ln>
        </p:spPr>
      </p:sp>
      <p:sp>
        <p:nvSpPr>
          <p:cNvPr id="61" name="Shape 59"/>
          <p:cNvSpPr/>
          <p:nvPr/>
        </p:nvSpPr>
        <p:spPr>
          <a:xfrm>
            <a:off x="3536899" y="3163824"/>
            <a:ext cx="1506931" cy="786384"/>
          </a:xfrm>
          <a:prstGeom prst="rect">
            <a:avLst/>
          </a:prstGeom>
          <a:solidFill>
            <a:srgbClr val="ADDAFB"/>
          </a:solidFill>
          <a:ln w="6350">
            <a:solidFill>
              <a:srgbClr val="ADDAFB"/>
            </a:solidFill>
            <a:prstDash val="solid"/>
          </a:ln>
        </p:spPr>
      </p:sp>
      <p:sp>
        <p:nvSpPr>
          <p:cNvPr id="62" name="Text 60"/>
          <p:cNvSpPr/>
          <p:nvPr/>
        </p:nvSpPr>
        <p:spPr>
          <a:xfrm>
            <a:off x="3536899"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Model up to gold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Rebuild the universe logic as Delta tables and Unity Catalog metric views.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Gold tables and metric views published</a:t>
            </a:r>
            <a:endParaRPr lang="en-US" sz="780" dirty="0"/>
          </a:p>
        </p:txBody>
      </p:sp>
      <p:sp>
        <p:nvSpPr>
          <p:cNvPr id="63" name="Shape 61"/>
          <p:cNvSpPr/>
          <p:nvPr/>
        </p:nvSpPr>
        <p:spPr>
          <a:xfrm>
            <a:off x="5060290" y="3438144"/>
            <a:ext cx="149962" cy="237744"/>
          </a:xfrm>
          <a:prstGeom prst="chevron">
            <a:avLst/>
          </a:prstGeom>
          <a:solidFill>
            <a:srgbClr val="EEEEEE"/>
          </a:solidFill>
          <a:ln w="6350">
            <a:solidFill>
              <a:srgbClr val="EEEEEE"/>
            </a:solidFill>
            <a:prstDash val="solid"/>
          </a:ln>
        </p:spPr>
      </p:sp>
      <p:sp>
        <p:nvSpPr>
          <p:cNvPr id="64" name="Shape 62"/>
          <p:cNvSpPr/>
          <p:nvPr/>
        </p:nvSpPr>
        <p:spPr>
          <a:xfrm>
            <a:off x="5226710" y="3163824"/>
            <a:ext cx="1506931" cy="786384"/>
          </a:xfrm>
          <a:prstGeom prst="rect">
            <a:avLst/>
          </a:prstGeom>
          <a:solidFill>
            <a:srgbClr val="ADDAFB"/>
          </a:solidFill>
          <a:ln w="6350">
            <a:solidFill>
              <a:srgbClr val="ADDAFB"/>
            </a:solidFill>
            <a:prstDash val="solid"/>
          </a:ln>
        </p:spPr>
      </p:sp>
      <p:sp>
        <p:nvSpPr>
          <p:cNvPr id="65" name="Text 63"/>
          <p:cNvSpPr/>
          <p:nvPr/>
        </p:nvSpPr>
        <p:spPr>
          <a:xfrm>
            <a:off x="5226710"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Apply the governance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Set UC row filters, column masks, lineage capture and audit logging.</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UC policies applied, audit logging on</a:t>
            </a:r>
            <a:endParaRPr lang="en-US" sz="780" dirty="0"/>
          </a:p>
        </p:txBody>
      </p:sp>
      <p:sp>
        <p:nvSpPr>
          <p:cNvPr id="66" name="Shape 64"/>
          <p:cNvSpPr/>
          <p:nvPr/>
        </p:nvSpPr>
        <p:spPr>
          <a:xfrm>
            <a:off x="6750101" y="3438144"/>
            <a:ext cx="149962" cy="237744"/>
          </a:xfrm>
          <a:prstGeom prst="chevron">
            <a:avLst/>
          </a:prstGeom>
          <a:solidFill>
            <a:srgbClr val="EEEEEE"/>
          </a:solidFill>
          <a:ln w="6350">
            <a:solidFill>
              <a:srgbClr val="EEEEEE"/>
            </a:solidFill>
            <a:prstDash val="solid"/>
          </a:ln>
        </p:spPr>
      </p:sp>
      <p:sp>
        <p:nvSpPr>
          <p:cNvPr id="67" name="Shape 65"/>
          <p:cNvSpPr/>
          <p:nvPr/>
        </p:nvSpPr>
        <p:spPr>
          <a:xfrm>
            <a:off x="6916522" y="3163824"/>
            <a:ext cx="1506931" cy="786384"/>
          </a:xfrm>
          <a:prstGeom prst="rect">
            <a:avLst/>
          </a:prstGeom>
          <a:solidFill>
            <a:srgbClr val="ADDAFB"/>
          </a:solidFill>
          <a:ln w="6350">
            <a:solidFill>
              <a:srgbClr val="ADDAFB"/>
            </a:solidFill>
            <a:prstDash val="solid"/>
          </a:ln>
        </p:spPr>
      </p:sp>
      <p:sp>
        <p:nvSpPr>
          <p:cNvPr id="68" name="Text 66"/>
          <p:cNvSpPr/>
          <p:nvPr/>
        </p:nvSpPr>
        <p:spPr>
          <a:xfrm>
            <a:off x="6916522"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Build the dashboard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Recreate the visuals. Scope a Genie space to gold tables with curated instructions.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Dashboard and Genie space reviewed</a:t>
            </a:r>
            <a:endParaRPr lang="en-US" sz="780" dirty="0"/>
          </a:p>
        </p:txBody>
      </p:sp>
      <p:sp>
        <p:nvSpPr>
          <p:cNvPr id="69" name="Shape 67"/>
          <p:cNvSpPr/>
          <p:nvPr/>
        </p:nvSpPr>
        <p:spPr>
          <a:xfrm>
            <a:off x="8439912" y="3438144"/>
            <a:ext cx="149962" cy="237744"/>
          </a:xfrm>
          <a:prstGeom prst="chevron">
            <a:avLst/>
          </a:prstGeom>
          <a:solidFill>
            <a:srgbClr val="EEEEEE"/>
          </a:solidFill>
          <a:ln w="6350">
            <a:solidFill>
              <a:srgbClr val="EEEEEE"/>
            </a:solidFill>
            <a:prstDash val="solid"/>
          </a:ln>
        </p:spPr>
      </p:sp>
      <p:sp>
        <p:nvSpPr>
          <p:cNvPr id="70" name="Shape 68"/>
          <p:cNvSpPr/>
          <p:nvPr/>
        </p:nvSpPr>
        <p:spPr>
          <a:xfrm>
            <a:off x="8606333" y="3163824"/>
            <a:ext cx="1506931" cy="786384"/>
          </a:xfrm>
          <a:prstGeom prst="rect">
            <a:avLst/>
          </a:prstGeom>
          <a:solidFill>
            <a:srgbClr val="ADDAFB"/>
          </a:solidFill>
          <a:ln w="6350">
            <a:solidFill>
              <a:srgbClr val="ADDAFB"/>
            </a:solidFill>
            <a:prstDash val="solid"/>
          </a:ln>
        </p:spPr>
      </p:sp>
      <p:sp>
        <p:nvSpPr>
          <p:cNvPr id="71" name="Text 69"/>
          <p:cNvSpPr/>
          <p:nvPr/>
        </p:nvSpPr>
        <p:spPr>
          <a:xfrm>
            <a:off x="8606333"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to BOBJ output. Test Genie against a known-answer question set.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and Genie test results</a:t>
            </a:r>
            <a:endParaRPr lang="en-US" sz="780" dirty="0"/>
          </a:p>
        </p:txBody>
      </p:sp>
      <p:sp>
        <p:nvSpPr>
          <p:cNvPr id="72" name="Shape 70"/>
          <p:cNvSpPr/>
          <p:nvPr/>
        </p:nvSpPr>
        <p:spPr>
          <a:xfrm>
            <a:off x="10129723" y="3438144"/>
            <a:ext cx="149962" cy="237744"/>
          </a:xfrm>
          <a:prstGeom prst="chevron">
            <a:avLst/>
          </a:prstGeom>
          <a:solidFill>
            <a:srgbClr val="EEEEEE"/>
          </a:solidFill>
          <a:ln w="6350">
            <a:solidFill>
              <a:srgbClr val="EEEEEE"/>
            </a:solidFill>
            <a:prstDash val="solid"/>
          </a:ln>
        </p:spPr>
      </p:sp>
      <p:sp>
        <p:nvSpPr>
          <p:cNvPr id="73" name="Shape 71"/>
          <p:cNvSpPr/>
          <p:nvPr/>
        </p:nvSpPr>
        <p:spPr>
          <a:xfrm>
            <a:off x="10296144" y="3163824"/>
            <a:ext cx="1506931" cy="786384"/>
          </a:xfrm>
          <a:prstGeom prst="rect">
            <a:avLst/>
          </a:prstGeom>
          <a:solidFill>
            <a:srgbClr val="ADDAFB"/>
          </a:solidFill>
          <a:ln w="6350">
            <a:solidFill>
              <a:srgbClr val="ADDAFB"/>
            </a:solidFill>
            <a:prstDash val="solid"/>
          </a:ln>
        </p:spPr>
      </p:sp>
      <p:sp>
        <p:nvSpPr>
          <p:cNvPr id="74" name="Text 72"/>
          <p:cNvSpPr/>
          <p:nvPr/>
        </p:nvSpPr>
        <p:spPr>
          <a:xfrm>
            <a:off x="10296144"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Grant through UC groups, redirect users, retire the object and the Oracle feed.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Oracle feed off</a:t>
            </a:r>
            <a:endParaRPr lang="en-US" sz="780" dirty="0"/>
          </a:p>
        </p:txBody>
      </p:sp>
      <p:sp>
        <p:nvSpPr>
          <p:cNvPr id="75" name="Shape 73"/>
          <p:cNvSpPr/>
          <p:nvPr/>
        </p:nvSpPr>
        <p:spPr>
          <a:xfrm>
            <a:off x="384048" y="4069080"/>
            <a:ext cx="1371600" cy="786384"/>
          </a:xfrm>
          <a:prstGeom prst="rect">
            <a:avLst/>
          </a:prstGeom>
          <a:solidFill>
            <a:srgbClr val="707070"/>
          </a:solidFill>
          <a:ln w="6350">
            <a:solidFill>
              <a:srgbClr val="707070"/>
            </a:solidFill>
            <a:prstDash val="solid"/>
          </a:ln>
        </p:spPr>
      </p:sp>
      <p:sp>
        <p:nvSpPr>
          <p:cNvPr id="76" name="Text 74"/>
          <p:cNvSpPr/>
          <p:nvPr/>
        </p:nvSpPr>
        <p:spPr>
          <a:xfrm>
            <a:off x="384048" y="4069080"/>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Retire / Consolidate</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Run down</a:t>
            </a:r>
            <a:endParaRPr lang="en-US" sz="900" dirty="0"/>
          </a:p>
        </p:txBody>
      </p:sp>
      <p:sp>
        <p:nvSpPr>
          <p:cNvPr id="77" name="Shape 75"/>
          <p:cNvSpPr/>
          <p:nvPr/>
        </p:nvSpPr>
        <p:spPr>
          <a:xfrm>
            <a:off x="1847088" y="4069080"/>
            <a:ext cx="1506931" cy="786384"/>
          </a:xfrm>
          <a:prstGeom prst="rect">
            <a:avLst/>
          </a:prstGeom>
          <a:solidFill>
            <a:srgbClr val="F2F2F2"/>
          </a:solidFill>
          <a:ln w="6350">
            <a:solidFill>
              <a:srgbClr val="E2E2E2"/>
            </a:solidFill>
            <a:prstDash val="solid"/>
          </a:ln>
        </p:spPr>
      </p:sp>
      <p:sp>
        <p:nvSpPr>
          <p:cNvPr id="78" name="Text 76"/>
          <p:cNvSpPr/>
          <p:nvPr/>
        </p:nvSpPr>
        <p:spPr>
          <a:xfrm>
            <a:off x="1847088"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Document the evidence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Record the 18-month usage finding, or the duplicate class and its survivor.</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Evidence attached to the asset record</a:t>
            </a:r>
            <a:endParaRPr lang="en-US" sz="780" dirty="0"/>
          </a:p>
        </p:txBody>
      </p:sp>
      <p:sp>
        <p:nvSpPr>
          <p:cNvPr id="79" name="Shape 77"/>
          <p:cNvSpPr/>
          <p:nvPr/>
        </p:nvSpPr>
        <p:spPr>
          <a:xfrm>
            <a:off x="3370478" y="4343400"/>
            <a:ext cx="149962" cy="237744"/>
          </a:xfrm>
          <a:prstGeom prst="chevron">
            <a:avLst/>
          </a:prstGeom>
          <a:solidFill>
            <a:srgbClr val="EEEEEE"/>
          </a:solidFill>
          <a:ln w="6350">
            <a:solidFill>
              <a:srgbClr val="EEEEEE"/>
            </a:solidFill>
            <a:prstDash val="solid"/>
          </a:ln>
        </p:spPr>
      </p:sp>
      <p:sp>
        <p:nvSpPr>
          <p:cNvPr id="80" name="Shape 78"/>
          <p:cNvSpPr/>
          <p:nvPr/>
        </p:nvSpPr>
        <p:spPr>
          <a:xfrm>
            <a:off x="3536899" y="4069080"/>
            <a:ext cx="1506931" cy="786384"/>
          </a:xfrm>
          <a:prstGeom prst="rect">
            <a:avLst/>
          </a:prstGeom>
          <a:solidFill>
            <a:srgbClr val="F2F2F2"/>
          </a:solidFill>
          <a:ln w="6350">
            <a:solidFill>
              <a:srgbClr val="E2E2E2"/>
            </a:solidFill>
            <a:prstDash val="solid"/>
          </a:ln>
        </p:spPr>
      </p:sp>
      <p:sp>
        <p:nvSpPr>
          <p:cNvPr id="81" name="Text 79"/>
          <p:cNvSpPr/>
          <p:nvPr/>
        </p:nvSpPr>
        <p:spPr>
          <a:xfrm>
            <a:off x="3536899"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Notify the consumers</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Give 30 days' notice to last-known users and the asset owner. Log objections.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Notice sent, objection window closed</a:t>
            </a:r>
            <a:endParaRPr lang="en-US" sz="780" dirty="0"/>
          </a:p>
        </p:txBody>
      </p:sp>
      <p:sp>
        <p:nvSpPr>
          <p:cNvPr id="82" name="Shape 80"/>
          <p:cNvSpPr/>
          <p:nvPr/>
        </p:nvSpPr>
        <p:spPr>
          <a:xfrm>
            <a:off x="5060290" y="4343400"/>
            <a:ext cx="149962" cy="237744"/>
          </a:xfrm>
          <a:prstGeom prst="chevron">
            <a:avLst/>
          </a:prstGeom>
          <a:solidFill>
            <a:srgbClr val="EEEEEE"/>
          </a:solidFill>
          <a:ln w="6350">
            <a:solidFill>
              <a:srgbClr val="EEEEEE"/>
            </a:solidFill>
            <a:prstDash val="solid"/>
          </a:ln>
        </p:spPr>
      </p:sp>
      <p:sp>
        <p:nvSpPr>
          <p:cNvPr id="83" name="Shape 81"/>
          <p:cNvSpPr/>
          <p:nvPr/>
        </p:nvSpPr>
        <p:spPr>
          <a:xfrm>
            <a:off x="5226710" y="4069080"/>
            <a:ext cx="1506931" cy="786384"/>
          </a:xfrm>
          <a:prstGeom prst="rect">
            <a:avLst/>
          </a:prstGeom>
          <a:solidFill>
            <a:srgbClr val="F2F2F2"/>
          </a:solidFill>
          <a:ln w="6350">
            <a:solidFill>
              <a:srgbClr val="E2E2E2"/>
            </a:solidFill>
            <a:prstDash val="solid"/>
          </a:ln>
        </p:spPr>
      </p:sp>
      <p:sp>
        <p:nvSpPr>
          <p:cNvPr id="84" name="Text 82"/>
          <p:cNvSpPr/>
          <p:nvPr/>
        </p:nvSpPr>
        <p:spPr>
          <a:xfrm>
            <a:off x="5226710"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Redirect to the survivor</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Point consumers at the canonical asset and confirm it meets their need.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Consumers confirmed on the survivor</a:t>
            </a:r>
            <a:endParaRPr lang="en-US" sz="780" dirty="0"/>
          </a:p>
        </p:txBody>
      </p:sp>
      <p:sp>
        <p:nvSpPr>
          <p:cNvPr id="85" name="Shape 83"/>
          <p:cNvSpPr/>
          <p:nvPr/>
        </p:nvSpPr>
        <p:spPr>
          <a:xfrm>
            <a:off x="6750101" y="4343400"/>
            <a:ext cx="149962" cy="237744"/>
          </a:xfrm>
          <a:prstGeom prst="chevron">
            <a:avLst/>
          </a:prstGeom>
          <a:solidFill>
            <a:srgbClr val="EEEEEE"/>
          </a:solidFill>
          <a:ln w="6350">
            <a:solidFill>
              <a:srgbClr val="EEEEEE"/>
            </a:solidFill>
            <a:prstDash val="solid"/>
          </a:ln>
        </p:spPr>
      </p:sp>
      <p:sp>
        <p:nvSpPr>
          <p:cNvPr id="86" name="Shape 84"/>
          <p:cNvSpPr/>
          <p:nvPr/>
        </p:nvSpPr>
        <p:spPr>
          <a:xfrm>
            <a:off x="6916522" y="4069080"/>
            <a:ext cx="1506931" cy="786384"/>
          </a:xfrm>
          <a:prstGeom prst="rect">
            <a:avLst/>
          </a:prstGeom>
          <a:solidFill>
            <a:srgbClr val="F2F2F2"/>
          </a:solidFill>
          <a:ln w="6350">
            <a:solidFill>
              <a:srgbClr val="E2E2E2"/>
            </a:solidFill>
            <a:prstDash val="solid"/>
          </a:ln>
        </p:spPr>
      </p:sp>
      <p:sp>
        <p:nvSpPr>
          <p:cNvPr id="87" name="Text 85"/>
          <p:cNvSpPr/>
          <p:nvPr/>
        </p:nvSpPr>
        <p:spPr>
          <a:xfrm>
            <a:off x="6916522"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Preserve the record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Archive the final output and definition where state retention rules apply.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Archive stored with its retention basis</a:t>
            </a:r>
            <a:endParaRPr lang="en-US" sz="780" dirty="0"/>
          </a:p>
        </p:txBody>
      </p:sp>
      <p:sp>
        <p:nvSpPr>
          <p:cNvPr id="88" name="Shape 86"/>
          <p:cNvSpPr/>
          <p:nvPr/>
        </p:nvSpPr>
        <p:spPr>
          <a:xfrm>
            <a:off x="8439912" y="4343400"/>
            <a:ext cx="149962" cy="237744"/>
          </a:xfrm>
          <a:prstGeom prst="chevron">
            <a:avLst/>
          </a:prstGeom>
          <a:solidFill>
            <a:srgbClr val="EEEEEE"/>
          </a:solidFill>
          <a:ln w="6350">
            <a:solidFill>
              <a:srgbClr val="EEEEEE"/>
            </a:solidFill>
            <a:prstDash val="solid"/>
          </a:ln>
        </p:spPr>
      </p:sp>
      <p:sp>
        <p:nvSpPr>
          <p:cNvPr id="89" name="Shape 87"/>
          <p:cNvSpPr/>
          <p:nvPr/>
        </p:nvSpPr>
        <p:spPr>
          <a:xfrm>
            <a:off x="8606333" y="4069080"/>
            <a:ext cx="1506931" cy="786384"/>
          </a:xfrm>
          <a:prstGeom prst="rect">
            <a:avLst/>
          </a:prstGeom>
          <a:solidFill>
            <a:srgbClr val="F2F2F2"/>
          </a:solidFill>
          <a:ln w="6350">
            <a:solidFill>
              <a:srgbClr val="E2E2E2"/>
            </a:solidFill>
            <a:prstDash val="solid"/>
          </a:ln>
        </p:spPr>
      </p:sp>
      <p:sp>
        <p:nvSpPr>
          <p:cNvPr id="90" name="Text 88"/>
          <p:cNvSpPr/>
          <p:nvPr/>
        </p:nvSpPr>
        <p:spPr>
          <a:xfrm>
            <a:off x="8606333"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Disable, do not delete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Stop schedules, remove from folders, quarantine the object for 60–90 days.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Quarantine start date logged</a:t>
            </a:r>
            <a:endParaRPr lang="en-US" sz="780" dirty="0"/>
          </a:p>
        </p:txBody>
      </p:sp>
      <p:sp>
        <p:nvSpPr>
          <p:cNvPr id="91" name="Shape 89"/>
          <p:cNvSpPr/>
          <p:nvPr/>
        </p:nvSpPr>
        <p:spPr>
          <a:xfrm>
            <a:off x="10129723" y="4343400"/>
            <a:ext cx="149962" cy="237744"/>
          </a:xfrm>
          <a:prstGeom prst="chevron">
            <a:avLst/>
          </a:prstGeom>
          <a:solidFill>
            <a:srgbClr val="EEEEEE"/>
          </a:solidFill>
          <a:ln w="6350">
            <a:solidFill>
              <a:srgbClr val="EEEEEE"/>
            </a:solidFill>
            <a:prstDash val="solid"/>
          </a:ln>
        </p:spPr>
      </p:sp>
      <p:sp>
        <p:nvSpPr>
          <p:cNvPr id="92" name="Shape 90"/>
          <p:cNvSpPr/>
          <p:nvPr/>
        </p:nvSpPr>
        <p:spPr>
          <a:xfrm>
            <a:off x="10296144" y="4069080"/>
            <a:ext cx="1506931" cy="786384"/>
          </a:xfrm>
          <a:prstGeom prst="rect">
            <a:avLst/>
          </a:prstGeom>
          <a:solidFill>
            <a:srgbClr val="F2F2F2"/>
          </a:solidFill>
          <a:ln w="6350">
            <a:solidFill>
              <a:srgbClr val="E2E2E2"/>
            </a:solidFill>
            <a:prstDash val="solid"/>
          </a:ln>
        </p:spPr>
      </p:sp>
      <p:sp>
        <p:nvSpPr>
          <p:cNvPr id="93" name="Text 91"/>
          <p:cNvSpPr/>
          <p:nvPr/>
        </p:nvSpPr>
        <p:spPr>
          <a:xfrm>
            <a:off x="10296144"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Decommission</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Delete object, unshared universe and connection. Update the asset inventory.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Inventory updated, object gone</a:t>
            </a:r>
            <a:endParaRPr lang="en-US" sz="780" dirty="0"/>
          </a:p>
        </p:txBody>
      </p:sp>
      <p:sp>
        <p:nvSpPr>
          <p:cNvPr id="94" name="Shape 92"/>
          <p:cNvSpPr/>
          <p:nvPr/>
        </p:nvSpPr>
        <p:spPr>
          <a:xfrm>
            <a:off x="384048" y="4974336"/>
            <a:ext cx="1371600" cy="786384"/>
          </a:xfrm>
          <a:prstGeom prst="rect">
            <a:avLst/>
          </a:prstGeom>
          <a:solidFill>
            <a:srgbClr val="081F5C"/>
          </a:solidFill>
          <a:ln w="6350">
            <a:solidFill>
              <a:srgbClr val="081F5C"/>
            </a:solidFill>
            <a:prstDash val="solid"/>
          </a:ln>
        </p:spPr>
      </p:sp>
      <p:sp>
        <p:nvSpPr>
          <p:cNvPr id="95" name="Text 93"/>
          <p:cNvSpPr/>
          <p:nvPr/>
        </p:nvSpPr>
        <p:spPr>
          <a:xfrm>
            <a:off x="384048" y="4974336"/>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Retain in BOBJ</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Exception</a:t>
            </a:r>
            <a:endParaRPr lang="en-US" sz="900" dirty="0"/>
          </a:p>
        </p:txBody>
      </p:sp>
      <p:sp>
        <p:nvSpPr>
          <p:cNvPr id="96" name="Shape 94"/>
          <p:cNvSpPr/>
          <p:nvPr/>
        </p:nvSpPr>
        <p:spPr>
          <a:xfrm>
            <a:off x="1847088" y="4974336"/>
            <a:ext cx="1506931" cy="786384"/>
          </a:xfrm>
          <a:prstGeom prst="rect">
            <a:avLst/>
          </a:prstGeom>
          <a:solidFill>
            <a:srgbClr val="FFFFFF"/>
          </a:solidFill>
          <a:ln w="9525">
            <a:solidFill>
              <a:srgbClr val="081F5C"/>
            </a:solidFill>
            <a:prstDash val="dash"/>
          </a:ln>
        </p:spPr>
      </p:sp>
      <p:sp>
        <p:nvSpPr>
          <p:cNvPr id="97" name="Text 95"/>
          <p:cNvSpPr/>
          <p:nvPr/>
        </p:nvSpPr>
        <p:spPr>
          <a:xfrm>
            <a:off x="1847088"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Document the exception</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Record which of the four criteria hold, with the evidence attached to each.</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Criteria evidence attached</a:t>
            </a:r>
            <a:endParaRPr lang="en-US" sz="780" dirty="0"/>
          </a:p>
        </p:txBody>
      </p:sp>
      <p:sp>
        <p:nvSpPr>
          <p:cNvPr id="98" name="Shape 96"/>
          <p:cNvSpPr/>
          <p:nvPr/>
        </p:nvSpPr>
        <p:spPr>
          <a:xfrm>
            <a:off x="3370478" y="5248656"/>
            <a:ext cx="149962" cy="237744"/>
          </a:xfrm>
          <a:prstGeom prst="chevron">
            <a:avLst/>
          </a:prstGeom>
          <a:solidFill>
            <a:srgbClr val="EEEEEE"/>
          </a:solidFill>
          <a:ln w="6350">
            <a:solidFill>
              <a:srgbClr val="EEEEEE"/>
            </a:solidFill>
            <a:prstDash val="solid"/>
          </a:ln>
        </p:spPr>
      </p:sp>
      <p:sp>
        <p:nvSpPr>
          <p:cNvPr id="99" name="Shape 97"/>
          <p:cNvSpPr/>
          <p:nvPr/>
        </p:nvSpPr>
        <p:spPr>
          <a:xfrm>
            <a:off x="3536899" y="4974336"/>
            <a:ext cx="1506931" cy="786384"/>
          </a:xfrm>
          <a:prstGeom prst="rect">
            <a:avLst/>
          </a:prstGeom>
          <a:solidFill>
            <a:srgbClr val="FFFFFF"/>
          </a:solidFill>
          <a:ln w="9525">
            <a:solidFill>
              <a:srgbClr val="081F5C"/>
            </a:solidFill>
            <a:prstDash val="dash"/>
          </a:ln>
        </p:spPr>
      </p:sp>
      <p:sp>
        <p:nvSpPr>
          <p:cNvPr id="100" name="Text 98"/>
          <p:cNvSpPr/>
          <p:nvPr/>
        </p:nvSpPr>
        <p:spPr>
          <a:xfrm>
            <a:off x="3536899"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Secure the sign-off</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Have named business and platform owners accept, then register the exception.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Exception registered with both owners</a:t>
            </a:r>
            <a:endParaRPr lang="en-US" sz="780" dirty="0"/>
          </a:p>
        </p:txBody>
      </p:sp>
      <p:sp>
        <p:nvSpPr>
          <p:cNvPr id="101" name="Shape 99"/>
          <p:cNvSpPr/>
          <p:nvPr/>
        </p:nvSpPr>
        <p:spPr>
          <a:xfrm>
            <a:off x="5060290" y="5248656"/>
            <a:ext cx="149962" cy="237744"/>
          </a:xfrm>
          <a:prstGeom prst="chevron">
            <a:avLst/>
          </a:prstGeom>
          <a:solidFill>
            <a:srgbClr val="EEEEEE"/>
          </a:solidFill>
          <a:ln w="6350">
            <a:solidFill>
              <a:srgbClr val="EEEEEE"/>
            </a:solidFill>
            <a:prstDash val="solid"/>
          </a:ln>
        </p:spPr>
      </p:sp>
      <p:sp>
        <p:nvSpPr>
          <p:cNvPr id="102" name="Shape 100"/>
          <p:cNvSpPr/>
          <p:nvPr/>
        </p:nvSpPr>
        <p:spPr>
          <a:xfrm>
            <a:off x="5226710" y="4974336"/>
            <a:ext cx="1506931" cy="786384"/>
          </a:xfrm>
          <a:prstGeom prst="rect">
            <a:avLst/>
          </a:prstGeom>
          <a:solidFill>
            <a:srgbClr val="FFFFFF"/>
          </a:solidFill>
          <a:ln w="9525">
            <a:solidFill>
              <a:srgbClr val="081F5C"/>
            </a:solidFill>
            <a:prstDash val="dash"/>
          </a:ln>
        </p:spPr>
      </p:sp>
      <p:sp>
        <p:nvSpPr>
          <p:cNvPr id="103" name="Text 101"/>
          <p:cNvSpPr/>
          <p:nvPr/>
        </p:nvSpPr>
        <p:spPr>
          <a:xfrm>
            <a:off x="5226710"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Set the sunset date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Bound it by the Oracle decommission milestone and enter it in the wave plan.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Sunset date entered in the wave plan</a:t>
            </a:r>
            <a:endParaRPr lang="en-US" sz="780" dirty="0"/>
          </a:p>
        </p:txBody>
      </p:sp>
      <p:sp>
        <p:nvSpPr>
          <p:cNvPr id="104" name="Shape 102"/>
          <p:cNvSpPr/>
          <p:nvPr/>
        </p:nvSpPr>
        <p:spPr>
          <a:xfrm>
            <a:off x="6750101" y="5248656"/>
            <a:ext cx="149962" cy="237744"/>
          </a:xfrm>
          <a:prstGeom prst="chevron">
            <a:avLst/>
          </a:prstGeom>
          <a:solidFill>
            <a:srgbClr val="EEEEEE"/>
          </a:solidFill>
          <a:ln w="6350">
            <a:solidFill>
              <a:srgbClr val="EEEEEE"/>
            </a:solidFill>
            <a:prstDash val="solid"/>
          </a:ln>
        </p:spPr>
      </p:sp>
      <p:sp>
        <p:nvSpPr>
          <p:cNvPr id="105" name="Shape 103"/>
          <p:cNvSpPr/>
          <p:nvPr/>
        </p:nvSpPr>
        <p:spPr>
          <a:xfrm>
            <a:off x="6916522" y="4974336"/>
            <a:ext cx="1506931" cy="786384"/>
          </a:xfrm>
          <a:prstGeom prst="rect">
            <a:avLst/>
          </a:prstGeom>
          <a:solidFill>
            <a:srgbClr val="FFFFFF"/>
          </a:solidFill>
          <a:ln w="9525">
            <a:solidFill>
              <a:srgbClr val="081F5C"/>
            </a:solidFill>
            <a:prstDash val="dash"/>
          </a:ln>
        </p:spPr>
      </p:sp>
      <p:sp>
        <p:nvSpPr>
          <p:cNvPr id="106" name="Text 104"/>
          <p:cNvSpPr/>
          <p:nvPr/>
        </p:nvSpPr>
        <p:spPr>
          <a:xfrm>
            <a:off x="6916522"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Re-point the source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Move the universe to SQL Server or Databricks. If it cannot move, retention is void.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Universe re-pointed off Oracle</a:t>
            </a:r>
            <a:endParaRPr lang="en-US" sz="780" dirty="0"/>
          </a:p>
        </p:txBody>
      </p:sp>
      <p:sp>
        <p:nvSpPr>
          <p:cNvPr id="107" name="Shape 105"/>
          <p:cNvSpPr/>
          <p:nvPr/>
        </p:nvSpPr>
        <p:spPr>
          <a:xfrm>
            <a:off x="8439912" y="5248656"/>
            <a:ext cx="149962" cy="237744"/>
          </a:xfrm>
          <a:prstGeom prst="chevron">
            <a:avLst/>
          </a:prstGeom>
          <a:solidFill>
            <a:srgbClr val="EEEEEE"/>
          </a:solidFill>
          <a:ln w="6350">
            <a:solidFill>
              <a:srgbClr val="EEEEEE"/>
            </a:solidFill>
            <a:prstDash val="solid"/>
          </a:ln>
        </p:spPr>
      </p:sp>
      <p:sp>
        <p:nvSpPr>
          <p:cNvPr id="108" name="Shape 106"/>
          <p:cNvSpPr/>
          <p:nvPr/>
        </p:nvSpPr>
        <p:spPr>
          <a:xfrm>
            <a:off x="8606333" y="4974336"/>
            <a:ext cx="1506931" cy="786384"/>
          </a:xfrm>
          <a:prstGeom prst="rect">
            <a:avLst/>
          </a:prstGeom>
          <a:solidFill>
            <a:srgbClr val="FFFFFF"/>
          </a:solidFill>
          <a:ln w="9525">
            <a:solidFill>
              <a:srgbClr val="081F5C"/>
            </a:solidFill>
            <a:prstDash val="dash"/>
          </a:ln>
        </p:spPr>
      </p:sp>
      <p:sp>
        <p:nvSpPr>
          <p:cNvPr id="109" name="Text 107"/>
          <p:cNvSpPr/>
          <p:nvPr/>
        </p:nvSpPr>
        <p:spPr>
          <a:xfrm>
            <a:off x="8606333"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Freeze the asset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Block enhancements. Any change re-enters the rubric at principle 1.</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Change freeze applied to the asset</a:t>
            </a:r>
            <a:endParaRPr lang="en-US" sz="780" dirty="0"/>
          </a:p>
        </p:txBody>
      </p:sp>
      <p:sp>
        <p:nvSpPr>
          <p:cNvPr id="110" name="Shape 108"/>
          <p:cNvSpPr/>
          <p:nvPr/>
        </p:nvSpPr>
        <p:spPr>
          <a:xfrm>
            <a:off x="10129723" y="5248656"/>
            <a:ext cx="149962" cy="237744"/>
          </a:xfrm>
          <a:prstGeom prst="chevron">
            <a:avLst/>
          </a:prstGeom>
          <a:solidFill>
            <a:srgbClr val="EEEEEE"/>
          </a:solidFill>
          <a:ln w="6350">
            <a:solidFill>
              <a:srgbClr val="EEEEEE"/>
            </a:solidFill>
            <a:prstDash val="solid"/>
          </a:ln>
        </p:spPr>
      </p:sp>
      <p:sp>
        <p:nvSpPr>
          <p:cNvPr id="111" name="Shape 109"/>
          <p:cNvSpPr/>
          <p:nvPr/>
        </p:nvSpPr>
        <p:spPr>
          <a:xfrm>
            <a:off x="10296144" y="4974336"/>
            <a:ext cx="1506931" cy="786384"/>
          </a:xfrm>
          <a:prstGeom prst="rect">
            <a:avLst/>
          </a:prstGeom>
          <a:solidFill>
            <a:srgbClr val="FFFFFF"/>
          </a:solidFill>
          <a:ln w="9525">
            <a:solidFill>
              <a:srgbClr val="081F5C"/>
            </a:solidFill>
            <a:prstDash val="dash"/>
          </a:ln>
        </p:spPr>
      </p:sp>
      <p:sp>
        <p:nvSpPr>
          <p:cNvPr id="112" name="Text 110"/>
          <p:cNvSpPr/>
          <p:nvPr/>
        </p:nvSpPr>
        <p:spPr>
          <a:xfrm>
            <a:off x="10296144"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Review at every gate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Re-test against the rubric each wave. Force a disposition at the sunset date.</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Wave review logged, sunset tracked</a:t>
            </a:r>
            <a:endParaRPr lang="en-US" sz="780" dirty="0"/>
          </a:p>
        </p:txBody>
      </p:sp>
      <p:sp>
        <p:nvSpPr>
          <p:cNvPr id="113" name="Shape 111"/>
          <p:cNvSpPr/>
          <p:nvPr/>
        </p:nvSpPr>
        <p:spPr>
          <a:xfrm>
            <a:off x="384048" y="5870448"/>
            <a:ext cx="11420856" cy="384048"/>
          </a:xfrm>
          <a:prstGeom prst="rect">
            <a:avLst/>
          </a:prstGeom>
          <a:solidFill>
            <a:srgbClr val="EAF5FD"/>
          </a:solidFill>
          <a:ln w="9525">
            <a:solidFill>
              <a:srgbClr val="C9E3F7"/>
            </a:solidFill>
            <a:prstDash val="solid"/>
          </a:ln>
        </p:spPr>
      </p:sp>
      <p:sp>
        <p:nvSpPr>
          <p:cNvPr id="114" name="Text 112"/>
          <p:cNvSpPr/>
          <p:nvPr/>
        </p:nvSpPr>
        <p:spPr>
          <a:xfrm>
            <a:off x="384048" y="5870448"/>
            <a:ext cx="11420856" cy="384048"/>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step 5 of every path.  </a:t>
            </a:r>
            <a:pPr indent="0" marL="0">
              <a:lnSpc>
                <a:spcPct val="95000"/>
              </a:lnSpc>
              <a:buNone/>
            </a:pPr>
            <a:r>
              <a:rPr lang="en-US" sz="700" dirty="0">
                <a:solidFill>
                  <a:srgbClr val="1A1A1A"/>
                </a:solidFill>
                <a:latin typeface="Arial" pitchFamily="34" charset="0"/>
                <a:ea typeface="Arial" pitchFamily="34" charset="-122"/>
                <a:cs typeface="Arial" pitchFamily="34" charset="-120"/>
              </a:rPr>
              <a:t>Complete the security-model translation and the PHI-scope review before release, then re-test row-level access with a non-privileged account rather than an admin. Do not carry BOBJ publication recipient lists into Power BI subscriptions or Unity Catalog groups without re-validating each recipient's minimum-necessary basis. On the retire path, confirm the retention obligation at step 4 before anything is deleted at step 6.</a:t>
            </a:r>
            <a:endParaRPr lang="en-US" sz="700" dirty="0"/>
          </a:p>
        </p:txBody>
      </p:sp>
      <p:sp>
        <p:nvSpPr>
          <p:cNvPr id="115" name="Text 113"/>
          <p:cNvSpPr/>
          <p:nvPr/>
        </p:nvSpPr>
        <p:spPr>
          <a:xfrm>
            <a:off x="384048" y="6309360"/>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Steps run in order and step 6 is not optional — a report is not migrated until the BOBJ object, its universe if unshared, and its schedules are gone. Track step 6 completion, not step 5, as the measure of BOBJ reduction.</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84048" y="182880"/>
            <a:ext cx="10515600" cy="347472"/>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Report Migration Approach  —  Steps by Target Platform</a:t>
            </a:r>
            <a:endParaRPr lang="en-US" sz="2300" dirty="0"/>
          </a:p>
        </p:txBody>
      </p:sp>
      <p:sp>
        <p:nvSpPr>
          <p:cNvPr id="3" name="Text 1"/>
          <p:cNvSpPr/>
          <p:nvPr/>
        </p:nvSpPr>
        <p:spPr>
          <a:xfrm>
            <a:off x="384048" y="548640"/>
            <a:ext cx="11420856" cy="310896"/>
          </a:xfrm>
          <a:prstGeom prst="rect">
            <a:avLst/>
          </a:prstGeom>
          <a:noFill/>
          <a:ln/>
        </p:spPr>
        <p:txBody>
          <a:bodyPr wrap="square" lIns="0" tIns="0" rIns="0" bIns="0" rtlCol="0" anchor="ctr"/>
          <a:lstStyle/>
          <a:p>
            <a:pPr indent="0" marL="0">
              <a:lnSpc>
                <a:spcPct val="95000"/>
              </a:lnSpc>
              <a:buNone/>
            </a:pPr>
            <a:r>
              <a:rPr lang="en-US" sz="950" dirty="0">
                <a:solidFill>
                  <a:srgbClr val="1A1A1A"/>
                </a:solidFill>
                <a:latin typeface="Arial" pitchFamily="34" charset="0"/>
                <a:ea typeface="Arial" pitchFamily="34" charset="-122"/>
                <a:cs typeface="Arial" pitchFamily="34" charset="-120"/>
              </a:rPr>
              <a:t>Migration activities only — retire and consolidate sit outside this view. Power BI and Databricks each carry two tracks: the Oracle database objects the report reads, then the report itself. The data track must clear a step before the report track can clear the same step. CogitoSQL has no data track, because it reads Epic-managed Clarity and Caboodle.</a:t>
            </a:r>
            <a:endParaRPr lang="en-US" sz="950" dirty="0"/>
          </a:p>
        </p:txBody>
      </p:sp>
      <p:sp>
        <p:nvSpPr>
          <p:cNvPr id="4" name="Shape 2"/>
          <p:cNvSpPr/>
          <p:nvPr/>
        </p:nvSpPr>
        <p:spPr>
          <a:xfrm>
            <a:off x="384048" y="932688"/>
            <a:ext cx="1417320" cy="274320"/>
          </a:xfrm>
          <a:prstGeom prst="rect">
            <a:avLst/>
          </a:prstGeom>
          <a:solidFill>
            <a:srgbClr val="081F5C"/>
          </a:solidFill>
          <a:ln w="6350">
            <a:solidFill>
              <a:srgbClr val="081F5C"/>
            </a:solidFill>
            <a:prstDash val="solid"/>
          </a:ln>
        </p:spPr>
      </p:sp>
      <p:sp>
        <p:nvSpPr>
          <p:cNvPr id="5" name="Text 3"/>
          <p:cNvSpPr/>
          <p:nvPr/>
        </p:nvSpPr>
        <p:spPr>
          <a:xfrm>
            <a:off x="384048" y="932688"/>
            <a:ext cx="14173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MIGRATION TRACK</a:t>
            </a:r>
            <a:endParaRPr lang="en-US" sz="800" dirty="0"/>
          </a:p>
        </p:txBody>
      </p:sp>
      <p:sp>
        <p:nvSpPr>
          <p:cNvPr id="6" name="Shape 4"/>
          <p:cNvSpPr/>
          <p:nvPr/>
        </p:nvSpPr>
        <p:spPr>
          <a:xfrm>
            <a:off x="1892808" y="932688"/>
            <a:ext cx="1506931" cy="274320"/>
          </a:xfrm>
          <a:prstGeom prst="homePlate">
            <a:avLst/>
          </a:prstGeom>
          <a:solidFill>
            <a:srgbClr val="081F5C"/>
          </a:solidFill>
          <a:ln w="6350">
            <a:solidFill>
              <a:srgbClr val="081F5C"/>
            </a:solidFill>
            <a:prstDash val="solid"/>
          </a:ln>
        </p:spPr>
      </p:sp>
      <p:sp>
        <p:nvSpPr>
          <p:cNvPr id="7" name="Text 5"/>
          <p:cNvSpPr/>
          <p:nvPr/>
        </p:nvSpPr>
        <p:spPr>
          <a:xfrm>
            <a:off x="1892808"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1 · ASSESS</a:t>
            </a:r>
            <a:endParaRPr lang="en-US" sz="800" dirty="0"/>
          </a:p>
        </p:txBody>
      </p:sp>
      <p:sp>
        <p:nvSpPr>
          <p:cNvPr id="8" name="Shape 6"/>
          <p:cNvSpPr/>
          <p:nvPr/>
        </p:nvSpPr>
        <p:spPr>
          <a:xfrm>
            <a:off x="3390595" y="932688"/>
            <a:ext cx="1689811" cy="274320"/>
          </a:xfrm>
          <a:prstGeom prst="chevron">
            <a:avLst/>
          </a:prstGeom>
          <a:solidFill>
            <a:srgbClr val="081F5C"/>
          </a:solidFill>
          <a:ln w="6350">
            <a:solidFill>
              <a:srgbClr val="081F5C"/>
            </a:solidFill>
            <a:prstDash val="solid"/>
          </a:ln>
        </p:spPr>
      </p:sp>
      <p:sp>
        <p:nvSpPr>
          <p:cNvPr id="9" name="Text 7"/>
          <p:cNvSpPr/>
          <p:nvPr/>
        </p:nvSpPr>
        <p:spPr>
          <a:xfrm>
            <a:off x="3573475"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2 · DESIGN</a:t>
            </a:r>
            <a:endParaRPr lang="en-US" sz="800" dirty="0"/>
          </a:p>
        </p:txBody>
      </p:sp>
      <p:sp>
        <p:nvSpPr>
          <p:cNvPr id="10" name="Shape 8"/>
          <p:cNvSpPr/>
          <p:nvPr/>
        </p:nvSpPr>
        <p:spPr>
          <a:xfrm>
            <a:off x="5071262" y="932688"/>
            <a:ext cx="1689811" cy="274320"/>
          </a:xfrm>
          <a:prstGeom prst="chevron">
            <a:avLst/>
          </a:prstGeom>
          <a:solidFill>
            <a:srgbClr val="081F5C"/>
          </a:solidFill>
          <a:ln w="6350">
            <a:solidFill>
              <a:srgbClr val="081F5C"/>
            </a:solidFill>
            <a:prstDash val="solid"/>
          </a:ln>
        </p:spPr>
      </p:sp>
      <p:sp>
        <p:nvSpPr>
          <p:cNvPr id="11" name="Text 9"/>
          <p:cNvSpPr/>
          <p:nvPr/>
        </p:nvSpPr>
        <p:spPr>
          <a:xfrm>
            <a:off x="5254142"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3 · BUILD</a:t>
            </a:r>
            <a:endParaRPr lang="en-US" sz="800" dirty="0"/>
          </a:p>
        </p:txBody>
      </p:sp>
      <p:sp>
        <p:nvSpPr>
          <p:cNvPr id="12" name="Shape 10"/>
          <p:cNvSpPr/>
          <p:nvPr/>
        </p:nvSpPr>
        <p:spPr>
          <a:xfrm>
            <a:off x="6751930" y="932688"/>
            <a:ext cx="1689811" cy="274320"/>
          </a:xfrm>
          <a:prstGeom prst="chevron">
            <a:avLst/>
          </a:prstGeom>
          <a:solidFill>
            <a:srgbClr val="081F5C"/>
          </a:solidFill>
          <a:ln w="6350">
            <a:solidFill>
              <a:srgbClr val="081F5C"/>
            </a:solidFill>
            <a:prstDash val="solid"/>
          </a:ln>
        </p:spPr>
      </p:sp>
      <p:sp>
        <p:nvSpPr>
          <p:cNvPr id="13" name="Text 11"/>
          <p:cNvSpPr/>
          <p:nvPr/>
        </p:nvSpPr>
        <p:spPr>
          <a:xfrm>
            <a:off x="6934810"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4 · SECURE</a:t>
            </a:r>
            <a:endParaRPr lang="en-US" sz="800" dirty="0"/>
          </a:p>
        </p:txBody>
      </p:sp>
      <p:sp>
        <p:nvSpPr>
          <p:cNvPr id="14" name="Shape 12"/>
          <p:cNvSpPr/>
          <p:nvPr/>
        </p:nvSpPr>
        <p:spPr>
          <a:xfrm>
            <a:off x="8432597" y="932688"/>
            <a:ext cx="1689811" cy="274320"/>
          </a:xfrm>
          <a:prstGeom prst="chevron">
            <a:avLst/>
          </a:prstGeom>
          <a:solidFill>
            <a:srgbClr val="081F5C"/>
          </a:solidFill>
          <a:ln w="6350">
            <a:solidFill>
              <a:srgbClr val="081F5C"/>
            </a:solidFill>
            <a:prstDash val="solid"/>
          </a:ln>
        </p:spPr>
      </p:sp>
      <p:sp>
        <p:nvSpPr>
          <p:cNvPr id="15" name="Text 13"/>
          <p:cNvSpPr/>
          <p:nvPr/>
        </p:nvSpPr>
        <p:spPr>
          <a:xfrm>
            <a:off x="8615477"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5 · VALIDATE</a:t>
            </a:r>
            <a:endParaRPr lang="en-US" sz="800" dirty="0"/>
          </a:p>
        </p:txBody>
      </p:sp>
      <p:sp>
        <p:nvSpPr>
          <p:cNvPr id="16" name="Shape 14"/>
          <p:cNvSpPr/>
          <p:nvPr/>
        </p:nvSpPr>
        <p:spPr>
          <a:xfrm>
            <a:off x="10113264" y="932688"/>
            <a:ext cx="1689811" cy="274320"/>
          </a:xfrm>
          <a:prstGeom prst="chevron">
            <a:avLst/>
          </a:prstGeom>
          <a:solidFill>
            <a:srgbClr val="081F5C"/>
          </a:solidFill>
          <a:ln w="6350">
            <a:solidFill>
              <a:srgbClr val="081F5C"/>
            </a:solidFill>
            <a:prstDash val="solid"/>
          </a:ln>
        </p:spPr>
      </p:sp>
      <p:sp>
        <p:nvSpPr>
          <p:cNvPr id="17" name="Text 15"/>
          <p:cNvSpPr/>
          <p:nvPr/>
        </p:nvSpPr>
        <p:spPr>
          <a:xfrm>
            <a:off x="10296144"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6 · CUT OVER</a:t>
            </a:r>
            <a:endParaRPr lang="en-US" sz="800" dirty="0"/>
          </a:p>
        </p:txBody>
      </p:sp>
      <p:sp>
        <p:nvSpPr>
          <p:cNvPr id="18" name="Shape 16"/>
          <p:cNvSpPr/>
          <p:nvPr/>
        </p:nvSpPr>
        <p:spPr>
          <a:xfrm>
            <a:off x="384048" y="1280160"/>
            <a:ext cx="1417320" cy="658368"/>
          </a:xfrm>
          <a:prstGeom prst="rect">
            <a:avLst/>
          </a:prstGeom>
          <a:solidFill>
            <a:srgbClr val="68349A"/>
          </a:solidFill>
          <a:ln w="6350">
            <a:solidFill>
              <a:srgbClr val="68349A"/>
            </a:solidFill>
            <a:prstDash val="solid"/>
          </a:ln>
        </p:spPr>
      </p:sp>
      <p:sp>
        <p:nvSpPr>
          <p:cNvPr id="19" name="Text 17"/>
          <p:cNvSpPr/>
          <p:nvPr/>
        </p:nvSpPr>
        <p:spPr>
          <a:xfrm>
            <a:off x="384048" y="1280160"/>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FFFFFF"/>
                </a:solidFill>
                <a:latin typeface="Arial" pitchFamily="34" charset="0"/>
                <a:ea typeface="Arial" pitchFamily="34" charset="-122"/>
                <a:cs typeface="Arial" pitchFamily="34" charset="-120"/>
              </a:rPr>
              <a:t>CogitoSQL</a:t>
            </a:r>
            <a:endParaRPr lang="en-US" sz="850" dirty="0"/>
          </a:p>
          <a:p>
            <a:pPr algn="ctr" indent="0" marL="0">
              <a:lnSpc>
                <a:spcPct val="94000"/>
              </a:lnSpc>
              <a:buNone/>
            </a:pPr>
            <a:r>
              <a:rPr lang="en-US" sz="690" dirty="0">
                <a:solidFill>
                  <a:srgbClr val="FFFFFF"/>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FFFFFF"/>
                </a:solidFill>
                <a:latin typeface="Arial" pitchFamily="34" charset="0"/>
                <a:ea typeface="Arial" pitchFamily="34" charset="-122"/>
                <a:cs typeface="Arial" pitchFamily="34" charset="-120"/>
              </a:rPr>
              <a:t>Rearchitect</a:t>
            </a:r>
            <a:endParaRPr lang="en-US" sz="850" dirty="0"/>
          </a:p>
        </p:txBody>
      </p:sp>
      <p:sp>
        <p:nvSpPr>
          <p:cNvPr id="20" name="Shape 18"/>
          <p:cNvSpPr/>
          <p:nvPr/>
        </p:nvSpPr>
        <p:spPr>
          <a:xfrm>
            <a:off x="1892808" y="1280160"/>
            <a:ext cx="1506931" cy="658368"/>
          </a:xfrm>
          <a:prstGeom prst="rect">
            <a:avLst/>
          </a:prstGeom>
          <a:solidFill>
            <a:srgbClr val="ADDAFB"/>
          </a:solidFill>
          <a:ln w="6350">
            <a:solidFill>
              <a:srgbClr val="ADDAFB"/>
            </a:solidFill>
            <a:prstDash val="solid"/>
          </a:ln>
        </p:spPr>
      </p:sp>
      <p:sp>
        <p:nvSpPr>
          <p:cNvPr id="21" name="Text 19"/>
          <p:cNvSpPr/>
          <p:nvPr/>
        </p:nvSpPr>
        <p:spPr>
          <a:xfrm>
            <a:off x="1892808"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Confirm Epic coverage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Check every element exists in Clarity or Caboodle. Route gaps to Databricks.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Coverage confirmed, gaps routed</a:t>
            </a:r>
            <a:endParaRPr lang="en-US" sz="740" dirty="0"/>
          </a:p>
        </p:txBody>
      </p:sp>
      <p:sp>
        <p:nvSpPr>
          <p:cNvPr id="22" name="Shape 20"/>
          <p:cNvSpPr/>
          <p:nvPr/>
        </p:nvSpPr>
        <p:spPr>
          <a:xfrm>
            <a:off x="3416198" y="1499616"/>
            <a:ext cx="149962" cy="219456"/>
          </a:xfrm>
          <a:prstGeom prst="chevron">
            <a:avLst/>
          </a:prstGeom>
          <a:solidFill>
            <a:srgbClr val="EEEEEE"/>
          </a:solidFill>
          <a:ln w="6350">
            <a:solidFill>
              <a:srgbClr val="EEEEEE"/>
            </a:solidFill>
            <a:prstDash val="solid"/>
          </a:ln>
        </p:spPr>
      </p:sp>
      <p:sp>
        <p:nvSpPr>
          <p:cNvPr id="23" name="Shape 21"/>
          <p:cNvSpPr/>
          <p:nvPr/>
        </p:nvSpPr>
        <p:spPr>
          <a:xfrm>
            <a:off x="3573475" y="1280160"/>
            <a:ext cx="1506931" cy="658368"/>
          </a:xfrm>
          <a:prstGeom prst="rect">
            <a:avLst/>
          </a:prstGeom>
          <a:solidFill>
            <a:srgbClr val="ADDAFB"/>
          </a:solidFill>
          <a:ln w="6350">
            <a:solidFill>
              <a:srgbClr val="ADDAFB"/>
            </a:solidFill>
            <a:prstDash val="solid"/>
          </a:ln>
        </p:spPr>
      </p:sp>
      <p:sp>
        <p:nvSpPr>
          <p:cNvPr id="24" name="Text 22"/>
          <p:cNvSpPr/>
          <p:nvPr/>
        </p:nvSpPr>
        <p:spPr>
          <a:xfrm>
            <a:off x="3573475"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Select and spec the tool</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Choose Reporting Workbench, Radar, SlicerDicer or a Cogito SQL view.</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Build spec approved</a:t>
            </a:r>
            <a:endParaRPr lang="en-US" sz="740" dirty="0"/>
          </a:p>
        </p:txBody>
      </p:sp>
      <p:sp>
        <p:nvSpPr>
          <p:cNvPr id="25" name="Shape 23"/>
          <p:cNvSpPr/>
          <p:nvPr/>
        </p:nvSpPr>
        <p:spPr>
          <a:xfrm>
            <a:off x="5096866" y="1499616"/>
            <a:ext cx="149962" cy="219456"/>
          </a:xfrm>
          <a:prstGeom prst="chevron">
            <a:avLst/>
          </a:prstGeom>
          <a:solidFill>
            <a:srgbClr val="EEEEEE"/>
          </a:solidFill>
          <a:ln w="6350">
            <a:solidFill>
              <a:srgbClr val="EEEEEE"/>
            </a:solidFill>
            <a:prstDash val="solid"/>
          </a:ln>
        </p:spPr>
      </p:sp>
      <p:sp>
        <p:nvSpPr>
          <p:cNvPr id="26" name="Shape 24"/>
          <p:cNvSpPr/>
          <p:nvPr/>
        </p:nvSpPr>
        <p:spPr>
          <a:xfrm>
            <a:off x="5254142" y="1280160"/>
            <a:ext cx="1506931" cy="658368"/>
          </a:xfrm>
          <a:prstGeom prst="rect">
            <a:avLst/>
          </a:prstGeom>
          <a:solidFill>
            <a:srgbClr val="ADDAFB"/>
          </a:solidFill>
          <a:ln w="6350">
            <a:solidFill>
              <a:srgbClr val="ADDAFB"/>
            </a:solidFill>
            <a:prstDash val="solid"/>
          </a:ln>
        </p:spPr>
      </p:sp>
      <p:sp>
        <p:nvSpPr>
          <p:cNvPr id="27" name="Text 25"/>
          <p:cNvSpPr/>
          <p:nvPr/>
        </p:nvSpPr>
        <p:spPr>
          <a:xfrm>
            <a:off x="5254142"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Build in non-production</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Configure the template. Peer-review against the source report spec.</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Peer-reviewed in non-prod</a:t>
            </a:r>
            <a:endParaRPr lang="en-US" sz="740" dirty="0"/>
          </a:p>
        </p:txBody>
      </p:sp>
      <p:sp>
        <p:nvSpPr>
          <p:cNvPr id="28" name="Shape 26"/>
          <p:cNvSpPr/>
          <p:nvPr/>
        </p:nvSpPr>
        <p:spPr>
          <a:xfrm>
            <a:off x="6777533" y="1499616"/>
            <a:ext cx="149962" cy="219456"/>
          </a:xfrm>
          <a:prstGeom prst="chevron">
            <a:avLst/>
          </a:prstGeom>
          <a:solidFill>
            <a:srgbClr val="EEEEEE"/>
          </a:solidFill>
          <a:ln w="6350">
            <a:solidFill>
              <a:srgbClr val="EEEEEE"/>
            </a:solidFill>
            <a:prstDash val="solid"/>
          </a:ln>
        </p:spPr>
      </p:sp>
      <p:sp>
        <p:nvSpPr>
          <p:cNvPr id="29" name="Shape 27"/>
          <p:cNvSpPr/>
          <p:nvPr/>
        </p:nvSpPr>
        <p:spPr>
          <a:xfrm>
            <a:off x="6934810" y="1280160"/>
            <a:ext cx="1506931" cy="658368"/>
          </a:xfrm>
          <a:prstGeom prst="rect">
            <a:avLst/>
          </a:prstGeom>
          <a:solidFill>
            <a:srgbClr val="ADDAFB"/>
          </a:solidFill>
          <a:ln w="6350">
            <a:solidFill>
              <a:srgbClr val="ADDAFB"/>
            </a:solidFill>
            <a:prstDash val="solid"/>
          </a:ln>
        </p:spPr>
      </p:sp>
      <p:sp>
        <p:nvSpPr>
          <p:cNvPr id="30" name="Text 28"/>
          <p:cNvSpPr/>
          <p:nvPr/>
        </p:nvSpPr>
        <p:spPr>
          <a:xfrm>
            <a:off x="6934810"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Apply Epic security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Map universe restrictions to security classes and template security.</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Signed by Epic security</a:t>
            </a:r>
            <a:endParaRPr lang="en-US" sz="740" dirty="0"/>
          </a:p>
        </p:txBody>
      </p:sp>
      <p:sp>
        <p:nvSpPr>
          <p:cNvPr id="31" name="Shape 29"/>
          <p:cNvSpPr/>
          <p:nvPr/>
        </p:nvSpPr>
        <p:spPr>
          <a:xfrm>
            <a:off x="8458200" y="1499616"/>
            <a:ext cx="149962" cy="219456"/>
          </a:xfrm>
          <a:prstGeom prst="chevron">
            <a:avLst/>
          </a:prstGeom>
          <a:solidFill>
            <a:srgbClr val="EEEEEE"/>
          </a:solidFill>
          <a:ln w="6350">
            <a:solidFill>
              <a:srgbClr val="EEEEEE"/>
            </a:solidFill>
            <a:prstDash val="solid"/>
          </a:ln>
        </p:spPr>
      </p:sp>
      <p:sp>
        <p:nvSpPr>
          <p:cNvPr id="32" name="Shape 30"/>
          <p:cNvSpPr/>
          <p:nvPr/>
        </p:nvSpPr>
        <p:spPr>
          <a:xfrm>
            <a:off x="8615477" y="1280160"/>
            <a:ext cx="1506931" cy="658368"/>
          </a:xfrm>
          <a:prstGeom prst="rect">
            <a:avLst/>
          </a:prstGeom>
          <a:solidFill>
            <a:srgbClr val="ADDAFB"/>
          </a:solidFill>
          <a:ln w="6350">
            <a:solidFill>
              <a:srgbClr val="ADDAFB"/>
            </a:solidFill>
            <a:prstDash val="solid"/>
          </a:ln>
        </p:spPr>
      </p:sp>
      <p:sp>
        <p:nvSpPr>
          <p:cNvPr id="33" name="Text 31"/>
          <p:cNvSpPr/>
          <p:nvPr/>
        </p:nvSpPr>
        <p:spPr>
          <a:xfrm>
            <a:off x="8615477"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run UAT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rows and totals to L2+. Run clinician UAT in Hyperspace.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pack and UAT</a:t>
            </a:r>
            <a:endParaRPr lang="en-US" sz="740" dirty="0"/>
          </a:p>
        </p:txBody>
      </p:sp>
      <p:sp>
        <p:nvSpPr>
          <p:cNvPr id="34" name="Shape 32"/>
          <p:cNvSpPr/>
          <p:nvPr/>
        </p:nvSpPr>
        <p:spPr>
          <a:xfrm>
            <a:off x="10138867" y="1499616"/>
            <a:ext cx="149962" cy="219456"/>
          </a:xfrm>
          <a:prstGeom prst="chevron">
            <a:avLst/>
          </a:prstGeom>
          <a:solidFill>
            <a:srgbClr val="EEEEEE"/>
          </a:solidFill>
          <a:ln w="6350">
            <a:solidFill>
              <a:srgbClr val="EEEEEE"/>
            </a:solidFill>
            <a:prstDash val="solid"/>
          </a:ln>
        </p:spPr>
      </p:sp>
      <p:sp>
        <p:nvSpPr>
          <p:cNvPr id="35" name="Shape 33"/>
          <p:cNvSpPr/>
          <p:nvPr/>
        </p:nvSpPr>
        <p:spPr>
          <a:xfrm>
            <a:off x="10296144" y="1280160"/>
            <a:ext cx="1506931" cy="658368"/>
          </a:xfrm>
          <a:prstGeom prst="rect">
            <a:avLst/>
          </a:prstGeom>
          <a:solidFill>
            <a:srgbClr val="ADDAFB"/>
          </a:solidFill>
          <a:ln w="6350">
            <a:solidFill>
              <a:srgbClr val="ADDAFB"/>
            </a:solidFill>
            <a:prstDash val="solid"/>
          </a:ln>
        </p:spPr>
      </p:sp>
      <p:sp>
        <p:nvSpPr>
          <p:cNvPr id="36" name="Text 34"/>
          <p:cNvSpPr/>
          <p:nvPr/>
        </p:nvSpPr>
        <p:spPr>
          <a:xfrm>
            <a:off x="10296144"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Release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Publish, redirect users, disable schedules, delete the BOBJ object.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schedules off</a:t>
            </a:r>
            <a:endParaRPr lang="en-US" sz="740" dirty="0"/>
          </a:p>
        </p:txBody>
      </p:sp>
      <p:sp>
        <p:nvSpPr>
          <p:cNvPr id="37" name="Shape 35"/>
          <p:cNvSpPr/>
          <p:nvPr/>
        </p:nvSpPr>
        <p:spPr>
          <a:xfrm>
            <a:off x="384048" y="2029968"/>
            <a:ext cx="1417320" cy="658368"/>
          </a:xfrm>
          <a:prstGeom prst="rect">
            <a:avLst/>
          </a:prstGeom>
          <a:solidFill>
            <a:srgbClr val="CEF8FC"/>
          </a:solidFill>
          <a:ln w="6350">
            <a:solidFill>
              <a:srgbClr val="CEF8FC"/>
            </a:solidFill>
            <a:prstDash val="solid"/>
          </a:ln>
        </p:spPr>
      </p:sp>
      <p:sp>
        <p:nvSpPr>
          <p:cNvPr id="38" name="Text 36"/>
          <p:cNvSpPr/>
          <p:nvPr/>
        </p:nvSpPr>
        <p:spPr>
          <a:xfrm>
            <a:off x="384048" y="2029968"/>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Power 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Data objects</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Oracle → MS SQL Server</a:t>
            </a:r>
            <a:endParaRPr lang="en-US" sz="850" dirty="0"/>
          </a:p>
        </p:txBody>
      </p:sp>
      <p:sp>
        <p:nvSpPr>
          <p:cNvPr id="39" name="Shape 37"/>
          <p:cNvSpPr/>
          <p:nvPr/>
        </p:nvSpPr>
        <p:spPr>
          <a:xfrm>
            <a:off x="1892808" y="2029968"/>
            <a:ext cx="1506931" cy="658368"/>
          </a:xfrm>
          <a:prstGeom prst="rect">
            <a:avLst/>
          </a:prstGeom>
          <a:solidFill>
            <a:srgbClr val="D6ECFC"/>
          </a:solidFill>
          <a:ln w="6350">
            <a:solidFill>
              <a:srgbClr val="D6ECFC"/>
            </a:solidFill>
            <a:prstDash val="solid"/>
          </a:ln>
        </p:spPr>
      </p:sp>
      <p:sp>
        <p:nvSpPr>
          <p:cNvPr id="40" name="Text 38"/>
          <p:cNvSpPr/>
          <p:nvPr/>
        </p:nvSpPr>
        <p:spPr>
          <a:xfrm>
            <a:off x="1892808"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Inventory the objects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List every table, view, materialized view, procedure and package read.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Object dependency list published</a:t>
            </a:r>
            <a:endParaRPr lang="en-US" sz="740" dirty="0"/>
          </a:p>
        </p:txBody>
      </p:sp>
      <p:sp>
        <p:nvSpPr>
          <p:cNvPr id="41" name="Shape 39"/>
          <p:cNvSpPr/>
          <p:nvPr/>
        </p:nvSpPr>
        <p:spPr>
          <a:xfrm>
            <a:off x="3416198" y="2249424"/>
            <a:ext cx="149962" cy="219456"/>
          </a:xfrm>
          <a:prstGeom prst="chevron">
            <a:avLst/>
          </a:prstGeom>
          <a:solidFill>
            <a:srgbClr val="EEEEEE"/>
          </a:solidFill>
          <a:ln w="6350">
            <a:solidFill>
              <a:srgbClr val="EEEEEE"/>
            </a:solidFill>
            <a:prstDash val="solid"/>
          </a:ln>
        </p:spPr>
      </p:sp>
      <p:sp>
        <p:nvSpPr>
          <p:cNvPr id="42" name="Shape 40"/>
          <p:cNvSpPr/>
          <p:nvPr/>
        </p:nvSpPr>
        <p:spPr>
          <a:xfrm>
            <a:off x="3573475" y="2029968"/>
            <a:ext cx="1506931" cy="658368"/>
          </a:xfrm>
          <a:prstGeom prst="rect">
            <a:avLst/>
          </a:prstGeom>
          <a:solidFill>
            <a:srgbClr val="D6ECFC"/>
          </a:solidFill>
          <a:ln w="6350">
            <a:solidFill>
              <a:srgbClr val="D6ECFC"/>
            </a:solidFill>
            <a:prstDash val="solid"/>
          </a:ln>
        </p:spPr>
      </p:sp>
      <p:sp>
        <p:nvSpPr>
          <p:cNvPr id="43" name="Text 41"/>
          <p:cNvSpPr/>
          <p:nvPr/>
        </p:nvSpPr>
        <p:spPr>
          <a:xfrm>
            <a:off x="3573475"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Map types to SQL Server</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Table to table, view to view, MV to indexed view, PL/SQL to T-SQL.</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Mapping approved per type</a:t>
            </a:r>
            <a:endParaRPr lang="en-US" sz="740" dirty="0"/>
          </a:p>
        </p:txBody>
      </p:sp>
      <p:sp>
        <p:nvSpPr>
          <p:cNvPr id="44" name="Shape 42"/>
          <p:cNvSpPr/>
          <p:nvPr/>
        </p:nvSpPr>
        <p:spPr>
          <a:xfrm>
            <a:off x="5096866" y="2249424"/>
            <a:ext cx="149962" cy="219456"/>
          </a:xfrm>
          <a:prstGeom prst="chevron">
            <a:avLst/>
          </a:prstGeom>
          <a:solidFill>
            <a:srgbClr val="EEEEEE"/>
          </a:solidFill>
          <a:ln w="6350">
            <a:solidFill>
              <a:srgbClr val="EEEEEE"/>
            </a:solidFill>
            <a:prstDash val="solid"/>
          </a:ln>
        </p:spPr>
      </p:sp>
      <p:sp>
        <p:nvSpPr>
          <p:cNvPr id="45" name="Shape 43"/>
          <p:cNvSpPr/>
          <p:nvPr/>
        </p:nvSpPr>
        <p:spPr>
          <a:xfrm>
            <a:off x="5254142" y="2029968"/>
            <a:ext cx="1506931" cy="658368"/>
          </a:xfrm>
          <a:prstGeom prst="rect">
            <a:avLst/>
          </a:prstGeom>
          <a:solidFill>
            <a:srgbClr val="D6ECFC"/>
          </a:solidFill>
          <a:ln w="6350">
            <a:solidFill>
              <a:srgbClr val="D6ECFC"/>
            </a:solidFill>
            <a:prstDash val="solid"/>
          </a:ln>
        </p:spPr>
      </p:sp>
      <p:sp>
        <p:nvSpPr>
          <p:cNvPr id="46" name="Text 44"/>
          <p:cNvSpPr/>
          <p:nvPr/>
        </p:nvSpPr>
        <p:spPr>
          <a:xfrm>
            <a:off x="5254142"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Convert and deploy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Migrate DDL and data, rewrite PL/SQL as T-SQL, build the gold schema.</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Deployed in the gold schema</a:t>
            </a:r>
            <a:endParaRPr lang="en-US" sz="740" dirty="0"/>
          </a:p>
        </p:txBody>
      </p:sp>
      <p:sp>
        <p:nvSpPr>
          <p:cNvPr id="47" name="Shape 45"/>
          <p:cNvSpPr/>
          <p:nvPr/>
        </p:nvSpPr>
        <p:spPr>
          <a:xfrm>
            <a:off x="6777533" y="2249424"/>
            <a:ext cx="149962" cy="219456"/>
          </a:xfrm>
          <a:prstGeom prst="chevron">
            <a:avLst/>
          </a:prstGeom>
          <a:solidFill>
            <a:srgbClr val="EEEEEE"/>
          </a:solidFill>
          <a:ln w="6350">
            <a:solidFill>
              <a:srgbClr val="EEEEEE"/>
            </a:solidFill>
            <a:prstDash val="solid"/>
          </a:ln>
        </p:spPr>
      </p:sp>
      <p:sp>
        <p:nvSpPr>
          <p:cNvPr id="48" name="Shape 46"/>
          <p:cNvSpPr/>
          <p:nvPr/>
        </p:nvSpPr>
        <p:spPr>
          <a:xfrm>
            <a:off x="6934810" y="2029968"/>
            <a:ext cx="1506931" cy="658368"/>
          </a:xfrm>
          <a:prstGeom prst="rect">
            <a:avLst/>
          </a:prstGeom>
          <a:solidFill>
            <a:srgbClr val="D6ECFC"/>
          </a:solidFill>
          <a:ln w="6350">
            <a:solidFill>
              <a:srgbClr val="D6ECFC"/>
            </a:solidFill>
            <a:prstDash val="solid"/>
          </a:ln>
        </p:spPr>
      </p:sp>
      <p:sp>
        <p:nvSpPr>
          <p:cNvPr id="49" name="Text 47"/>
          <p:cNvSpPr/>
          <p:nvPr/>
        </p:nvSpPr>
        <p:spPr>
          <a:xfrm>
            <a:off x="6934810"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Secure the SQL schema</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schema roles and least privilege, mask PHI columns, enable audit.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Roles, masking and audit on</a:t>
            </a:r>
            <a:endParaRPr lang="en-US" sz="740" dirty="0"/>
          </a:p>
        </p:txBody>
      </p:sp>
      <p:sp>
        <p:nvSpPr>
          <p:cNvPr id="50" name="Shape 48"/>
          <p:cNvSpPr/>
          <p:nvPr/>
        </p:nvSpPr>
        <p:spPr>
          <a:xfrm>
            <a:off x="8458200" y="2249424"/>
            <a:ext cx="149962" cy="219456"/>
          </a:xfrm>
          <a:prstGeom prst="chevron">
            <a:avLst/>
          </a:prstGeom>
          <a:solidFill>
            <a:srgbClr val="EEEEEE"/>
          </a:solidFill>
          <a:ln w="6350">
            <a:solidFill>
              <a:srgbClr val="EEEEEE"/>
            </a:solidFill>
            <a:prstDash val="solid"/>
          </a:ln>
        </p:spPr>
      </p:sp>
      <p:sp>
        <p:nvSpPr>
          <p:cNvPr id="51" name="Shape 49"/>
          <p:cNvSpPr/>
          <p:nvPr/>
        </p:nvSpPr>
        <p:spPr>
          <a:xfrm>
            <a:off x="8615477" y="2029968"/>
            <a:ext cx="1506931" cy="658368"/>
          </a:xfrm>
          <a:prstGeom prst="rect">
            <a:avLst/>
          </a:prstGeom>
          <a:solidFill>
            <a:srgbClr val="D6ECFC"/>
          </a:solidFill>
          <a:ln w="6350">
            <a:solidFill>
              <a:srgbClr val="D6ECFC"/>
            </a:solidFill>
            <a:prstDash val="solid"/>
          </a:ln>
        </p:spPr>
      </p:sp>
      <p:sp>
        <p:nvSpPr>
          <p:cNvPr id="52" name="Text 50"/>
          <p:cNvSpPr/>
          <p:nvPr/>
        </p:nvSpPr>
        <p:spPr>
          <a:xfrm>
            <a:off x="8615477"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to Oracle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Row counts, checksums, key reconciliation. Re-run procs, compare output.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signed per object</a:t>
            </a:r>
            <a:endParaRPr lang="en-US" sz="740" dirty="0"/>
          </a:p>
        </p:txBody>
      </p:sp>
      <p:sp>
        <p:nvSpPr>
          <p:cNvPr id="53" name="Shape 51"/>
          <p:cNvSpPr/>
          <p:nvPr/>
        </p:nvSpPr>
        <p:spPr>
          <a:xfrm>
            <a:off x="10138867" y="2249424"/>
            <a:ext cx="149962" cy="219456"/>
          </a:xfrm>
          <a:prstGeom prst="chevron">
            <a:avLst/>
          </a:prstGeom>
          <a:solidFill>
            <a:srgbClr val="EEEEEE"/>
          </a:solidFill>
          <a:ln w="6350">
            <a:solidFill>
              <a:srgbClr val="EEEEEE"/>
            </a:solidFill>
            <a:prstDash val="solid"/>
          </a:ln>
        </p:spPr>
      </p:sp>
      <p:sp>
        <p:nvSpPr>
          <p:cNvPr id="54" name="Shape 52"/>
          <p:cNvSpPr/>
          <p:nvPr/>
        </p:nvSpPr>
        <p:spPr>
          <a:xfrm>
            <a:off x="10296144" y="2029968"/>
            <a:ext cx="1506931" cy="658368"/>
          </a:xfrm>
          <a:prstGeom prst="rect">
            <a:avLst/>
          </a:prstGeom>
          <a:solidFill>
            <a:srgbClr val="D6ECFC"/>
          </a:solidFill>
          <a:ln w="6350">
            <a:solidFill>
              <a:srgbClr val="D6ECFC"/>
            </a:solidFill>
            <a:prstDash val="solid"/>
          </a:ln>
        </p:spPr>
      </p:sp>
      <p:sp>
        <p:nvSpPr>
          <p:cNvPr id="55" name="Text 53"/>
          <p:cNvSpPr/>
          <p:nvPr/>
        </p:nvSpPr>
        <p:spPr>
          <a:xfrm>
            <a:off x="10296144"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Retire the Oracle object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Repoint consumers, freeze the Oracle object, drop it at the wave gate.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Oracle object dropped</a:t>
            </a:r>
            <a:endParaRPr lang="en-US" sz="740" dirty="0"/>
          </a:p>
        </p:txBody>
      </p:sp>
      <p:sp>
        <p:nvSpPr>
          <p:cNvPr id="56" name="Shape 54"/>
          <p:cNvSpPr/>
          <p:nvPr/>
        </p:nvSpPr>
        <p:spPr>
          <a:xfrm>
            <a:off x="384048" y="2715768"/>
            <a:ext cx="1417320" cy="658368"/>
          </a:xfrm>
          <a:prstGeom prst="rect">
            <a:avLst/>
          </a:prstGeom>
          <a:solidFill>
            <a:srgbClr val="CEF8FC"/>
          </a:solidFill>
          <a:ln w="6350">
            <a:solidFill>
              <a:srgbClr val="CEF8FC"/>
            </a:solidFill>
            <a:prstDash val="solid"/>
          </a:ln>
        </p:spPr>
      </p:sp>
      <p:sp>
        <p:nvSpPr>
          <p:cNvPr id="57" name="Text 55"/>
          <p:cNvSpPr/>
          <p:nvPr/>
        </p:nvSpPr>
        <p:spPr>
          <a:xfrm>
            <a:off x="384048" y="2715768"/>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Power 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Rearchitect</a:t>
            </a:r>
            <a:endParaRPr lang="en-US" sz="850" dirty="0"/>
          </a:p>
        </p:txBody>
      </p:sp>
      <p:sp>
        <p:nvSpPr>
          <p:cNvPr id="58" name="Shape 56"/>
          <p:cNvSpPr/>
          <p:nvPr/>
        </p:nvSpPr>
        <p:spPr>
          <a:xfrm>
            <a:off x="1892808" y="2715768"/>
            <a:ext cx="1506931" cy="658368"/>
          </a:xfrm>
          <a:prstGeom prst="rect">
            <a:avLst/>
          </a:prstGeom>
          <a:solidFill>
            <a:srgbClr val="ADDAFB"/>
          </a:solidFill>
          <a:ln w="6350">
            <a:solidFill>
              <a:srgbClr val="ADDAFB"/>
            </a:solidFill>
            <a:prstDash val="solid"/>
          </a:ln>
        </p:spPr>
      </p:sp>
      <p:sp>
        <p:nvSpPr>
          <p:cNvPr id="59" name="Text 57"/>
          <p:cNvSpPr/>
          <p:nvPr/>
        </p:nvSpPr>
        <p:spPr>
          <a:xfrm>
            <a:off x="1892808"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Decide the artifact split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Decide semantic model, Paginated Report, or both from one dataset.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Artifact split recorded</a:t>
            </a:r>
            <a:endParaRPr lang="en-US" sz="740" dirty="0"/>
          </a:p>
        </p:txBody>
      </p:sp>
      <p:sp>
        <p:nvSpPr>
          <p:cNvPr id="60" name="Shape 58"/>
          <p:cNvSpPr/>
          <p:nvPr/>
        </p:nvSpPr>
        <p:spPr>
          <a:xfrm>
            <a:off x="3416198" y="2935224"/>
            <a:ext cx="149962" cy="219456"/>
          </a:xfrm>
          <a:prstGeom prst="chevron">
            <a:avLst/>
          </a:prstGeom>
          <a:solidFill>
            <a:srgbClr val="EEEEEE"/>
          </a:solidFill>
          <a:ln w="6350">
            <a:solidFill>
              <a:srgbClr val="EEEEEE"/>
            </a:solidFill>
            <a:prstDash val="solid"/>
          </a:ln>
        </p:spPr>
      </p:sp>
      <p:sp>
        <p:nvSpPr>
          <p:cNvPr id="61" name="Shape 59"/>
          <p:cNvSpPr/>
          <p:nvPr/>
        </p:nvSpPr>
        <p:spPr>
          <a:xfrm>
            <a:off x="3573475" y="2715768"/>
            <a:ext cx="1506931" cy="658368"/>
          </a:xfrm>
          <a:prstGeom prst="rect">
            <a:avLst/>
          </a:prstGeom>
          <a:solidFill>
            <a:srgbClr val="ADDAFB"/>
          </a:solidFill>
          <a:ln w="6350">
            <a:solidFill>
              <a:srgbClr val="ADDAFB"/>
            </a:solidFill>
            <a:prstDash val="solid"/>
          </a:ln>
        </p:spPr>
      </p:sp>
      <p:sp>
        <p:nvSpPr>
          <p:cNvPr id="62" name="Text 60"/>
          <p:cNvSpPr/>
          <p:nvPr/>
        </p:nvSpPr>
        <p:spPr>
          <a:xfrm>
            <a:off x="3573475"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Model and certify dataset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Model on the SQL Server gold schema, define measures, certify 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Semantic model certified</a:t>
            </a:r>
            <a:endParaRPr lang="en-US" sz="740" dirty="0"/>
          </a:p>
        </p:txBody>
      </p:sp>
      <p:sp>
        <p:nvSpPr>
          <p:cNvPr id="63" name="Shape 61"/>
          <p:cNvSpPr/>
          <p:nvPr/>
        </p:nvSpPr>
        <p:spPr>
          <a:xfrm>
            <a:off x="5096866" y="2935224"/>
            <a:ext cx="149962" cy="219456"/>
          </a:xfrm>
          <a:prstGeom prst="chevron">
            <a:avLst/>
          </a:prstGeom>
          <a:solidFill>
            <a:srgbClr val="EEEEEE"/>
          </a:solidFill>
          <a:ln w="6350">
            <a:solidFill>
              <a:srgbClr val="EEEEEE"/>
            </a:solidFill>
            <a:prstDash val="solid"/>
          </a:ln>
        </p:spPr>
      </p:sp>
      <p:sp>
        <p:nvSpPr>
          <p:cNvPr id="64" name="Shape 62"/>
          <p:cNvSpPr/>
          <p:nvPr/>
        </p:nvSpPr>
        <p:spPr>
          <a:xfrm>
            <a:off x="5254142" y="2715768"/>
            <a:ext cx="1506931" cy="658368"/>
          </a:xfrm>
          <a:prstGeom prst="rect">
            <a:avLst/>
          </a:prstGeom>
          <a:solidFill>
            <a:srgbClr val="ADDAFB"/>
          </a:solidFill>
          <a:ln w="6350">
            <a:solidFill>
              <a:srgbClr val="ADDAFB"/>
            </a:solidFill>
            <a:prstDash val="solid"/>
          </a:ln>
        </p:spPr>
      </p:sp>
      <p:sp>
        <p:nvSpPr>
          <p:cNvPr id="65" name="Text 63"/>
          <p:cNvSpPr/>
          <p:nvPr/>
        </p:nvSpPr>
        <p:spPr>
          <a:xfrm>
            <a:off x="5254142"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Rebuild the artifact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Recreate visuals on the model, or rebuild the layout in Paginated.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Built and peer-reviewed</a:t>
            </a:r>
            <a:endParaRPr lang="en-US" sz="740" dirty="0"/>
          </a:p>
        </p:txBody>
      </p:sp>
      <p:sp>
        <p:nvSpPr>
          <p:cNvPr id="66" name="Shape 64"/>
          <p:cNvSpPr/>
          <p:nvPr/>
        </p:nvSpPr>
        <p:spPr>
          <a:xfrm>
            <a:off x="6777533" y="2935224"/>
            <a:ext cx="149962" cy="219456"/>
          </a:xfrm>
          <a:prstGeom prst="chevron">
            <a:avLst/>
          </a:prstGeom>
          <a:solidFill>
            <a:srgbClr val="EEEEEE"/>
          </a:solidFill>
          <a:ln w="6350">
            <a:solidFill>
              <a:srgbClr val="EEEEEE"/>
            </a:solidFill>
            <a:prstDash val="solid"/>
          </a:ln>
        </p:spPr>
      </p:sp>
      <p:sp>
        <p:nvSpPr>
          <p:cNvPr id="67" name="Shape 65"/>
          <p:cNvSpPr/>
          <p:nvPr/>
        </p:nvSpPr>
        <p:spPr>
          <a:xfrm>
            <a:off x="6934810" y="2715768"/>
            <a:ext cx="1506931" cy="658368"/>
          </a:xfrm>
          <a:prstGeom prst="rect">
            <a:avLst/>
          </a:prstGeom>
          <a:solidFill>
            <a:srgbClr val="ADDAFB"/>
          </a:solidFill>
          <a:ln w="6350">
            <a:solidFill>
              <a:srgbClr val="ADDAFB"/>
            </a:solidFill>
            <a:prstDash val="solid"/>
          </a:ln>
        </p:spPr>
      </p:sp>
      <p:sp>
        <p:nvSpPr>
          <p:cNvPr id="68" name="Text 66"/>
          <p:cNvSpPr/>
          <p:nvPr/>
        </p:nvSpPr>
        <p:spPr>
          <a:xfrm>
            <a:off x="6934810"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Wire RLS and delivery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Entra roles, RLS, sensitivity labels and subscriptions.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RLS tested, non-privileged</a:t>
            </a:r>
            <a:endParaRPr lang="en-US" sz="740" dirty="0"/>
          </a:p>
        </p:txBody>
      </p:sp>
      <p:sp>
        <p:nvSpPr>
          <p:cNvPr id="69" name="Shape 67"/>
          <p:cNvSpPr/>
          <p:nvPr/>
        </p:nvSpPr>
        <p:spPr>
          <a:xfrm>
            <a:off x="8458200" y="2935224"/>
            <a:ext cx="149962" cy="219456"/>
          </a:xfrm>
          <a:prstGeom prst="chevron">
            <a:avLst/>
          </a:prstGeom>
          <a:solidFill>
            <a:srgbClr val="EEEEEE"/>
          </a:solidFill>
          <a:ln w="6350">
            <a:solidFill>
              <a:srgbClr val="EEEEEE"/>
            </a:solidFill>
            <a:prstDash val="solid"/>
          </a:ln>
        </p:spPr>
      </p:sp>
      <p:sp>
        <p:nvSpPr>
          <p:cNvPr id="70" name="Shape 68"/>
          <p:cNvSpPr/>
          <p:nvPr/>
        </p:nvSpPr>
        <p:spPr>
          <a:xfrm>
            <a:off x="8615477" y="2715768"/>
            <a:ext cx="1506931" cy="658368"/>
          </a:xfrm>
          <a:prstGeom prst="rect">
            <a:avLst/>
          </a:prstGeom>
          <a:solidFill>
            <a:srgbClr val="ADDAFB"/>
          </a:solidFill>
          <a:ln w="6350">
            <a:solidFill>
              <a:srgbClr val="ADDAFB"/>
            </a:solidFill>
            <a:prstDash val="solid"/>
          </a:ln>
        </p:spPr>
      </p:sp>
      <p:sp>
        <p:nvSpPr>
          <p:cNvPr id="71" name="Text 69"/>
          <p:cNvSpPr/>
          <p:nvPr/>
        </p:nvSpPr>
        <p:spPr>
          <a:xfrm>
            <a:off x="8615477"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test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the report, check layout fidelity, run a burst test.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and burst test</a:t>
            </a:r>
            <a:endParaRPr lang="en-US" sz="740" dirty="0"/>
          </a:p>
        </p:txBody>
      </p:sp>
      <p:sp>
        <p:nvSpPr>
          <p:cNvPr id="72" name="Shape 70"/>
          <p:cNvSpPr/>
          <p:nvPr/>
        </p:nvSpPr>
        <p:spPr>
          <a:xfrm>
            <a:off x="10138867" y="2935224"/>
            <a:ext cx="149962" cy="219456"/>
          </a:xfrm>
          <a:prstGeom prst="chevron">
            <a:avLst/>
          </a:prstGeom>
          <a:solidFill>
            <a:srgbClr val="EEEEEE"/>
          </a:solidFill>
          <a:ln w="6350">
            <a:solidFill>
              <a:srgbClr val="EEEEEE"/>
            </a:solidFill>
            <a:prstDash val="solid"/>
          </a:ln>
        </p:spPr>
      </p:sp>
      <p:sp>
        <p:nvSpPr>
          <p:cNvPr id="73" name="Shape 71"/>
          <p:cNvSpPr/>
          <p:nvPr/>
        </p:nvSpPr>
        <p:spPr>
          <a:xfrm>
            <a:off x="10296144" y="2715768"/>
            <a:ext cx="1506931" cy="658368"/>
          </a:xfrm>
          <a:prstGeom prst="rect">
            <a:avLst/>
          </a:prstGeom>
          <a:solidFill>
            <a:srgbClr val="ADDAFB"/>
          </a:solidFill>
          <a:ln w="6350">
            <a:solidFill>
              <a:srgbClr val="ADDAFB"/>
            </a:solidFill>
            <a:prstDash val="solid"/>
          </a:ln>
        </p:spPr>
      </p:sp>
      <p:sp>
        <p:nvSpPr>
          <p:cNvPr id="74" name="Text 72"/>
          <p:cNvSpPr/>
          <p:nvPr/>
        </p:nvSpPr>
        <p:spPr>
          <a:xfrm>
            <a:off x="10296144"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Deploy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Deploy through the pipeline, redirect users, delete the BOBJ object.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publications off</a:t>
            </a:r>
            <a:endParaRPr lang="en-US" sz="740" dirty="0"/>
          </a:p>
        </p:txBody>
      </p:sp>
      <p:sp>
        <p:nvSpPr>
          <p:cNvPr id="75" name="Shape 73"/>
          <p:cNvSpPr/>
          <p:nvPr/>
        </p:nvSpPr>
        <p:spPr>
          <a:xfrm>
            <a:off x="384048" y="3465576"/>
            <a:ext cx="1417320" cy="658368"/>
          </a:xfrm>
          <a:prstGeom prst="rect">
            <a:avLst/>
          </a:prstGeom>
          <a:solidFill>
            <a:srgbClr val="CEF8FC"/>
          </a:solidFill>
          <a:ln w="6350">
            <a:solidFill>
              <a:srgbClr val="CEF8FC"/>
            </a:solidFill>
            <a:prstDash val="solid"/>
          </a:ln>
        </p:spPr>
      </p:sp>
      <p:sp>
        <p:nvSpPr>
          <p:cNvPr id="76" name="Text 74"/>
          <p:cNvSpPr/>
          <p:nvPr/>
        </p:nvSpPr>
        <p:spPr>
          <a:xfrm>
            <a:off x="384048" y="3465576"/>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Databricks</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Data objects</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Oracle → Delta + UC</a:t>
            </a:r>
            <a:endParaRPr lang="en-US" sz="850" dirty="0"/>
          </a:p>
        </p:txBody>
      </p:sp>
      <p:sp>
        <p:nvSpPr>
          <p:cNvPr id="77" name="Shape 75"/>
          <p:cNvSpPr/>
          <p:nvPr/>
        </p:nvSpPr>
        <p:spPr>
          <a:xfrm>
            <a:off x="1892808" y="3465576"/>
            <a:ext cx="1506931" cy="658368"/>
          </a:xfrm>
          <a:prstGeom prst="rect">
            <a:avLst/>
          </a:prstGeom>
          <a:solidFill>
            <a:srgbClr val="D6ECFC"/>
          </a:solidFill>
          <a:ln w="6350">
            <a:solidFill>
              <a:srgbClr val="D6ECFC"/>
            </a:solidFill>
            <a:prstDash val="solid"/>
          </a:ln>
        </p:spPr>
      </p:sp>
      <p:sp>
        <p:nvSpPr>
          <p:cNvPr id="78" name="Text 76"/>
          <p:cNvSpPr/>
          <p:nvPr/>
        </p:nvSpPr>
        <p:spPr>
          <a:xfrm>
            <a:off x="1892808"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Inventory the objects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Parse universe SQL. List every table, view, MV, procedure and package.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Dependency graph published</a:t>
            </a:r>
            <a:endParaRPr lang="en-US" sz="740" dirty="0"/>
          </a:p>
        </p:txBody>
      </p:sp>
      <p:sp>
        <p:nvSpPr>
          <p:cNvPr id="79" name="Shape 77"/>
          <p:cNvSpPr/>
          <p:nvPr/>
        </p:nvSpPr>
        <p:spPr>
          <a:xfrm>
            <a:off x="3416198" y="3685032"/>
            <a:ext cx="149962" cy="219456"/>
          </a:xfrm>
          <a:prstGeom prst="chevron">
            <a:avLst/>
          </a:prstGeom>
          <a:solidFill>
            <a:srgbClr val="EEEEEE"/>
          </a:solidFill>
          <a:ln w="6350">
            <a:solidFill>
              <a:srgbClr val="EEEEEE"/>
            </a:solidFill>
            <a:prstDash val="solid"/>
          </a:ln>
        </p:spPr>
      </p:sp>
      <p:sp>
        <p:nvSpPr>
          <p:cNvPr id="80" name="Shape 78"/>
          <p:cNvSpPr/>
          <p:nvPr/>
        </p:nvSpPr>
        <p:spPr>
          <a:xfrm>
            <a:off x="3573475" y="3465576"/>
            <a:ext cx="1506931" cy="658368"/>
          </a:xfrm>
          <a:prstGeom prst="rect">
            <a:avLst/>
          </a:prstGeom>
          <a:solidFill>
            <a:srgbClr val="D6ECFC"/>
          </a:solidFill>
          <a:ln w="6350">
            <a:solidFill>
              <a:srgbClr val="D6ECFC"/>
            </a:solidFill>
            <a:prstDash val="solid"/>
          </a:ln>
        </p:spPr>
      </p:sp>
      <p:sp>
        <p:nvSpPr>
          <p:cNvPr id="81" name="Text 79"/>
          <p:cNvSpPr/>
          <p:nvPr/>
        </p:nvSpPr>
        <p:spPr>
          <a:xfrm>
            <a:off x="3573475"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Map types to Databricks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Table to Delta, view to SQL view, MV to Delta MV, PL/SQL to UDF or DLT.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Mapping approved per type</a:t>
            </a:r>
            <a:endParaRPr lang="en-US" sz="740" dirty="0"/>
          </a:p>
        </p:txBody>
      </p:sp>
      <p:sp>
        <p:nvSpPr>
          <p:cNvPr id="82" name="Shape 80"/>
          <p:cNvSpPr/>
          <p:nvPr/>
        </p:nvSpPr>
        <p:spPr>
          <a:xfrm>
            <a:off x="5096866" y="3685032"/>
            <a:ext cx="149962" cy="219456"/>
          </a:xfrm>
          <a:prstGeom prst="chevron">
            <a:avLst/>
          </a:prstGeom>
          <a:solidFill>
            <a:srgbClr val="EEEEEE"/>
          </a:solidFill>
          <a:ln w="6350">
            <a:solidFill>
              <a:srgbClr val="EEEEEE"/>
            </a:solidFill>
            <a:prstDash val="solid"/>
          </a:ln>
        </p:spPr>
      </p:sp>
      <p:sp>
        <p:nvSpPr>
          <p:cNvPr id="83" name="Shape 81"/>
          <p:cNvSpPr/>
          <p:nvPr/>
        </p:nvSpPr>
        <p:spPr>
          <a:xfrm>
            <a:off x="5254142" y="3465576"/>
            <a:ext cx="1506931" cy="658368"/>
          </a:xfrm>
          <a:prstGeom prst="rect">
            <a:avLst/>
          </a:prstGeom>
          <a:solidFill>
            <a:srgbClr val="D6ECFC"/>
          </a:solidFill>
          <a:ln w="6350">
            <a:solidFill>
              <a:srgbClr val="D6ECFC"/>
            </a:solidFill>
            <a:prstDash val="solid"/>
          </a:ln>
        </p:spPr>
      </p:sp>
      <p:sp>
        <p:nvSpPr>
          <p:cNvPr id="84" name="Text 82"/>
          <p:cNvSpPr/>
          <p:nvPr/>
        </p:nvSpPr>
        <p:spPr>
          <a:xfrm>
            <a:off x="5254142"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Land, convert and deploy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Ingest to bronze, build silver and gold, deploy views and logic into UC.</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Objects deployed in the catalog</a:t>
            </a:r>
            <a:endParaRPr lang="en-US" sz="740" dirty="0"/>
          </a:p>
        </p:txBody>
      </p:sp>
      <p:sp>
        <p:nvSpPr>
          <p:cNvPr id="85" name="Shape 83"/>
          <p:cNvSpPr/>
          <p:nvPr/>
        </p:nvSpPr>
        <p:spPr>
          <a:xfrm>
            <a:off x="6777533" y="3685032"/>
            <a:ext cx="149962" cy="219456"/>
          </a:xfrm>
          <a:prstGeom prst="chevron">
            <a:avLst/>
          </a:prstGeom>
          <a:solidFill>
            <a:srgbClr val="EEEEEE"/>
          </a:solidFill>
          <a:ln w="6350">
            <a:solidFill>
              <a:srgbClr val="EEEEEE"/>
            </a:solidFill>
            <a:prstDash val="solid"/>
          </a:ln>
        </p:spPr>
      </p:sp>
      <p:sp>
        <p:nvSpPr>
          <p:cNvPr id="86" name="Shape 84"/>
          <p:cNvSpPr/>
          <p:nvPr/>
        </p:nvSpPr>
        <p:spPr>
          <a:xfrm>
            <a:off x="6934810" y="3465576"/>
            <a:ext cx="1506931" cy="658368"/>
          </a:xfrm>
          <a:prstGeom prst="rect">
            <a:avLst/>
          </a:prstGeom>
          <a:solidFill>
            <a:srgbClr val="D6ECFC"/>
          </a:solidFill>
          <a:ln w="6350">
            <a:solidFill>
              <a:srgbClr val="D6ECFC"/>
            </a:solidFill>
            <a:prstDash val="solid"/>
          </a:ln>
        </p:spPr>
      </p:sp>
      <p:sp>
        <p:nvSpPr>
          <p:cNvPr id="87" name="Text 85"/>
          <p:cNvSpPr/>
          <p:nvPr/>
        </p:nvSpPr>
        <p:spPr>
          <a:xfrm>
            <a:off x="6934810"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Govern in Unity Catalog</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ownership, row filters, column masks, lineage. Register PHI objects.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UC policies and audit logging on</a:t>
            </a:r>
            <a:endParaRPr lang="en-US" sz="740" dirty="0"/>
          </a:p>
        </p:txBody>
      </p:sp>
      <p:sp>
        <p:nvSpPr>
          <p:cNvPr id="88" name="Shape 86"/>
          <p:cNvSpPr/>
          <p:nvPr/>
        </p:nvSpPr>
        <p:spPr>
          <a:xfrm>
            <a:off x="8458200" y="3685032"/>
            <a:ext cx="149962" cy="219456"/>
          </a:xfrm>
          <a:prstGeom prst="chevron">
            <a:avLst/>
          </a:prstGeom>
          <a:solidFill>
            <a:srgbClr val="EEEEEE"/>
          </a:solidFill>
          <a:ln w="6350">
            <a:solidFill>
              <a:srgbClr val="EEEEEE"/>
            </a:solidFill>
            <a:prstDash val="solid"/>
          </a:ln>
        </p:spPr>
      </p:sp>
      <p:sp>
        <p:nvSpPr>
          <p:cNvPr id="89" name="Shape 87"/>
          <p:cNvSpPr/>
          <p:nvPr/>
        </p:nvSpPr>
        <p:spPr>
          <a:xfrm>
            <a:off x="8615477" y="3465576"/>
            <a:ext cx="1506931" cy="658368"/>
          </a:xfrm>
          <a:prstGeom prst="rect">
            <a:avLst/>
          </a:prstGeom>
          <a:solidFill>
            <a:srgbClr val="D6ECFC"/>
          </a:solidFill>
          <a:ln w="6350">
            <a:solidFill>
              <a:srgbClr val="D6ECFC"/>
            </a:solidFill>
            <a:prstDash val="solid"/>
          </a:ln>
        </p:spPr>
      </p:sp>
      <p:sp>
        <p:nvSpPr>
          <p:cNvPr id="90" name="Text 88"/>
          <p:cNvSpPr/>
          <p:nvPr/>
        </p:nvSpPr>
        <p:spPr>
          <a:xfrm>
            <a:off x="8615477"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to Oracle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Row counts, checksums, key reconciliation. Compare re-run output.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signed per object</a:t>
            </a:r>
            <a:endParaRPr lang="en-US" sz="740" dirty="0"/>
          </a:p>
        </p:txBody>
      </p:sp>
      <p:sp>
        <p:nvSpPr>
          <p:cNvPr id="91" name="Shape 89"/>
          <p:cNvSpPr/>
          <p:nvPr/>
        </p:nvSpPr>
        <p:spPr>
          <a:xfrm>
            <a:off x="10138867" y="3685032"/>
            <a:ext cx="149962" cy="219456"/>
          </a:xfrm>
          <a:prstGeom prst="chevron">
            <a:avLst/>
          </a:prstGeom>
          <a:solidFill>
            <a:srgbClr val="EEEEEE"/>
          </a:solidFill>
          <a:ln w="6350">
            <a:solidFill>
              <a:srgbClr val="EEEEEE"/>
            </a:solidFill>
            <a:prstDash val="solid"/>
          </a:ln>
        </p:spPr>
      </p:sp>
      <p:sp>
        <p:nvSpPr>
          <p:cNvPr id="92" name="Shape 90"/>
          <p:cNvSpPr/>
          <p:nvPr/>
        </p:nvSpPr>
        <p:spPr>
          <a:xfrm>
            <a:off x="10296144" y="3465576"/>
            <a:ext cx="1506931" cy="658368"/>
          </a:xfrm>
          <a:prstGeom prst="rect">
            <a:avLst/>
          </a:prstGeom>
          <a:solidFill>
            <a:srgbClr val="D6ECFC"/>
          </a:solidFill>
          <a:ln w="6350">
            <a:solidFill>
              <a:srgbClr val="D6ECFC"/>
            </a:solidFill>
            <a:prstDash val="solid"/>
          </a:ln>
        </p:spPr>
      </p:sp>
      <p:sp>
        <p:nvSpPr>
          <p:cNvPr id="93" name="Text 91"/>
          <p:cNvSpPr/>
          <p:nvPr/>
        </p:nvSpPr>
        <p:spPr>
          <a:xfrm>
            <a:off x="10296144"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Retire the Oracle object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Repoint consumers, freeze the object, drop it at the wave gate.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Oracle dropped, lineage updated</a:t>
            </a:r>
            <a:endParaRPr lang="en-US" sz="740" dirty="0"/>
          </a:p>
        </p:txBody>
      </p:sp>
      <p:sp>
        <p:nvSpPr>
          <p:cNvPr id="94" name="Shape 92"/>
          <p:cNvSpPr/>
          <p:nvPr/>
        </p:nvSpPr>
        <p:spPr>
          <a:xfrm>
            <a:off x="384048" y="4151376"/>
            <a:ext cx="1417320" cy="658368"/>
          </a:xfrm>
          <a:prstGeom prst="rect">
            <a:avLst/>
          </a:prstGeom>
          <a:solidFill>
            <a:srgbClr val="CEF8FC"/>
          </a:solidFill>
          <a:ln w="6350">
            <a:solidFill>
              <a:srgbClr val="CEF8FC"/>
            </a:solidFill>
            <a:prstDash val="solid"/>
          </a:ln>
        </p:spPr>
      </p:sp>
      <p:sp>
        <p:nvSpPr>
          <p:cNvPr id="95" name="Text 93"/>
          <p:cNvSpPr/>
          <p:nvPr/>
        </p:nvSpPr>
        <p:spPr>
          <a:xfrm>
            <a:off x="384048" y="4151376"/>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Databricks AI/BI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Replatform</a:t>
            </a:r>
            <a:endParaRPr lang="en-US" sz="850" dirty="0"/>
          </a:p>
        </p:txBody>
      </p:sp>
      <p:sp>
        <p:nvSpPr>
          <p:cNvPr id="96" name="Shape 94"/>
          <p:cNvSpPr/>
          <p:nvPr/>
        </p:nvSpPr>
        <p:spPr>
          <a:xfrm>
            <a:off x="1892808" y="4151376"/>
            <a:ext cx="1506931" cy="658368"/>
          </a:xfrm>
          <a:prstGeom prst="rect">
            <a:avLst/>
          </a:prstGeom>
          <a:solidFill>
            <a:srgbClr val="ADDAFB"/>
          </a:solidFill>
          <a:ln w="6350">
            <a:solidFill>
              <a:srgbClr val="ADDAFB"/>
            </a:solidFill>
            <a:prstDash val="solid"/>
          </a:ln>
        </p:spPr>
      </p:sp>
      <p:sp>
        <p:nvSpPr>
          <p:cNvPr id="97" name="Text 95"/>
          <p:cNvSpPr/>
          <p:nvPr/>
        </p:nvSpPr>
        <p:spPr>
          <a:xfrm>
            <a:off x="1892808"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Confirm the gold layer</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Verify the objects this report needs are landed and certified above.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Gold tables available</a:t>
            </a:r>
            <a:endParaRPr lang="en-US" sz="740" dirty="0"/>
          </a:p>
        </p:txBody>
      </p:sp>
      <p:sp>
        <p:nvSpPr>
          <p:cNvPr id="98" name="Shape 96"/>
          <p:cNvSpPr/>
          <p:nvPr/>
        </p:nvSpPr>
        <p:spPr>
          <a:xfrm>
            <a:off x="3416198" y="4370832"/>
            <a:ext cx="149962" cy="219456"/>
          </a:xfrm>
          <a:prstGeom prst="chevron">
            <a:avLst/>
          </a:prstGeom>
          <a:solidFill>
            <a:srgbClr val="EEEEEE"/>
          </a:solidFill>
          <a:ln w="6350">
            <a:solidFill>
              <a:srgbClr val="EEEEEE"/>
            </a:solidFill>
            <a:prstDash val="solid"/>
          </a:ln>
        </p:spPr>
      </p:sp>
      <p:sp>
        <p:nvSpPr>
          <p:cNvPr id="99" name="Shape 97"/>
          <p:cNvSpPr/>
          <p:nvPr/>
        </p:nvSpPr>
        <p:spPr>
          <a:xfrm>
            <a:off x="3573475" y="4151376"/>
            <a:ext cx="1506931" cy="658368"/>
          </a:xfrm>
          <a:prstGeom prst="rect">
            <a:avLst/>
          </a:prstGeom>
          <a:solidFill>
            <a:srgbClr val="ADDAFB"/>
          </a:solidFill>
          <a:ln w="6350">
            <a:solidFill>
              <a:srgbClr val="ADDAFB"/>
            </a:solidFill>
            <a:prstDash val="solid"/>
          </a:ln>
        </p:spPr>
      </p:sp>
      <p:sp>
        <p:nvSpPr>
          <p:cNvPr id="100" name="Text 98"/>
          <p:cNvSpPr/>
          <p:nvPr/>
        </p:nvSpPr>
        <p:spPr>
          <a:xfrm>
            <a:off x="3573475"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Rebuild the semantics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Express the universe logic as SQL views or UC metric views.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Metric views published</a:t>
            </a:r>
            <a:endParaRPr lang="en-US" sz="740" dirty="0"/>
          </a:p>
        </p:txBody>
      </p:sp>
      <p:sp>
        <p:nvSpPr>
          <p:cNvPr id="101" name="Shape 99"/>
          <p:cNvSpPr/>
          <p:nvPr/>
        </p:nvSpPr>
        <p:spPr>
          <a:xfrm>
            <a:off x="5096866" y="4370832"/>
            <a:ext cx="149962" cy="219456"/>
          </a:xfrm>
          <a:prstGeom prst="chevron">
            <a:avLst/>
          </a:prstGeom>
          <a:solidFill>
            <a:srgbClr val="EEEEEE"/>
          </a:solidFill>
          <a:ln w="6350">
            <a:solidFill>
              <a:srgbClr val="EEEEEE"/>
            </a:solidFill>
            <a:prstDash val="solid"/>
          </a:ln>
        </p:spPr>
      </p:sp>
      <p:sp>
        <p:nvSpPr>
          <p:cNvPr id="102" name="Shape 100"/>
          <p:cNvSpPr/>
          <p:nvPr/>
        </p:nvSpPr>
        <p:spPr>
          <a:xfrm>
            <a:off x="5254142" y="4151376"/>
            <a:ext cx="1506931" cy="658368"/>
          </a:xfrm>
          <a:prstGeom prst="rect">
            <a:avLst/>
          </a:prstGeom>
          <a:solidFill>
            <a:srgbClr val="ADDAFB"/>
          </a:solidFill>
          <a:ln w="6350">
            <a:solidFill>
              <a:srgbClr val="ADDAFB"/>
            </a:solidFill>
            <a:prstDash val="solid"/>
          </a:ln>
        </p:spPr>
      </p:sp>
      <p:sp>
        <p:nvSpPr>
          <p:cNvPr id="103" name="Text 101"/>
          <p:cNvSpPr/>
          <p:nvPr/>
        </p:nvSpPr>
        <p:spPr>
          <a:xfrm>
            <a:off x="5254142"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Build the dashboard</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Recreate the visuals as an AI/BI dashboard. Scope a Genie space.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Dashboard and Genie reviewed</a:t>
            </a:r>
            <a:endParaRPr lang="en-US" sz="740" dirty="0"/>
          </a:p>
        </p:txBody>
      </p:sp>
      <p:sp>
        <p:nvSpPr>
          <p:cNvPr id="104" name="Shape 102"/>
          <p:cNvSpPr/>
          <p:nvPr/>
        </p:nvSpPr>
        <p:spPr>
          <a:xfrm>
            <a:off x="6777533" y="4370832"/>
            <a:ext cx="149962" cy="219456"/>
          </a:xfrm>
          <a:prstGeom prst="chevron">
            <a:avLst/>
          </a:prstGeom>
          <a:solidFill>
            <a:srgbClr val="EEEEEE"/>
          </a:solidFill>
          <a:ln w="6350">
            <a:solidFill>
              <a:srgbClr val="EEEEEE"/>
            </a:solidFill>
            <a:prstDash val="solid"/>
          </a:ln>
        </p:spPr>
      </p:sp>
      <p:sp>
        <p:nvSpPr>
          <p:cNvPr id="105" name="Shape 103"/>
          <p:cNvSpPr/>
          <p:nvPr/>
        </p:nvSpPr>
        <p:spPr>
          <a:xfrm>
            <a:off x="6934810" y="4151376"/>
            <a:ext cx="1506931" cy="658368"/>
          </a:xfrm>
          <a:prstGeom prst="rect">
            <a:avLst/>
          </a:prstGeom>
          <a:solidFill>
            <a:srgbClr val="ADDAFB"/>
          </a:solidFill>
          <a:ln w="6350">
            <a:solidFill>
              <a:srgbClr val="ADDAFB"/>
            </a:solidFill>
            <a:prstDash val="solid"/>
          </a:ln>
        </p:spPr>
      </p:sp>
      <p:sp>
        <p:nvSpPr>
          <p:cNvPr id="106" name="Text 104"/>
          <p:cNvSpPr/>
          <p:nvPr/>
        </p:nvSpPr>
        <p:spPr>
          <a:xfrm>
            <a:off x="6934810"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Grant through UC</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Bind UC groups, inherit row filters and masks, switch on audit.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UC grants applied, audit on</a:t>
            </a:r>
            <a:endParaRPr lang="en-US" sz="740" dirty="0"/>
          </a:p>
        </p:txBody>
      </p:sp>
      <p:sp>
        <p:nvSpPr>
          <p:cNvPr id="107" name="Shape 105"/>
          <p:cNvSpPr/>
          <p:nvPr/>
        </p:nvSpPr>
        <p:spPr>
          <a:xfrm>
            <a:off x="8458200" y="4370832"/>
            <a:ext cx="149962" cy="219456"/>
          </a:xfrm>
          <a:prstGeom prst="chevron">
            <a:avLst/>
          </a:prstGeom>
          <a:solidFill>
            <a:srgbClr val="EEEEEE"/>
          </a:solidFill>
          <a:ln w="6350">
            <a:solidFill>
              <a:srgbClr val="EEEEEE"/>
            </a:solidFill>
            <a:prstDash val="solid"/>
          </a:ln>
        </p:spPr>
      </p:sp>
      <p:sp>
        <p:nvSpPr>
          <p:cNvPr id="108" name="Shape 106"/>
          <p:cNvSpPr/>
          <p:nvPr/>
        </p:nvSpPr>
        <p:spPr>
          <a:xfrm>
            <a:off x="8615477" y="4151376"/>
            <a:ext cx="1506931" cy="658368"/>
          </a:xfrm>
          <a:prstGeom prst="rect">
            <a:avLst/>
          </a:prstGeom>
          <a:solidFill>
            <a:srgbClr val="ADDAFB"/>
          </a:solidFill>
          <a:ln w="6350">
            <a:solidFill>
              <a:srgbClr val="ADDAFB"/>
            </a:solidFill>
            <a:prstDash val="solid"/>
          </a:ln>
        </p:spPr>
      </p:sp>
      <p:sp>
        <p:nvSpPr>
          <p:cNvPr id="109" name="Text 107"/>
          <p:cNvSpPr/>
          <p:nvPr/>
        </p:nvSpPr>
        <p:spPr>
          <a:xfrm>
            <a:off x="8615477"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test Genie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to BOBJ output. Run a known-answer set through Genie.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and Genie results</a:t>
            </a:r>
            <a:endParaRPr lang="en-US" sz="740" dirty="0"/>
          </a:p>
        </p:txBody>
      </p:sp>
      <p:sp>
        <p:nvSpPr>
          <p:cNvPr id="110" name="Shape 108"/>
          <p:cNvSpPr/>
          <p:nvPr/>
        </p:nvSpPr>
        <p:spPr>
          <a:xfrm>
            <a:off x="10138867" y="4370832"/>
            <a:ext cx="149962" cy="219456"/>
          </a:xfrm>
          <a:prstGeom prst="chevron">
            <a:avLst/>
          </a:prstGeom>
          <a:solidFill>
            <a:srgbClr val="EEEEEE"/>
          </a:solidFill>
          <a:ln w="6350">
            <a:solidFill>
              <a:srgbClr val="EEEEEE"/>
            </a:solidFill>
            <a:prstDash val="solid"/>
          </a:ln>
        </p:spPr>
      </p:sp>
      <p:sp>
        <p:nvSpPr>
          <p:cNvPr id="111" name="Shape 109"/>
          <p:cNvSpPr/>
          <p:nvPr/>
        </p:nvSpPr>
        <p:spPr>
          <a:xfrm>
            <a:off x="10296144" y="4151376"/>
            <a:ext cx="1506931" cy="658368"/>
          </a:xfrm>
          <a:prstGeom prst="rect">
            <a:avLst/>
          </a:prstGeom>
          <a:solidFill>
            <a:srgbClr val="ADDAFB"/>
          </a:solidFill>
          <a:ln w="6350">
            <a:solidFill>
              <a:srgbClr val="ADDAFB"/>
            </a:solidFill>
            <a:prstDash val="solid"/>
          </a:ln>
        </p:spPr>
      </p:sp>
      <p:sp>
        <p:nvSpPr>
          <p:cNvPr id="112" name="Text 110"/>
          <p:cNvSpPr/>
          <p:nvPr/>
        </p:nvSpPr>
        <p:spPr>
          <a:xfrm>
            <a:off x="10296144"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Release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Grant to UC groups, redirect users, delete the object and Oracle feed.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Oracle feed off</a:t>
            </a:r>
            <a:endParaRPr lang="en-US" sz="740" dirty="0"/>
          </a:p>
        </p:txBody>
      </p:sp>
      <p:sp>
        <p:nvSpPr>
          <p:cNvPr id="113" name="Shape 111"/>
          <p:cNvSpPr/>
          <p:nvPr/>
        </p:nvSpPr>
        <p:spPr>
          <a:xfrm>
            <a:off x="384048" y="4901184"/>
            <a:ext cx="1417320" cy="658368"/>
          </a:xfrm>
          <a:prstGeom prst="rect">
            <a:avLst/>
          </a:prstGeom>
          <a:solidFill>
            <a:srgbClr val="081F5C"/>
          </a:solidFill>
          <a:ln w="6350">
            <a:solidFill>
              <a:srgbClr val="081F5C"/>
            </a:solidFill>
            <a:prstDash val="solid"/>
          </a:ln>
        </p:spPr>
      </p:sp>
      <p:sp>
        <p:nvSpPr>
          <p:cNvPr id="114" name="Text 112"/>
          <p:cNvSpPr/>
          <p:nvPr/>
        </p:nvSpPr>
        <p:spPr>
          <a:xfrm>
            <a:off x="384048" y="4901184"/>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FFFFFF"/>
                </a:solidFill>
                <a:latin typeface="Arial" pitchFamily="34" charset="0"/>
                <a:ea typeface="Arial" pitchFamily="34" charset="-122"/>
                <a:cs typeface="Arial" pitchFamily="34" charset="-120"/>
              </a:rPr>
              <a:t>Retain in BOBJ</a:t>
            </a:r>
            <a:endParaRPr lang="en-US" sz="850" dirty="0"/>
          </a:p>
          <a:p>
            <a:pPr algn="ctr" indent="0" marL="0">
              <a:lnSpc>
                <a:spcPct val="94000"/>
              </a:lnSpc>
              <a:buNone/>
            </a:pPr>
            <a:r>
              <a:rPr lang="en-US" sz="690" dirty="0">
                <a:solidFill>
                  <a:srgbClr val="FFFFFF"/>
                </a:solidFill>
                <a:latin typeface="Arial" pitchFamily="34" charset="0"/>
                <a:ea typeface="Arial" pitchFamily="34" charset="-122"/>
                <a:cs typeface="Arial" pitchFamily="34" charset="-120"/>
              </a:rPr>
              <a:t>Re-point and freeze</a:t>
            </a:r>
            <a:endParaRPr lang="en-US" sz="850" dirty="0"/>
          </a:p>
          <a:p>
            <a:pPr algn="ctr" indent="0" marL="0">
              <a:lnSpc>
                <a:spcPct val="94000"/>
              </a:lnSpc>
              <a:buNone/>
            </a:pPr>
            <a:r>
              <a:rPr lang="en-US" sz="630" i="1" dirty="0">
                <a:solidFill>
                  <a:srgbClr val="FFFFFF"/>
                </a:solidFill>
                <a:latin typeface="Arial" pitchFamily="34" charset="0"/>
                <a:ea typeface="Arial" pitchFamily="34" charset="-122"/>
                <a:cs typeface="Arial" pitchFamily="34" charset="-120"/>
              </a:rPr>
              <a:t>Exception</a:t>
            </a:r>
            <a:endParaRPr lang="en-US" sz="850" dirty="0"/>
          </a:p>
        </p:txBody>
      </p:sp>
      <p:sp>
        <p:nvSpPr>
          <p:cNvPr id="115" name="Shape 113"/>
          <p:cNvSpPr/>
          <p:nvPr/>
        </p:nvSpPr>
        <p:spPr>
          <a:xfrm>
            <a:off x="1892808" y="4901184"/>
            <a:ext cx="1506931" cy="658368"/>
          </a:xfrm>
          <a:prstGeom prst="rect">
            <a:avLst/>
          </a:prstGeom>
          <a:solidFill>
            <a:srgbClr val="FFFFFF"/>
          </a:solidFill>
          <a:ln w="9525">
            <a:solidFill>
              <a:srgbClr val="081F5C"/>
            </a:solidFill>
            <a:prstDash val="dash"/>
          </a:ln>
        </p:spPr>
      </p:sp>
      <p:sp>
        <p:nvSpPr>
          <p:cNvPr id="116" name="Text 114"/>
          <p:cNvSpPr/>
          <p:nvPr/>
        </p:nvSpPr>
        <p:spPr>
          <a:xfrm>
            <a:off x="1892808"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Record the exception</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Capture which of the four criteria hold, with evidence attached.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Criteria evidence attached</a:t>
            </a:r>
            <a:endParaRPr lang="en-US" sz="740" dirty="0"/>
          </a:p>
        </p:txBody>
      </p:sp>
      <p:sp>
        <p:nvSpPr>
          <p:cNvPr id="117" name="Shape 115"/>
          <p:cNvSpPr/>
          <p:nvPr/>
        </p:nvSpPr>
        <p:spPr>
          <a:xfrm>
            <a:off x="3416198" y="5120640"/>
            <a:ext cx="149962" cy="219456"/>
          </a:xfrm>
          <a:prstGeom prst="chevron">
            <a:avLst/>
          </a:prstGeom>
          <a:solidFill>
            <a:srgbClr val="EEEEEE"/>
          </a:solidFill>
          <a:ln w="6350">
            <a:solidFill>
              <a:srgbClr val="EEEEEE"/>
            </a:solidFill>
            <a:prstDash val="solid"/>
          </a:ln>
        </p:spPr>
      </p:sp>
      <p:sp>
        <p:nvSpPr>
          <p:cNvPr id="118" name="Shape 116"/>
          <p:cNvSpPr/>
          <p:nvPr/>
        </p:nvSpPr>
        <p:spPr>
          <a:xfrm>
            <a:off x="3573475" y="4901184"/>
            <a:ext cx="1506931" cy="658368"/>
          </a:xfrm>
          <a:prstGeom prst="rect">
            <a:avLst/>
          </a:prstGeom>
          <a:solidFill>
            <a:srgbClr val="FFFFFF"/>
          </a:solidFill>
          <a:ln w="9525">
            <a:solidFill>
              <a:srgbClr val="081F5C"/>
            </a:solidFill>
            <a:prstDash val="dash"/>
          </a:ln>
        </p:spPr>
      </p:sp>
      <p:sp>
        <p:nvSpPr>
          <p:cNvPr id="119" name="Text 117"/>
          <p:cNvSpPr/>
          <p:nvPr/>
        </p:nvSpPr>
        <p:spPr>
          <a:xfrm>
            <a:off x="3573475"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Plan the re-point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Choose the target connection, set the sunset date, agree the freeze.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Re-point plan and sunset agreed</a:t>
            </a:r>
            <a:endParaRPr lang="en-US" sz="740" dirty="0"/>
          </a:p>
        </p:txBody>
      </p:sp>
      <p:sp>
        <p:nvSpPr>
          <p:cNvPr id="120" name="Shape 118"/>
          <p:cNvSpPr/>
          <p:nvPr/>
        </p:nvSpPr>
        <p:spPr>
          <a:xfrm>
            <a:off x="5096866" y="5120640"/>
            <a:ext cx="149962" cy="219456"/>
          </a:xfrm>
          <a:prstGeom prst="chevron">
            <a:avLst/>
          </a:prstGeom>
          <a:solidFill>
            <a:srgbClr val="EEEEEE"/>
          </a:solidFill>
          <a:ln w="6350">
            <a:solidFill>
              <a:srgbClr val="EEEEEE"/>
            </a:solidFill>
            <a:prstDash val="solid"/>
          </a:ln>
        </p:spPr>
      </p:sp>
      <p:sp>
        <p:nvSpPr>
          <p:cNvPr id="121" name="Shape 119"/>
          <p:cNvSpPr/>
          <p:nvPr/>
        </p:nvSpPr>
        <p:spPr>
          <a:xfrm>
            <a:off x="5254142" y="4901184"/>
            <a:ext cx="1506931" cy="658368"/>
          </a:xfrm>
          <a:prstGeom prst="rect">
            <a:avLst/>
          </a:prstGeom>
          <a:solidFill>
            <a:srgbClr val="FFFFFF"/>
          </a:solidFill>
          <a:ln w="9525">
            <a:solidFill>
              <a:srgbClr val="081F5C"/>
            </a:solidFill>
            <a:prstDash val="dash"/>
          </a:ln>
        </p:spPr>
      </p:sp>
      <p:sp>
        <p:nvSpPr>
          <p:cNvPr id="122" name="Text 120"/>
          <p:cNvSpPr/>
          <p:nvPr/>
        </p:nvSpPr>
        <p:spPr>
          <a:xfrm>
            <a:off x="5254142"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Re-point the universe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Move the connection to SQL Server or Databricks, or retention is void.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Re-pointed off Oracle</a:t>
            </a:r>
            <a:endParaRPr lang="en-US" sz="740" dirty="0"/>
          </a:p>
        </p:txBody>
      </p:sp>
      <p:sp>
        <p:nvSpPr>
          <p:cNvPr id="123" name="Shape 121"/>
          <p:cNvSpPr/>
          <p:nvPr/>
        </p:nvSpPr>
        <p:spPr>
          <a:xfrm>
            <a:off x="6777533" y="5120640"/>
            <a:ext cx="149962" cy="219456"/>
          </a:xfrm>
          <a:prstGeom prst="chevron">
            <a:avLst/>
          </a:prstGeom>
          <a:solidFill>
            <a:srgbClr val="EEEEEE"/>
          </a:solidFill>
          <a:ln w="6350">
            <a:solidFill>
              <a:srgbClr val="EEEEEE"/>
            </a:solidFill>
            <a:prstDash val="solid"/>
          </a:ln>
        </p:spPr>
      </p:sp>
      <p:sp>
        <p:nvSpPr>
          <p:cNvPr id="124" name="Shape 122"/>
          <p:cNvSpPr/>
          <p:nvPr/>
        </p:nvSpPr>
        <p:spPr>
          <a:xfrm>
            <a:off x="6934810" y="4901184"/>
            <a:ext cx="1506931" cy="658368"/>
          </a:xfrm>
          <a:prstGeom prst="rect">
            <a:avLst/>
          </a:prstGeom>
          <a:solidFill>
            <a:srgbClr val="FFFFFF"/>
          </a:solidFill>
          <a:ln w="9525">
            <a:solidFill>
              <a:srgbClr val="081F5C"/>
            </a:solidFill>
            <a:prstDash val="dash"/>
          </a:ln>
        </p:spPr>
      </p:sp>
      <p:sp>
        <p:nvSpPr>
          <p:cNvPr id="125" name="Text 123"/>
          <p:cNvSpPr/>
          <p:nvPr/>
        </p:nvSpPr>
        <p:spPr>
          <a:xfrm>
            <a:off x="6934810"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Re-test the restrictions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Confirm universe restrictions still enforce after the change.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Restrictions re-tested</a:t>
            </a:r>
            <a:endParaRPr lang="en-US" sz="740" dirty="0"/>
          </a:p>
        </p:txBody>
      </p:sp>
      <p:sp>
        <p:nvSpPr>
          <p:cNvPr id="126" name="Shape 124"/>
          <p:cNvSpPr/>
          <p:nvPr/>
        </p:nvSpPr>
        <p:spPr>
          <a:xfrm>
            <a:off x="8458200" y="5120640"/>
            <a:ext cx="149962" cy="219456"/>
          </a:xfrm>
          <a:prstGeom prst="chevron">
            <a:avLst/>
          </a:prstGeom>
          <a:solidFill>
            <a:srgbClr val="EEEEEE"/>
          </a:solidFill>
          <a:ln w="6350">
            <a:solidFill>
              <a:srgbClr val="EEEEEE"/>
            </a:solidFill>
            <a:prstDash val="solid"/>
          </a:ln>
        </p:spPr>
      </p:sp>
      <p:sp>
        <p:nvSpPr>
          <p:cNvPr id="127" name="Shape 125"/>
          <p:cNvSpPr/>
          <p:nvPr/>
        </p:nvSpPr>
        <p:spPr>
          <a:xfrm>
            <a:off x="8615477" y="4901184"/>
            <a:ext cx="1506931" cy="658368"/>
          </a:xfrm>
          <a:prstGeom prst="rect">
            <a:avLst/>
          </a:prstGeom>
          <a:solidFill>
            <a:srgbClr val="FFFFFF"/>
          </a:solidFill>
          <a:ln w="9525">
            <a:solidFill>
              <a:srgbClr val="081F5C"/>
            </a:solidFill>
            <a:prstDash val="dash"/>
          </a:ln>
        </p:spPr>
      </p:sp>
      <p:sp>
        <p:nvSpPr>
          <p:cNvPr id="128" name="Text 126"/>
          <p:cNvSpPr/>
          <p:nvPr/>
        </p:nvSpPr>
        <p:spPr>
          <a:xfrm>
            <a:off x="8615477"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either side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Compare output either side of the re-point. No logic drift.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Pre and post reconciliation</a:t>
            </a:r>
            <a:endParaRPr lang="en-US" sz="740" dirty="0"/>
          </a:p>
        </p:txBody>
      </p:sp>
      <p:sp>
        <p:nvSpPr>
          <p:cNvPr id="129" name="Shape 127"/>
          <p:cNvSpPr/>
          <p:nvPr/>
        </p:nvSpPr>
        <p:spPr>
          <a:xfrm>
            <a:off x="10138867" y="5120640"/>
            <a:ext cx="149962" cy="219456"/>
          </a:xfrm>
          <a:prstGeom prst="chevron">
            <a:avLst/>
          </a:prstGeom>
          <a:solidFill>
            <a:srgbClr val="EEEEEE"/>
          </a:solidFill>
          <a:ln w="6350">
            <a:solidFill>
              <a:srgbClr val="EEEEEE"/>
            </a:solidFill>
            <a:prstDash val="solid"/>
          </a:ln>
        </p:spPr>
      </p:sp>
      <p:sp>
        <p:nvSpPr>
          <p:cNvPr id="130" name="Shape 128"/>
          <p:cNvSpPr/>
          <p:nvPr/>
        </p:nvSpPr>
        <p:spPr>
          <a:xfrm>
            <a:off x="10296144" y="4901184"/>
            <a:ext cx="1506931" cy="658368"/>
          </a:xfrm>
          <a:prstGeom prst="rect">
            <a:avLst/>
          </a:prstGeom>
          <a:solidFill>
            <a:srgbClr val="FFFFFF"/>
          </a:solidFill>
          <a:ln w="9525">
            <a:solidFill>
              <a:srgbClr val="081F5C"/>
            </a:solidFill>
            <a:prstDash val="dash"/>
          </a:ln>
        </p:spPr>
      </p:sp>
      <p:sp>
        <p:nvSpPr>
          <p:cNvPr id="131" name="Text 129"/>
          <p:cNvSpPr/>
          <p:nvPr/>
        </p:nvSpPr>
        <p:spPr>
          <a:xfrm>
            <a:off x="10296144"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Freeze and track sunset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Block enhancements, register the exception, re-test each wave.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Sunset in plan, freeze applied</a:t>
            </a:r>
            <a:endParaRPr lang="en-US" sz="740" dirty="0"/>
          </a:p>
        </p:txBody>
      </p:sp>
      <p:sp>
        <p:nvSpPr>
          <p:cNvPr id="132" name="Shape 130"/>
          <p:cNvSpPr/>
          <p:nvPr/>
        </p:nvSpPr>
        <p:spPr>
          <a:xfrm>
            <a:off x="384048" y="5632704"/>
            <a:ext cx="5650992" cy="438912"/>
          </a:xfrm>
          <a:prstGeom prst="rect">
            <a:avLst/>
          </a:prstGeom>
          <a:solidFill>
            <a:srgbClr val="ADDAFB"/>
          </a:solidFill>
          <a:ln w="6350">
            <a:solidFill>
              <a:srgbClr val="ADDAFB"/>
            </a:solidFill>
            <a:prstDash val="solid"/>
          </a:ln>
        </p:spPr>
      </p:sp>
      <p:sp>
        <p:nvSpPr>
          <p:cNvPr id="133" name="Text 131"/>
          <p:cNvSpPr/>
          <p:nvPr/>
        </p:nvSpPr>
        <p:spPr>
          <a:xfrm>
            <a:off x="384048" y="5632704"/>
            <a:ext cx="5650992" cy="438912"/>
          </a:xfrm>
          <a:prstGeom prst="rect">
            <a:avLst/>
          </a:prstGeom>
          <a:noFill/>
          <a:ln/>
        </p:spPr>
        <p:txBody>
          <a:bodyPr wrap="square" lIns="381" tIns="1143" rIns="1143" bIns="381" rtlCol="0" anchor="ctr"/>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Oracle → MS SQL Server   (feeds Power BI)</a:t>
            </a:r>
            <a:endParaRPr lang="en-US" sz="740" dirty="0"/>
          </a:p>
          <a:p>
            <a:pPr indent="0" marL="0">
              <a:lnSpc>
                <a:spcPct val="94000"/>
              </a:lnSpc>
              <a:buNone/>
            </a:pPr>
            <a:r>
              <a:rPr lang="en-US" sz="680" dirty="0">
                <a:solidFill>
                  <a:srgbClr val="1A1A1A"/>
                </a:solidFill>
                <a:latin typeface="Arial" pitchFamily="34" charset="0"/>
                <a:ea typeface="Arial" pitchFamily="34" charset="-122"/>
                <a:cs typeface="Arial" pitchFamily="34" charset="-120"/>
              </a:rPr>
              <a:t>Table → table with clustered index  ·  View → view, or indexed view where the report needs it  ·  Materialized view → indexed view, or a scheduled table where refresh cost is high  ·  Stored procedure → T-SQL stored procedure  ·  Package → schema-bound procedure set sharing one header</a:t>
            </a:r>
            <a:endParaRPr lang="en-US" sz="740" dirty="0"/>
          </a:p>
        </p:txBody>
      </p:sp>
      <p:sp>
        <p:nvSpPr>
          <p:cNvPr id="134" name="Shape 132"/>
          <p:cNvSpPr/>
          <p:nvPr/>
        </p:nvSpPr>
        <p:spPr>
          <a:xfrm>
            <a:off x="6153912" y="5632704"/>
            <a:ext cx="5650992" cy="438912"/>
          </a:xfrm>
          <a:prstGeom prst="rect">
            <a:avLst/>
          </a:prstGeom>
          <a:solidFill>
            <a:srgbClr val="ADDAFB"/>
          </a:solidFill>
          <a:ln w="6350">
            <a:solidFill>
              <a:srgbClr val="ADDAFB"/>
            </a:solidFill>
            <a:prstDash val="solid"/>
          </a:ln>
        </p:spPr>
      </p:sp>
      <p:sp>
        <p:nvSpPr>
          <p:cNvPr id="135" name="Text 133"/>
          <p:cNvSpPr/>
          <p:nvPr/>
        </p:nvSpPr>
        <p:spPr>
          <a:xfrm>
            <a:off x="6153912" y="5632704"/>
            <a:ext cx="5650992" cy="438912"/>
          </a:xfrm>
          <a:prstGeom prst="rect">
            <a:avLst/>
          </a:prstGeom>
          <a:noFill/>
          <a:ln/>
        </p:spPr>
        <p:txBody>
          <a:bodyPr wrap="square" lIns="381" tIns="1143" rIns="1143" bIns="381" rtlCol="0" anchor="ctr"/>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Oracle → Databricks   (feeds Databricks AI/BI)</a:t>
            </a:r>
            <a:endParaRPr lang="en-US" sz="740" dirty="0"/>
          </a:p>
          <a:p>
            <a:pPr indent="0" marL="0">
              <a:lnSpc>
                <a:spcPct val="94000"/>
              </a:lnSpc>
              <a:buNone/>
            </a:pPr>
            <a:r>
              <a:rPr lang="en-US" sz="680" dirty="0">
                <a:solidFill>
                  <a:srgbClr val="1A1A1A"/>
                </a:solidFill>
                <a:latin typeface="Arial" pitchFamily="34" charset="0"/>
                <a:ea typeface="Arial" pitchFamily="34" charset="-122"/>
                <a:cs typeface="Arial" pitchFamily="34" charset="-120"/>
              </a:rPr>
              <a:t>Table → managed Delta table  ·  View → Databricks SQL view  ·  Materialized view → Delta materialized view, or a scheduled gold table  ·  Stored procedure → SQL UDF for set logic, notebook or DLT pipeline for procedural logic  ·  Package → notebook module or Python wheel in Unity Catalog</a:t>
            </a:r>
            <a:endParaRPr lang="en-US" sz="740" dirty="0"/>
          </a:p>
        </p:txBody>
      </p:sp>
      <p:sp>
        <p:nvSpPr>
          <p:cNvPr id="136" name="Shape 134"/>
          <p:cNvSpPr/>
          <p:nvPr/>
        </p:nvSpPr>
        <p:spPr>
          <a:xfrm>
            <a:off x="384048" y="6126480"/>
            <a:ext cx="11420856" cy="347472"/>
          </a:xfrm>
          <a:prstGeom prst="rect">
            <a:avLst/>
          </a:prstGeom>
          <a:solidFill>
            <a:srgbClr val="EAF5FD"/>
          </a:solidFill>
          <a:ln w="9525">
            <a:solidFill>
              <a:srgbClr val="C9E3F7"/>
            </a:solidFill>
            <a:prstDash val="solid"/>
          </a:ln>
        </p:spPr>
      </p:sp>
      <p:sp>
        <p:nvSpPr>
          <p:cNvPr id="137" name="Text 135"/>
          <p:cNvSpPr/>
          <p:nvPr/>
        </p:nvSpPr>
        <p:spPr>
          <a:xfrm>
            <a:off x="384048" y="6126480"/>
            <a:ext cx="11420856" cy="347472"/>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steps 4 and 5 of every track.  </a:t>
            </a:r>
            <a:pPr indent="0" marL="0">
              <a:lnSpc>
                <a:spcPct val="95000"/>
              </a:lnSpc>
              <a:buNone/>
            </a:pPr>
            <a:r>
              <a:rPr lang="en-US" sz="700" dirty="0">
                <a:solidFill>
                  <a:srgbClr val="1A1A1A"/>
                </a:solidFill>
                <a:latin typeface="Arial" pitchFamily="34" charset="0"/>
                <a:ea typeface="Arial" pitchFamily="34" charset="-122"/>
                <a:cs typeface="Arial" pitchFamily="34" charset="-120"/>
              </a:rPr>
              <a:t>Re-assert minimum necessary as objects land: PHI columns are masked and row-level access enforced in SQL Server and in Unity Catalog before any report is pointed at them. Re-test with a non-privileged account, never an admin. Do not carry BOBJ publication recipient lists into Power BI subscriptions or UC groups without re-validating each recipient. A universe re-pointed under the retain exception must have its restrictions re-tested — a connection change silently breaks row-level security.</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84048" y="164592"/>
            <a:ext cx="10515600" cy="329184"/>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Report Migration  —  Parallel Execution Paths</a:t>
            </a:r>
            <a:endParaRPr lang="en-US" sz="2300" dirty="0"/>
          </a:p>
        </p:txBody>
      </p:sp>
      <p:sp>
        <p:nvSpPr>
          <p:cNvPr id="3" name="Text 1"/>
          <p:cNvSpPr/>
          <p:nvPr/>
        </p:nvSpPr>
        <p:spPr>
          <a:xfrm>
            <a:off x="384048" y="512064"/>
            <a:ext cx="11420856" cy="292608"/>
          </a:xfrm>
          <a:prstGeom prst="rect">
            <a:avLst/>
          </a:prstGeom>
          <a:noFill/>
          <a:ln/>
        </p:spPr>
        <p:txBody>
          <a:bodyPr wrap="square" lIns="0" tIns="0" rIns="0" bIns="0" rtlCol="0" anchor="ctr"/>
          <a:lstStyle/>
          <a:p>
            <a:pPr indent="0" marL="0">
              <a:lnSpc>
                <a:spcPct val="95000"/>
              </a:lnSpc>
              <a:buNone/>
            </a:pPr>
            <a:r>
              <a:rPr lang="en-US" sz="950" dirty="0">
                <a:solidFill>
                  <a:srgbClr val="1A1A1A"/>
                </a:solidFill>
                <a:latin typeface="Arial" pitchFamily="34" charset="0"/>
                <a:ea typeface="Arial" pitchFamily="34" charset="-122"/>
                <a:cs typeface="Arial" pitchFamily="34" charset="-120"/>
              </a:rPr>
              <a:t>Disposition is already assigned. All four platform paths run concurrently — nothing waits on another platform. Two are gated by a database migration: the Oracle objects a Power BI report reads move to MS SQL Server, and those a Databricks report reads move to Delta and Unity Catalog. CogitoSQL needs none.</a:t>
            </a:r>
            <a:endParaRPr lang="en-US" sz="950" dirty="0"/>
          </a:p>
        </p:txBody>
      </p:sp>
      <p:sp>
        <p:nvSpPr>
          <p:cNvPr id="4" name="Shape 2"/>
          <p:cNvSpPr/>
          <p:nvPr/>
        </p:nvSpPr>
        <p:spPr>
          <a:xfrm>
            <a:off x="1051560" y="1883664"/>
            <a:ext cx="10561320" cy="749808"/>
          </a:xfrm>
          <a:prstGeom prst="rect">
            <a:avLst/>
          </a:prstGeom>
          <a:solidFill>
            <a:srgbClr val="F2F2F2"/>
          </a:solidFill>
          <a:ln w="6350">
            <a:solidFill>
              <a:srgbClr val="F2F2F2"/>
            </a:solidFill>
            <a:prstDash val="solid"/>
          </a:ln>
        </p:spPr>
      </p:sp>
      <p:sp>
        <p:nvSpPr>
          <p:cNvPr id="5" name="Shape 3"/>
          <p:cNvSpPr/>
          <p:nvPr/>
        </p:nvSpPr>
        <p:spPr>
          <a:xfrm>
            <a:off x="1051560" y="3419856"/>
            <a:ext cx="10561320" cy="749808"/>
          </a:xfrm>
          <a:prstGeom prst="rect">
            <a:avLst/>
          </a:prstGeom>
          <a:solidFill>
            <a:srgbClr val="F2F2F2"/>
          </a:solidFill>
          <a:ln w="6350">
            <a:solidFill>
              <a:srgbClr val="F2F2F2"/>
            </a:solidFill>
            <a:prstDash val="solid"/>
          </a:ln>
        </p:spPr>
      </p:sp>
      <p:sp>
        <p:nvSpPr>
          <p:cNvPr id="6" name="Shape 4"/>
          <p:cNvSpPr/>
          <p:nvPr/>
        </p:nvSpPr>
        <p:spPr>
          <a:xfrm>
            <a:off x="621792" y="3200400"/>
            <a:ext cx="182880" cy="182880"/>
          </a:xfrm>
          <a:prstGeom prst="rect">
            <a:avLst/>
          </a:prstGeom>
          <a:solidFill>
            <a:srgbClr val="081F5C"/>
          </a:solidFill>
          <a:ln w="12700">
            <a:solidFill>
              <a:srgbClr val="081F5C"/>
            </a:solidFill>
            <a:prstDash val="solid"/>
          </a:ln>
        </p:spPr>
      </p:sp>
      <p:sp>
        <p:nvSpPr>
          <p:cNvPr id="7" name="Shape 5"/>
          <p:cNvSpPr/>
          <p:nvPr/>
        </p:nvSpPr>
        <p:spPr>
          <a:xfrm>
            <a:off x="804672" y="3291840"/>
            <a:ext cx="338328" cy="0"/>
          </a:xfrm>
          <a:prstGeom prst="line">
            <a:avLst/>
          </a:prstGeom>
          <a:noFill/>
          <a:ln w="15875">
            <a:solidFill>
              <a:srgbClr val="081F5C"/>
            </a:solidFill>
            <a:prstDash val="solid"/>
          </a:ln>
        </p:spPr>
      </p:sp>
      <p:sp>
        <p:nvSpPr>
          <p:cNvPr id="8" name="Shape 6"/>
          <p:cNvSpPr/>
          <p:nvPr/>
        </p:nvSpPr>
        <p:spPr>
          <a:xfrm>
            <a:off x="1143000" y="1371600"/>
            <a:ext cx="0" cy="3840480"/>
          </a:xfrm>
          <a:prstGeom prst="line">
            <a:avLst/>
          </a:prstGeom>
          <a:noFill/>
          <a:ln w="15875">
            <a:solidFill>
              <a:srgbClr val="081F5C"/>
            </a:solidFill>
            <a:prstDash val="solid"/>
          </a:ln>
        </p:spPr>
      </p:sp>
      <p:sp>
        <p:nvSpPr>
          <p:cNvPr id="9" name="Text 7"/>
          <p:cNvSpPr/>
          <p:nvPr/>
        </p:nvSpPr>
        <p:spPr>
          <a:xfrm>
            <a:off x="384048" y="2816352"/>
            <a:ext cx="713232" cy="347472"/>
          </a:xfrm>
          <a:prstGeom prst="rect">
            <a:avLst/>
          </a:prstGeom>
          <a:noFill/>
          <a:ln/>
        </p:spPr>
        <p:txBody>
          <a:bodyPr wrap="square" lIns="0" tIns="0" rIns="0" bIns="0" rtlCol="0" anchor="b"/>
          <a:lstStyle/>
          <a:p>
            <a:pPr algn="ctr" indent="0" marL="0">
              <a:lnSpc>
                <a:spcPct val="92000"/>
              </a:lnSpc>
              <a:buNone/>
            </a:pPr>
            <a:r>
              <a:rPr lang="en-US" sz="630" b="1" dirty="0">
                <a:solidFill>
                  <a:srgbClr val="081F5C"/>
                </a:solidFill>
                <a:latin typeface="Arial" pitchFamily="34" charset="0"/>
                <a:ea typeface="Arial" pitchFamily="34" charset="-122"/>
                <a:cs typeface="Arial" pitchFamily="34" charset="-120"/>
              </a:rPr>
              <a:t>Disposition register</a:t>
            </a:r>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  (input, not an activity)</a:t>
            </a:r>
            <a:endParaRPr lang="en-US" sz="630" dirty="0"/>
          </a:p>
        </p:txBody>
      </p:sp>
      <p:sp>
        <p:nvSpPr>
          <p:cNvPr id="10" name="Shape 8"/>
          <p:cNvSpPr/>
          <p:nvPr/>
        </p:nvSpPr>
        <p:spPr>
          <a:xfrm>
            <a:off x="1143000" y="1371600"/>
            <a:ext cx="9738360" cy="0"/>
          </a:xfrm>
          <a:prstGeom prst="line">
            <a:avLst/>
          </a:prstGeom>
          <a:noFill/>
          <a:ln w="22225">
            <a:solidFill>
              <a:srgbClr val="68349A"/>
            </a:solidFill>
            <a:prstDash val="solid"/>
          </a:ln>
        </p:spPr>
      </p:sp>
      <p:sp>
        <p:nvSpPr>
          <p:cNvPr id="11" name="Text 9"/>
          <p:cNvSpPr/>
          <p:nvPr/>
        </p:nvSpPr>
        <p:spPr>
          <a:xfrm>
            <a:off x="1463040" y="1152144"/>
            <a:ext cx="4206240" cy="146304"/>
          </a:xfrm>
          <a:prstGeom prst="rect">
            <a:avLst/>
          </a:prstGeom>
          <a:noFill/>
          <a:ln/>
        </p:spPr>
        <p:txBody>
          <a:bodyPr wrap="square" lIns="0" tIns="0" rIns="0" bIns="0" rtlCol="0" anchor="ctr"/>
          <a:lstStyle/>
          <a:p>
            <a:pPr indent="0" marL="0">
              <a:buNone/>
            </a:pPr>
            <a:r>
              <a:rPr lang="en-US" sz="740" b="1" i="1" dirty="0">
                <a:solidFill>
                  <a:srgbClr val="68349A"/>
                </a:solidFill>
                <a:latin typeface="Arial" pitchFamily="34" charset="0"/>
                <a:ea typeface="Arial" pitchFamily="34" charset="-122"/>
                <a:cs typeface="Arial" pitchFamily="34" charset="-120"/>
              </a:rPr>
              <a:t>CogitoSQL  —  Rearchitect</a:t>
            </a:r>
            <a:endParaRPr lang="en-US" sz="740" dirty="0"/>
          </a:p>
        </p:txBody>
      </p:sp>
      <p:sp>
        <p:nvSpPr>
          <p:cNvPr id="12" name="Shape 10"/>
          <p:cNvSpPr/>
          <p:nvPr/>
        </p:nvSpPr>
        <p:spPr>
          <a:xfrm>
            <a:off x="1851660" y="1303020"/>
            <a:ext cx="137160" cy="137160"/>
          </a:xfrm>
          <a:prstGeom prst="ellipse">
            <a:avLst/>
          </a:prstGeom>
          <a:solidFill>
            <a:srgbClr val="FFFFFF"/>
          </a:solidFill>
          <a:ln w="15875">
            <a:solidFill>
              <a:srgbClr val="68349A"/>
            </a:solidFill>
            <a:prstDash val="solid"/>
          </a:ln>
        </p:spPr>
      </p:sp>
      <p:sp>
        <p:nvSpPr>
          <p:cNvPr id="13" name="Shape 11"/>
          <p:cNvSpPr/>
          <p:nvPr/>
        </p:nvSpPr>
        <p:spPr>
          <a:xfrm>
            <a:off x="1920240" y="1453896"/>
            <a:ext cx="0" cy="54864"/>
          </a:xfrm>
          <a:prstGeom prst="line">
            <a:avLst/>
          </a:prstGeom>
          <a:noFill/>
          <a:ln w="9525">
            <a:solidFill>
              <a:srgbClr val="C8C8C8"/>
            </a:solidFill>
            <a:prstDash val="solid"/>
          </a:ln>
        </p:spPr>
      </p:sp>
      <p:sp>
        <p:nvSpPr>
          <p:cNvPr id="14" name="Text 12"/>
          <p:cNvSpPr/>
          <p:nvPr/>
        </p:nvSpPr>
        <p:spPr>
          <a:xfrm>
            <a:off x="109728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Confirm Epic coverage in Clarity and Caboodle</a:t>
            </a:r>
            <a:endParaRPr lang="en-US" sz="650" dirty="0"/>
          </a:p>
        </p:txBody>
      </p:sp>
      <p:sp>
        <p:nvSpPr>
          <p:cNvPr id="15" name="Shape 13"/>
          <p:cNvSpPr/>
          <p:nvPr/>
        </p:nvSpPr>
        <p:spPr>
          <a:xfrm>
            <a:off x="3589020" y="1303020"/>
            <a:ext cx="137160" cy="137160"/>
          </a:xfrm>
          <a:prstGeom prst="ellipse">
            <a:avLst/>
          </a:prstGeom>
          <a:solidFill>
            <a:srgbClr val="FFFFFF"/>
          </a:solidFill>
          <a:ln w="15875">
            <a:solidFill>
              <a:srgbClr val="68349A"/>
            </a:solidFill>
            <a:prstDash val="solid"/>
          </a:ln>
        </p:spPr>
      </p:sp>
      <p:sp>
        <p:nvSpPr>
          <p:cNvPr id="16" name="Shape 14"/>
          <p:cNvSpPr/>
          <p:nvPr/>
        </p:nvSpPr>
        <p:spPr>
          <a:xfrm>
            <a:off x="3657600" y="1453896"/>
            <a:ext cx="0" cy="54864"/>
          </a:xfrm>
          <a:prstGeom prst="line">
            <a:avLst/>
          </a:prstGeom>
          <a:noFill/>
          <a:ln w="9525">
            <a:solidFill>
              <a:srgbClr val="C8C8C8"/>
            </a:solidFill>
            <a:prstDash val="solid"/>
          </a:ln>
        </p:spPr>
      </p:sp>
      <p:sp>
        <p:nvSpPr>
          <p:cNvPr id="17" name="Text 15"/>
          <p:cNvSpPr/>
          <p:nvPr/>
        </p:nvSpPr>
        <p:spPr>
          <a:xfrm>
            <a:off x="283464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Select and spec the Epic tool</a:t>
            </a:r>
            <a:endParaRPr lang="en-US" sz="650" dirty="0"/>
          </a:p>
        </p:txBody>
      </p:sp>
      <p:sp>
        <p:nvSpPr>
          <p:cNvPr id="18" name="Shape 16"/>
          <p:cNvSpPr/>
          <p:nvPr/>
        </p:nvSpPr>
        <p:spPr>
          <a:xfrm>
            <a:off x="5326380" y="1303020"/>
            <a:ext cx="137160" cy="137160"/>
          </a:xfrm>
          <a:prstGeom prst="ellipse">
            <a:avLst/>
          </a:prstGeom>
          <a:solidFill>
            <a:srgbClr val="FFFFFF"/>
          </a:solidFill>
          <a:ln w="15875">
            <a:solidFill>
              <a:srgbClr val="68349A"/>
            </a:solidFill>
            <a:prstDash val="solid"/>
          </a:ln>
        </p:spPr>
      </p:sp>
      <p:sp>
        <p:nvSpPr>
          <p:cNvPr id="19" name="Shape 17"/>
          <p:cNvSpPr/>
          <p:nvPr/>
        </p:nvSpPr>
        <p:spPr>
          <a:xfrm>
            <a:off x="5394960" y="1453896"/>
            <a:ext cx="0" cy="54864"/>
          </a:xfrm>
          <a:prstGeom prst="line">
            <a:avLst/>
          </a:prstGeom>
          <a:noFill/>
          <a:ln w="9525">
            <a:solidFill>
              <a:srgbClr val="C8C8C8"/>
            </a:solidFill>
            <a:prstDash val="solid"/>
          </a:ln>
        </p:spPr>
      </p:sp>
      <p:sp>
        <p:nvSpPr>
          <p:cNvPr id="20" name="Text 18"/>
          <p:cNvSpPr/>
          <p:nvPr/>
        </p:nvSpPr>
        <p:spPr>
          <a:xfrm>
            <a:off x="457200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Build the template in non-production</a:t>
            </a:r>
            <a:endParaRPr lang="en-US" sz="650" dirty="0"/>
          </a:p>
        </p:txBody>
      </p:sp>
      <p:sp>
        <p:nvSpPr>
          <p:cNvPr id="21" name="Shape 19"/>
          <p:cNvSpPr/>
          <p:nvPr/>
        </p:nvSpPr>
        <p:spPr>
          <a:xfrm>
            <a:off x="7063740" y="1303020"/>
            <a:ext cx="137160" cy="137160"/>
          </a:xfrm>
          <a:prstGeom prst="ellipse">
            <a:avLst/>
          </a:prstGeom>
          <a:solidFill>
            <a:srgbClr val="FFFFFF"/>
          </a:solidFill>
          <a:ln w="15875">
            <a:solidFill>
              <a:srgbClr val="68349A"/>
            </a:solidFill>
            <a:prstDash val="solid"/>
          </a:ln>
        </p:spPr>
      </p:sp>
      <p:sp>
        <p:nvSpPr>
          <p:cNvPr id="22" name="Shape 20"/>
          <p:cNvSpPr/>
          <p:nvPr/>
        </p:nvSpPr>
        <p:spPr>
          <a:xfrm>
            <a:off x="7132320" y="1453896"/>
            <a:ext cx="0" cy="54864"/>
          </a:xfrm>
          <a:prstGeom prst="line">
            <a:avLst/>
          </a:prstGeom>
          <a:noFill/>
          <a:ln w="9525">
            <a:solidFill>
              <a:srgbClr val="C8C8C8"/>
            </a:solidFill>
            <a:prstDash val="solid"/>
          </a:ln>
        </p:spPr>
      </p:sp>
      <p:sp>
        <p:nvSpPr>
          <p:cNvPr id="23" name="Text 21"/>
          <p:cNvSpPr/>
          <p:nvPr/>
        </p:nvSpPr>
        <p:spPr>
          <a:xfrm>
            <a:off x="630936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Apply Epic security classes</a:t>
            </a:r>
            <a:endParaRPr lang="en-US" sz="650" dirty="0"/>
          </a:p>
        </p:txBody>
      </p:sp>
      <p:sp>
        <p:nvSpPr>
          <p:cNvPr id="24" name="Shape 22"/>
          <p:cNvSpPr/>
          <p:nvPr/>
        </p:nvSpPr>
        <p:spPr>
          <a:xfrm>
            <a:off x="8801100" y="1303020"/>
            <a:ext cx="137160" cy="137160"/>
          </a:xfrm>
          <a:prstGeom prst="ellipse">
            <a:avLst/>
          </a:prstGeom>
          <a:solidFill>
            <a:srgbClr val="FFFFFF"/>
          </a:solidFill>
          <a:ln w="15875">
            <a:solidFill>
              <a:srgbClr val="68349A"/>
            </a:solidFill>
            <a:prstDash val="solid"/>
          </a:ln>
        </p:spPr>
      </p:sp>
      <p:sp>
        <p:nvSpPr>
          <p:cNvPr id="25" name="Shape 23"/>
          <p:cNvSpPr/>
          <p:nvPr/>
        </p:nvSpPr>
        <p:spPr>
          <a:xfrm>
            <a:off x="8869680" y="1453896"/>
            <a:ext cx="0" cy="54864"/>
          </a:xfrm>
          <a:prstGeom prst="line">
            <a:avLst/>
          </a:prstGeom>
          <a:noFill/>
          <a:ln w="9525">
            <a:solidFill>
              <a:srgbClr val="C8C8C8"/>
            </a:solidFill>
            <a:prstDash val="solid"/>
          </a:ln>
        </p:spPr>
      </p:sp>
      <p:sp>
        <p:nvSpPr>
          <p:cNvPr id="26" name="Text 24"/>
          <p:cNvSpPr/>
          <p:nvPr/>
        </p:nvSpPr>
        <p:spPr>
          <a:xfrm>
            <a:off x="804672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to L2+ and run clinician UAT</a:t>
            </a:r>
            <a:endParaRPr lang="en-US" sz="650" dirty="0"/>
          </a:p>
        </p:txBody>
      </p:sp>
      <p:sp>
        <p:nvSpPr>
          <p:cNvPr id="27" name="Shape 25"/>
          <p:cNvSpPr/>
          <p:nvPr/>
        </p:nvSpPr>
        <p:spPr>
          <a:xfrm>
            <a:off x="10529316" y="1293876"/>
            <a:ext cx="155448" cy="155448"/>
          </a:xfrm>
          <a:prstGeom prst="rect">
            <a:avLst/>
          </a:prstGeom>
          <a:solidFill>
            <a:srgbClr val="68349A"/>
          </a:solidFill>
          <a:ln w="12700">
            <a:solidFill>
              <a:srgbClr val="68349A"/>
            </a:solidFill>
            <a:prstDash val="solid"/>
          </a:ln>
        </p:spPr>
      </p:sp>
      <p:sp>
        <p:nvSpPr>
          <p:cNvPr id="28" name="Shape 26"/>
          <p:cNvSpPr/>
          <p:nvPr/>
        </p:nvSpPr>
        <p:spPr>
          <a:xfrm>
            <a:off x="10607040" y="1453896"/>
            <a:ext cx="0" cy="54864"/>
          </a:xfrm>
          <a:prstGeom prst="line">
            <a:avLst/>
          </a:prstGeom>
          <a:noFill/>
          <a:ln w="9525">
            <a:solidFill>
              <a:srgbClr val="C8C8C8"/>
            </a:solidFill>
            <a:prstDash val="solid"/>
          </a:ln>
        </p:spPr>
      </p:sp>
      <p:sp>
        <p:nvSpPr>
          <p:cNvPr id="29" name="Text 27"/>
          <p:cNvSpPr/>
          <p:nvPr/>
        </p:nvSpPr>
        <p:spPr>
          <a:xfrm>
            <a:off x="978408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Release and delete the BOBJ object</a:t>
            </a:r>
            <a:endParaRPr lang="en-US" sz="650" dirty="0"/>
          </a:p>
        </p:txBody>
      </p:sp>
      <p:sp>
        <p:nvSpPr>
          <p:cNvPr id="30" name="Shape 28"/>
          <p:cNvSpPr/>
          <p:nvPr/>
        </p:nvSpPr>
        <p:spPr>
          <a:xfrm>
            <a:off x="1143000" y="2139696"/>
            <a:ext cx="9738360" cy="0"/>
          </a:xfrm>
          <a:prstGeom prst="line">
            <a:avLst/>
          </a:prstGeom>
          <a:noFill/>
          <a:ln w="22225">
            <a:solidFill>
              <a:srgbClr val="707070"/>
            </a:solidFill>
            <a:prstDash val="solid"/>
          </a:ln>
        </p:spPr>
      </p:sp>
      <p:sp>
        <p:nvSpPr>
          <p:cNvPr id="31" name="Text 29"/>
          <p:cNvSpPr/>
          <p:nvPr/>
        </p:nvSpPr>
        <p:spPr>
          <a:xfrm>
            <a:off x="1463040" y="1920240"/>
            <a:ext cx="4206240" cy="146304"/>
          </a:xfrm>
          <a:prstGeom prst="rect">
            <a:avLst/>
          </a:prstGeom>
          <a:noFill/>
          <a:ln/>
        </p:spPr>
        <p:txBody>
          <a:bodyPr wrap="square" lIns="0" tIns="0" rIns="0" bIns="0" rtlCol="0" anchor="ctr"/>
          <a:lstStyle/>
          <a:p>
            <a:pPr indent="0" marL="0">
              <a:buNone/>
            </a:pPr>
            <a:r>
              <a:rPr lang="en-US" sz="740" b="1" i="1" dirty="0">
                <a:solidFill>
                  <a:srgbClr val="707070"/>
                </a:solidFill>
                <a:latin typeface="Arial" pitchFamily="34" charset="0"/>
                <a:ea typeface="Arial" pitchFamily="34" charset="-122"/>
                <a:cs typeface="Arial" pitchFamily="34" charset="-120"/>
              </a:rPr>
              <a:t>Power BI  ·  database objects  →  MS SQL Server</a:t>
            </a:r>
            <a:endParaRPr lang="en-US" sz="740" dirty="0"/>
          </a:p>
        </p:txBody>
      </p:sp>
      <p:sp>
        <p:nvSpPr>
          <p:cNvPr id="32" name="Shape 30"/>
          <p:cNvSpPr/>
          <p:nvPr/>
        </p:nvSpPr>
        <p:spPr>
          <a:xfrm>
            <a:off x="1851660" y="2071116"/>
            <a:ext cx="137160" cy="137160"/>
          </a:xfrm>
          <a:prstGeom prst="ellipse">
            <a:avLst/>
          </a:prstGeom>
          <a:solidFill>
            <a:srgbClr val="FFFFFF"/>
          </a:solidFill>
          <a:ln w="15875">
            <a:solidFill>
              <a:srgbClr val="707070"/>
            </a:solidFill>
            <a:prstDash val="solid"/>
          </a:ln>
        </p:spPr>
      </p:sp>
      <p:sp>
        <p:nvSpPr>
          <p:cNvPr id="33" name="Shape 31"/>
          <p:cNvSpPr/>
          <p:nvPr/>
        </p:nvSpPr>
        <p:spPr>
          <a:xfrm>
            <a:off x="1920240" y="2221992"/>
            <a:ext cx="0" cy="54864"/>
          </a:xfrm>
          <a:prstGeom prst="line">
            <a:avLst/>
          </a:prstGeom>
          <a:noFill/>
          <a:ln w="9525">
            <a:solidFill>
              <a:srgbClr val="C8C8C8"/>
            </a:solidFill>
            <a:prstDash val="solid"/>
          </a:ln>
        </p:spPr>
      </p:sp>
      <p:sp>
        <p:nvSpPr>
          <p:cNvPr id="34" name="Text 32"/>
          <p:cNvSpPr/>
          <p:nvPr/>
        </p:nvSpPr>
        <p:spPr>
          <a:xfrm>
            <a:off x="109728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Inventory tables, views, MVs, procedures, packages</a:t>
            </a:r>
            <a:endParaRPr lang="en-US" sz="650" dirty="0"/>
          </a:p>
        </p:txBody>
      </p:sp>
      <p:sp>
        <p:nvSpPr>
          <p:cNvPr id="35" name="Shape 33"/>
          <p:cNvSpPr/>
          <p:nvPr/>
        </p:nvSpPr>
        <p:spPr>
          <a:xfrm>
            <a:off x="3589020" y="2071116"/>
            <a:ext cx="137160" cy="137160"/>
          </a:xfrm>
          <a:prstGeom prst="ellipse">
            <a:avLst/>
          </a:prstGeom>
          <a:solidFill>
            <a:srgbClr val="FFFFFF"/>
          </a:solidFill>
          <a:ln w="15875">
            <a:solidFill>
              <a:srgbClr val="707070"/>
            </a:solidFill>
            <a:prstDash val="solid"/>
          </a:ln>
        </p:spPr>
      </p:sp>
      <p:sp>
        <p:nvSpPr>
          <p:cNvPr id="36" name="Shape 34"/>
          <p:cNvSpPr/>
          <p:nvPr/>
        </p:nvSpPr>
        <p:spPr>
          <a:xfrm>
            <a:off x="3657600" y="2221992"/>
            <a:ext cx="0" cy="54864"/>
          </a:xfrm>
          <a:prstGeom prst="line">
            <a:avLst/>
          </a:prstGeom>
          <a:noFill/>
          <a:ln w="9525">
            <a:solidFill>
              <a:srgbClr val="C8C8C8"/>
            </a:solidFill>
            <a:prstDash val="solid"/>
          </a:ln>
        </p:spPr>
      </p:sp>
      <p:sp>
        <p:nvSpPr>
          <p:cNvPr id="37" name="Text 35"/>
          <p:cNvSpPr/>
          <p:nvPr/>
        </p:nvSpPr>
        <p:spPr>
          <a:xfrm>
            <a:off x="283464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Map each object type to a SQL Server target</a:t>
            </a:r>
            <a:endParaRPr lang="en-US" sz="650" dirty="0"/>
          </a:p>
        </p:txBody>
      </p:sp>
      <p:sp>
        <p:nvSpPr>
          <p:cNvPr id="38" name="Shape 36"/>
          <p:cNvSpPr/>
          <p:nvPr/>
        </p:nvSpPr>
        <p:spPr>
          <a:xfrm>
            <a:off x="5326380" y="2071116"/>
            <a:ext cx="137160" cy="137160"/>
          </a:xfrm>
          <a:prstGeom prst="ellipse">
            <a:avLst/>
          </a:prstGeom>
          <a:solidFill>
            <a:srgbClr val="FFFFFF"/>
          </a:solidFill>
          <a:ln w="15875">
            <a:solidFill>
              <a:srgbClr val="707070"/>
            </a:solidFill>
            <a:prstDash val="solid"/>
          </a:ln>
        </p:spPr>
      </p:sp>
      <p:sp>
        <p:nvSpPr>
          <p:cNvPr id="39" name="Shape 37"/>
          <p:cNvSpPr/>
          <p:nvPr/>
        </p:nvSpPr>
        <p:spPr>
          <a:xfrm>
            <a:off x="5394960" y="2221992"/>
            <a:ext cx="0" cy="54864"/>
          </a:xfrm>
          <a:prstGeom prst="line">
            <a:avLst/>
          </a:prstGeom>
          <a:noFill/>
          <a:ln w="9525">
            <a:solidFill>
              <a:srgbClr val="C8C8C8"/>
            </a:solidFill>
            <a:prstDash val="solid"/>
          </a:ln>
        </p:spPr>
      </p:sp>
      <p:sp>
        <p:nvSpPr>
          <p:cNvPr id="40" name="Text 38"/>
          <p:cNvSpPr/>
          <p:nvPr/>
        </p:nvSpPr>
        <p:spPr>
          <a:xfrm>
            <a:off x="457200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Migrate DDL and data, rewrite PL/SQL as T-SQL</a:t>
            </a:r>
            <a:endParaRPr lang="en-US" sz="650" dirty="0"/>
          </a:p>
        </p:txBody>
      </p:sp>
      <p:sp>
        <p:nvSpPr>
          <p:cNvPr id="41" name="Shape 39"/>
          <p:cNvSpPr/>
          <p:nvPr/>
        </p:nvSpPr>
        <p:spPr>
          <a:xfrm>
            <a:off x="7063740" y="2071116"/>
            <a:ext cx="137160" cy="137160"/>
          </a:xfrm>
          <a:prstGeom prst="ellipse">
            <a:avLst/>
          </a:prstGeom>
          <a:solidFill>
            <a:srgbClr val="FFFFFF"/>
          </a:solidFill>
          <a:ln w="15875">
            <a:solidFill>
              <a:srgbClr val="707070"/>
            </a:solidFill>
            <a:prstDash val="solid"/>
          </a:ln>
        </p:spPr>
      </p:sp>
      <p:sp>
        <p:nvSpPr>
          <p:cNvPr id="42" name="Shape 40"/>
          <p:cNvSpPr/>
          <p:nvPr/>
        </p:nvSpPr>
        <p:spPr>
          <a:xfrm>
            <a:off x="7132320" y="2221992"/>
            <a:ext cx="0" cy="54864"/>
          </a:xfrm>
          <a:prstGeom prst="line">
            <a:avLst/>
          </a:prstGeom>
          <a:noFill/>
          <a:ln w="9525">
            <a:solidFill>
              <a:srgbClr val="C8C8C8"/>
            </a:solidFill>
            <a:prstDash val="solid"/>
          </a:ln>
        </p:spPr>
      </p:sp>
      <p:sp>
        <p:nvSpPr>
          <p:cNvPr id="43" name="Text 41"/>
          <p:cNvSpPr/>
          <p:nvPr/>
        </p:nvSpPr>
        <p:spPr>
          <a:xfrm>
            <a:off x="630936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Set schema roles and mask PHI columns</a:t>
            </a:r>
            <a:endParaRPr lang="en-US" sz="650" dirty="0"/>
          </a:p>
        </p:txBody>
      </p:sp>
      <p:sp>
        <p:nvSpPr>
          <p:cNvPr id="44" name="Shape 42"/>
          <p:cNvSpPr/>
          <p:nvPr/>
        </p:nvSpPr>
        <p:spPr>
          <a:xfrm>
            <a:off x="8801100" y="2071116"/>
            <a:ext cx="137160" cy="137160"/>
          </a:xfrm>
          <a:prstGeom prst="ellipse">
            <a:avLst/>
          </a:prstGeom>
          <a:solidFill>
            <a:srgbClr val="FFFFFF"/>
          </a:solidFill>
          <a:ln w="15875">
            <a:solidFill>
              <a:srgbClr val="707070"/>
            </a:solidFill>
            <a:prstDash val="solid"/>
          </a:ln>
        </p:spPr>
      </p:sp>
      <p:sp>
        <p:nvSpPr>
          <p:cNvPr id="45" name="Shape 43"/>
          <p:cNvSpPr/>
          <p:nvPr/>
        </p:nvSpPr>
        <p:spPr>
          <a:xfrm>
            <a:off x="8869680" y="2221992"/>
            <a:ext cx="0" cy="54864"/>
          </a:xfrm>
          <a:prstGeom prst="line">
            <a:avLst/>
          </a:prstGeom>
          <a:noFill/>
          <a:ln w="9525">
            <a:solidFill>
              <a:srgbClr val="C8C8C8"/>
            </a:solidFill>
            <a:prstDash val="solid"/>
          </a:ln>
        </p:spPr>
      </p:sp>
      <p:sp>
        <p:nvSpPr>
          <p:cNvPr id="46" name="Text 44"/>
          <p:cNvSpPr/>
          <p:nvPr/>
        </p:nvSpPr>
        <p:spPr>
          <a:xfrm>
            <a:off x="804672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counts, checksums and procedure output</a:t>
            </a:r>
            <a:endParaRPr lang="en-US" sz="650" dirty="0"/>
          </a:p>
        </p:txBody>
      </p:sp>
      <p:sp>
        <p:nvSpPr>
          <p:cNvPr id="47" name="Shape 45"/>
          <p:cNvSpPr/>
          <p:nvPr/>
        </p:nvSpPr>
        <p:spPr>
          <a:xfrm>
            <a:off x="10529316" y="2061972"/>
            <a:ext cx="155448" cy="155448"/>
          </a:xfrm>
          <a:prstGeom prst="rect">
            <a:avLst/>
          </a:prstGeom>
          <a:solidFill>
            <a:srgbClr val="707070"/>
          </a:solidFill>
          <a:ln w="12700">
            <a:solidFill>
              <a:srgbClr val="707070"/>
            </a:solidFill>
            <a:prstDash val="solid"/>
          </a:ln>
        </p:spPr>
      </p:sp>
      <p:sp>
        <p:nvSpPr>
          <p:cNvPr id="48" name="Shape 46"/>
          <p:cNvSpPr/>
          <p:nvPr/>
        </p:nvSpPr>
        <p:spPr>
          <a:xfrm>
            <a:off x="10607040" y="2221992"/>
            <a:ext cx="0" cy="54864"/>
          </a:xfrm>
          <a:prstGeom prst="line">
            <a:avLst/>
          </a:prstGeom>
          <a:noFill/>
          <a:ln w="9525">
            <a:solidFill>
              <a:srgbClr val="C8C8C8"/>
            </a:solidFill>
            <a:prstDash val="solid"/>
          </a:ln>
        </p:spPr>
      </p:sp>
      <p:sp>
        <p:nvSpPr>
          <p:cNvPr id="49" name="Text 47"/>
          <p:cNvSpPr/>
          <p:nvPr/>
        </p:nvSpPr>
        <p:spPr>
          <a:xfrm>
            <a:off x="978408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drop the Oracle object</a:t>
            </a:r>
            <a:endParaRPr lang="en-US" sz="650" dirty="0"/>
          </a:p>
        </p:txBody>
      </p:sp>
      <p:sp>
        <p:nvSpPr>
          <p:cNvPr id="50" name="Shape 48"/>
          <p:cNvSpPr/>
          <p:nvPr/>
        </p:nvSpPr>
        <p:spPr>
          <a:xfrm>
            <a:off x="1143000" y="2907792"/>
            <a:ext cx="9738360" cy="0"/>
          </a:xfrm>
          <a:prstGeom prst="line">
            <a:avLst/>
          </a:prstGeom>
          <a:noFill/>
          <a:ln w="22225">
            <a:solidFill>
              <a:srgbClr val="1596B0"/>
            </a:solidFill>
            <a:prstDash val="solid"/>
          </a:ln>
        </p:spPr>
      </p:sp>
      <p:sp>
        <p:nvSpPr>
          <p:cNvPr id="51" name="Text 49"/>
          <p:cNvSpPr/>
          <p:nvPr/>
        </p:nvSpPr>
        <p:spPr>
          <a:xfrm>
            <a:off x="1463040" y="2688336"/>
            <a:ext cx="4206240" cy="146304"/>
          </a:xfrm>
          <a:prstGeom prst="rect">
            <a:avLst/>
          </a:prstGeom>
          <a:noFill/>
          <a:ln/>
        </p:spPr>
        <p:txBody>
          <a:bodyPr wrap="square" lIns="0" tIns="0" rIns="0" bIns="0" rtlCol="0" anchor="ctr"/>
          <a:lstStyle/>
          <a:p>
            <a:pPr indent="0" marL="0">
              <a:buNone/>
            </a:pPr>
            <a:r>
              <a:rPr lang="en-US" sz="740" b="1" i="1" dirty="0">
                <a:solidFill>
                  <a:srgbClr val="1596B0"/>
                </a:solidFill>
                <a:latin typeface="Arial" pitchFamily="34" charset="0"/>
                <a:ea typeface="Arial" pitchFamily="34" charset="-122"/>
                <a:cs typeface="Arial" pitchFamily="34" charset="-120"/>
              </a:rPr>
              <a:t>Power BI  —  Rearchitect</a:t>
            </a:r>
            <a:endParaRPr lang="en-US" sz="740" dirty="0"/>
          </a:p>
        </p:txBody>
      </p:sp>
      <p:sp>
        <p:nvSpPr>
          <p:cNvPr id="52" name="Shape 50"/>
          <p:cNvSpPr/>
          <p:nvPr/>
        </p:nvSpPr>
        <p:spPr>
          <a:xfrm>
            <a:off x="1851660" y="2839212"/>
            <a:ext cx="137160" cy="137160"/>
          </a:xfrm>
          <a:prstGeom prst="ellipse">
            <a:avLst/>
          </a:prstGeom>
          <a:solidFill>
            <a:srgbClr val="FFFFFF"/>
          </a:solidFill>
          <a:ln w="15875">
            <a:solidFill>
              <a:srgbClr val="1596B0"/>
            </a:solidFill>
            <a:prstDash val="solid"/>
          </a:ln>
        </p:spPr>
      </p:sp>
      <p:sp>
        <p:nvSpPr>
          <p:cNvPr id="53" name="Shape 51"/>
          <p:cNvSpPr/>
          <p:nvPr/>
        </p:nvSpPr>
        <p:spPr>
          <a:xfrm>
            <a:off x="1920240" y="2990088"/>
            <a:ext cx="0" cy="54864"/>
          </a:xfrm>
          <a:prstGeom prst="line">
            <a:avLst/>
          </a:prstGeom>
          <a:noFill/>
          <a:ln w="9525">
            <a:solidFill>
              <a:srgbClr val="C8C8C8"/>
            </a:solidFill>
            <a:prstDash val="solid"/>
          </a:ln>
        </p:spPr>
      </p:sp>
      <p:sp>
        <p:nvSpPr>
          <p:cNvPr id="54" name="Text 52"/>
          <p:cNvSpPr/>
          <p:nvPr/>
        </p:nvSpPr>
        <p:spPr>
          <a:xfrm>
            <a:off x="109728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Decide the artifact split</a:t>
            </a:r>
            <a:endParaRPr lang="en-US" sz="650" dirty="0"/>
          </a:p>
        </p:txBody>
      </p:sp>
      <p:sp>
        <p:nvSpPr>
          <p:cNvPr id="55" name="Shape 53"/>
          <p:cNvSpPr/>
          <p:nvPr/>
        </p:nvSpPr>
        <p:spPr>
          <a:xfrm>
            <a:off x="3589020" y="2839212"/>
            <a:ext cx="137160" cy="137160"/>
          </a:xfrm>
          <a:prstGeom prst="ellipse">
            <a:avLst/>
          </a:prstGeom>
          <a:solidFill>
            <a:srgbClr val="FFFFFF"/>
          </a:solidFill>
          <a:ln w="15875">
            <a:solidFill>
              <a:srgbClr val="1596B0"/>
            </a:solidFill>
            <a:prstDash val="solid"/>
          </a:ln>
        </p:spPr>
      </p:sp>
      <p:sp>
        <p:nvSpPr>
          <p:cNvPr id="56" name="Shape 54"/>
          <p:cNvSpPr/>
          <p:nvPr/>
        </p:nvSpPr>
        <p:spPr>
          <a:xfrm>
            <a:off x="3657600" y="2990088"/>
            <a:ext cx="0" cy="54864"/>
          </a:xfrm>
          <a:prstGeom prst="line">
            <a:avLst/>
          </a:prstGeom>
          <a:noFill/>
          <a:ln w="9525">
            <a:solidFill>
              <a:srgbClr val="C8C8C8"/>
            </a:solidFill>
            <a:prstDash val="solid"/>
          </a:ln>
        </p:spPr>
      </p:sp>
      <p:sp>
        <p:nvSpPr>
          <p:cNvPr id="57" name="Text 55"/>
          <p:cNvSpPr/>
          <p:nvPr/>
        </p:nvSpPr>
        <p:spPr>
          <a:xfrm>
            <a:off x="283464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Model and certify the dataset</a:t>
            </a:r>
            <a:endParaRPr lang="en-US" sz="650" dirty="0"/>
          </a:p>
        </p:txBody>
      </p:sp>
      <p:sp>
        <p:nvSpPr>
          <p:cNvPr id="58" name="Shape 56"/>
          <p:cNvSpPr/>
          <p:nvPr/>
        </p:nvSpPr>
        <p:spPr>
          <a:xfrm>
            <a:off x="5326380" y="2839212"/>
            <a:ext cx="137160" cy="137160"/>
          </a:xfrm>
          <a:prstGeom prst="ellipse">
            <a:avLst/>
          </a:prstGeom>
          <a:solidFill>
            <a:srgbClr val="FFFFFF"/>
          </a:solidFill>
          <a:ln w="15875">
            <a:solidFill>
              <a:srgbClr val="1596B0"/>
            </a:solidFill>
            <a:prstDash val="solid"/>
          </a:ln>
        </p:spPr>
      </p:sp>
      <p:sp>
        <p:nvSpPr>
          <p:cNvPr id="59" name="Shape 57"/>
          <p:cNvSpPr/>
          <p:nvPr/>
        </p:nvSpPr>
        <p:spPr>
          <a:xfrm>
            <a:off x="5394960" y="2990088"/>
            <a:ext cx="0" cy="54864"/>
          </a:xfrm>
          <a:prstGeom prst="line">
            <a:avLst/>
          </a:prstGeom>
          <a:noFill/>
          <a:ln w="9525">
            <a:solidFill>
              <a:srgbClr val="C8C8C8"/>
            </a:solidFill>
            <a:prstDash val="solid"/>
          </a:ln>
        </p:spPr>
      </p:sp>
      <p:sp>
        <p:nvSpPr>
          <p:cNvPr id="60" name="Text 58"/>
          <p:cNvSpPr/>
          <p:nvPr/>
        </p:nvSpPr>
        <p:spPr>
          <a:xfrm>
            <a:off x="457200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Rebuild the report or the paginated layout</a:t>
            </a:r>
            <a:endParaRPr lang="en-US" sz="650" dirty="0"/>
          </a:p>
        </p:txBody>
      </p:sp>
      <p:sp>
        <p:nvSpPr>
          <p:cNvPr id="61" name="Shape 59"/>
          <p:cNvSpPr/>
          <p:nvPr/>
        </p:nvSpPr>
        <p:spPr>
          <a:xfrm>
            <a:off x="7063740" y="2839212"/>
            <a:ext cx="137160" cy="137160"/>
          </a:xfrm>
          <a:prstGeom prst="ellipse">
            <a:avLst/>
          </a:prstGeom>
          <a:solidFill>
            <a:srgbClr val="FFFFFF"/>
          </a:solidFill>
          <a:ln w="15875">
            <a:solidFill>
              <a:srgbClr val="1596B0"/>
            </a:solidFill>
            <a:prstDash val="solid"/>
          </a:ln>
        </p:spPr>
      </p:sp>
      <p:sp>
        <p:nvSpPr>
          <p:cNvPr id="62" name="Shape 60"/>
          <p:cNvSpPr/>
          <p:nvPr/>
        </p:nvSpPr>
        <p:spPr>
          <a:xfrm>
            <a:off x="7132320" y="2990088"/>
            <a:ext cx="0" cy="54864"/>
          </a:xfrm>
          <a:prstGeom prst="line">
            <a:avLst/>
          </a:prstGeom>
          <a:noFill/>
          <a:ln w="9525">
            <a:solidFill>
              <a:srgbClr val="C8C8C8"/>
            </a:solidFill>
            <a:prstDash val="solid"/>
          </a:ln>
        </p:spPr>
      </p:sp>
      <p:sp>
        <p:nvSpPr>
          <p:cNvPr id="63" name="Text 61"/>
          <p:cNvSpPr/>
          <p:nvPr/>
        </p:nvSpPr>
        <p:spPr>
          <a:xfrm>
            <a:off x="630936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Wire Entra RLS, labels and subscriptions</a:t>
            </a:r>
            <a:endParaRPr lang="en-US" sz="650" dirty="0"/>
          </a:p>
        </p:txBody>
      </p:sp>
      <p:sp>
        <p:nvSpPr>
          <p:cNvPr id="64" name="Shape 62"/>
          <p:cNvSpPr/>
          <p:nvPr/>
        </p:nvSpPr>
        <p:spPr>
          <a:xfrm>
            <a:off x="8801100" y="2839212"/>
            <a:ext cx="137160" cy="137160"/>
          </a:xfrm>
          <a:prstGeom prst="ellipse">
            <a:avLst/>
          </a:prstGeom>
          <a:solidFill>
            <a:srgbClr val="FFFFFF"/>
          </a:solidFill>
          <a:ln w="15875">
            <a:solidFill>
              <a:srgbClr val="1596B0"/>
            </a:solidFill>
            <a:prstDash val="solid"/>
          </a:ln>
        </p:spPr>
      </p:sp>
      <p:sp>
        <p:nvSpPr>
          <p:cNvPr id="65" name="Shape 63"/>
          <p:cNvSpPr/>
          <p:nvPr/>
        </p:nvSpPr>
        <p:spPr>
          <a:xfrm>
            <a:off x="8869680" y="2990088"/>
            <a:ext cx="0" cy="54864"/>
          </a:xfrm>
          <a:prstGeom prst="line">
            <a:avLst/>
          </a:prstGeom>
          <a:noFill/>
          <a:ln w="9525">
            <a:solidFill>
              <a:srgbClr val="C8C8C8"/>
            </a:solidFill>
            <a:prstDash val="solid"/>
          </a:ln>
        </p:spPr>
      </p:sp>
      <p:sp>
        <p:nvSpPr>
          <p:cNvPr id="66" name="Text 64"/>
          <p:cNvSpPr/>
          <p:nvPr/>
        </p:nvSpPr>
        <p:spPr>
          <a:xfrm>
            <a:off x="804672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the report and run a burst test</a:t>
            </a:r>
            <a:endParaRPr lang="en-US" sz="650" dirty="0"/>
          </a:p>
        </p:txBody>
      </p:sp>
      <p:sp>
        <p:nvSpPr>
          <p:cNvPr id="67" name="Shape 65"/>
          <p:cNvSpPr/>
          <p:nvPr/>
        </p:nvSpPr>
        <p:spPr>
          <a:xfrm>
            <a:off x="10529316" y="2830068"/>
            <a:ext cx="155448" cy="155448"/>
          </a:xfrm>
          <a:prstGeom prst="rect">
            <a:avLst/>
          </a:prstGeom>
          <a:solidFill>
            <a:srgbClr val="1596B0"/>
          </a:solidFill>
          <a:ln w="12700">
            <a:solidFill>
              <a:srgbClr val="1596B0"/>
            </a:solidFill>
            <a:prstDash val="solid"/>
          </a:ln>
        </p:spPr>
      </p:sp>
      <p:sp>
        <p:nvSpPr>
          <p:cNvPr id="68" name="Shape 66"/>
          <p:cNvSpPr/>
          <p:nvPr/>
        </p:nvSpPr>
        <p:spPr>
          <a:xfrm>
            <a:off x="10607040" y="2990088"/>
            <a:ext cx="0" cy="54864"/>
          </a:xfrm>
          <a:prstGeom prst="line">
            <a:avLst/>
          </a:prstGeom>
          <a:noFill/>
          <a:ln w="9525">
            <a:solidFill>
              <a:srgbClr val="C8C8C8"/>
            </a:solidFill>
            <a:prstDash val="solid"/>
          </a:ln>
        </p:spPr>
      </p:sp>
      <p:sp>
        <p:nvSpPr>
          <p:cNvPr id="69" name="Text 67"/>
          <p:cNvSpPr/>
          <p:nvPr/>
        </p:nvSpPr>
        <p:spPr>
          <a:xfrm>
            <a:off x="978408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Deploy and delete the BOBJ object</a:t>
            </a:r>
            <a:endParaRPr lang="en-US" sz="650" dirty="0"/>
          </a:p>
        </p:txBody>
      </p:sp>
      <p:sp>
        <p:nvSpPr>
          <p:cNvPr id="70" name="Shape 68"/>
          <p:cNvSpPr/>
          <p:nvPr/>
        </p:nvSpPr>
        <p:spPr>
          <a:xfrm>
            <a:off x="1143000" y="3675888"/>
            <a:ext cx="9738360" cy="0"/>
          </a:xfrm>
          <a:prstGeom prst="line">
            <a:avLst/>
          </a:prstGeom>
          <a:noFill/>
          <a:ln w="22225">
            <a:solidFill>
              <a:srgbClr val="707070"/>
            </a:solidFill>
            <a:prstDash val="solid"/>
          </a:ln>
        </p:spPr>
      </p:sp>
      <p:sp>
        <p:nvSpPr>
          <p:cNvPr id="71" name="Text 69"/>
          <p:cNvSpPr/>
          <p:nvPr/>
        </p:nvSpPr>
        <p:spPr>
          <a:xfrm>
            <a:off x="1463040" y="3456432"/>
            <a:ext cx="4206240" cy="146304"/>
          </a:xfrm>
          <a:prstGeom prst="rect">
            <a:avLst/>
          </a:prstGeom>
          <a:noFill/>
          <a:ln/>
        </p:spPr>
        <p:txBody>
          <a:bodyPr wrap="square" lIns="0" tIns="0" rIns="0" bIns="0" rtlCol="0" anchor="ctr"/>
          <a:lstStyle/>
          <a:p>
            <a:pPr indent="0" marL="0">
              <a:buNone/>
            </a:pPr>
            <a:r>
              <a:rPr lang="en-US" sz="740" b="1" i="1" dirty="0">
                <a:solidFill>
                  <a:srgbClr val="707070"/>
                </a:solidFill>
                <a:latin typeface="Arial" pitchFamily="34" charset="0"/>
                <a:ea typeface="Arial" pitchFamily="34" charset="-122"/>
                <a:cs typeface="Arial" pitchFamily="34" charset="-120"/>
              </a:rPr>
              <a:t>Databricks  ·  database objects  →  Delta and Unity Catalog</a:t>
            </a:r>
            <a:endParaRPr lang="en-US" sz="740" dirty="0"/>
          </a:p>
        </p:txBody>
      </p:sp>
      <p:sp>
        <p:nvSpPr>
          <p:cNvPr id="72" name="Shape 70"/>
          <p:cNvSpPr/>
          <p:nvPr/>
        </p:nvSpPr>
        <p:spPr>
          <a:xfrm>
            <a:off x="1851660" y="3607308"/>
            <a:ext cx="137160" cy="137160"/>
          </a:xfrm>
          <a:prstGeom prst="ellipse">
            <a:avLst/>
          </a:prstGeom>
          <a:solidFill>
            <a:srgbClr val="FFFFFF"/>
          </a:solidFill>
          <a:ln w="15875">
            <a:solidFill>
              <a:srgbClr val="707070"/>
            </a:solidFill>
            <a:prstDash val="solid"/>
          </a:ln>
        </p:spPr>
      </p:sp>
      <p:sp>
        <p:nvSpPr>
          <p:cNvPr id="73" name="Shape 71"/>
          <p:cNvSpPr/>
          <p:nvPr/>
        </p:nvSpPr>
        <p:spPr>
          <a:xfrm>
            <a:off x="1920240" y="3758184"/>
            <a:ext cx="0" cy="54864"/>
          </a:xfrm>
          <a:prstGeom prst="line">
            <a:avLst/>
          </a:prstGeom>
          <a:noFill/>
          <a:ln w="9525">
            <a:solidFill>
              <a:srgbClr val="C8C8C8"/>
            </a:solidFill>
            <a:prstDash val="solid"/>
          </a:ln>
        </p:spPr>
      </p:sp>
      <p:sp>
        <p:nvSpPr>
          <p:cNvPr id="74" name="Text 72"/>
          <p:cNvSpPr/>
          <p:nvPr/>
        </p:nvSpPr>
        <p:spPr>
          <a:xfrm>
            <a:off x="109728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Parse universe SQL and inventory the objects</a:t>
            </a:r>
            <a:endParaRPr lang="en-US" sz="650" dirty="0"/>
          </a:p>
        </p:txBody>
      </p:sp>
      <p:sp>
        <p:nvSpPr>
          <p:cNvPr id="75" name="Shape 73"/>
          <p:cNvSpPr/>
          <p:nvPr/>
        </p:nvSpPr>
        <p:spPr>
          <a:xfrm>
            <a:off x="3589020" y="3607308"/>
            <a:ext cx="137160" cy="137160"/>
          </a:xfrm>
          <a:prstGeom prst="ellipse">
            <a:avLst/>
          </a:prstGeom>
          <a:solidFill>
            <a:srgbClr val="FFFFFF"/>
          </a:solidFill>
          <a:ln w="15875">
            <a:solidFill>
              <a:srgbClr val="707070"/>
            </a:solidFill>
            <a:prstDash val="solid"/>
          </a:ln>
        </p:spPr>
      </p:sp>
      <p:sp>
        <p:nvSpPr>
          <p:cNvPr id="76" name="Shape 74"/>
          <p:cNvSpPr/>
          <p:nvPr/>
        </p:nvSpPr>
        <p:spPr>
          <a:xfrm>
            <a:off x="3657600" y="3758184"/>
            <a:ext cx="0" cy="54864"/>
          </a:xfrm>
          <a:prstGeom prst="line">
            <a:avLst/>
          </a:prstGeom>
          <a:noFill/>
          <a:ln w="9525">
            <a:solidFill>
              <a:srgbClr val="C8C8C8"/>
            </a:solidFill>
            <a:prstDash val="solid"/>
          </a:ln>
        </p:spPr>
      </p:sp>
      <p:sp>
        <p:nvSpPr>
          <p:cNvPr id="77" name="Text 75"/>
          <p:cNvSpPr/>
          <p:nvPr/>
        </p:nvSpPr>
        <p:spPr>
          <a:xfrm>
            <a:off x="283464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Map each object type to a Databricks target</a:t>
            </a:r>
            <a:endParaRPr lang="en-US" sz="650" dirty="0"/>
          </a:p>
        </p:txBody>
      </p:sp>
      <p:sp>
        <p:nvSpPr>
          <p:cNvPr id="78" name="Shape 76"/>
          <p:cNvSpPr/>
          <p:nvPr/>
        </p:nvSpPr>
        <p:spPr>
          <a:xfrm>
            <a:off x="5326380" y="3607308"/>
            <a:ext cx="137160" cy="137160"/>
          </a:xfrm>
          <a:prstGeom prst="ellipse">
            <a:avLst/>
          </a:prstGeom>
          <a:solidFill>
            <a:srgbClr val="FFFFFF"/>
          </a:solidFill>
          <a:ln w="15875">
            <a:solidFill>
              <a:srgbClr val="707070"/>
            </a:solidFill>
            <a:prstDash val="solid"/>
          </a:ln>
        </p:spPr>
      </p:sp>
      <p:sp>
        <p:nvSpPr>
          <p:cNvPr id="79" name="Shape 77"/>
          <p:cNvSpPr/>
          <p:nvPr/>
        </p:nvSpPr>
        <p:spPr>
          <a:xfrm>
            <a:off x="5394960" y="3758184"/>
            <a:ext cx="0" cy="54864"/>
          </a:xfrm>
          <a:prstGeom prst="line">
            <a:avLst/>
          </a:prstGeom>
          <a:noFill/>
          <a:ln w="9525">
            <a:solidFill>
              <a:srgbClr val="C8C8C8"/>
            </a:solidFill>
            <a:prstDash val="solid"/>
          </a:ln>
        </p:spPr>
      </p:sp>
      <p:sp>
        <p:nvSpPr>
          <p:cNvPr id="80" name="Text 78"/>
          <p:cNvSpPr/>
          <p:nvPr/>
        </p:nvSpPr>
        <p:spPr>
          <a:xfrm>
            <a:off x="457200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Land to bronze, build gold, deploy views and logic</a:t>
            </a:r>
            <a:endParaRPr lang="en-US" sz="650" dirty="0"/>
          </a:p>
        </p:txBody>
      </p:sp>
      <p:sp>
        <p:nvSpPr>
          <p:cNvPr id="81" name="Shape 79"/>
          <p:cNvSpPr/>
          <p:nvPr/>
        </p:nvSpPr>
        <p:spPr>
          <a:xfrm>
            <a:off x="7063740" y="3607308"/>
            <a:ext cx="137160" cy="137160"/>
          </a:xfrm>
          <a:prstGeom prst="ellipse">
            <a:avLst/>
          </a:prstGeom>
          <a:solidFill>
            <a:srgbClr val="FFFFFF"/>
          </a:solidFill>
          <a:ln w="15875">
            <a:solidFill>
              <a:srgbClr val="707070"/>
            </a:solidFill>
            <a:prstDash val="solid"/>
          </a:ln>
        </p:spPr>
      </p:sp>
      <p:sp>
        <p:nvSpPr>
          <p:cNvPr id="82" name="Shape 80"/>
          <p:cNvSpPr/>
          <p:nvPr/>
        </p:nvSpPr>
        <p:spPr>
          <a:xfrm>
            <a:off x="7132320" y="3758184"/>
            <a:ext cx="0" cy="54864"/>
          </a:xfrm>
          <a:prstGeom prst="line">
            <a:avLst/>
          </a:prstGeom>
          <a:noFill/>
          <a:ln w="9525">
            <a:solidFill>
              <a:srgbClr val="C8C8C8"/>
            </a:solidFill>
            <a:prstDash val="solid"/>
          </a:ln>
        </p:spPr>
      </p:sp>
      <p:sp>
        <p:nvSpPr>
          <p:cNvPr id="83" name="Text 81"/>
          <p:cNvSpPr/>
          <p:nvPr/>
        </p:nvSpPr>
        <p:spPr>
          <a:xfrm>
            <a:off x="630936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Apply UC row filters, masks and lineage</a:t>
            </a:r>
            <a:endParaRPr lang="en-US" sz="650" dirty="0"/>
          </a:p>
        </p:txBody>
      </p:sp>
      <p:sp>
        <p:nvSpPr>
          <p:cNvPr id="84" name="Shape 82"/>
          <p:cNvSpPr/>
          <p:nvPr/>
        </p:nvSpPr>
        <p:spPr>
          <a:xfrm>
            <a:off x="8801100" y="3607308"/>
            <a:ext cx="137160" cy="137160"/>
          </a:xfrm>
          <a:prstGeom prst="ellipse">
            <a:avLst/>
          </a:prstGeom>
          <a:solidFill>
            <a:srgbClr val="FFFFFF"/>
          </a:solidFill>
          <a:ln w="15875">
            <a:solidFill>
              <a:srgbClr val="707070"/>
            </a:solidFill>
            <a:prstDash val="solid"/>
          </a:ln>
        </p:spPr>
      </p:sp>
      <p:sp>
        <p:nvSpPr>
          <p:cNvPr id="85" name="Shape 83"/>
          <p:cNvSpPr/>
          <p:nvPr/>
        </p:nvSpPr>
        <p:spPr>
          <a:xfrm>
            <a:off x="8869680" y="3758184"/>
            <a:ext cx="0" cy="54864"/>
          </a:xfrm>
          <a:prstGeom prst="line">
            <a:avLst/>
          </a:prstGeom>
          <a:noFill/>
          <a:ln w="9525">
            <a:solidFill>
              <a:srgbClr val="C8C8C8"/>
            </a:solidFill>
            <a:prstDash val="solid"/>
          </a:ln>
        </p:spPr>
      </p:sp>
      <p:sp>
        <p:nvSpPr>
          <p:cNvPr id="86" name="Text 84"/>
          <p:cNvSpPr/>
          <p:nvPr/>
        </p:nvSpPr>
        <p:spPr>
          <a:xfrm>
            <a:off x="804672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counts, checksums and re-run output</a:t>
            </a:r>
            <a:endParaRPr lang="en-US" sz="650" dirty="0"/>
          </a:p>
        </p:txBody>
      </p:sp>
      <p:sp>
        <p:nvSpPr>
          <p:cNvPr id="87" name="Shape 85"/>
          <p:cNvSpPr/>
          <p:nvPr/>
        </p:nvSpPr>
        <p:spPr>
          <a:xfrm>
            <a:off x="10529316" y="3598164"/>
            <a:ext cx="155448" cy="155448"/>
          </a:xfrm>
          <a:prstGeom prst="rect">
            <a:avLst/>
          </a:prstGeom>
          <a:solidFill>
            <a:srgbClr val="707070"/>
          </a:solidFill>
          <a:ln w="12700">
            <a:solidFill>
              <a:srgbClr val="707070"/>
            </a:solidFill>
            <a:prstDash val="solid"/>
          </a:ln>
        </p:spPr>
      </p:sp>
      <p:sp>
        <p:nvSpPr>
          <p:cNvPr id="88" name="Shape 86"/>
          <p:cNvSpPr/>
          <p:nvPr/>
        </p:nvSpPr>
        <p:spPr>
          <a:xfrm>
            <a:off x="10607040" y="3758184"/>
            <a:ext cx="0" cy="54864"/>
          </a:xfrm>
          <a:prstGeom prst="line">
            <a:avLst/>
          </a:prstGeom>
          <a:noFill/>
          <a:ln w="9525">
            <a:solidFill>
              <a:srgbClr val="C8C8C8"/>
            </a:solidFill>
            <a:prstDash val="solid"/>
          </a:ln>
        </p:spPr>
      </p:sp>
      <p:sp>
        <p:nvSpPr>
          <p:cNvPr id="89" name="Text 87"/>
          <p:cNvSpPr/>
          <p:nvPr/>
        </p:nvSpPr>
        <p:spPr>
          <a:xfrm>
            <a:off x="978408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drop the Oracle object</a:t>
            </a:r>
            <a:endParaRPr lang="en-US" sz="650" dirty="0"/>
          </a:p>
        </p:txBody>
      </p:sp>
      <p:sp>
        <p:nvSpPr>
          <p:cNvPr id="90" name="Shape 88"/>
          <p:cNvSpPr/>
          <p:nvPr/>
        </p:nvSpPr>
        <p:spPr>
          <a:xfrm>
            <a:off x="1143000" y="4443984"/>
            <a:ext cx="9738360" cy="0"/>
          </a:xfrm>
          <a:prstGeom prst="line">
            <a:avLst/>
          </a:prstGeom>
          <a:noFill/>
          <a:ln w="22225">
            <a:solidFill>
              <a:srgbClr val="3E6DA8"/>
            </a:solidFill>
            <a:prstDash val="solid"/>
          </a:ln>
        </p:spPr>
      </p:sp>
      <p:sp>
        <p:nvSpPr>
          <p:cNvPr id="91" name="Text 89"/>
          <p:cNvSpPr/>
          <p:nvPr/>
        </p:nvSpPr>
        <p:spPr>
          <a:xfrm>
            <a:off x="1463040" y="4224528"/>
            <a:ext cx="4206240" cy="146304"/>
          </a:xfrm>
          <a:prstGeom prst="rect">
            <a:avLst/>
          </a:prstGeom>
          <a:noFill/>
          <a:ln/>
        </p:spPr>
        <p:txBody>
          <a:bodyPr wrap="square" lIns="0" tIns="0" rIns="0" bIns="0" rtlCol="0" anchor="ctr"/>
          <a:lstStyle/>
          <a:p>
            <a:pPr indent="0" marL="0">
              <a:buNone/>
            </a:pPr>
            <a:r>
              <a:rPr lang="en-US" sz="740" b="1" i="1" dirty="0">
                <a:solidFill>
                  <a:srgbClr val="3E6DA8"/>
                </a:solidFill>
                <a:latin typeface="Arial" pitchFamily="34" charset="0"/>
                <a:ea typeface="Arial" pitchFamily="34" charset="-122"/>
                <a:cs typeface="Arial" pitchFamily="34" charset="-120"/>
              </a:rPr>
              <a:t>Databricks AI/BI  —  Replatform</a:t>
            </a:r>
            <a:endParaRPr lang="en-US" sz="740" dirty="0"/>
          </a:p>
        </p:txBody>
      </p:sp>
      <p:sp>
        <p:nvSpPr>
          <p:cNvPr id="92" name="Shape 90"/>
          <p:cNvSpPr/>
          <p:nvPr/>
        </p:nvSpPr>
        <p:spPr>
          <a:xfrm>
            <a:off x="1851660" y="4375404"/>
            <a:ext cx="137160" cy="137160"/>
          </a:xfrm>
          <a:prstGeom prst="ellipse">
            <a:avLst/>
          </a:prstGeom>
          <a:solidFill>
            <a:srgbClr val="FFFFFF"/>
          </a:solidFill>
          <a:ln w="15875">
            <a:solidFill>
              <a:srgbClr val="3E6DA8"/>
            </a:solidFill>
            <a:prstDash val="solid"/>
          </a:ln>
        </p:spPr>
      </p:sp>
      <p:sp>
        <p:nvSpPr>
          <p:cNvPr id="93" name="Shape 91"/>
          <p:cNvSpPr/>
          <p:nvPr/>
        </p:nvSpPr>
        <p:spPr>
          <a:xfrm>
            <a:off x="1920240" y="4526280"/>
            <a:ext cx="0" cy="54864"/>
          </a:xfrm>
          <a:prstGeom prst="line">
            <a:avLst/>
          </a:prstGeom>
          <a:noFill/>
          <a:ln w="9525">
            <a:solidFill>
              <a:srgbClr val="C8C8C8"/>
            </a:solidFill>
            <a:prstDash val="solid"/>
          </a:ln>
        </p:spPr>
      </p:sp>
      <p:sp>
        <p:nvSpPr>
          <p:cNvPr id="94" name="Text 92"/>
          <p:cNvSpPr/>
          <p:nvPr/>
        </p:nvSpPr>
        <p:spPr>
          <a:xfrm>
            <a:off x="109728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Confirm the gold layer is ready</a:t>
            </a:r>
            <a:endParaRPr lang="en-US" sz="650" dirty="0"/>
          </a:p>
        </p:txBody>
      </p:sp>
      <p:sp>
        <p:nvSpPr>
          <p:cNvPr id="95" name="Shape 93"/>
          <p:cNvSpPr/>
          <p:nvPr/>
        </p:nvSpPr>
        <p:spPr>
          <a:xfrm>
            <a:off x="3589020" y="4375404"/>
            <a:ext cx="137160" cy="137160"/>
          </a:xfrm>
          <a:prstGeom prst="ellipse">
            <a:avLst/>
          </a:prstGeom>
          <a:solidFill>
            <a:srgbClr val="FFFFFF"/>
          </a:solidFill>
          <a:ln w="15875">
            <a:solidFill>
              <a:srgbClr val="3E6DA8"/>
            </a:solidFill>
            <a:prstDash val="solid"/>
          </a:ln>
        </p:spPr>
      </p:sp>
      <p:sp>
        <p:nvSpPr>
          <p:cNvPr id="96" name="Shape 94"/>
          <p:cNvSpPr/>
          <p:nvPr/>
        </p:nvSpPr>
        <p:spPr>
          <a:xfrm>
            <a:off x="3657600" y="4526280"/>
            <a:ext cx="0" cy="54864"/>
          </a:xfrm>
          <a:prstGeom prst="line">
            <a:avLst/>
          </a:prstGeom>
          <a:noFill/>
          <a:ln w="9525">
            <a:solidFill>
              <a:srgbClr val="C8C8C8"/>
            </a:solidFill>
            <a:prstDash val="solid"/>
          </a:ln>
        </p:spPr>
      </p:sp>
      <p:sp>
        <p:nvSpPr>
          <p:cNvPr id="97" name="Text 95"/>
          <p:cNvSpPr/>
          <p:nvPr/>
        </p:nvSpPr>
        <p:spPr>
          <a:xfrm>
            <a:off x="283464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Rebuild the semantics as metric views</a:t>
            </a:r>
            <a:endParaRPr lang="en-US" sz="650" dirty="0"/>
          </a:p>
        </p:txBody>
      </p:sp>
      <p:sp>
        <p:nvSpPr>
          <p:cNvPr id="98" name="Shape 96"/>
          <p:cNvSpPr/>
          <p:nvPr/>
        </p:nvSpPr>
        <p:spPr>
          <a:xfrm>
            <a:off x="5326380" y="4375404"/>
            <a:ext cx="137160" cy="137160"/>
          </a:xfrm>
          <a:prstGeom prst="ellipse">
            <a:avLst/>
          </a:prstGeom>
          <a:solidFill>
            <a:srgbClr val="FFFFFF"/>
          </a:solidFill>
          <a:ln w="15875">
            <a:solidFill>
              <a:srgbClr val="3E6DA8"/>
            </a:solidFill>
            <a:prstDash val="solid"/>
          </a:ln>
        </p:spPr>
      </p:sp>
      <p:sp>
        <p:nvSpPr>
          <p:cNvPr id="99" name="Shape 97"/>
          <p:cNvSpPr/>
          <p:nvPr/>
        </p:nvSpPr>
        <p:spPr>
          <a:xfrm>
            <a:off x="5394960" y="4526280"/>
            <a:ext cx="0" cy="54864"/>
          </a:xfrm>
          <a:prstGeom prst="line">
            <a:avLst/>
          </a:prstGeom>
          <a:noFill/>
          <a:ln w="9525">
            <a:solidFill>
              <a:srgbClr val="C8C8C8"/>
            </a:solidFill>
            <a:prstDash val="solid"/>
          </a:ln>
        </p:spPr>
      </p:sp>
      <p:sp>
        <p:nvSpPr>
          <p:cNvPr id="100" name="Text 98"/>
          <p:cNvSpPr/>
          <p:nvPr/>
        </p:nvSpPr>
        <p:spPr>
          <a:xfrm>
            <a:off x="457200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Build the dashboard and Genie space</a:t>
            </a:r>
            <a:endParaRPr lang="en-US" sz="650" dirty="0"/>
          </a:p>
        </p:txBody>
      </p:sp>
      <p:sp>
        <p:nvSpPr>
          <p:cNvPr id="101" name="Shape 99"/>
          <p:cNvSpPr/>
          <p:nvPr/>
        </p:nvSpPr>
        <p:spPr>
          <a:xfrm>
            <a:off x="7063740" y="4375404"/>
            <a:ext cx="137160" cy="137160"/>
          </a:xfrm>
          <a:prstGeom prst="ellipse">
            <a:avLst/>
          </a:prstGeom>
          <a:solidFill>
            <a:srgbClr val="FFFFFF"/>
          </a:solidFill>
          <a:ln w="15875">
            <a:solidFill>
              <a:srgbClr val="3E6DA8"/>
            </a:solidFill>
            <a:prstDash val="solid"/>
          </a:ln>
        </p:spPr>
      </p:sp>
      <p:sp>
        <p:nvSpPr>
          <p:cNvPr id="102" name="Shape 100"/>
          <p:cNvSpPr/>
          <p:nvPr/>
        </p:nvSpPr>
        <p:spPr>
          <a:xfrm>
            <a:off x="7132320" y="4526280"/>
            <a:ext cx="0" cy="54864"/>
          </a:xfrm>
          <a:prstGeom prst="line">
            <a:avLst/>
          </a:prstGeom>
          <a:noFill/>
          <a:ln w="9525">
            <a:solidFill>
              <a:srgbClr val="C8C8C8"/>
            </a:solidFill>
            <a:prstDash val="solid"/>
          </a:ln>
        </p:spPr>
      </p:sp>
      <p:sp>
        <p:nvSpPr>
          <p:cNvPr id="103" name="Text 101"/>
          <p:cNvSpPr/>
          <p:nvPr/>
        </p:nvSpPr>
        <p:spPr>
          <a:xfrm>
            <a:off x="630936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Grant through Unity Catalog groups</a:t>
            </a:r>
            <a:endParaRPr lang="en-US" sz="650" dirty="0"/>
          </a:p>
        </p:txBody>
      </p:sp>
      <p:sp>
        <p:nvSpPr>
          <p:cNvPr id="104" name="Shape 102"/>
          <p:cNvSpPr/>
          <p:nvPr/>
        </p:nvSpPr>
        <p:spPr>
          <a:xfrm>
            <a:off x="8801100" y="4375404"/>
            <a:ext cx="137160" cy="137160"/>
          </a:xfrm>
          <a:prstGeom prst="ellipse">
            <a:avLst/>
          </a:prstGeom>
          <a:solidFill>
            <a:srgbClr val="FFFFFF"/>
          </a:solidFill>
          <a:ln w="15875">
            <a:solidFill>
              <a:srgbClr val="3E6DA8"/>
            </a:solidFill>
            <a:prstDash val="solid"/>
          </a:ln>
        </p:spPr>
      </p:sp>
      <p:sp>
        <p:nvSpPr>
          <p:cNvPr id="105" name="Shape 103"/>
          <p:cNvSpPr/>
          <p:nvPr/>
        </p:nvSpPr>
        <p:spPr>
          <a:xfrm>
            <a:off x="8869680" y="4526280"/>
            <a:ext cx="0" cy="54864"/>
          </a:xfrm>
          <a:prstGeom prst="line">
            <a:avLst/>
          </a:prstGeom>
          <a:noFill/>
          <a:ln w="9525">
            <a:solidFill>
              <a:srgbClr val="C8C8C8"/>
            </a:solidFill>
            <a:prstDash val="solid"/>
          </a:ln>
        </p:spPr>
      </p:sp>
      <p:sp>
        <p:nvSpPr>
          <p:cNvPr id="106" name="Text 104"/>
          <p:cNvSpPr/>
          <p:nvPr/>
        </p:nvSpPr>
        <p:spPr>
          <a:xfrm>
            <a:off x="804672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to BOBJ output and test Genie</a:t>
            </a:r>
            <a:endParaRPr lang="en-US" sz="650" dirty="0"/>
          </a:p>
        </p:txBody>
      </p:sp>
      <p:sp>
        <p:nvSpPr>
          <p:cNvPr id="107" name="Shape 105"/>
          <p:cNvSpPr/>
          <p:nvPr/>
        </p:nvSpPr>
        <p:spPr>
          <a:xfrm>
            <a:off x="10529316" y="4366260"/>
            <a:ext cx="155448" cy="155448"/>
          </a:xfrm>
          <a:prstGeom prst="rect">
            <a:avLst/>
          </a:prstGeom>
          <a:solidFill>
            <a:srgbClr val="3E6DA8"/>
          </a:solidFill>
          <a:ln w="12700">
            <a:solidFill>
              <a:srgbClr val="3E6DA8"/>
            </a:solidFill>
            <a:prstDash val="solid"/>
          </a:ln>
        </p:spPr>
      </p:sp>
      <p:sp>
        <p:nvSpPr>
          <p:cNvPr id="108" name="Shape 106"/>
          <p:cNvSpPr/>
          <p:nvPr/>
        </p:nvSpPr>
        <p:spPr>
          <a:xfrm>
            <a:off x="10607040" y="4526280"/>
            <a:ext cx="0" cy="54864"/>
          </a:xfrm>
          <a:prstGeom prst="line">
            <a:avLst/>
          </a:prstGeom>
          <a:noFill/>
          <a:ln w="9525">
            <a:solidFill>
              <a:srgbClr val="C8C8C8"/>
            </a:solidFill>
            <a:prstDash val="solid"/>
          </a:ln>
        </p:spPr>
      </p:sp>
      <p:sp>
        <p:nvSpPr>
          <p:cNvPr id="109" name="Text 107"/>
          <p:cNvSpPr/>
          <p:nvPr/>
        </p:nvSpPr>
        <p:spPr>
          <a:xfrm>
            <a:off x="978408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Release and delete the BOBJ object</a:t>
            </a:r>
            <a:endParaRPr lang="en-US" sz="650" dirty="0"/>
          </a:p>
        </p:txBody>
      </p:sp>
      <p:sp>
        <p:nvSpPr>
          <p:cNvPr id="110" name="Shape 108"/>
          <p:cNvSpPr/>
          <p:nvPr/>
        </p:nvSpPr>
        <p:spPr>
          <a:xfrm>
            <a:off x="1143000" y="5212080"/>
            <a:ext cx="9738360" cy="0"/>
          </a:xfrm>
          <a:prstGeom prst="line">
            <a:avLst/>
          </a:prstGeom>
          <a:noFill/>
          <a:ln w="22225">
            <a:solidFill>
              <a:srgbClr val="081F5C"/>
            </a:solidFill>
            <a:prstDash val="dash"/>
          </a:ln>
        </p:spPr>
      </p:sp>
      <p:sp>
        <p:nvSpPr>
          <p:cNvPr id="111" name="Text 109"/>
          <p:cNvSpPr/>
          <p:nvPr/>
        </p:nvSpPr>
        <p:spPr>
          <a:xfrm>
            <a:off x="1463040" y="4992624"/>
            <a:ext cx="4206240" cy="146304"/>
          </a:xfrm>
          <a:prstGeom prst="rect">
            <a:avLst/>
          </a:prstGeom>
          <a:noFill/>
          <a:ln/>
        </p:spPr>
        <p:txBody>
          <a:bodyPr wrap="square" lIns="0" tIns="0" rIns="0" bIns="0" rtlCol="0" anchor="ctr"/>
          <a:lstStyle/>
          <a:p>
            <a:pPr indent="0" marL="0">
              <a:buNone/>
            </a:pPr>
            <a:r>
              <a:rPr lang="en-US" sz="740" b="1" i="1" dirty="0">
                <a:solidFill>
                  <a:srgbClr val="081F5C"/>
                </a:solidFill>
                <a:latin typeface="Arial" pitchFamily="34" charset="0"/>
                <a:ea typeface="Arial" pitchFamily="34" charset="-122"/>
                <a:cs typeface="Arial" pitchFamily="34" charset="-120"/>
              </a:rPr>
              <a:t>Retain in BOBJ  —  Exception</a:t>
            </a:r>
            <a:endParaRPr lang="en-US" sz="740" dirty="0"/>
          </a:p>
        </p:txBody>
      </p:sp>
      <p:sp>
        <p:nvSpPr>
          <p:cNvPr id="112" name="Shape 110"/>
          <p:cNvSpPr/>
          <p:nvPr/>
        </p:nvSpPr>
        <p:spPr>
          <a:xfrm>
            <a:off x="1851660" y="5143500"/>
            <a:ext cx="137160" cy="137160"/>
          </a:xfrm>
          <a:prstGeom prst="ellipse">
            <a:avLst/>
          </a:prstGeom>
          <a:solidFill>
            <a:srgbClr val="FFFFFF"/>
          </a:solidFill>
          <a:ln w="15875">
            <a:solidFill>
              <a:srgbClr val="081F5C"/>
            </a:solidFill>
            <a:prstDash val="solid"/>
          </a:ln>
        </p:spPr>
      </p:sp>
      <p:sp>
        <p:nvSpPr>
          <p:cNvPr id="113" name="Shape 111"/>
          <p:cNvSpPr/>
          <p:nvPr/>
        </p:nvSpPr>
        <p:spPr>
          <a:xfrm>
            <a:off x="1920240" y="5294376"/>
            <a:ext cx="0" cy="54864"/>
          </a:xfrm>
          <a:prstGeom prst="line">
            <a:avLst/>
          </a:prstGeom>
          <a:noFill/>
          <a:ln w="9525">
            <a:solidFill>
              <a:srgbClr val="C8C8C8"/>
            </a:solidFill>
            <a:prstDash val="solid"/>
          </a:ln>
        </p:spPr>
      </p:sp>
      <p:sp>
        <p:nvSpPr>
          <p:cNvPr id="114" name="Text 112"/>
          <p:cNvSpPr/>
          <p:nvPr/>
        </p:nvSpPr>
        <p:spPr>
          <a:xfrm>
            <a:off x="109728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Record which exception criteria hold</a:t>
            </a:r>
            <a:endParaRPr lang="en-US" sz="650" dirty="0"/>
          </a:p>
        </p:txBody>
      </p:sp>
      <p:sp>
        <p:nvSpPr>
          <p:cNvPr id="115" name="Shape 113"/>
          <p:cNvSpPr/>
          <p:nvPr/>
        </p:nvSpPr>
        <p:spPr>
          <a:xfrm>
            <a:off x="3589020" y="5143500"/>
            <a:ext cx="137160" cy="137160"/>
          </a:xfrm>
          <a:prstGeom prst="ellipse">
            <a:avLst/>
          </a:prstGeom>
          <a:solidFill>
            <a:srgbClr val="FFFFFF"/>
          </a:solidFill>
          <a:ln w="15875">
            <a:solidFill>
              <a:srgbClr val="081F5C"/>
            </a:solidFill>
            <a:prstDash val="solid"/>
          </a:ln>
        </p:spPr>
      </p:sp>
      <p:sp>
        <p:nvSpPr>
          <p:cNvPr id="116" name="Shape 114"/>
          <p:cNvSpPr/>
          <p:nvPr/>
        </p:nvSpPr>
        <p:spPr>
          <a:xfrm>
            <a:off x="3657600" y="5294376"/>
            <a:ext cx="0" cy="54864"/>
          </a:xfrm>
          <a:prstGeom prst="line">
            <a:avLst/>
          </a:prstGeom>
          <a:noFill/>
          <a:ln w="9525">
            <a:solidFill>
              <a:srgbClr val="C8C8C8"/>
            </a:solidFill>
            <a:prstDash val="solid"/>
          </a:ln>
        </p:spPr>
      </p:sp>
      <p:sp>
        <p:nvSpPr>
          <p:cNvPr id="117" name="Text 115"/>
          <p:cNvSpPr/>
          <p:nvPr/>
        </p:nvSpPr>
        <p:spPr>
          <a:xfrm>
            <a:off x="283464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Plan the re-point and set the sunset</a:t>
            </a:r>
            <a:endParaRPr lang="en-US" sz="650" dirty="0"/>
          </a:p>
        </p:txBody>
      </p:sp>
      <p:sp>
        <p:nvSpPr>
          <p:cNvPr id="118" name="Shape 116"/>
          <p:cNvSpPr/>
          <p:nvPr/>
        </p:nvSpPr>
        <p:spPr>
          <a:xfrm>
            <a:off x="5326380" y="5143500"/>
            <a:ext cx="137160" cy="137160"/>
          </a:xfrm>
          <a:prstGeom prst="ellipse">
            <a:avLst/>
          </a:prstGeom>
          <a:solidFill>
            <a:srgbClr val="FFFFFF"/>
          </a:solidFill>
          <a:ln w="15875">
            <a:solidFill>
              <a:srgbClr val="081F5C"/>
            </a:solidFill>
            <a:prstDash val="solid"/>
          </a:ln>
        </p:spPr>
      </p:sp>
      <p:sp>
        <p:nvSpPr>
          <p:cNvPr id="119" name="Shape 117"/>
          <p:cNvSpPr/>
          <p:nvPr/>
        </p:nvSpPr>
        <p:spPr>
          <a:xfrm>
            <a:off x="5394960" y="5294376"/>
            <a:ext cx="0" cy="54864"/>
          </a:xfrm>
          <a:prstGeom prst="line">
            <a:avLst/>
          </a:prstGeom>
          <a:noFill/>
          <a:ln w="9525">
            <a:solidFill>
              <a:srgbClr val="C8C8C8"/>
            </a:solidFill>
            <a:prstDash val="solid"/>
          </a:ln>
        </p:spPr>
      </p:sp>
      <p:sp>
        <p:nvSpPr>
          <p:cNvPr id="120" name="Text 118"/>
          <p:cNvSpPr/>
          <p:nvPr/>
        </p:nvSpPr>
        <p:spPr>
          <a:xfrm>
            <a:off x="457200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Re-point the universe off Oracle</a:t>
            </a:r>
            <a:endParaRPr lang="en-US" sz="650" dirty="0"/>
          </a:p>
        </p:txBody>
      </p:sp>
      <p:sp>
        <p:nvSpPr>
          <p:cNvPr id="121" name="Shape 119"/>
          <p:cNvSpPr/>
          <p:nvPr/>
        </p:nvSpPr>
        <p:spPr>
          <a:xfrm>
            <a:off x="7063740" y="5143500"/>
            <a:ext cx="137160" cy="137160"/>
          </a:xfrm>
          <a:prstGeom prst="ellipse">
            <a:avLst/>
          </a:prstGeom>
          <a:solidFill>
            <a:srgbClr val="FFFFFF"/>
          </a:solidFill>
          <a:ln w="15875">
            <a:solidFill>
              <a:srgbClr val="081F5C"/>
            </a:solidFill>
            <a:prstDash val="solid"/>
          </a:ln>
        </p:spPr>
      </p:sp>
      <p:sp>
        <p:nvSpPr>
          <p:cNvPr id="122" name="Shape 120"/>
          <p:cNvSpPr/>
          <p:nvPr/>
        </p:nvSpPr>
        <p:spPr>
          <a:xfrm>
            <a:off x="7132320" y="5294376"/>
            <a:ext cx="0" cy="54864"/>
          </a:xfrm>
          <a:prstGeom prst="line">
            <a:avLst/>
          </a:prstGeom>
          <a:noFill/>
          <a:ln w="9525">
            <a:solidFill>
              <a:srgbClr val="C8C8C8"/>
            </a:solidFill>
            <a:prstDash val="solid"/>
          </a:ln>
        </p:spPr>
      </p:sp>
      <p:sp>
        <p:nvSpPr>
          <p:cNvPr id="123" name="Text 121"/>
          <p:cNvSpPr/>
          <p:nvPr/>
        </p:nvSpPr>
        <p:spPr>
          <a:xfrm>
            <a:off x="630936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Re-test the universe restrictions</a:t>
            </a:r>
            <a:endParaRPr lang="en-US" sz="650" dirty="0"/>
          </a:p>
        </p:txBody>
      </p:sp>
      <p:sp>
        <p:nvSpPr>
          <p:cNvPr id="124" name="Shape 122"/>
          <p:cNvSpPr/>
          <p:nvPr/>
        </p:nvSpPr>
        <p:spPr>
          <a:xfrm>
            <a:off x="8801100" y="5143500"/>
            <a:ext cx="137160" cy="137160"/>
          </a:xfrm>
          <a:prstGeom prst="ellipse">
            <a:avLst/>
          </a:prstGeom>
          <a:solidFill>
            <a:srgbClr val="FFFFFF"/>
          </a:solidFill>
          <a:ln w="15875">
            <a:solidFill>
              <a:srgbClr val="081F5C"/>
            </a:solidFill>
            <a:prstDash val="solid"/>
          </a:ln>
        </p:spPr>
      </p:sp>
      <p:sp>
        <p:nvSpPr>
          <p:cNvPr id="125" name="Shape 123"/>
          <p:cNvSpPr/>
          <p:nvPr/>
        </p:nvSpPr>
        <p:spPr>
          <a:xfrm>
            <a:off x="8869680" y="5294376"/>
            <a:ext cx="0" cy="54864"/>
          </a:xfrm>
          <a:prstGeom prst="line">
            <a:avLst/>
          </a:prstGeom>
          <a:noFill/>
          <a:ln w="9525">
            <a:solidFill>
              <a:srgbClr val="C8C8C8"/>
            </a:solidFill>
            <a:prstDash val="solid"/>
          </a:ln>
        </p:spPr>
      </p:sp>
      <p:sp>
        <p:nvSpPr>
          <p:cNvPr id="126" name="Text 124"/>
          <p:cNvSpPr/>
          <p:nvPr/>
        </p:nvSpPr>
        <p:spPr>
          <a:xfrm>
            <a:off x="804672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either side of the re-point</a:t>
            </a:r>
            <a:endParaRPr lang="en-US" sz="650" dirty="0"/>
          </a:p>
        </p:txBody>
      </p:sp>
      <p:sp>
        <p:nvSpPr>
          <p:cNvPr id="127" name="Shape 125"/>
          <p:cNvSpPr/>
          <p:nvPr/>
        </p:nvSpPr>
        <p:spPr>
          <a:xfrm>
            <a:off x="10529316" y="5134356"/>
            <a:ext cx="155448" cy="155448"/>
          </a:xfrm>
          <a:prstGeom prst="rect">
            <a:avLst/>
          </a:prstGeom>
          <a:solidFill>
            <a:srgbClr val="081F5C"/>
          </a:solidFill>
          <a:ln w="12700">
            <a:solidFill>
              <a:srgbClr val="081F5C"/>
            </a:solidFill>
            <a:prstDash val="solid"/>
          </a:ln>
        </p:spPr>
      </p:sp>
      <p:sp>
        <p:nvSpPr>
          <p:cNvPr id="128" name="Shape 126"/>
          <p:cNvSpPr/>
          <p:nvPr/>
        </p:nvSpPr>
        <p:spPr>
          <a:xfrm>
            <a:off x="10607040" y="5294376"/>
            <a:ext cx="0" cy="54864"/>
          </a:xfrm>
          <a:prstGeom prst="line">
            <a:avLst/>
          </a:prstGeom>
          <a:noFill/>
          <a:ln w="9525">
            <a:solidFill>
              <a:srgbClr val="C8C8C8"/>
            </a:solidFill>
            <a:prstDash val="solid"/>
          </a:ln>
        </p:spPr>
      </p:sp>
      <p:sp>
        <p:nvSpPr>
          <p:cNvPr id="129" name="Text 127"/>
          <p:cNvSpPr/>
          <p:nvPr/>
        </p:nvSpPr>
        <p:spPr>
          <a:xfrm>
            <a:off x="978408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track to the sunset date</a:t>
            </a:r>
            <a:endParaRPr lang="en-US" sz="650" dirty="0"/>
          </a:p>
        </p:txBody>
      </p:sp>
      <p:sp>
        <p:nvSpPr>
          <p:cNvPr id="130" name="Shape 128"/>
          <p:cNvSpPr/>
          <p:nvPr/>
        </p:nvSpPr>
        <p:spPr>
          <a:xfrm>
            <a:off x="9738360" y="2194560"/>
            <a:ext cx="0" cy="585216"/>
          </a:xfrm>
          <a:prstGeom prst="line">
            <a:avLst/>
          </a:prstGeom>
          <a:noFill/>
          <a:ln w="12700">
            <a:solidFill>
              <a:srgbClr val="081F5C"/>
            </a:solidFill>
            <a:prstDash val="dash"/>
          </a:ln>
        </p:spPr>
      </p:sp>
      <p:sp>
        <p:nvSpPr>
          <p:cNvPr id="131" name="Shape 129"/>
          <p:cNvSpPr/>
          <p:nvPr/>
        </p:nvSpPr>
        <p:spPr>
          <a:xfrm flipV="1">
            <a:off x="9678924" y="2770632"/>
            <a:ext cx="118872" cy="109728"/>
          </a:xfrm>
          <a:prstGeom prst="triangle">
            <a:avLst/>
          </a:prstGeom>
          <a:solidFill>
            <a:srgbClr val="081F5C"/>
          </a:solidFill>
          <a:ln w="6350">
            <a:solidFill>
              <a:srgbClr val="081F5C"/>
            </a:solidFill>
            <a:prstDash val="solid"/>
          </a:ln>
        </p:spPr>
      </p:sp>
      <p:sp>
        <p:nvSpPr>
          <p:cNvPr id="132" name="Shape 130"/>
          <p:cNvSpPr/>
          <p:nvPr/>
        </p:nvSpPr>
        <p:spPr>
          <a:xfrm>
            <a:off x="9738360" y="3730752"/>
            <a:ext cx="0" cy="585216"/>
          </a:xfrm>
          <a:prstGeom prst="line">
            <a:avLst/>
          </a:prstGeom>
          <a:noFill/>
          <a:ln w="12700">
            <a:solidFill>
              <a:srgbClr val="081F5C"/>
            </a:solidFill>
            <a:prstDash val="dash"/>
          </a:ln>
        </p:spPr>
      </p:sp>
      <p:sp>
        <p:nvSpPr>
          <p:cNvPr id="133" name="Shape 131"/>
          <p:cNvSpPr/>
          <p:nvPr/>
        </p:nvSpPr>
        <p:spPr>
          <a:xfrm flipV="1">
            <a:off x="9678924" y="4306824"/>
            <a:ext cx="118872" cy="109728"/>
          </a:xfrm>
          <a:prstGeom prst="triangle">
            <a:avLst/>
          </a:prstGeom>
          <a:solidFill>
            <a:srgbClr val="081F5C"/>
          </a:solidFill>
          <a:ln w="6350">
            <a:solidFill>
              <a:srgbClr val="081F5C"/>
            </a:solidFill>
            <a:prstDash val="solid"/>
          </a:ln>
        </p:spPr>
      </p:sp>
      <p:sp>
        <p:nvSpPr>
          <p:cNvPr id="134" name="Shape 132"/>
          <p:cNvSpPr/>
          <p:nvPr/>
        </p:nvSpPr>
        <p:spPr>
          <a:xfrm>
            <a:off x="384048" y="5760720"/>
            <a:ext cx="11420856" cy="347472"/>
          </a:xfrm>
          <a:prstGeom prst="rect">
            <a:avLst/>
          </a:prstGeom>
          <a:solidFill>
            <a:srgbClr val="ADDAFB"/>
          </a:solidFill>
          <a:ln w="6350">
            <a:solidFill>
              <a:srgbClr val="ADDAFB"/>
            </a:solidFill>
            <a:prstDash val="solid"/>
          </a:ln>
        </p:spPr>
      </p:sp>
      <p:sp>
        <p:nvSpPr>
          <p:cNvPr id="135" name="Text 133"/>
          <p:cNvSpPr/>
          <p:nvPr/>
        </p:nvSpPr>
        <p:spPr>
          <a:xfrm>
            <a:off x="384048" y="5760720"/>
            <a:ext cx="11420856" cy="347472"/>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Parallel by design.</a:t>
            </a:r>
            <a:pPr indent="0" marL="0">
              <a:lnSpc>
                <a:spcPct val="95000"/>
              </a:lnSpc>
              <a:buNone/>
            </a:pPr>
            <a:r>
              <a:rPr lang="en-US" sz="700" dirty="0">
                <a:solidFill>
                  <a:srgbClr val="1A1A1A"/>
                </a:solidFill>
                <a:latin typeface="Arial" pitchFamily="34" charset="0"/>
                <a:ea typeface="Arial" pitchFamily="34" charset="-122"/>
                <a:cs typeface="Arial" pitchFamily="34" charset="-120"/>
              </a:rPr>
              <a:t>  The four platform paths run at the same time; none waits on another. Capacity, not sequence, sets the wave size.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Shaded tracks</a:t>
            </a:r>
            <a:pPr indent="0" marL="0">
              <a:lnSpc>
                <a:spcPct val="95000"/>
              </a:lnSpc>
              <a:buNone/>
            </a:pPr>
            <a:r>
              <a:rPr lang="en-US" sz="700" dirty="0">
                <a:solidFill>
                  <a:srgbClr val="1A1A1A"/>
                </a:solidFill>
                <a:latin typeface="Arial" pitchFamily="34" charset="0"/>
                <a:ea typeface="Arial" pitchFamily="34" charset="-122"/>
                <a:cs typeface="Arial" pitchFamily="34" charset="-120"/>
              </a:rPr>
              <a:t> are database migrations, needed only where the report reads Oracle custom-schema objects — CogitoSQL reads Epic-managed Clarity and Caboodle and has none.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Dotted link</a:t>
            </a:r>
            <a:pPr indent="0" marL="0">
              <a:lnSpc>
                <a:spcPct val="95000"/>
              </a:lnSpc>
              <a:buNone/>
            </a:pPr>
            <a:r>
              <a:rPr lang="en-US" sz="700" dirty="0">
                <a:solidFill>
                  <a:srgbClr val="1A1A1A"/>
                </a:solidFill>
                <a:latin typeface="Arial" pitchFamily="34" charset="0"/>
                <a:ea typeface="Arial" pitchFamily="34" charset="-122"/>
                <a:cs typeface="Arial" pitchFamily="34" charset="-120"/>
              </a:rPr>
              <a:t> is a gate: a report track cannot clear step E until the database track above it has, so data variances surface before report variances.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Step F</a:t>
            </a:r>
            <a:pPr indent="0" marL="0">
              <a:lnSpc>
                <a:spcPct val="95000"/>
              </a:lnSpc>
              <a:buNone/>
            </a:pPr>
            <a:r>
              <a:rPr lang="en-US" sz="700" dirty="0">
                <a:solidFill>
                  <a:srgbClr val="1A1A1A"/>
                </a:solidFill>
                <a:latin typeface="Arial" pitchFamily="34" charset="0"/>
                <a:ea typeface="Arial" pitchFamily="34" charset="-122"/>
                <a:cs typeface="Arial" pitchFamily="34" charset="-120"/>
              </a:rPr>
              <a:t> is the decommission milestone on every path — the point at which the reduction is actually booked.</a:t>
            </a:r>
            <a:endParaRPr lang="en-US" sz="700" dirty="0"/>
          </a:p>
        </p:txBody>
      </p:sp>
      <p:sp>
        <p:nvSpPr>
          <p:cNvPr id="136" name="Shape 134"/>
          <p:cNvSpPr/>
          <p:nvPr/>
        </p:nvSpPr>
        <p:spPr>
          <a:xfrm>
            <a:off x="384048" y="6163056"/>
            <a:ext cx="11420856" cy="329184"/>
          </a:xfrm>
          <a:prstGeom prst="rect">
            <a:avLst/>
          </a:prstGeom>
          <a:solidFill>
            <a:srgbClr val="EAF5FD"/>
          </a:solidFill>
          <a:ln w="9525">
            <a:solidFill>
              <a:srgbClr val="C9E3F7"/>
            </a:solidFill>
            <a:prstDash val="solid"/>
          </a:ln>
        </p:spPr>
      </p:sp>
      <p:sp>
        <p:nvSpPr>
          <p:cNvPr id="137" name="Text 135"/>
          <p:cNvSpPr/>
          <p:nvPr/>
        </p:nvSpPr>
        <p:spPr>
          <a:xfrm>
            <a:off x="384048" y="6163056"/>
            <a:ext cx="11420856" cy="329184"/>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steps D and E on every path.  </a:t>
            </a:r>
            <a:pPr indent="0" marL="0">
              <a:lnSpc>
                <a:spcPct val="95000"/>
              </a:lnSpc>
              <a:buNone/>
            </a:pPr>
            <a:r>
              <a:rPr lang="en-US" sz="700" dirty="0">
                <a:solidFill>
                  <a:srgbClr val="1A1A1A"/>
                </a:solidFill>
                <a:latin typeface="Arial" pitchFamily="34" charset="0"/>
                <a:ea typeface="Arial" pitchFamily="34" charset="-122"/>
                <a:cs typeface="Arial" pitchFamily="34" charset="-120"/>
              </a:rPr>
              <a:t>PHI columns are masked and row-level access enforced in SQL Server and Unity Catalog before any report is pointed at them. Re-test with a non-privileged account, never an admin. Do not carry BOBJ publication recipient lists into Power BI subscriptions or UC groups without re-validating each recipient. Under the retain exception, a re-pointed universe must have its restrictions re-tested — a connection change silently breaks row-level security.</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Disposition Rubric</dc:title>
  <dc:subject>PptxGenJS Presentation</dc:subject>
  <dc:creator>Amit</dc:creator>
  <cp:lastModifiedBy>Amit</cp:lastModifiedBy>
  <cp:revision>1</cp:revision>
  <dcterms:created xsi:type="dcterms:W3CDTF">2026-08-02T16:08:23Z</dcterms:created>
  <dcterms:modified xsi:type="dcterms:W3CDTF">2026-08-02T16:08:23Z</dcterms:modified>
</cp:coreProperties>
</file>