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walk this slide:
Left — the six evidence sources we collect per report. Nothing in the middle column can be applied without them; input 1 (usage) and input 4 (code repository) do most of the work.
Middle — six principles applied in order. The first one a report matches decides its disposition, so most of the estate never reaches scoring. Expect 30-45% to exit at principles 1 and 2.
Principle 5 is the pivot for this client: the Epic custom schema is a data decision wearing a report-disposition costume. Decide per custom object whether it is redundant with Caboodle, genuinely bespoke and headed for Delta, or orphaned. The report follows the data.
Principle 6 is the scorecard, condensed. Four weighted groups totalling 100 points; a 60% concentration in one platform column is a clean call.
Right — five dispositions. Retain in BOBJ is drawn as an exception on purpose: four criteria must all hold and a sunset date is mandatory. If the retain bucket exceeds ~10% of the estate, the criteria are too soft.
Forcing function: the Oracle decommission date caps the retain bucket. If a universe dies with Oracle, retention is not an available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detail behind principle 6 on the rubric slide. Use it when a stakeholder challenges a specific disposition — walk the dimension, not the conclusion.
The retain column is deliberately framed as a diagnostic: every cell describes a condition to remediate rather than a platform virtue. Undocumented universe security in particular is a compliance liability the client already carries, and migration is the opportunity to close it.
Re-weighting guidance: Data Gravity up if the Oracle exit compresses; Rebuild Feasibility up if analyst capacity is the binding constraint rather than runway.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Framework for Platform Disposition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66928"/>
            <a:ext cx="11420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principles, applied in order, decide the next best action for every BOBJ report. The first principle a report matches sets its disposition; only what survives all six is scored.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969264"/>
            <a:ext cx="2542032" cy="292608"/>
          </a:xfrm>
          <a:prstGeom prst="homePlate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926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969264"/>
            <a:ext cx="5852160" cy="292608"/>
          </a:xfrm>
          <a:prstGeom prst="chevron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969264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 USED  —  GUIDING PRINCIPLES, APPLIED IN ORDER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03920" y="969264"/>
            <a:ext cx="3300984" cy="292608"/>
          </a:xfrm>
          <a:prstGeom prst="chevron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9692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581912"/>
            <a:ext cx="274320" cy="274320"/>
          </a:xfrm>
          <a:prstGeom prst="rect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" y="1417320"/>
            <a:ext cx="1901952" cy="603504"/>
          </a:xfrm>
          <a:prstGeom prst="rect">
            <a:avLst/>
          </a:prstGeom>
          <a:solidFill>
            <a:srgbClr val="F2F2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417320"/>
            <a:ext cx="1901952" cy="603504"/>
          </a:xfrm>
          <a:prstGeom prst="rect">
            <a:avLst/>
          </a:prstGeom>
          <a:noFill/>
          <a:ln/>
        </p:spPr>
        <p:txBody>
          <a:bodyPr wrap="square" lIns="381" tIns="1016" rIns="1016" bIns="381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78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BOBJ metadata &amp; audit trail</a:t>
            </a:r>
            <a:endParaRPr lang="en-US" sz="78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7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counts, last-run dates, schedules and publication lists over 18 months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84048" y="2318004"/>
            <a:ext cx="274320" cy="274320"/>
          </a:xfrm>
          <a:prstGeom prst="rect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180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" y="2153412"/>
            <a:ext cx="1901952" cy="603504"/>
          </a:xfrm>
          <a:prstGeom prst="rect">
            <a:avLst/>
          </a:prstGeom>
          <a:solidFill>
            <a:srgbClr val="F2F2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153412"/>
            <a:ext cx="1901952" cy="603504"/>
          </a:xfrm>
          <a:prstGeom prst="rect">
            <a:avLst/>
          </a:prstGeom>
          <a:noFill/>
          <a:ln/>
        </p:spPr>
        <p:txBody>
          <a:bodyPr wrap="square" lIns="381" tIns="1016" rIns="1016" bIns="381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78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profile</a:t>
            </a:r>
            <a:endParaRPr lang="en-US" sz="78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7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data, visualisation, interaction mode, audience and latency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84048" y="3054096"/>
            <a:ext cx="274320" cy="274320"/>
          </a:xfrm>
          <a:prstGeom prst="rect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" y="2889504"/>
            <a:ext cx="1901952" cy="603504"/>
          </a:xfrm>
          <a:prstGeom prst="rect">
            <a:avLst/>
          </a:prstGeom>
          <a:solidFill>
            <a:srgbClr val="F2F2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889504"/>
            <a:ext cx="1901952" cy="603504"/>
          </a:xfrm>
          <a:prstGeom prst="rect">
            <a:avLst/>
          </a:prstGeom>
          <a:noFill/>
          <a:ln/>
        </p:spPr>
        <p:txBody>
          <a:bodyPr wrap="square" lIns="381" tIns="1016" rIns="1016" bIns="381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78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complexity</a:t>
            </a:r>
            <a:endParaRPr lang="en-US" sz="78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7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complexity from join count, universe contexts, metrics and aggregate awareness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84048" y="3790188"/>
            <a:ext cx="274320" cy="274320"/>
          </a:xfrm>
          <a:prstGeom prst="rect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901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" y="3625596"/>
            <a:ext cx="1901952" cy="603504"/>
          </a:xfrm>
          <a:prstGeom prst="rect">
            <a:avLst/>
          </a:prstGeom>
          <a:solidFill>
            <a:srgbClr val="F2F2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625596"/>
            <a:ext cx="1901952" cy="603504"/>
          </a:xfrm>
          <a:prstGeom prst="rect">
            <a:avLst/>
          </a:prstGeom>
          <a:noFill/>
          <a:ln/>
        </p:spPr>
        <p:txBody>
          <a:bodyPr wrap="square" lIns="381" tIns="1016" rIns="1016" bIns="381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78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</a:t>
            </a:r>
            <a:endParaRPr lang="en-US" sz="78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7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and view DDLs, stored procedures and packages, including Epic custom-schema objects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84048" y="4526280"/>
            <a:ext cx="274320" cy="274320"/>
          </a:xfrm>
          <a:prstGeom prst="rect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" y="4361688"/>
            <a:ext cx="1901952" cy="603504"/>
          </a:xfrm>
          <a:prstGeom prst="rect">
            <a:avLst/>
          </a:prstGeom>
          <a:solidFill>
            <a:srgbClr val="F2F2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4361688"/>
            <a:ext cx="1901952" cy="603504"/>
          </a:xfrm>
          <a:prstGeom prst="rect">
            <a:avLst/>
          </a:prstGeom>
          <a:noFill/>
          <a:ln/>
        </p:spPr>
        <p:txBody>
          <a:bodyPr wrap="square" lIns="381" tIns="1016" rIns="1016" bIns="381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78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data flow</a:t>
            </a:r>
            <a:endParaRPr lang="en-US" sz="78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7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Oracle lineage and the target Cogito, SQL Server and Databricks mapping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84048" y="5262372"/>
            <a:ext cx="274320" cy="274320"/>
          </a:xfrm>
          <a:prstGeom prst="rect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52623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" y="5097780"/>
            <a:ext cx="1901952" cy="603504"/>
          </a:xfrm>
          <a:prstGeom prst="rect">
            <a:avLst/>
          </a:prstGeom>
          <a:solidFill>
            <a:srgbClr val="F2F2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5097780"/>
            <a:ext cx="1901952" cy="603504"/>
          </a:xfrm>
          <a:prstGeom prst="rect">
            <a:avLst/>
          </a:prstGeom>
          <a:noFill/>
          <a:ln/>
        </p:spPr>
        <p:txBody>
          <a:bodyPr wrap="square" lIns="381" tIns="1016" rIns="1016" bIns="381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78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owners &amp; support teams</a:t>
            </a:r>
            <a:endParaRPr lang="en-US" sz="78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7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criticality, regulatory drivers, known defects and rebuild appetite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670048" y="3310128"/>
            <a:ext cx="256032" cy="640080"/>
          </a:xfrm>
          <a:prstGeom prst="chevron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8784" y="3310128"/>
            <a:ext cx="256032" cy="640080"/>
          </a:xfrm>
          <a:prstGeom prst="chevron">
            <a:avLst/>
          </a:prstGeom>
          <a:solidFill>
            <a:srgbClr val="EEEEEE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5808" y="1344168"/>
            <a:ext cx="5468112" cy="4507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95D2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154680" y="1463040"/>
            <a:ext cx="2542032" cy="905256"/>
          </a:xfrm>
          <a:prstGeom prst="rect">
            <a:avLst/>
          </a:prstGeom>
          <a:solidFill>
            <a:srgbClr val="ADDAFB"/>
          </a:solidFill>
          <a:ln w="6350">
            <a:solidFill>
              <a:srgbClr val="ADDA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1463040"/>
            <a:ext cx="2542032" cy="905256"/>
          </a:xfrm>
          <a:prstGeom prst="rect">
            <a:avLst/>
          </a:prstGeom>
          <a:noFill/>
          <a:ln/>
        </p:spPr>
        <p:txBody>
          <a:bodyPr wrap="square" lIns="889" tIns="1270" rIns="1270" bIns="635" rtlCol="0" anchor="t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Prove it is still used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18 months of run history from the BOBJ audit trail. Check for a legal hold or a regulatory driver. Retire the report when nobody runs it and nothing requires it.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Retire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43016" y="1463040"/>
            <a:ext cx="2542032" cy="905256"/>
          </a:xfrm>
          <a:prstGeom prst="rect">
            <a:avLst/>
          </a:prstGeom>
          <a:solidFill>
            <a:srgbClr val="ADDAFB"/>
          </a:solidFill>
          <a:ln w="6350">
            <a:solidFill>
              <a:srgbClr val="ADDA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3016" y="1463040"/>
            <a:ext cx="2542032" cy="905256"/>
          </a:xfrm>
          <a:prstGeom prst="rect">
            <a:avLst/>
          </a:prstGeom>
          <a:noFill/>
          <a:ln/>
        </p:spPr>
        <p:txBody>
          <a:bodyPr wrap="square" lIns="889" tIns="1270" rIns="1270" bIns="635" rtlCol="0" anchor="t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Collapse the duplicates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Report DNA signatures across the estate. Name one survivor for each duplicate group. Redirect the other consumers to it and retire the copies.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Consolidate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54680" y="2487168"/>
            <a:ext cx="2542032" cy="905256"/>
          </a:xfrm>
          <a:prstGeom prst="rect">
            <a:avLst/>
          </a:prstGeom>
          <a:solidFill>
            <a:srgbClr val="ADDAFB"/>
          </a:solidFill>
          <a:ln w="6350">
            <a:solidFill>
              <a:srgbClr val="ADDA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2487168"/>
            <a:ext cx="2542032" cy="905256"/>
          </a:xfrm>
          <a:prstGeom prst="rect">
            <a:avLst/>
          </a:prstGeom>
          <a:noFill/>
          <a:ln/>
        </p:spPr>
        <p:txBody>
          <a:bodyPr wrap="square" lIns="889" tIns="1270" rIns="1270" bIns="635" rtlCol="0" anchor="t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Keep clinical work inside Epic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where the report is consumed and what data it reads. Send it to Cogito when it runs on Epic data and drives action inside the clinical workflow.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CogitoSQL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843016" y="2487168"/>
            <a:ext cx="2542032" cy="905256"/>
          </a:xfrm>
          <a:prstGeom prst="rect">
            <a:avLst/>
          </a:prstGeom>
          <a:solidFill>
            <a:srgbClr val="ADDAFB"/>
          </a:solidFill>
          <a:ln w="6350">
            <a:solidFill>
              <a:srgbClr val="ADDA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43016" y="2487168"/>
            <a:ext cx="2542032" cy="905256"/>
          </a:xfrm>
          <a:prstGeom prst="rect">
            <a:avLst/>
          </a:prstGeom>
          <a:noFill/>
          <a:ln/>
        </p:spPr>
        <p:txBody>
          <a:bodyPr wrap="square" lIns="889" tIns="1270" rIns="1270" bIns="635" rtlCol="0" anchor="t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Honour the format obligations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statutory layouts, pixel-exact output and scheduled PDF bursts. Rebuild these as Paginated Reports, which reproduce the layout Crystal delivered.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Power BI Paginated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54680" y="3511296"/>
            <a:ext cx="5230368" cy="749808"/>
          </a:xfrm>
          <a:prstGeom prst="rect">
            <a:avLst/>
          </a:prstGeom>
          <a:solidFill>
            <a:srgbClr val="ADDAFB"/>
          </a:solidFill>
          <a:ln w="6350">
            <a:solidFill>
              <a:srgbClr val="ADDA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54680" y="3511296"/>
            <a:ext cx="5230368" cy="749808"/>
          </a:xfrm>
          <a:prstGeom prst="rect">
            <a:avLst/>
          </a:prstGeom>
          <a:noFill/>
          <a:ln/>
        </p:spPr>
        <p:txBody>
          <a:bodyPr wrap="square" lIns="889" tIns="1270" rIns="1270" bIns="635" rtlCol="0" anchor="t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Settle the custom schema before the report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every Epic custom object the report reads. Decide one of three outcomes for each: re-derive it from Clarity or Caboodle, re-home it to Delta, or retire it together with the reports that depend on it. Move the report only once its data has a home.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Report disposition follows the data decision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154680" y="4379976"/>
            <a:ext cx="5230368" cy="1353312"/>
          </a:xfrm>
          <a:prstGeom prst="rect">
            <a:avLst/>
          </a:prstGeom>
          <a:solidFill>
            <a:srgbClr val="ADDAFB"/>
          </a:solidFill>
          <a:ln w="6350">
            <a:solidFill>
              <a:srgbClr val="ADDA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54680" y="4379976"/>
            <a:ext cx="5230368" cy="1353312"/>
          </a:xfrm>
          <a:prstGeom prst="rect">
            <a:avLst/>
          </a:prstGeom>
          <a:noFill/>
          <a:ln/>
        </p:spPr>
        <p:txBody>
          <a:bodyPr wrap="square" lIns="889" tIns="1270" rIns="1270" bIns="635" rtlCol="0" anchor="t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Score what survives  —  the platform fit scorecard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7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remaining report on four weighted groups: Data Gravity 20 — where its data will live once Oracle is gone; Consumption Pattern 30 — who uses the report and how they use it; Rebuild Feasibility 25 — what it costs to recreate the logic; Runtime &amp; Control 25 — what the target platform must enforce at run time.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7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platform that takes 60% or more of the weighted points. Split the report into two assets when the points split, rather than forcing a compromise platform. Break ties toward the platform that removes the most BOBJ universes and jobs in this wave. Escalate to the retain exception only when nothing reaches 60%.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680" i="1" dirty="0">
                <a:solidFill>
                  <a:srgbClr val="2E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scored dimensions sit behind the four groups — detail on the Platform Fit Scorecard.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CogitoSQL  ·  Power BI  ·  Databricks AI/BI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887968" y="1417320"/>
            <a:ext cx="2916936" cy="201168"/>
          </a:xfrm>
          <a:prstGeom prst="rect">
            <a:avLst/>
          </a:prstGeom>
          <a:solidFill>
            <a:srgbClr val="68349A"/>
          </a:solidFill>
          <a:ln w="6350">
            <a:solidFill>
              <a:srgbClr val="6834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87968" y="141732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CogitoSQL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887968" y="1618488"/>
            <a:ext cx="291693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87968" y="1618488"/>
            <a:ext cx="2916936" cy="621792"/>
          </a:xfrm>
          <a:prstGeom prst="rect">
            <a:avLst/>
          </a:prstGeom>
          <a:noFill/>
          <a:ln/>
        </p:spPr>
        <p:txBody>
          <a:bodyPr wrap="square" lIns="508" tIns="1143" rIns="1143" bIns="508" rtlCol="0" anchor="ctr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Rearchitect. Rebuild in Reporting Workbench, Radar or SlicerDicer on Clarity and Caboodle.</a:t>
            </a:r>
            <a:endParaRPr lang="en-US" sz="7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" i="1" dirty="0">
                <a:solidFill>
                  <a:srgbClr val="2E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from principle 3, or a Data Gravity plus in-workflow score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8887968" y="2308860"/>
            <a:ext cx="2916936" cy="201168"/>
          </a:xfrm>
          <a:prstGeom prst="rect">
            <a:avLst/>
          </a:prstGeom>
          <a:solidFill>
            <a:srgbClr val="CEF8FC"/>
          </a:solidFill>
          <a:ln w="6350">
            <a:solidFill>
              <a:srgbClr val="CEF8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87968" y="230886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887968" y="2510028"/>
            <a:ext cx="291693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87968" y="2510028"/>
            <a:ext cx="2916936" cy="621792"/>
          </a:xfrm>
          <a:prstGeom prst="rect">
            <a:avLst/>
          </a:prstGeom>
          <a:noFill/>
          <a:ln/>
        </p:spPr>
        <p:txBody>
          <a:bodyPr wrap="square" lIns="508" tIns="1143" rIns="1143" bIns="508" rtlCol="0" anchor="ctr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Rearchitect. Build a curated semantic model; use Paginated Reports for statutory and bursted output.</a:t>
            </a:r>
            <a:endParaRPr lang="en-US" sz="7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" i="1" dirty="0">
                <a:solidFill>
                  <a:srgbClr val="2E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from principle 4, or a Consumption plus Format score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8887968" y="3200400"/>
            <a:ext cx="2916936" cy="201168"/>
          </a:xfrm>
          <a:prstGeom prst="rect">
            <a:avLst/>
          </a:prstGeom>
          <a:solidFill>
            <a:srgbClr val="CEF8FC"/>
          </a:solidFill>
          <a:ln w="6350">
            <a:solidFill>
              <a:srgbClr val="CEF8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87968" y="32004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AI/BI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887968" y="3401568"/>
            <a:ext cx="291693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87968" y="3401568"/>
            <a:ext cx="2916936" cy="621792"/>
          </a:xfrm>
          <a:prstGeom prst="rect">
            <a:avLst/>
          </a:prstGeom>
          <a:noFill/>
          <a:ln/>
        </p:spPr>
        <p:txBody>
          <a:bodyPr wrap="square" lIns="508" tIns="1143" rIns="1143" bIns="508" rtlCol="0" anchor="ctr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Replatform. Land the data in Delta, then rebuild as AI/BI dashboards with Genie for exploration.</a:t>
            </a:r>
            <a:endParaRPr lang="en-US" sz="7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" i="1" dirty="0">
                <a:solidFill>
                  <a:srgbClr val="2E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from principle 5, or a Data Gravity plus ad-hoc score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8887968" y="4091940"/>
            <a:ext cx="2916936" cy="201168"/>
          </a:xfrm>
          <a:prstGeom prst="rect">
            <a:avLst/>
          </a:prstGeom>
          <a:solidFill>
            <a:srgbClr val="707070"/>
          </a:solidFill>
          <a:ln w="6350">
            <a:solidFill>
              <a:srgbClr val="70707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87968" y="409194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/ Consolidate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887968" y="4293108"/>
            <a:ext cx="291693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87968" y="4293108"/>
            <a:ext cx="2916936" cy="621792"/>
          </a:xfrm>
          <a:prstGeom prst="rect">
            <a:avLst/>
          </a:prstGeom>
          <a:noFill/>
          <a:ln/>
        </p:spPr>
        <p:txBody>
          <a:bodyPr wrap="square" lIns="508" tIns="1143" rIns="1143" bIns="508" rtlCol="0" anchor="ctr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as-is to a fixed retirement date. Redirect consumers to the surviving asset, then decommission.</a:t>
            </a:r>
            <a:endParaRPr lang="en-US" sz="7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" i="1" dirty="0">
                <a:solidFill>
                  <a:srgbClr val="2E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from principles 1 and 2 — never scored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8887968" y="4983480"/>
            <a:ext cx="2916936" cy="201168"/>
          </a:xfrm>
          <a:prstGeom prst="rect">
            <a:avLst/>
          </a:prstGeom>
          <a:solidFill>
            <a:srgbClr val="081F5C"/>
          </a:solidFill>
          <a:ln w="6350">
            <a:solidFill>
              <a:srgbClr val="081F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87968" y="498348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in BOBJ  —  exception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887968" y="5184648"/>
            <a:ext cx="29169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1F5C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8887968" y="5184648"/>
            <a:ext cx="2916936" cy="621792"/>
          </a:xfrm>
          <a:prstGeom prst="rect">
            <a:avLst/>
          </a:prstGeom>
          <a:noFill/>
          <a:ln/>
        </p:spPr>
        <p:txBody>
          <a:bodyPr wrap="square" lIns="508" tIns="1143" rIns="1143" bIns="508" rtlCol="0" anchor="ctr"/>
          <a:lstStyle/>
          <a:p>
            <a:pPr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when all four hold: rebuild over 40 hours, no equivalent this wave, named owner accepts, universe survives the Oracle exit. Set a sunset date.</a:t>
            </a:r>
            <a:endParaRPr lang="en-US" sz="72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" i="1" dirty="0">
                <a:solidFill>
                  <a:srgbClr val="2E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from principle 6 only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384048" y="5943600"/>
            <a:ext cx="11420856" cy="384048"/>
          </a:xfrm>
          <a:prstGeom prst="rect">
            <a:avLst/>
          </a:prstGeom>
          <a:solidFill>
            <a:srgbClr val="EAF5FD"/>
          </a:solidFill>
          <a:ln w="9525">
            <a:solidFill>
              <a:srgbClr val="C9E3F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5943600"/>
            <a:ext cx="11420856" cy="384048"/>
          </a:xfrm>
          <a:prstGeom prst="rect">
            <a:avLst/>
          </a:prstGeom>
          <a:noFill/>
          <a:ln/>
        </p:spPr>
        <p:txBody>
          <a:bodyPr wrap="square" lIns="254" tIns="1270" rIns="1270" bIns="254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checkpoint — clear it at every principle, not at go-live. 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security-model translation before any asset moves: map BOBJ universe restrictions to Unity Catalog row filters and column masks, or to Power BI semantic-model RLS. Audit every BOBJ publication that emails PHI to a distribution list. Scope Databricks Genie spaces to curated gold tables only, never to raw custom-schema extracts. Confirm state record-retention obligations before deleting the output of any retired report.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84048" y="6373368"/>
            <a:ext cx="11420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are applied in order and the first match decides — a report that exits at principle 1 or 2 is never scored. Usage evidence draws on the BOBJ CMS audit trail over a rolling 18 months; a 90-day window understates quarterly and annual regulatory reporting.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Fit Scorecard  —  the Seven Dimensions Behind the Four Groups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585216"/>
            <a:ext cx="1142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only to reports that reach principle 6.  The four groups on the rubric are rollups of these seven scored dimensions:  </a:t>
            </a:r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Gravity 20 = Data source  ·  Consumption Pattern 30 = Audience 15 + Interaction mode 15  ·  Rebuild Feasibility 25 = Semantic complexity 15 + Format fidelity 10  ·  Runtime &amp; Control 25 = Latency 10 + Governance &amp; RLS 15.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60704"/>
          <a:ext cx="11420856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1207008"/>
                <a:gridCol w="365760"/>
                <a:gridCol w="2212848"/>
                <a:gridCol w="2212848"/>
                <a:gridCol w="2212848"/>
                <a:gridCol w="21305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Rubric group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Scored dimension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CogitoSQL favoured when…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34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BI favoured when…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AI/BI favoured when…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 signal  (diagnostic only)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70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Gravity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source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 / Caboodle-native; Epic-delivered content already covers the model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Curated SQL Server gold layer or mart reachable through the gateway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Lakehouse-native, multi-source, high volume, or re-homed custom schema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Universe still bound to Oracle objects with no re-platform target defined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Consumption Pattern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Clinicians and unit operations working inside Hyperspace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Executives and broad enterprise distribution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Analysts and data science running their own exploration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small legacy user pocket with no growth and no owner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303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 mode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Worklist, in-context lookup, patient-level action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Curated dashboards, mobile, scheduled subscriptions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Ad-hoc exploration, Genie natural-language query, notebook-adjacent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scheduled output that nobody interacts with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 Feasibility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complexity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Epic-delivered content, or a thin custom layer over it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Rebuildable as a Power BI semantic model within the wave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Expressible as SQL or Unity Catalog metric views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universe logic — contexts, aggregate awareness — with nobody able to rebuild it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30352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fidelity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operational lists and worklists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Paginated Reports absorb statutory and bursted layouts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to medium — analytic canvas, exportable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Crystal-grade pixel fidelity that Paginated genuinely cannot reach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3035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&amp; 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Near-real-time from Chronicles via Reporting Workbench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Hourly or daily refresh is acceptable to the consumer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Streaming-to-batch on Delta with incremental refresh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Overnight batch only, with no latency pressure at all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&amp; RLS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1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Epic security classes inherit automatically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Entra-driven RLS enforced on the semantic model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Catalog row filters, column masks, lineage and full audit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Undocumented universe security nobody owns — a liability, not a justification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4048" y="5394960"/>
            <a:ext cx="11420856" cy="786384"/>
          </a:xfrm>
          <a:prstGeom prst="rect">
            <a:avLst/>
          </a:prstGeom>
          <a:solidFill>
            <a:srgbClr val="ADDAFB"/>
          </a:solidFill>
          <a:ln w="6350">
            <a:solidFill>
              <a:srgbClr val="ADDA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5394960"/>
            <a:ext cx="11420856" cy="786384"/>
          </a:xfrm>
          <a:prstGeom prst="rect">
            <a:avLst/>
          </a:prstGeom>
          <a:noFill/>
          <a:ln/>
        </p:spPr>
        <p:txBody>
          <a:bodyPr wrap="square" lIns="508" tIns="1778" rIns="1778" bIns="508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8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heuristic for an Epic-based BOBJ estate</a:t>
            </a:r>
            <a:endParaRPr lang="en-US" sz="9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30–45% retire or consolidate   ·   15–25% CogitoSQL   ·   20–30% Power BI including paginated   ·   10–20% Databricks AI/BI   ·   under 10% time-boxed retain</a:t>
            </a:r>
            <a:endParaRPr 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retain bucket lands above 10% after scoring, the exception criteria are too soft — tighten the rebuild-hours ceiling, or accept L2 rather than L3 equivalence for low-criticality reports. The Oracle decommission date is the hard ceiling on the whole bucket.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4048" y="6272784"/>
            <a:ext cx="11420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sum to 100 and are tuned to a BOBJ-reduction objective; re-weight Data Gravity upward if the Oracle exit date compresses, or Rebuild Feasibility upward if analyst capacity rather than runway is the binding constraint.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Disposition Rubric</dc:title>
  <dc:subject>PptxGenJS Presentation</dc:subject>
  <dc:creator>Amit</dc:creator>
  <cp:lastModifiedBy>Amit</cp:lastModifiedBy>
  <cp:revision>1</cp:revision>
  <dcterms:created xsi:type="dcterms:W3CDTF">2026-08-02T14:20:38Z</dcterms:created>
  <dcterms:modified xsi:type="dcterms:W3CDTF">2026-08-02T14:20:38Z</dcterms:modified>
</cp:coreProperties>
</file>