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walk this slide:
Left — the six evidence sources we collect per report. Nothing in the middle column can be applied without them; input 1 (usage) and input 4 (code repository) do most of the work.
Middle — six principles applied in order. The first one a report matches decides its disposition, so most of the estate never reaches scoring. Expect 30-45% to exit at principles 1 and 2.
Principle 5 is the pivot for this client: the Epic custom schema is a data decision wearing a report-disposition costume. Decide per custom object whether it is redundant with Caboodle, genuinely bespoke and headed for Delta, or orphaned. The report follows the data.
Principle 6 is the scorecard, condensed. Four weighted groups totalling 100 points; a 60% concentration in one platform column is a clean call.
Right — five dispositions. Retain in BOBJ is drawn as an exception on purpose: four criteria must all hold and a sunset date is mandatory. If the retain bucket exceeds ~10% of the estate, the criteria are too soft.
Forcing function: the Oracle decommission date caps the retain bucket. If a universe dies with Oracle, retention is not an available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detail behind principle 6 on the rubric slide. Use it when a stakeholder challenges a specific disposition — walk the dimension, not the conclusion.
The retain column is deliberately framed as a diagnostic: every cell describes a condition to remediate rather than a platform virtue. Undocumented universe security in particular is a compliance liability the client already carries, and migration is the opportunity to close it.
Re-weighting guidance: Data Gravity up if the Oracle exit compresses; Rebuild Feasibility up if analyst capacity is the binding constraint rather than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execution layer under the rubric — the rubric picks the lane, this slide is what the delivery team does in it.
Three points to land:
1) The paths are genuinely different. A Cogito rebuild and a Databricks replatform share almost no activities, which is why a single generic migration plan fails on this programme.
2) Step 5 is the same idea everywhere — prove equivalence before release — but the evidence differs: clinician UAT in Hyperspace for Cogito, layout fidelity and burst tests for Paginated, a known-answer question set for Genie.
3) Step 6 is the one that actually reduces BOBJ. Programmes routinely report 'migrated' at step 5 and leave the original running in parallel for a year. Track step 6.
Retire path watch-out: step 5 (disable, do not delete) exists because reversal requests almost always arrive within the first two months. A 60-90 day quarantine costs nothing and avoids a rebuild.
Retain path watch-out: step 4 is the kill switch. If the universe cannot be re-pointed off Oracle, the exception is void and the report is forced back into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change from the previous version: the database-object work no longer sits in its own lane. It now sits inside the platform it feeds, because the data target follows the report target.
Power BI reports are served from MS SQL Server, so their Oracle objects convert to SQL Server: tables, views, indexed views and T-SQL stored procedures.
Databricks AI/BI reports are served from the lakehouse, so their objects convert to Delta and Unity Catalog.
CogitoSQL has no data track at all — it reads Clarity and Caboodle, which Epic maintains. If a Cogito candidate turns out to need custom-schema data, it is not a Cogito candidate; step 1 routes it to the Databricks lane.
Sequencing rule inside each pair: the data track must clear a step before the report track clears the same step. Reconcile the data before reconciling the report, or you will chase report variances that are really data variances.
Effort concentration: tables and views convert close to mechanically on both targets. Materialized views, PL/SQL stored procedures and packages are where the schedule risk sits, because neither target has a like-for-like construct — each one is a design decision, not a conversion. Size that population before committing to a wave plan.
Consequence worth raising with the client: an object read by both a Power BI report and a Databricks report gets built twice, on two platforms. Either accept the duplication or decide a single system of record per object before phase 2 dispositions are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view. Mobilisation and disposition are assumed complete — this slide starts from the disposition register.
Headline: the four platform paths are independent of each other and run concurrently. What limits throughput is delivery capacity per platform, not sequence between platforms. Size waves by the scarcest skill, which on this programme is usually the PL/SQL-to-target conversion capability, not report developers.
The two shaded tracks are the database migrations. They exist only for Power BI and Databricks; CogitoSQL reads Clarity and Caboodle, which Epic maintains.
The dotted gate is the one hard dependency on the slide: a report cannot clear step E (validate) until its database track has cleared step E. Break that rule and the team spends the programme chasing report variances that are really data variances.
Effort concentration inside steps 2C and 4C: tables and views convert close to mechanically. Materialized views, PL/SQL stored procedures and packages have no like-for-like construct on either target, so each is a design decision. Size that population before committing to a wave plan.
Duplication to decide early: an object read by both a Power BI report and a Databricks report is built twice, on two targets. Either accept it or nominate a single system of record per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accelerator content as the coverage slide, redrawn as the agent flow the client already recognises.
Deliberately scoped to Assess, Design, Build and Validate. Secure and Cut over are shown greyed on the lifecycle strip rather than omitted, because dropping them silently would misrepresent the coverage audit — each had zero of six activities automated.
Two accelerators are new to this programme and marked with a star: the Platform Fit Scorer, which applies the disposition rubric, and the AI/BI Dashboard Generator, which serves Databricks. The Schema Mapper is also new and closes the Design step.
Point to make at box 2: the Schema Mapper is where the schedule risk is sized. Tables and views convert close to mechanically; materialized views, PL/SQL procedures and packages have no like-for-like construct on either target, so each is a design decision.
Watch-out for the room: this slide shows agents doing work, but every conversion still lands in a human review gate. Nothing here approves its own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from the Teradata-to-Snowflake original. Two things changed beyond the platform names.
First, the near-real-time streaming band is gone — there is no Kafka path here — and its place is taken by report validation across the four dispositions, which is the part the original had no coverage for.
Second, the generic check list (DDL, count, KPI, GL balance) has been replaced with the hazards that actually bite on an Oracle 19c source:
 - Collation. Oracle compares case-sensitively; SQL Server does not by default. Joins and filters silently return different rows and no count check catches it.
 - Timezone. Oracle DATE has no zone; Databricks TIMESTAMP normalises to UTC. Day-grain aggregates shift.
 - NULL ordering. Oracle sorts NULLS LAST by default; both targets differ, which changes every TOP-N and ranked result.
 - NUMBER(p,s) precision. Rounding drift shows up in sums, not in row counts.
GL balancing was a finance control from the source engagement. The healthcare equivalent is domain control totals — encounter counts, charge amounts, member months balanced across a subject area.
Sequencing rule worth stating out loud: a report is not released until its data track has cleared the suite. Validate the data before the report, or the team spends the programme chasing report variances that are really data variances.
The slide-2 matrix from the source deck (unit test, SIT, UAT, parallel run by component) is not rebuilt here — offer it if the client wants the phase view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change from the source POD slide: those PODs were aligned to applications (EDWARD, DX Data, DX APIT). Here they are aligned to target platform, because the skill sets do not overlap — an Epic-certified Cogito analyst, a T-SQL developer, a Spark engineer, a Power BI modeller and a BOBJ universe designer are five different people. An application POD would need all five.
Colour carries meaning in the POD row: the teal pair is the MS SQL and Power BI stack, the mid-blue pair is Delta and Databricks AI/BI. The data POD feeds the report POD in the same colour, which is where the step-E dependency from the migration slide lands organisationally.
Each POD is labelled with the activity codes it owns from the migration approach slide, so the POD chart and the runbook reconcile.
Two constraints to raise before committing a wave plan:
 - Epic-certified Cogito analysts are usually client-side and scarce. If they are not secured, the Cogito lane stalls regardless of how the rest is resourced.
 - The binding constraint on the data PODs is PL/SQL-to-target conversion capability, not headcount of report developers.
The AI Foundation POD is retained from the source structure and re-scoped to this programme's accelerators. Note the governance line: it builds and evaluates agents but holds no approval authority over any asset.
POD count is deliberately given as a range. Committing to a number before the disposition register exists is the most common way these programmes are mis-sized.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01168"/>
            <a:ext cx="10058400" cy="36576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Guiding Framework for Platform Disposition</a:t>
            </a:r>
            <a:endParaRPr lang="en-US" sz="2400" dirty="0"/>
          </a:p>
        </p:txBody>
      </p:sp>
      <p:sp>
        <p:nvSpPr>
          <p:cNvPr id="3" name="Text 1"/>
          <p:cNvSpPr/>
          <p:nvPr/>
        </p:nvSpPr>
        <p:spPr>
          <a:xfrm>
            <a:off x="384048" y="566928"/>
            <a:ext cx="11420856" cy="25603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Six principles, applied in order, decide the next best action for every BOBJ report. The first principle a report matches sets its disposition; only what survives all six is scored.</a:t>
            </a:r>
            <a:endParaRPr lang="en-US" sz="1050" dirty="0"/>
          </a:p>
        </p:txBody>
      </p:sp>
      <p:sp>
        <p:nvSpPr>
          <p:cNvPr id="4" name="Shape 2"/>
          <p:cNvSpPr/>
          <p:nvPr/>
        </p:nvSpPr>
        <p:spPr>
          <a:xfrm>
            <a:off x="384048" y="969264"/>
            <a:ext cx="2542032" cy="292608"/>
          </a:xfrm>
          <a:prstGeom prst="homePlate">
            <a:avLst/>
          </a:prstGeom>
          <a:solidFill>
            <a:srgbClr val="081F5C"/>
          </a:solidFill>
          <a:ln w="6350">
            <a:solidFill>
              <a:srgbClr val="081F5C"/>
            </a:solidFill>
            <a:prstDash val="solid"/>
          </a:ln>
        </p:spPr>
      </p:sp>
      <p:sp>
        <p:nvSpPr>
          <p:cNvPr id="5" name="Text 3"/>
          <p:cNvSpPr/>
          <p:nvPr/>
        </p:nvSpPr>
        <p:spPr>
          <a:xfrm>
            <a:off x="384048" y="969264"/>
            <a:ext cx="2313432" cy="292608"/>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Arial" pitchFamily="34" charset="0"/>
                <a:ea typeface="Arial" pitchFamily="34" charset="-122"/>
                <a:cs typeface="Arial" pitchFamily="34" charset="-120"/>
              </a:rPr>
              <a:t>INPUTS</a:t>
            </a:r>
            <a:endParaRPr lang="en-US" sz="1000" dirty="0"/>
          </a:p>
        </p:txBody>
      </p:sp>
      <p:sp>
        <p:nvSpPr>
          <p:cNvPr id="6" name="Shape 4"/>
          <p:cNvSpPr/>
          <p:nvPr/>
        </p:nvSpPr>
        <p:spPr>
          <a:xfrm>
            <a:off x="2834640" y="969264"/>
            <a:ext cx="5852160" cy="292608"/>
          </a:xfrm>
          <a:prstGeom prst="chevron">
            <a:avLst/>
          </a:prstGeom>
          <a:solidFill>
            <a:srgbClr val="081F5C"/>
          </a:solidFill>
          <a:ln w="6350">
            <a:solidFill>
              <a:srgbClr val="081F5C"/>
            </a:solidFill>
            <a:prstDash val="solid"/>
          </a:ln>
        </p:spPr>
      </p:sp>
      <p:sp>
        <p:nvSpPr>
          <p:cNvPr id="7" name="Text 5"/>
          <p:cNvSpPr/>
          <p:nvPr/>
        </p:nvSpPr>
        <p:spPr>
          <a:xfrm>
            <a:off x="3017520" y="969264"/>
            <a:ext cx="5532120" cy="292608"/>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Arial" pitchFamily="34" charset="0"/>
                <a:ea typeface="Arial" pitchFamily="34" charset="-122"/>
                <a:cs typeface="Arial" pitchFamily="34" charset="-120"/>
              </a:rPr>
              <a:t>CONSIDERATIONS USED  —  GUIDING PRINCIPLES, APPLIED IN ORDER</a:t>
            </a:r>
            <a:endParaRPr lang="en-US" sz="1000" dirty="0"/>
          </a:p>
        </p:txBody>
      </p:sp>
      <p:sp>
        <p:nvSpPr>
          <p:cNvPr id="8" name="Shape 6"/>
          <p:cNvSpPr/>
          <p:nvPr/>
        </p:nvSpPr>
        <p:spPr>
          <a:xfrm>
            <a:off x="8503920" y="969264"/>
            <a:ext cx="3300984" cy="292608"/>
          </a:xfrm>
          <a:prstGeom prst="chevron">
            <a:avLst/>
          </a:prstGeom>
          <a:solidFill>
            <a:srgbClr val="081F5C"/>
          </a:solidFill>
          <a:ln w="6350">
            <a:solidFill>
              <a:srgbClr val="081F5C"/>
            </a:solidFill>
            <a:prstDash val="solid"/>
          </a:ln>
        </p:spPr>
      </p:sp>
      <p:sp>
        <p:nvSpPr>
          <p:cNvPr id="9" name="Text 7"/>
          <p:cNvSpPr/>
          <p:nvPr/>
        </p:nvSpPr>
        <p:spPr>
          <a:xfrm>
            <a:off x="8732520" y="969264"/>
            <a:ext cx="2971800" cy="292608"/>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Arial" pitchFamily="34" charset="0"/>
                <a:ea typeface="Arial" pitchFamily="34" charset="-122"/>
                <a:cs typeface="Arial" pitchFamily="34" charset="-120"/>
              </a:rPr>
              <a:t>DISPOSITION</a:t>
            </a:r>
            <a:endParaRPr lang="en-US" sz="1000" dirty="0"/>
          </a:p>
        </p:txBody>
      </p:sp>
      <p:sp>
        <p:nvSpPr>
          <p:cNvPr id="10" name="Shape 8"/>
          <p:cNvSpPr/>
          <p:nvPr/>
        </p:nvSpPr>
        <p:spPr>
          <a:xfrm>
            <a:off x="384048" y="1581912"/>
            <a:ext cx="274320" cy="274320"/>
          </a:xfrm>
          <a:prstGeom prst="rect">
            <a:avLst/>
          </a:prstGeom>
          <a:solidFill>
            <a:srgbClr val="081F5C"/>
          </a:solidFill>
          <a:ln w="6350">
            <a:solidFill>
              <a:srgbClr val="081F5C"/>
            </a:solidFill>
            <a:prstDash val="solid"/>
          </a:ln>
        </p:spPr>
      </p:sp>
      <p:sp>
        <p:nvSpPr>
          <p:cNvPr id="11" name="Text 9"/>
          <p:cNvSpPr/>
          <p:nvPr/>
        </p:nvSpPr>
        <p:spPr>
          <a:xfrm>
            <a:off x="384048" y="1581912"/>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a:t>
            </a:r>
            <a:endParaRPr lang="en-US" sz="950" dirty="0"/>
          </a:p>
        </p:txBody>
      </p:sp>
      <p:sp>
        <p:nvSpPr>
          <p:cNvPr id="12" name="Shape 10"/>
          <p:cNvSpPr/>
          <p:nvPr/>
        </p:nvSpPr>
        <p:spPr>
          <a:xfrm>
            <a:off x="694944" y="1417320"/>
            <a:ext cx="1901952" cy="603504"/>
          </a:xfrm>
          <a:prstGeom prst="rect">
            <a:avLst/>
          </a:prstGeom>
          <a:solidFill>
            <a:srgbClr val="F2F2F2"/>
          </a:solidFill>
          <a:ln w="6350">
            <a:solidFill>
              <a:srgbClr val="E2E2E2"/>
            </a:solidFill>
            <a:prstDash val="solid"/>
          </a:ln>
        </p:spPr>
      </p:sp>
      <p:sp>
        <p:nvSpPr>
          <p:cNvPr id="13" name="Text 11"/>
          <p:cNvSpPr/>
          <p:nvPr/>
        </p:nvSpPr>
        <p:spPr>
          <a:xfrm>
            <a:off x="694944" y="1417320"/>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BOBJ metadata &amp; audit trail</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Run counts, last-run dates, schedules and publication lists over 18 months</a:t>
            </a:r>
            <a:endParaRPr lang="en-US" sz="780" dirty="0"/>
          </a:p>
        </p:txBody>
      </p:sp>
      <p:sp>
        <p:nvSpPr>
          <p:cNvPr id="14" name="Shape 12"/>
          <p:cNvSpPr/>
          <p:nvPr/>
        </p:nvSpPr>
        <p:spPr>
          <a:xfrm>
            <a:off x="384048" y="2318004"/>
            <a:ext cx="274320" cy="274320"/>
          </a:xfrm>
          <a:prstGeom prst="rect">
            <a:avLst/>
          </a:prstGeom>
          <a:solidFill>
            <a:srgbClr val="081F5C"/>
          </a:solidFill>
          <a:ln w="6350">
            <a:solidFill>
              <a:srgbClr val="081F5C"/>
            </a:solidFill>
            <a:prstDash val="solid"/>
          </a:ln>
        </p:spPr>
      </p:sp>
      <p:sp>
        <p:nvSpPr>
          <p:cNvPr id="15" name="Text 13"/>
          <p:cNvSpPr/>
          <p:nvPr/>
        </p:nvSpPr>
        <p:spPr>
          <a:xfrm>
            <a:off x="384048" y="231800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a:t>
            </a:r>
            <a:endParaRPr lang="en-US" sz="950" dirty="0"/>
          </a:p>
        </p:txBody>
      </p:sp>
      <p:sp>
        <p:nvSpPr>
          <p:cNvPr id="16" name="Shape 14"/>
          <p:cNvSpPr/>
          <p:nvPr/>
        </p:nvSpPr>
        <p:spPr>
          <a:xfrm>
            <a:off x="694944" y="2153412"/>
            <a:ext cx="1901952" cy="603504"/>
          </a:xfrm>
          <a:prstGeom prst="rect">
            <a:avLst/>
          </a:prstGeom>
          <a:solidFill>
            <a:srgbClr val="F2F2F2"/>
          </a:solidFill>
          <a:ln w="6350">
            <a:solidFill>
              <a:srgbClr val="E2E2E2"/>
            </a:solidFill>
            <a:prstDash val="solid"/>
          </a:ln>
        </p:spPr>
      </p:sp>
      <p:sp>
        <p:nvSpPr>
          <p:cNvPr id="17" name="Text 15"/>
          <p:cNvSpPr/>
          <p:nvPr/>
        </p:nvSpPr>
        <p:spPr>
          <a:xfrm>
            <a:off x="694944" y="2153412"/>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Report profile</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Source data, visualisation, interaction mode, audience and latency</a:t>
            </a:r>
            <a:endParaRPr lang="en-US" sz="780" dirty="0"/>
          </a:p>
        </p:txBody>
      </p:sp>
      <p:sp>
        <p:nvSpPr>
          <p:cNvPr id="18" name="Shape 16"/>
          <p:cNvSpPr/>
          <p:nvPr/>
        </p:nvSpPr>
        <p:spPr>
          <a:xfrm>
            <a:off x="384048" y="3054096"/>
            <a:ext cx="274320" cy="274320"/>
          </a:xfrm>
          <a:prstGeom prst="rect">
            <a:avLst/>
          </a:prstGeom>
          <a:solidFill>
            <a:srgbClr val="081F5C"/>
          </a:solidFill>
          <a:ln w="6350">
            <a:solidFill>
              <a:srgbClr val="081F5C"/>
            </a:solidFill>
            <a:prstDash val="solid"/>
          </a:ln>
        </p:spPr>
      </p:sp>
      <p:sp>
        <p:nvSpPr>
          <p:cNvPr id="19" name="Text 17"/>
          <p:cNvSpPr/>
          <p:nvPr/>
        </p:nvSpPr>
        <p:spPr>
          <a:xfrm>
            <a:off x="384048" y="3054096"/>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a:t>
            </a:r>
            <a:endParaRPr lang="en-US" sz="950" dirty="0"/>
          </a:p>
        </p:txBody>
      </p:sp>
      <p:sp>
        <p:nvSpPr>
          <p:cNvPr id="20" name="Shape 18"/>
          <p:cNvSpPr/>
          <p:nvPr/>
        </p:nvSpPr>
        <p:spPr>
          <a:xfrm>
            <a:off x="694944" y="2889504"/>
            <a:ext cx="1901952" cy="603504"/>
          </a:xfrm>
          <a:prstGeom prst="rect">
            <a:avLst/>
          </a:prstGeom>
          <a:solidFill>
            <a:srgbClr val="F2F2F2"/>
          </a:solidFill>
          <a:ln w="6350">
            <a:solidFill>
              <a:srgbClr val="E2E2E2"/>
            </a:solidFill>
            <a:prstDash val="solid"/>
          </a:ln>
        </p:spPr>
      </p:sp>
      <p:sp>
        <p:nvSpPr>
          <p:cNvPr id="21" name="Text 19"/>
          <p:cNvSpPr/>
          <p:nvPr/>
        </p:nvSpPr>
        <p:spPr>
          <a:xfrm>
            <a:off x="694944" y="2889504"/>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Semantic complexity</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Query complexity from join count, universe contexts, metrics and aggregate awareness</a:t>
            </a:r>
            <a:endParaRPr lang="en-US" sz="780" dirty="0"/>
          </a:p>
        </p:txBody>
      </p:sp>
      <p:sp>
        <p:nvSpPr>
          <p:cNvPr id="22" name="Shape 20"/>
          <p:cNvSpPr/>
          <p:nvPr/>
        </p:nvSpPr>
        <p:spPr>
          <a:xfrm>
            <a:off x="384048" y="3790188"/>
            <a:ext cx="274320" cy="274320"/>
          </a:xfrm>
          <a:prstGeom prst="rect">
            <a:avLst/>
          </a:prstGeom>
          <a:solidFill>
            <a:srgbClr val="081F5C"/>
          </a:solidFill>
          <a:ln w="6350">
            <a:solidFill>
              <a:srgbClr val="081F5C"/>
            </a:solidFill>
            <a:prstDash val="solid"/>
          </a:ln>
        </p:spPr>
      </p:sp>
      <p:sp>
        <p:nvSpPr>
          <p:cNvPr id="23" name="Text 21"/>
          <p:cNvSpPr/>
          <p:nvPr/>
        </p:nvSpPr>
        <p:spPr>
          <a:xfrm>
            <a:off x="384048" y="379018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4</a:t>
            </a:r>
            <a:endParaRPr lang="en-US" sz="950" dirty="0"/>
          </a:p>
        </p:txBody>
      </p:sp>
      <p:sp>
        <p:nvSpPr>
          <p:cNvPr id="24" name="Shape 22"/>
          <p:cNvSpPr/>
          <p:nvPr/>
        </p:nvSpPr>
        <p:spPr>
          <a:xfrm>
            <a:off x="694944" y="3625596"/>
            <a:ext cx="1901952" cy="603504"/>
          </a:xfrm>
          <a:prstGeom prst="rect">
            <a:avLst/>
          </a:prstGeom>
          <a:solidFill>
            <a:srgbClr val="F2F2F2"/>
          </a:solidFill>
          <a:ln w="6350">
            <a:solidFill>
              <a:srgbClr val="E2E2E2"/>
            </a:solidFill>
            <a:prstDash val="solid"/>
          </a:ln>
        </p:spPr>
      </p:sp>
      <p:sp>
        <p:nvSpPr>
          <p:cNvPr id="25" name="Text 23"/>
          <p:cNvSpPr/>
          <p:nvPr/>
        </p:nvSpPr>
        <p:spPr>
          <a:xfrm>
            <a:off x="694944" y="3625596"/>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Code repository</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Table and view DDLs, stored procedures and packages, including Epic custom-schema objects</a:t>
            </a:r>
            <a:endParaRPr lang="en-US" sz="780" dirty="0"/>
          </a:p>
        </p:txBody>
      </p:sp>
      <p:sp>
        <p:nvSpPr>
          <p:cNvPr id="26" name="Shape 24"/>
          <p:cNvSpPr/>
          <p:nvPr/>
        </p:nvSpPr>
        <p:spPr>
          <a:xfrm>
            <a:off x="384048" y="4526280"/>
            <a:ext cx="274320" cy="274320"/>
          </a:xfrm>
          <a:prstGeom prst="rect">
            <a:avLst/>
          </a:prstGeom>
          <a:solidFill>
            <a:srgbClr val="081F5C"/>
          </a:solidFill>
          <a:ln w="6350">
            <a:solidFill>
              <a:srgbClr val="081F5C"/>
            </a:solidFill>
            <a:prstDash val="solid"/>
          </a:ln>
        </p:spPr>
      </p:sp>
      <p:sp>
        <p:nvSpPr>
          <p:cNvPr id="27" name="Text 25"/>
          <p:cNvSpPr/>
          <p:nvPr/>
        </p:nvSpPr>
        <p:spPr>
          <a:xfrm>
            <a:off x="384048" y="4526280"/>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5</a:t>
            </a:r>
            <a:endParaRPr lang="en-US" sz="950" dirty="0"/>
          </a:p>
        </p:txBody>
      </p:sp>
      <p:sp>
        <p:nvSpPr>
          <p:cNvPr id="28" name="Shape 26"/>
          <p:cNvSpPr/>
          <p:nvPr/>
        </p:nvSpPr>
        <p:spPr>
          <a:xfrm>
            <a:off x="694944" y="4361688"/>
            <a:ext cx="1901952" cy="603504"/>
          </a:xfrm>
          <a:prstGeom prst="rect">
            <a:avLst/>
          </a:prstGeom>
          <a:solidFill>
            <a:srgbClr val="F2F2F2"/>
          </a:solidFill>
          <a:ln w="6350">
            <a:solidFill>
              <a:srgbClr val="E2E2E2"/>
            </a:solidFill>
            <a:prstDash val="solid"/>
          </a:ln>
        </p:spPr>
      </p:sp>
      <p:sp>
        <p:nvSpPr>
          <p:cNvPr id="29" name="Text 27"/>
          <p:cNvSpPr/>
          <p:nvPr/>
        </p:nvSpPr>
        <p:spPr>
          <a:xfrm>
            <a:off x="694944" y="4361688"/>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Architecture &amp; data flow</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Current Oracle lineage and the target Cogito, SQL Server and Databricks mapping</a:t>
            </a:r>
            <a:endParaRPr lang="en-US" sz="780" dirty="0"/>
          </a:p>
        </p:txBody>
      </p:sp>
      <p:sp>
        <p:nvSpPr>
          <p:cNvPr id="30" name="Shape 28"/>
          <p:cNvSpPr/>
          <p:nvPr/>
        </p:nvSpPr>
        <p:spPr>
          <a:xfrm>
            <a:off x="384048" y="5262372"/>
            <a:ext cx="274320" cy="274320"/>
          </a:xfrm>
          <a:prstGeom prst="rect">
            <a:avLst/>
          </a:prstGeom>
          <a:solidFill>
            <a:srgbClr val="081F5C"/>
          </a:solidFill>
          <a:ln w="6350">
            <a:solidFill>
              <a:srgbClr val="081F5C"/>
            </a:solidFill>
            <a:prstDash val="solid"/>
          </a:ln>
        </p:spPr>
      </p:sp>
      <p:sp>
        <p:nvSpPr>
          <p:cNvPr id="31" name="Text 29"/>
          <p:cNvSpPr/>
          <p:nvPr/>
        </p:nvSpPr>
        <p:spPr>
          <a:xfrm>
            <a:off x="384048" y="5262372"/>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6</a:t>
            </a:r>
            <a:endParaRPr lang="en-US" sz="950" dirty="0"/>
          </a:p>
        </p:txBody>
      </p:sp>
      <p:sp>
        <p:nvSpPr>
          <p:cNvPr id="32" name="Shape 30"/>
          <p:cNvSpPr/>
          <p:nvPr/>
        </p:nvSpPr>
        <p:spPr>
          <a:xfrm>
            <a:off x="694944" y="5097780"/>
            <a:ext cx="1901952" cy="603504"/>
          </a:xfrm>
          <a:prstGeom prst="rect">
            <a:avLst/>
          </a:prstGeom>
          <a:solidFill>
            <a:srgbClr val="F2F2F2"/>
          </a:solidFill>
          <a:ln w="6350">
            <a:solidFill>
              <a:srgbClr val="E2E2E2"/>
            </a:solidFill>
            <a:prstDash val="solid"/>
          </a:ln>
        </p:spPr>
      </p:sp>
      <p:sp>
        <p:nvSpPr>
          <p:cNvPr id="33" name="Text 31"/>
          <p:cNvSpPr/>
          <p:nvPr/>
        </p:nvSpPr>
        <p:spPr>
          <a:xfrm>
            <a:off x="694944" y="5097780"/>
            <a:ext cx="1901952" cy="603504"/>
          </a:xfrm>
          <a:prstGeom prst="rect">
            <a:avLst/>
          </a:prstGeom>
          <a:noFill/>
          <a:ln/>
        </p:spPr>
        <p:txBody>
          <a:bodyPr wrap="square" lIns="381" tIns="1016" rIns="1016" bIns="381" rtlCol="0" anchor="ctr"/>
          <a:lstStyle/>
          <a:p>
            <a:pPr indent="0" marL="0">
              <a:lnSpc>
                <a:spcPct val="94000"/>
              </a:lnSpc>
              <a:buNone/>
            </a:pPr>
            <a:r>
              <a:rPr lang="en-US" sz="780" b="1" dirty="0">
                <a:solidFill>
                  <a:srgbClr val="081F5C"/>
                </a:solidFill>
                <a:latin typeface="Arial" pitchFamily="34" charset="0"/>
                <a:ea typeface="Arial" pitchFamily="34" charset="-122"/>
                <a:cs typeface="Arial" pitchFamily="34" charset="-120"/>
              </a:rPr>
              <a:t>Asset owners &amp; support teams</a:t>
            </a:r>
            <a:endParaRPr lang="en-US" sz="780" dirty="0"/>
          </a:p>
          <a:p>
            <a:pPr indent="0" marL="0">
              <a:lnSpc>
                <a:spcPct val="94000"/>
              </a:lnSpc>
              <a:buNone/>
            </a:pPr>
            <a:r>
              <a:rPr lang="en-US" sz="710" dirty="0">
                <a:solidFill>
                  <a:srgbClr val="1A1A1A"/>
                </a:solidFill>
                <a:latin typeface="Arial" pitchFamily="34" charset="0"/>
                <a:ea typeface="Arial" pitchFamily="34" charset="-122"/>
                <a:cs typeface="Arial" pitchFamily="34" charset="-120"/>
              </a:rPr>
              <a:t>Business criticality, regulatory drivers, known defects and rebuild appetite</a:t>
            </a:r>
            <a:endParaRPr lang="en-US" sz="780" dirty="0"/>
          </a:p>
        </p:txBody>
      </p:sp>
      <p:sp>
        <p:nvSpPr>
          <p:cNvPr id="34" name="Shape 32"/>
          <p:cNvSpPr/>
          <p:nvPr/>
        </p:nvSpPr>
        <p:spPr>
          <a:xfrm>
            <a:off x="2670048" y="3310128"/>
            <a:ext cx="256032" cy="640080"/>
          </a:xfrm>
          <a:prstGeom prst="chevron">
            <a:avLst/>
          </a:prstGeom>
          <a:solidFill>
            <a:srgbClr val="EEEEEE"/>
          </a:solidFill>
          <a:ln w="6350">
            <a:solidFill>
              <a:srgbClr val="EEEEEE"/>
            </a:solidFill>
            <a:prstDash val="solid"/>
          </a:ln>
        </p:spPr>
      </p:sp>
      <p:sp>
        <p:nvSpPr>
          <p:cNvPr id="35" name="Shape 33"/>
          <p:cNvSpPr/>
          <p:nvPr/>
        </p:nvSpPr>
        <p:spPr>
          <a:xfrm>
            <a:off x="8558784" y="3310128"/>
            <a:ext cx="256032" cy="640080"/>
          </a:xfrm>
          <a:prstGeom prst="chevron">
            <a:avLst/>
          </a:prstGeom>
          <a:solidFill>
            <a:srgbClr val="EEEEEE"/>
          </a:solidFill>
          <a:ln w="6350">
            <a:solidFill>
              <a:srgbClr val="EEEEEE"/>
            </a:solidFill>
            <a:prstDash val="solid"/>
          </a:ln>
        </p:spPr>
      </p:sp>
      <p:sp>
        <p:nvSpPr>
          <p:cNvPr id="36" name="Shape 34"/>
          <p:cNvSpPr/>
          <p:nvPr/>
        </p:nvSpPr>
        <p:spPr>
          <a:xfrm>
            <a:off x="3035808" y="1344168"/>
            <a:ext cx="5468112" cy="4507992"/>
          </a:xfrm>
          <a:prstGeom prst="rect">
            <a:avLst/>
          </a:prstGeom>
          <a:solidFill>
            <a:srgbClr val="FFFFFF"/>
          </a:solidFill>
          <a:ln w="12700">
            <a:solidFill>
              <a:srgbClr val="495D20"/>
            </a:solidFill>
            <a:prstDash val="dash"/>
          </a:ln>
        </p:spPr>
      </p:sp>
      <p:sp>
        <p:nvSpPr>
          <p:cNvPr id="37" name="Shape 35"/>
          <p:cNvSpPr/>
          <p:nvPr/>
        </p:nvSpPr>
        <p:spPr>
          <a:xfrm>
            <a:off x="3154680" y="1463040"/>
            <a:ext cx="2542032" cy="905256"/>
          </a:xfrm>
          <a:prstGeom prst="rect">
            <a:avLst/>
          </a:prstGeom>
          <a:solidFill>
            <a:srgbClr val="ADDAFB"/>
          </a:solidFill>
          <a:ln w="6350">
            <a:solidFill>
              <a:srgbClr val="ADDAFB"/>
            </a:solidFill>
            <a:prstDash val="solid"/>
          </a:ln>
        </p:spPr>
      </p:sp>
      <p:sp>
        <p:nvSpPr>
          <p:cNvPr id="38" name="Text 36"/>
          <p:cNvSpPr/>
          <p:nvPr/>
        </p:nvSpPr>
        <p:spPr>
          <a:xfrm>
            <a:off x="3154680" y="1463040"/>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1.  Prove it is still used</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Read 18 months of run history from the BOBJ audit trail. Check for a legal hold or a regulatory driver. Retire the report when nobody runs it and nothing requires it.</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Retire</a:t>
            </a:r>
            <a:endParaRPr lang="en-US" sz="850" dirty="0"/>
          </a:p>
        </p:txBody>
      </p:sp>
      <p:sp>
        <p:nvSpPr>
          <p:cNvPr id="39" name="Shape 37"/>
          <p:cNvSpPr/>
          <p:nvPr/>
        </p:nvSpPr>
        <p:spPr>
          <a:xfrm>
            <a:off x="5843016" y="1463040"/>
            <a:ext cx="2542032" cy="905256"/>
          </a:xfrm>
          <a:prstGeom prst="rect">
            <a:avLst/>
          </a:prstGeom>
          <a:solidFill>
            <a:srgbClr val="ADDAFB"/>
          </a:solidFill>
          <a:ln w="6350">
            <a:solidFill>
              <a:srgbClr val="ADDAFB"/>
            </a:solidFill>
            <a:prstDash val="solid"/>
          </a:ln>
        </p:spPr>
      </p:sp>
      <p:sp>
        <p:nvSpPr>
          <p:cNvPr id="40" name="Text 38"/>
          <p:cNvSpPr/>
          <p:nvPr/>
        </p:nvSpPr>
        <p:spPr>
          <a:xfrm>
            <a:off x="5843016" y="1463040"/>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2.  Collapse the duplicates</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Compare Report DNA signatures across the estate. Name one survivor for each duplicate group. Redirect the other consumers to it and retire the copies.</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Consolidate</a:t>
            </a:r>
            <a:endParaRPr lang="en-US" sz="850" dirty="0"/>
          </a:p>
        </p:txBody>
      </p:sp>
      <p:sp>
        <p:nvSpPr>
          <p:cNvPr id="41" name="Shape 39"/>
          <p:cNvSpPr/>
          <p:nvPr/>
        </p:nvSpPr>
        <p:spPr>
          <a:xfrm>
            <a:off x="3154680" y="2487168"/>
            <a:ext cx="2542032" cy="905256"/>
          </a:xfrm>
          <a:prstGeom prst="rect">
            <a:avLst/>
          </a:prstGeom>
          <a:solidFill>
            <a:srgbClr val="ADDAFB"/>
          </a:solidFill>
          <a:ln w="6350">
            <a:solidFill>
              <a:srgbClr val="ADDAFB"/>
            </a:solidFill>
            <a:prstDash val="solid"/>
          </a:ln>
        </p:spPr>
      </p:sp>
      <p:sp>
        <p:nvSpPr>
          <p:cNvPr id="42" name="Text 40"/>
          <p:cNvSpPr/>
          <p:nvPr/>
        </p:nvSpPr>
        <p:spPr>
          <a:xfrm>
            <a:off x="3154680" y="2487168"/>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3.  Keep clinical work inside Epic</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Ask where the report is consumed and what data it reads. Send it to Cogito when it runs on Epic data and drives action inside the clinical workflow.</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CogitoSQL</a:t>
            </a:r>
            <a:endParaRPr lang="en-US" sz="850" dirty="0"/>
          </a:p>
        </p:txBody>
      </p:sp>
      <p:sp>
        <p:nvSpPr>
          <p:cNvPr id="43" name="Shape 41"/>
          <p:cNvSpPr/>
          <p:nvPr/>
        </p:nvSpPr>
        <p:spPr>
          <a:xfrm>
            <a:off x="5843016" y="2487168"/>
            <a:ext cx="2542032" cy="905256"/>
          </a:xfrm>
          <a:prstGeom prst="rect">
            <a:avLst/>
          </a:prstGeom>
          <a:solidFill>
            <a:srgbClr val="ADDAFB"/>
          </a:solidFill>
          <a:ln w="6350">
            <a:solidFill>
              <a:srgbClr val="ADDAFB"/>
            </a:solidFill>
            <a:prstDash val="solid"/>
          </a:ln>
        </p:spPr>
      </p:sp>
      <p:sp>
        <p:nvSpPr>
          <p:cNvPr id="44" name="Text 42"/>
          <p:cNvSpPr/>
          <p:nvPr/>
        </p:nvSpPr>
        <p:spPr>
          <a:xfrm>
            <a:off x="5843016" y="2487168"/>
            <a:ext cx="2542032" cy="905256"/>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4.  Honour the format obligations</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Flag statutory layouts, pixel-exact output and scheduled PDF bursts. Rebuild these as Paginated Reports, which reproduce the layout Crystal delivered.</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Power BI Paginated</a:t>
            </a:r>
            <a:endParaRPr lang="en-US" sz="850" dirty="0"/>
          </a:p>
        </p:txBody>
      </p:sp>
      <p:sp>
        <p:nvSpPr>
          <p:cNvPr id="45" name="Shape 43"/>
          <p:cNvSpPr/>
          <p:nvPr/>
        </p:nvSpPr>
        <p:spPr>
          <a:xfrm>
            <a:off x="3154680" y="3511296"/>
            <a:ext cx="5230368" cy="749808"/>
          </a:xfrm>
          <a:prstGeom prst="rect">
            <a:avLst/>
          </a:prstGeom>
          <a:solidFill>
            <a:srgbClr val="ADDAFB"/>
          </a:solidFill>
          <a:ln w="6350">
            <a:solidFill>
              <a:srgbClr val="ADDAFB"/>
            </a:solidFill>
            <a:prstDash val="solid"/>
          </a:ln>
        </p:spPr>
      </p:sp>
      <p:sp>
        <p:nvSpPr>
          <p:cNvPr id="46" name="Text 44"/>
          <p:cNvSpPr/>
          <p:nvPr/>
        </p:nvSpPr>
        <p:spPr>
          <a:xfrm>
            <a:off x="3154680" y="3511296"/>
            <a:ext cx="5230368" cy="749808"/>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5.  Settle the custom schema before the report</a:t>
            </a:r>
            <a:endParaRPr lang="en-US" sz="850" dirty="0"/>
          </a:p>
          <a:p>
            <a:pPr indent="0" marL="0">
              <a:lnSpc>
                <a:spcPct val="95000"/>
              </a:lnSpc>
              <a:spcAft>
                <a:spcPts val="400"/>
              </a:spcAft>
              <a:buNone/>
            </a:pPr>
            <a:r>
              <a:rPr lang="en-US" sz="750" dirty="0">
                <a:solidFill>
                  <a:srgbClr val="1A1A1A"/>
                </a:solidFill>
                <a:latin typeface="Arial" pitchFamily="34" charset="0"/>
                <a:ea typeface="Arial" pitchFamily="34" charset="-122"/>
                <a:cs typeface="Arial" pitchFamily="34" charset="-120"/>
              </a:rPr>
              <a:t>Trace every Epic custom object the report reads. Decide one of three outcomes for each: re-derive it from Clarity or Caboodle, re-home it to Delta, or retire it together with the reports that depend on it. Move the report only once its data has a home.</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Report disposition follows the data decision</a:t>
            </a:r>
            <a:endParaRPr lang="en-US" sz="850" dirty="0"/>
          </a:p>
        </p:txBody>
      </p:sp>
      <p:sp>
        <p:nvSpPr>
          <p:cNvPr id="47" name="Shape 45"/>
          <p:cNvSpPr/>
          <p:nvPr/>
        </p:nvSpPr>
        <p:spPr>
          <a:xfrm>
            <a:off x="3154680" y="4379976"/>
            <a:ext cx="5230368" cy="1353312"/>
          </a:xfrm>
          <a:prstGeom prst="rect">
            <a:avLst/>
          </a:prstGeom>
          <a:solidFill>
            <a:srgbClr val="ADDAFB"/>
          </a:solidFill>
          <a:ln w="6350">
            <a:solidFill>
              <a:srgbClr val="ADDAFB"/>
            </a:solidFill>
            <a:prstDash val="solid"/>
          </a:ln>
        </p:spPr>
      </p:sp>
      <p:sp>
        <p:nvSpPr>
          <p:cNvPr id="48" name="Text 46"/>
          <p:cNvSpPr/>
          <p:nvPr/>
        </p:nvSpPr>
        <p:spPr>
          <a:xfrm>
            <a:off x="3154680" y="4379976"/>
            <a:ext cx="5230368" cy="1353312"/>
          </a:xfrm>
          <a:prstGeom prst="rect">
            <a:avLst/>
          </a:prstGeom>
          <a:noFill/>
          <a:ln/>
        </p:spPr>
        <p:txBody>
          <a:bodyPr wrap="square" lIns="889" tIns="1270" rIns="1270" bIns="635" rtlCol="0" anchor="t"/>
          <a:lstStyle/>
          <a:p>
            <a:pPr indent="0" marL="0">
              <a:lnSpc>
                <a:spcPct val="95000"/>
              </a:lnSpc>
              <a:spcAft>
                <a:spcPts val="300"/>
              </a:spcAft>
              <a:buNone/>
            </a:pPr>
            <a:r>
              <a:rPr lang="en-US" sz="850" b="1" dirty="0">
                <a:solidFill>
                  <a:srgbClr val="081F5C"/>
                </a:solidFill>
                <a:latin typeface="Arial" pitchFamily="34" charset="0"/>
                <a:ea typeface="Arial" pitchFamily="34" charset="-122"/>
                <a:cs typeface="Arial" pitchFamily="34" charset="-120"/>
              </a:rPr>
              <a:t>6.  Score what survives  —  the platform fit scorecard</a:t>
            </a:r>
            <a:endParaRPr lang="en-US" sz="850" dirty="0"/>
          </a:p>
          <a:p>
            <a:pPr indent="0" marL="0">
              <a:lnSpc>
                <a:spcPct val="95000"/>
              </a:lnSpc>
              <a:spcAft>
                <a:spcPts val="400"/>
              </a:spcAft>
              <a:buNone/>
            </a:pPr>
            <a:r>
              <a:rPr lang="en-US" sz="740" dirty="0">
                <a:solidFill>
                  <a:srgbClr val="1A1A1A"/>
                </a:solidFill>
                <a:latin typeface="Arial" pitchFamily="34" charset="0"/>
                <a:ea typeface="Arial" pitchFamily="34" charset="-122"/>
                <a:cs typeface="Arial" pitchFamily="34" charset="-120"/>
              </a:rPr>
              <a:t>Score every remaining report on four weighted groups: Data Gravity 20 — where its data will live once Oracle is gone; Consumption Pattern 30 — who uses the report and how they use it; Rebuild Feasibility 25 — what it costs to recreate the logic; Runtime &amp; Control 25 — what the target platform must enforce at run time.</a:t>
            </a:r>
            <a:endParaRPr lang="en-US" sz="850" dirty="0"/>
          </a:p>
          <a:p>
            <a:pPr indent="0" marL="0">
              <a:lnSpc>
                <a:spcPct val="95000"/>
              </a:lnSpc>
              <a:spcAft>
                <a:spcPts val="400"/>
              </a:spcAft>
              <a:buNone/>
            </a:pPr>
            <a:r>
              <a:rPr lang="en-US" sz="740" dirty="0">
                <a:solidFill>
                  <a:srgbClr val="1A1A1A"/>
                </a:solidFill>
                <a:latin typeface="Arial" pitchFamily="34" charset="0"/>
                <a:ea typeface="Arial" pitchFamily="34" charset="-122"/>
                <a:cs typeface="Arial" pitchFamily="34" charset="-120"/>
              </a:rPr>
              <a:t>Assign the platform that takes 60% or more of the weighted points. Split the report into two assets when the points split, rather than forcing a compromise platform. Break ties toward the platform that removes the most BOBJ universes and jobs in this wave. Escalate to the retain exception only when nothing reaches 60%.</a:t>
            </a:r>
            <a:endParaRPr lang="en-US" sz="850" dirty="0"/>
          </a:p>
          <a:p>
            <a:pPr indent="0" marL="0">
              <a:lnSpc>
                <a:spcPct val="95000"/>
              </a:lnSpc>
              <a:spcAft>
                <a:spcPts val="400"/>
              </a:spcAft>
              <a:buNone/>
            </a:pPr>
            <a:r>
              <a:rPr lang="en-US" sz="680" i="1" dirty="0">
                <a:solidFill>
                  <a:srgbClr val="2E4A85"/>
                </a:solidFill>
                <a:latin typeface="Arial" pitchFamily="34" charset="0"/>
                <a:ea typeface="Arial" pitchFamily="34" charset="-122"/>
                <a:cs typeface="Arial" pitchFamily="34" charset="-120"/>
              </a:rPr>
              <a:t>Seven scored dimensions sit behind the four groups — detail on the Platform Fit Scorecard.</a:t>
            </a:r>
            <a:endParaRPr lang="en-US" sz="850" dirty="0"/>
          </a:p>
          <a:p>
            <a:pPr indent="0" marL="0">
              <a:lnSpc>
                <a:spcPct val="95000"/>
              </a:lnSpc>
              <a:buNone/>
            </a:pPr>
            <a:r>
              <a:rPr lang="en-US" sz="750" b="1" dirty="0">
                <a:solidFill>
                  <a:srgbClr val="081F5C"/>
                </a:solidFill>
                <a:latin typeface="Arial" pitchFamily="34" charset="0"/>
                <a:ea typeface="Arial" pitchFamily="34" charset="-122"/>
                <a:cs typeface="Arial" pitchFamily="34" charset="-120"/>
              </a:rPr>
              <a:t>▸ CogitoSQL  ·  Power BI  ·  Databricks AI/BI</a:t>
            </a:r>
            <a:endParaRPr lang="en-US" sz="850" dirty="0"/>
          </a:p>
        </p:txBody>
      </p:sp>
      <p:sp>
        <p:nvSpPr>
          <p:cNvPr id="49" name="Shape 47"/>
          <p:cNvSpPr/>
          <p:nvPr/>
        </p:nvSpPr>
        <p:spPr>
          <a:xfrm>
            <a:off x="8887968" y="1417320"/>
            <a:ext cx="2916936" cy="201168"/>
          </a:xfrm>
          <a:prstGeom prst="rect">
            <a:avLst/>
          </a:prstGeom>
          <a:solidFill>
            <a:srgbClr val="68349A"/>
          </a:solidFill>
          <a:ln w="6350">
            <a:solidFill>
              <a:srgbClr val="68349A"/>
            </a:solidFill>
            <a:prstDash val="solid"/>
          </a:ln>
        </p:spPr>
      </p:sp>
      <p:sp>
        <p:nvSpPr>
          <p:cNvPr id="50" name="Text 48"/>
          <p:cNvSpPr/>
          <p:nvPr/>
        </p:nvSpPr>
        <p:spPr>
          <a:xfrm>
            <a:off x="8887968" y="141732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CogitoSQL</a:t>
            </a:r>
            <a:endParaRPr lang="en-US" sz="850" dirty="0"/>
          </a:p>
        </p:txBody>
      </p:sp>
      <p:sp>
        <p:nvSpPr>
          <p:cNvPr id="51" name="Shape 49"/>
          <p:cNvSpPr/>
          <p:nvPr/>
        </p:nvSpPr>
        <p:spPr>
          <a:xfrm>
            <a:off x="8887968" y="1618488"/>
            <a:ext cx="2916936" cy="621792"/>
          </a:xfrm>
          <a:prstGeom prst="rect">
            <a:avLst/>
          </a:prstGeom>
          <a:solidFill>
            <a:srgbClr val="FFFFFF"/>
          </a:solidFill>
          <a:ln w="9525">
            <a:solidFill>
              <a:srgbClr val="D8D8D8"/>
            </a:solidFill>
            <a:prstDash val="solid"/>
          </a:ln>
        </p:spPr>
      </p:sp>
      <p:sp>
        <p:nvSpPr>
          <p:cNvPr id="52" name="Text 50"/>
          <p:cNvSpPr/>
          <p:nvPr/>
        </p:nvSpPr>
        <p:spPr>
          <a:xfrm>
            <a:off x="8887968" y="161848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Rearchitect. Rebuild in Reporting Workbench, Radar or SlicerDicer on Clarity and Caboodle.</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3, or a Data Gravity plus in-workflow score</a:t>
            </a:r>
            <a:endParaRPr lang="en-US" sz="720" dirty="0"/>
          </a:p>
        </p:txBody>
      </p:sp>
      <p:sp>
        <p:nvSpPr>
          <p:cNvPr id="53" name="Shape 51"/>
          <p:cNvSpPr/>
          <p:nvPr/>
        </p:nvSpPr>
        <p:spPr>
          <a:xfrm>
            <a:off x="8887968" y="2308860"/>
            <a:ext cx="2916936" cy="201168"/>
          </a:xfrm>
          <a:prstGeom prst="rect">
            <a:avLst/>
          </a:prstGeom>
          <a:solidFill>
            <a:srgbClr val="CEF8FC"/>
          </a:solidFill>
          <a:ln w="6350">
            <a:solidFill>
              <a:srgbClr val="CEF8FC"/>
            </a:solidFill>
            <a:prstDash val="solid"/>
          </a:ln>
        </p:spPr>
      </p:sp>
      <p:sp>
        <p:nvSpPr>
          <p:cNvPr id="54" name="Text 52"/>
          <p:cNvSpPr/>
          <p:nvPr/>
        </p:nvSpPr>
        <p:spPr>
          <a:xfrm>
            <a:off x="8887968" y="2308860"/>
            <a:ext cx="2916936" cy="201168"/>
          </a:xfrm>
          <a:prstGeom prst="rect">
            <a:avLst/>
          </a:prstGeom>
          <a:noFill/>
          <a:ln/>
        </p:spPr>
        <p:txBody>
          <a:bodyPr wrap="square" lIns="0" tIns="0" rIns="0" bIns="0" rtlCol="0" anchor="ctr"/>
          <a:lstStyle/>
          <a:p>
            <a:pPr algn="ctr" indent="0" marL="0">
              <a:buNone/>
            </a:pPr>
            <a:r>
              <a:rPr lang="en-US" sz="850" b="1" dirty="0">
                <a:solidFill>
                  <a:srgbClr val="081F5C"/>
                </a:solidFill>
                <a:latin typeface="Arial" pitchFamily="34" charset="0"/>
                <a:ea typeface="Arial" pitchFamily="34" charset="-122"/>
                <a:cs typeface="Arial" pitchFamily="34" charset="-120"/>
              </a:rPr>
              <a:t>Power BI</a:t>
            </a:r>
            <a:endParaRPr lang="en-US" sz="850" dirty="0"/>
          </a:p>
        </p:txBody>
      </p:sp>
      <p:sp>
        <p:nvSpPr>
          <p:cNvPr id="55" name="Shape 53"/>
          <p:cNvSpPr/>
          <p:nvPr/>
        </p:nvSpPr>
        <p:spPr>
          <a:xfrm>
            <a:off x="8887968" y="2510028"/>
            <a:ext cx="2916936" cy="621792"/>
          </a:xfrm>
          <a:prstGeom prst="rect">
            <a:avLst/>
          </a:prstGeom>
          <a:solidFill>
            <a:srgbClr val="FFFFFF"/>
          </a:solidFill>
          <a:ln w="9525">
            <a:solidFill>
              <a:srgbClr val="D8D8D8"/>
            </a:solidFill>
            <a:prstDash val="solid"/>
          </a:ln>
        </p:spPr>
      </p:sp>
      <p:sp>
        <p:nvSpPr>
          <p:cNvPr id="56" name="Text 54"/>
          <p:cNvSpPr/>
          <p:nvPr/>
        </p:nvSpPr>
        <p:spPr>
          <a:xfrm>
            <a:off x="8887968" y="251002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Rearchitect. Build a curated semantic model; use Paginated Reports for statutory and bursted output.</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4, or a Consumption plus Format score</a:t>
            </a:r>
            <a:endParaRPr lang="en-US" sz="720" dirty="0"/>
          </a:p>
        </p:txBody>
      </p:sp>
      <p:sp>
        <p:nvSpPr>
          <p:cNvPr id="57" name="Shape 55"/>
          <p:cNvSpPr/>
          <p:nvPr/>
        </p:nvSpPr>
        <p:spPr>
          <a:xfrm>
            <a:off x="8887968" y="3200400"/>
            <a:ext cx="2916936" cy="201168"/>
          </a:xfrm>
          <a:prstGeom prst="rect">
            <a:avLst/>
          </a:prstGeom>
          <a:solidFill>
            <a:srgbClr val="CEF8FC"/>
          </a:solidFill>
          <a:ln w="6350">
            <a:solidFill>
              <a:srgbClr val="CEF8FC"/>
            </a:solidFill>
            <a:prstDash val="solid"/>
          </a:ln>
        </p:spPr>
      </p:sp>
      <p:sp>
        <p:nvSpPr>
          <p:cNvPr id="58" name="Text 56"/>
          <p:cNvSpPr/>
          <p:nvPr/>
        </p:nvSpPr>
        <p:spPr>
          <a:xfrm>
            <a:off x="8887968" y="3200400"/>
            <a:ext cx="2916936" cy="201168"/>
          </a:xfrm>
          <a:prstGeom prst="rect">
            <a:avLst/>
          </a:prstGeom>
          <a:noFill/>
          <a:ln/>
        </p:spPr>
        <p:txBody>
          <a:bodyPr wrap="square" lIns="0" tIns="0" rIns="0" bIns="0" rtlCol="0" anchor="ctr"/>
          <a:lstStyle/>
          <a:p>
            <a:pPr algn="ctr" indent="0" marL="0">
              <a:buNone/>
            </a:pPr>
            <a:r>
              <a:rPr lang="en-US" sz="850" b="1" dirty="0">
                <a:solidFill>
                  <a:srgbClr val="081F5C"/>
                </a:solidFill>
                <a:latin typeface="Arial" pitchFamily="34" charset="0"/>
                <a:ea typeface="Arial" pitchFamily="34" charset="-122"/>
                <a:cs typeface="Arial" pitchFamily="34" charset="-120"/>
              </a:rPr>
              <a:t>Databricks AI/BI</a:t>
            </a:r>
            <a:endParaRPr lang="en-US" sz="850" dirty="0"/>
          </a:p>
        </p:txBody>
      </p:sp>
      <p:sp>
        <p:nvSpPr>
          <p:cNvPr id="59" name="Shape 57"/>
          <p:cNvSpPr/>
          <p:nvPr/>
        </p:nvSpPr>
        <p:spPr>
          <a:xfrm>
            <a:off x="8887968" y="3401568"/>
            <a:ext cx="2916936" cy="621792"/>
          </a:xfrm>
          <a:prstGeom prst="rect">
            <a:avLst/>
          </a:prstGeom>
          <a:solidFill>
            <a:srgbClr val="FFFFFF"/>
          </a:solidFill>
          <a:ln w="9525">
            <a:solidFill>
              <a:srgbClr val="D8D8D8"/>
            </a:solidFill>
            <a:prstDash val="solid"/>
          </a:ln>
        </p:spPr>
      </p:sp>
      <p:sp>
        <p:nvSpPr>
          <p:cNvPr id="60" name="Text 58"/>
          <p:cNvSpPr/>
          <p:nvPr/>
        </p:nvSpPr>
        <p:spPr>
          <a:xfrm>
            <a:off x="8887968" y="340156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Replatform. Land the data in Delta, then rebuild as AI/BI dashboards with Genie for exploration.</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 5, or a Data Gravity plus ad-hoc score</a:t>
            </a:r>
            <a:endParaRPr lang="en-US" sz="720" dirty="0"/>
          </a:p>
        </p:txBody>
      </p:sp>
      <p:sp>
        <p:nvSpPr>
          <p:cNvPr id="61" name="Shape 59"/>
          <p:cNvSpPr/>
          <p:nvPr/>
        </p:nvSpPr>
        <p:spPr>
          <a:xfrm>
            <a:off x="8887968" y="4091940"/>
            <a:ext cx="2916936" cy="201168"/>
          </a:xfrm>
          <a:prstGeom prst="rect">
            <a:avLst/>
          </a:prstGeom>
          <a:solidFill>
            <a:srgbClr val="707070"/>
          </a:solidFill>
          <a:ln w="6350">
            <a:solidFill>
              <a:srgbClr val="707070"/>
            </a:solidFill>
            <a:prstDash val="solid"/>
          </a:ln>
        </p:spPr>
      </p:sp>
      <p:sp>
        <p:nvSpPr>
          <p:cNvPr id="62" name="Text 60"/>
          <p:cNvSpPr/>
          <p:nvPr/>
        </p:nvSpPr>
        <p:spPr>
          <a:xfrm>
            <a:off x="8887968" y="409194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Retire / Consolidate</a:t>
            </a:r>
            <a:endParaRPr lang="en-US" sz="850" dirty="0"/>
          </a:p>
        </p:txBody>
      </p:sp>
      <p:sp>
        <p:nvSpPr>
          <p:cNvPr id="63" name="Shape 61"/>
          <p:cNvSpPr/>
          <p:nvPr/>
        </p:nvSpPr>
        <p:spPr>
          <a:xfrm>
            <a:off x="8887968" y="4293108"/>
            <a:ext cx="2916936" cy="621792"/>
          </a:xfrm>
          <a:prstGeom prst="rect">
            <a:avLst/>
          </a:prstGeom>
          <a:solidFill>
            <a:srgbClr val="FFFFFF"/>
          </a:solidFill>
          <a:ln w="9525">
            <a:solidFill>
              <a:srgbClr val="D8D8D8"/>
            </a:solidFill>
            <a:prstDash val="solid"/>
          </a:ln>
        </p:spPr>
      </p:sp>
      <p:sp>
        <p:nvSpPr>
          <p:cNvPr id="64" name="Text 62"/>
          <p:cNvSpPr/>
          <p:nvPr/>
        </p:nvSpPr>
        <p:spPr>
          <a:xfrm>
            <a:off x="8887968" y="429310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Run as-is to a fixed retirement date. Redirect consumers to the surviving asset, then decommission.</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Reached from principles 1 and 2 — never scored</a:t>
            </a:r>
            <a:endParaRPr lang="en-US" sz="720" dirty="0"/>
          </a:p>
        </p:txBody>
      </p:sp>
      <p:sp>
        <p:nvSpPr>
          <p:cNvPr id="65" name="Shape 63"/>
          <p:cNvSpPr/>
          <p:nvPr/>
        </p:nvSpPr>
        <p:spPr>
          <a:xfrm>
            <a:off x="8887968" y="4983480"/>
            <a:ext cx="2916936" cy="201168"/>
          </a:xfrm>
          <a:prstGeom prst="rect">
            <a:avLst/>
          </a:prstGeom>
          <a:solidFill>
            <a:srgbClr val="081F5C"/>
          </a:solidFill>
          <a:ln w="6350">
            <a:solidFill>
              <a:srgbClr val="081F5C"/>
            </a:solidFill>
            <a:prstDash val="solid"/>
          </a:ln>
        </p:spPr>
      </p:sp>
      <p:sp>
        <p:nvSpPr>
          <p:cNvPr id="66" name="Text 64"/>
          <p:cNvSpPr/>
          <p:nvPr/>
        </p:nvSpPr>
        <p:spPr>
          <a:xfrm>
            <a:off x="8887968" y="4983480"/>
            <a:ext cx="2916936"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Retain in BOBJ  —  exception</a:t>
            </a:r>
            <a:endParaRPr lang="en-US" sz="850" dirty="0"/>
          </a:p>
        </p:txBody>
      </p:sp>
      <p:sp>
        <p:nvSpPr>
          <p:cNvPr id="67" name="Shape 65"/>
          <p:cNvSpPr/>
          <p:nvPr/>
        </p:nvSpPr>
        <p:spPr>
          <a:xfrm>
            <a:off x="8887968" y="5184648"/>
            <a:ext cx="2916936" cy="621792"/>
          </a:xfrm>
          <a:prstGeom prst="rect">
            <a:avLst/>
          </a:prstGeom>
          <a:solidFill>
            <a:srgbClr val="FFFFFF"/>
          </a:solidFill>
          <a:ln w="12700">
            <a:solidFill>
              <a:srgbClr val="081F5C"/>
            </a:solidFill>
            <a:prstDash val="dash"/>
          </a:ln>
        </p:spPr>
      </p:sp>
      <p:sp>
        <p:nvSpPr>
          <p:cNvPr id="68" name="Text 66"/>
          <p:cNvSpPr/>
          <p:nvPr/>
        </p:nvSpPr>
        <p:spPr>
          <a:xfrm>
            <a:off x="8887968" y="5184648"/>
            <a:ext cx="2916936" cy="621792"/>
          </a:xfrm>
          <a:prstGeom prst="rect">
            <a:avLst/>
          </a:prstGeom>
          <a:noFill/>
          <a:ln/>
        </p:spPr>
        <p:txBody>
          <a:bodyPr wrap="square" lIns="508" tIns="1143" rIns="1143" bIns="508" rtlCol="0" anchor="ctr"/>
          <a:lstStyle/>
          <a:p>
            <a:pPr indent="0" marL="0">
              <a:lnSpc>
                <a:spcPct val="95000"/>
              </a:lnSpc>
              <a:spcAft>
                <a:spcPts val="300"/>
              </a:spcAft>
              <a:buNone/>
            </a:pPr>
            <a:r>
              <a:rPr lang="en-US" sz="720" dirty="0">
                <a:solidFill>
                  <a:srgbClr val="1A1A1A"/>
                </a:solidFill>
                <a:latin typeface="Arial" pitchFamily="34" charset="0"/>
                <a:ea typeface="Arial" pitchFamily="34" charset="-122"/>
                <a:cs typeface="Arial" pitchFamily="34" charset="-120"/>
              </a:rPr>
              <a:t>Keep only when all four hold: rebuild over 40 hours, no equivalent this wave, named owner accepts, universe survives the Oracle exit. Set a sunset date.</a:t>
            </a:r>
            <a:endParaRPr lang="en-US" sz="720" dirty="0"/>
          </a:p>
          <a:p>
            <a:pPr indent="0" marL="0">
              <a:lnSpc>
                <a:spcPct val="95000"/>
              </a:lnSpc>
              <a:buNone/>
            </a:pPr>
            <a:r>
              <a:rPr lang="en-US" sz="660" i="1" dirty="0">
                <a:solidFill>
                  <a:srgbClr val="2E4A85"/>
                </a:solidFill>
                <a:latin typeface="Arial" pitchFamily="34" charset="0"/>
                <a:ea typeface="Arial" pitchFamily="34" charset="-122"/>
                <a:cs typeface="Arial" pitchFamily="34" charset="-120"/>
              </a:rPr>
              <a:t>Escalation from principle 6 only</a:t>
            </a:r>
            <a:endParaRPr lang="en-US" sz="720" dirty="0"/>
          </a:p>
        </p:txBody>
      </p:sp>
      <p:sp>
        <p:nvSpPr>
          <p:cNvPr id="69" name="Shape 67"/>
          <p:cNvSpPr/>
          <p:nvPr/>
        </p:nvSpPr>
        <p:spPr>
          <a:xfrm>
            <a:off x="384048" y="5943600"/>
            <a:ext cx="11420856" cy="384048"/>
          </a:xfrm>
          <a:prstGeom prst="rect">
            <a:avLst/>
          </a:prstGeom>
          <a:solidFill>
            <a:srgbClr val="EAF5FD"/>
          </a:solidFill>
          <a:ln w="9525">
            <a:solidFill>
              <a:srgbClr val="C9E3F7"/>
            </a:solidFill>
            <a:prstDash val="solid"/>
          </a:ln>
        </p:spPr>
      </p:sp>
      <p:sp>
        <p:nvSpPr>
          <p:cNvPr id="70" name="Text 68"/>
          <p:cNvSpPr/>
          <p:nvPr/>
        </p:nvSpPr>
        <p:spPr>
          <a:xfrm>
            <a:off x="384048" y="5943600"/>
            <a:ext cx="11420856" cy="384048"/>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every principle, not at go-live.  </a:t>
            </a:r>
            <a:pPr indent="0" marL="0">
              <a:lnSpc>
                <a:spcPct val="95000"/>
              </a:lnSpc>
              <a:buNone/>
            </a:pPr>
            <a:r>
              <a:rPr lang="en-US" sz="700" dirty="0">
                <a:solidFill>
                  <a:srgbClr val="1A1A1A"/>
                </a:solidFill>
                <a:latin typeface="Arial" pitchFamily="34" charset="0"/>
                <a:ea typeface="Arial" pitchFamily="34" charset="-122"/>
                <a:cs typeface="Arial" pitchFamily="34" charset="-120"/>
              </a:rPr>
              <a:t>Document the security-model translation before any asset moves: map BOBJ universe restrictions to Unity Catalog row filters and column masks, or to Power BI semantic-model RLS. Audit every BOBJ publication that emails PHI to a distribution list. Scope Databricks Genie spaces to curated gold tables only, never to raw custom-schema extracts. Confirm state record-retention obligations before deleting the output of any retired report.</a:t>
            </a:r>
            <a:endParaRPr lang="en-US" sz="700" dirty="0"/>
          </a:p>
        </p:txBody>
      </p:sp>
      <p:sp>
        <p:nvSpPr>
          <p:cNvPr id="71" name="Text 69"/>
          <p:cNvSpPr/>
          <p:nvPr/>
        </p:nvSpPr>
        <p:spPr>
          <a:xfrm>
            <a:off x="384048" y="6373368"/>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Principles are applied in order and the first match decides — a report that exits at principle 1 or 2 is never scored. Usage evidence draws on the BOBJ CMS audit trail over a rolling 18 months; a 90-day window understates quarterly and annual regulatory reporting.</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84048" y="219456"/>
            <a:ext cx="10972800" cy="384048"/>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Platform Fit Scorecard  —  the Seven Dimensions Behind the Four Groups</a:t>
            </a:r>
            <a:endParaRPr lang="en-US" sz="2400" dirty="0"/>
          </a:p>
        </p:txBody>
      </p:sp>
      <p:sp>
        <p:nvSpPr>
          <p:cNvPr id="3" name="Text 1"/>
          <p:cNvSpPr/>
          <p:nvPr/>
        </p:nvSpPr>
        <p:spPr>
          <a:xfrm>
            <a:off x="384048" y="585216"/>
            <a:ext cx="11420856" cy="384048"/>
          </a:xfrm>
          <a:prstGeom prst="rect">
            <a:avLst/>
          </a:prstGeom>
          <a:noFill/>
          <a:ln/>
        </p:spPr>
        <p:txBody>
          <a:bodyPr wrap="square" lIns="0" tIns="0" rIns="0" bIns="0" rtlCol="0" anchor="ctr"/>
          <a:lstStyle/>
          <a:p>
            <a:pPr indent="0" marL="0">
              <a:lnSpc>
                <a:spcPct val="95000"/>
              </a:lnSpc>
              <a:buNone/>
            </a:pPr>
            <a:r>
              <a:rPr lang="en-US" sz="1050" dirty="0">
                <a:solidFill>
                  <a:srgbClr val="1A1A1A"/>
                </a:solidFill>
                <a:latin typeface="Arial" pitchFamily="34" charset="0"/>
                <a:ea typeface="Arial" pitchFamily="34" charset="-122"/>
                <a:cs typeface="Arial" pitchFamily="34" charset="-120"/>
              </a:rPr>
              <a:t>Applied only to reports that reach principle 6.  The four groups on the rubric are rollups of these seven scored dimensions:  </a:t>
            </a:r>
            <a:pPr indent="0" marL="0">
              <a:lnSpc>
                <a:spcPct val="95000"/>
              </a:lnSpc>
              <a:buNone/>
            </a:pPr>
            <a:r>
              <a:rPr lang="en-US" sz="1050" b="1" dirty="0">
                <a:solidFill>
                  <a:srgbClr val="081F5C"/>
                </a:solidFill>
                <a:latin typeface="Arial" pitchFamily="34" charset="0"/>
                <a:ea typeface="Arial" pitchFamily="34" charset="-122"/>
                <a:cs typeface="Arial" pitchFamily="34" charset="-120"/>
              </a:rPr>
              <a:t>Data Gravity 20 = Data source  ·  Consumption Pattern 30 = Audience 15 + Interaction mode 15  ·  Rebuild Feasibility 25 = Semantic complexity 15 + Format fidelity 10  ·  Runtime &amp; Control 25 = Latency 10 + Governance &amp; RLS 15.</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84048" y="1060704"/>
          <a:ext cx="11420856" cy="914400"/>
        </p:xfrm>
        <a:graphic>
          <a:graphicData uri="http://schemas.openxmlformats.org/drawingml/2006/table">
            <a:tbl>
              <a:tblPr/>
              <a:tblGrid>
                <a:gridCol w="1078992"/>
                <a:gridCol w="1207008"/>
                <a:gridCol w="365760"/>
                <a:gridCol w="2212848"/>
                <a:gridCol w="2212848"/>
                <a:gridCol w="2212848"/>
                <a:gridCol w="2130552"/>
              </a:tblGrid>
              <a:tr h="292608">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Rubric group</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Scored dimension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Wt</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081F5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CogitoSQL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68349A"/>
                    </a:solidFill>
                  </a:tcPr>
                </a:tc>
                <a:tc>
                  <a:txBody>
                    <a:bodyPr/>
                    <a:lstStyle/>
                    <a:p>
                      <a:pPr algn="ctr" indent="0" marL="0">
                        <a:buNone/>
                      </a:pPr>
                      <a:r>
                        <a:rPr lang="en-US" sz="800" b="1" dirty="0">
                          <a:solidFill>
                            <a:srgbClr val="081F5C"/>
                          </a:solidFill>
                          <a:latin typeface="Arial" pitchFamily="34" charset="0"/>
                          <a:ea typeface="Arial" pitchFamily="34" charset="-122"/>
                          <a:cs typeface="Arial" pitchFamily="34" charset="-120"/>
                        </a:rPr>
                        <a:t>Power BI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CEF8FC"/>
                    </a:solidFill>
                  </a:tcPr>
                </a:tc>
                <a:tc>
                  <a:txBody>
                    <a:bodyPr/>
                    <a:lstStyle/>
                    <a:p>
                      <a:pPr algn="ctr" indent="0" marL="0">
                        <a:buNone/>
                      </a:pPr>
                      <a:r>
                        <a:rPr lang="en-US" sz="800" b="1" dirty="0">
                          <a:solidFill>
                            <a:srgbClr val="081F5C"/>
                          </a:solidFill>
                          <a:latin typeface="Arial" pitchFamily="34" charset="0"/>
                          <a:ea typeface="Arial" pitchFamily="34" charset="-122"/>
                          <a:cs typeface="Arial" pitchFamily="34" charset="-120"/>
                        </a:rPr>
                        <a:t>Databricks AI/BI favoured when…</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CEF8FC"/>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Retain signal  (diagnostic only)</a:t>
                      </a:r>
                      <a:endParaRPr lang="en-US" sz="8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707070"/>
                    </a:solidFill>
                  </a:tcPr>
                </a:tc>
              </a:tr>
              <a:tr h="566928">
                <a:tc>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Data Gravity</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20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Data source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Clarity / Caboodle-native; Epic-delivered content already covers the model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Curated SQL Server gold layer or mart reachable through the gateway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Lakehouse-native, multi-source, high volume, or re-homed custom schema</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Universe still bound to Oracle objects with no re-platform target defined</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02920">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Consumption Pattern</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30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Audience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Clinicians and unit operations working inside Hyperspace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Executives and broad enterprise distribution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Analysts and data science running their own exploration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 small legacy user pocket with no growth and no owner</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Interaction mode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Worklist, in-context lookup, patient-level action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Curated dashboards, mobile, scheduled subscriptions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Ad-hoc exploration, Genie natural-language query, notebook-adjacent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Static scheduled output that nobody interacts with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66928">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Rebuild Feasibility</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25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Semantic complexity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Epic-delivered content, or a thin custom layer over 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Rebuildable as a Power BI semantic model within the wave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Expressible as SQL or Unity Catalog metric views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Deep universe logic — contexts, aggregate awareness — with nobody able to rebuild 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Format fidelity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Low — operational lists and worklists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High — Paginated Reports absorb statutory and bursted layouts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Low to medium — analytic canvas, exportable</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Crystal-grade pixel fidelity that Paginated genuinely cannot reach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30352">
                <a:tc rowSpan="2">
                  <a:txBody>
                    <a:bodyPr/>
                    <a:lstStyle/>
                    <a:p>
                      <a:pPr algn="ctr" indent="0" marL="0">
                        <a:buNone/>
                      </a:pPr>
                      <a:r>
                        <a:rPr lang="en-US" sz="760" b="1" dirty="0">
                          <a:solidFill>
                            <a:srgbClr val="081F5C"/>
                          </a:solidFill>
                          <a:latin typeface="Arial" pitchFamily="34" charset="0"/>
                          <a:ea typeface="Arial" pitchFamily="34" charset="-122"/>
                          <a:cs typeface="Arial" pitchFamily="34" charset="-120"/>
                        </a:rPr>
                        <a:t>Runtime &amp; Control</a:t>
                      </a:r>
                      <a:endParaRPr lang="en-US" sz="1200" dirty="0">
                        <a:latin typeface="Arial" charset="0"/>
                        <a:ea typeface="Arial" charset="0"/>
                        <a:cs typeface="Arial" charset="0"/>
                      </a:endParaRPr>
                    </a:p>
                    <a:p>
                      <a:pPr algn="ctr" indent="0" marL="0">
                        <a:buNone/>
                      </a:pPr>
                      <a:r>
                        <a:rPr lang="en-US" sz="900" b="1" dirty="0">
                          <a:solidFill>
                            <a:srgbClr val="081F5C"/>
                          </a:solidFill>
                          <a:latin typeface="Arial" pitchFamily="34" charset="0"/>
                          <a:ea typeface="Arial" pitchFamily="34" charset="-122"/>
                          <a:cs typeface="Arial" pitchFamily="34" charset="-120"/>
                        </a:rPr>
                        <a:t>25 pts</a:t>
                      </a:r>
                      <a:endParaRPr lang="en-US" sz="12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ADDAFB"/>
                    </a:solidFill>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Latency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Near-real-time from Chronicles via Reporting Workbench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Hourly or daily refresh is acceptable to the consumer</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Streaming-to-batch on Delta with incremental refresh</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7FAFD"/>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Overnight batch only, with no latency pressure at all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r h="566928">
                <a:tc vMerge="1">
                  <a:tcPr/>
                </a:tc>
                <a:tc>
                  <a:txBody>
                    <a:bodyPr/>
                    <a:lstStyle/>
                    <a:p>
                      <a:pPr algn="l" indent="0" marL="0">
                        <a:buNone/>
                      </a:pPr>
                      <a:r>
                        <a:rPr lang="en-US" sz="720" b="1" dirty="0">
                          <a:solidFill>
                            <a:srgbClr val="081F5C"/>
                          </a:solidFill>
                          <a:latin typeface="Arial" pitchFamily="34" charset="0"/>
                          <a:ea typeface="Arial" pitchFamily="34" charset="-122"/>
                          <a:cs typeface="Arial" pitchFamily="34" charset="-120"/>
                        </a:rPr>
                        <a:t>Governance &amp; RLS</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81F5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Epic security classes inherit automatically</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Entra-driven RLS enforced on the semantic model</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Unity Catalog row filters, column masks, lineage and full audit</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720" dirty="0">
                          <a:solidFill>
                            <a:srgbClr val="1A1A1A"/>
                          </a:solidFill>
                          <a:latin typeface="Arial" pitchFamily="34" charset="0"/>
                          <a:ea typeface="Arial" pitchFamily="34" charset="-122"/>
                          <a:cs typeface="Arial" pitchFamily="34" charset="-120"/>
                        </a:rPr>
                        <a:t>Undocumented universe security nobody owns — a liability, not a justification</a:t>
                      </a:r>
                      <a:endParaRPr lang="en-US" sz="720" dirty="0">
                        <a:latin typeface="Arial" charset="0"/>
                        <a:ea typeface="Arial" charset="0"/>
                        <a:cs typeface="Arial" charset="0"/>
                      </a:endParaRPr>
                    </a:p>
                  </a:txBody>
                  <a:tcPr marL="64008" marR="64008" marT="36576" marB="36576"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AFAFA"/>
                    </a:solidFill>
                  </a:tcPr>
                </a:tc>
              </a:tr>
            </a:tbl>
          </a:graphicData>
        </a:graphic>
      </p:graphicFrame>
      <p:sp>
        <p:nvSpPr>
          <p:cNvPr id="5" name="Shape 2"/>
          <p:cNvSpPr/>
          <p:nvPr/>
        </p:nvSpPr>
        <p:spPr>
          <a:xfrm>
            <a:off x="384048" y="5394960"/>
            <a:ext cx="11420856" cy="786384"/>
          </a:xfrm>
          <a:prstGeom prst="rect">
            <a:avLst/>
          </a:prstGeom>
          <a:solidFill>
            <a:srgbClr val="ADDAFB"/>
          </a:solidFill>
          <a:ln w="6350">
            <a:solidFill>
              <a:srgbClr val="ADDAFB"/>
            </a:solidFill>
            <a:prstDash val="solid"/>
          </a:ln>
        </p:spPr>
      </p:sp>
      <p:sp>
        <p:nvSpPr>
          <p:cNvPr id="6" name="Text 3"/>
          <p:cNvSpPr/>
          <p:nvPr/>
        </p:nvSpPr>
        <p:spPr>
          <a:xfrm>
            <a:off x="384048" y="5394960"/>
            <a:ext cx="11420856" cy="786384"/>
          </a:xfrm>
          <a:prstGeom prst="rect">
            <a:avLst/>
          </a:prstGeom>
          <a:noFill/>
          <a:ln/>
        </p:spPr>
        <p:txBody>
          <a:bodyPr wrap="square" lIns="508" tIns="1778" rIns="1778" bIns="508" rtlCol="0" anchor="ctr"/>
          <a:lstStyle/>
          <a:p>
            <a:pPr indent="0" marL="0">
              <a:lnSpc>
                <a:spcPct val="95000"/>
              </a:lnSpc>
              <a:buNone/>
            </a:pPr>
            <a:r>
              <a:rPr lang="en-US" sz="900" b="1" dirty="0">
                <a:solidFill>
                  <a:srgbClr val="081F5C"/>
                </a:solidFill>
                <a:latin typeface="Arial" pitchFamily="34" charset="0"/>
                <a:ea typeface="Arial" pitchFamily="34" charset="-122"/>
                <a:cs typeface="Arial" pitchFamily="34" charset="-120"/>
              </a:rPr>
              <a:t>Planning heuristic for an Epic-based BOBJ estate</a:t>
            </a:r>
            <a:endParaRPr lang="en-US" sz="900" dirty="0"/>
          </a:p>
          <a:p>
            <a:pPr indent="0" marL="0">
              <a:lnSpc>
                <a:spcPct val="95000"/>
              </a:lnSpc>
              <a:spcBef>
                <a:spcPts val="200"/>
              </a:spcBef>
              <a:spcAft>
                <a:spcPts val="200"/>
              </a:spcAft>
              <a:buNone/>
            </a:pPr>
            <a:r>
              <a:rPr lang="en-US" sz="900" b="1" dirty="0">
                <a:solidFill>
                  <a:srgbClr val="1A1A1A"/>
                </a:solidFill>
                <a:latin typeface="Arial" pitchFamily="34" charset="0"/>
                <a:ea typeface="Arial" pitchFamily="34" charset="-122"/>
                <a:cs typeface="Arial" pitchFamily="34" charset="-120"/>
              </a:rPr>
              <a:t>30–45% retire or consolidate   ·   15–25% CogitoSQL   ·   20–30% Power BI including paginated   ·   10–20% Databricks AI/BI   ·   under 10% time-boxed retain</a:t>
            </a:r>
            <a:endParaRPr lang="en-US" sz="900" dirty="0"/>
          </a:p>
          <a:p>
            <a:pPr indent="0" marL="0">
              <a:lnSpc>
                <a:spcPct val="95000"/>
              </a:lnSpc>
              <a:buNone/>
            </a:pPr>
            <a:r>
              <a:rPr lang="en-US" sz="740" dirty="0">
                <a:solidFill>
                  <a:srgbClr val="1A1A1A"/>
                </a:solidFill>
                <a:latin typeface="Arial" pitchFamily="34" charset="0"/>
                <a:ea typeface="Arial" pitchFamily="34" charset="-122"/>
                <a:cs typeface="Arial" pitchFamily="34" charset="-120"/>
              </a:rPr>
              <a:t>If the retain bucket lands above 10% after scoring, the exception criteria are too soft — tighten the rebuild-hours ceiling, or accept L2 rather than L3 equivalence for low-criticality reports. The Oracle decommission date is the hard ceiling on the whole bucket.</a:t>
            </a:r>
            <a:endParaRPr lang="en-US" sz="900" dirty="0"/>
          </a:p>
        </p:txBody>
      </p:sp>
      <p:sp>
        <p:nvSpPr>
          <p:cNvPr id="7" name="Text 4"/>
          <p:cNvSpPr/>
          <p:nvPr/>
        </p:nvSpPr>
        <p:spPr>
          <a:xfrm>
            <a:off x="384048" y="6272784"/>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Weights sum to 100 and are tuned to a BOBJ-reduction objective; re-weight Data Gravity upward if the Oracle exit date compresses, or Rebuild Feasibility upward if analyst capacity rather than runway is the binding constraint.</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4048" y="201168"/>
            <a:ext cx="10058400" cy="365760"/>
          </a:xfrm>
          <a:prstGeom prst="rect">
            <a:avLst/>
          </a:prstGeom>
          <a:noFill/>
          <a:ln/>
        </p:spPr>
        <p:txBody>
          <a:bodyPr wrap="square" lIns="0" tIns="0" rIns="0" bIns="0" rtlCol="0" anchor="ctr"/>
          <a:lstStyle/>
          <a:p>
            <a:pPr indent="0" marL="0">
              <a:buNone/>
            </a:pPr>
            <a:r>
              <a:rPr lang="en-US" sz="2400" dirty="0">
                <a:solidFill>
                  <a:srgbClr val="1A1A1A"/>
                </a:solidFill>
                <a:latin typeface="Arial" pitchFamily="34" charset="0"/>
                <a:ea typeface="Arial" pitchFamily="34" charset="-122"/>
                <a:cs typeface="Arial" pitchFamily="34" charset="-120"/>
              </a:rPr>
              <a:t>Sequential Activities by Disposition</a:t>
            </a:r>
            <a:endParaRPr lang="en-US" sz="2400" dirty="0"/>
          </a:p>
        </p:txBody>
      </p:sp>
      <p:sp>
        <p:nvSpPr>
          <p:cNvPr id="3" name="Text 1"/>
          <p:cNvSpPr/>
          <p:nvPr/>
        </p:nvSpPr>
        <p:spPr>
          <a:xfrm>
            <a:off x="384048" y="566928"/>
            <a:ext cx="11420856" cy="256032"/>
          </a:xfrm>
          <a:prstGeom prst="rect">
            <a:avLst/>
          </a:prstGeom>
          <a:noFill/>
          <a:ln/>
        </p:spPr>
        <p:txBody>
          <a:bodyPr wrap="square" lIns="0" tIns="0" rIns="0" bIns="0" rtlCol="0" anchor="ctr"/>
          <a:lstStyle/>
          <a:p>
            <a:pPr indent="0" marL="0">
              <a:buNone/>
            </a:pPr>
            <a:r>
              <a:rPr lang="en-US" sz="1050" dirty="0">
                <a:solidFill>
                  <a:srgbClr val="1A1A1A"/>
                </a:solidFill>
                <a:latin typeface="Arial" pitchFamily="34" charset="0"/>
                <a:ea typeface="Arial" pitchFamily="34" charset="-122"/>
                <a:cs typeface="Arial" pitchFamily="34" charset="-120"/>
              </a:rPr>
              <a:t>Each disposition carries its own six-step runbook, executed only after the rubric has set the path. Every step carries an exit criterion, so progress is evidenced rather than asserted. Every path ends by removing the BOBJ object; the exception path ends at a dated sunset.</a:t>
            </a:r>
            <a:endParaRPr lang="en-US" sz="1050" dirty="0"/>
          </a:p>
        </p:txBody>
      </p:sp>
      <p:sp>
        <p:nvSpPr>
          <p:cNvPr id="4" name="Shape 2"/>
          <p:cNvSpPr/>
          <p:nvPr/>
        </p:nvSpPr>
        <p:spPr>
          <a:xfrm>
            <a:off x="384048" y="969264"/>
            <a:ext cx="1371600" cy="274320"/>
          </a:xfrm>
          <a:prstGeom prst="rect">
            <a:avLst/>
          </a:prstGeom>
          <a:solidFill>
            <a:srgbClr val="081F5C"/>
          </a:solidFill>
          <a:ln w="6350">
            <a:solidFill>
              <a:srgbClr val="081F5C"/>
            </a:solidFill>
            <a:prstDash val="solid"/>
          </a:ln>
        </p:spPr>
      </p:sp>
      <p:sp>
        <p:nvSpPr>
          <p:cNvPr id="5" name="Text 3"/>
          <p:cNvSpPr/>
          <p:nvPr/>
        </p:nvSpPr>
        <p:spPr>
          <a:xfrm>
            <a:off x="384048" y="969264"/>
            <a:ext cx="1371600"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DISPOSITION</a:t>
            </a:r>
            <a:endParaRPr lang="en-US" sz="800" dirty="0"/>
          </a:p>
        </p:txBody>
      </p:sp>
      <p:sp>
        <p:nvSpPr>
          <p:cNvPr id="6" name="Shape 4"/>
          <p:cNvSpPr/>
          <p:nvPr/>
        </p:nvSpPr>
        <p:spPr>
          <a:xfrm>
            <a:off x="1847088" y="969264"/>
            <a:ext cx="1506931" cy="274320"/>
          </a:xfrm>
          <a:prstGeom prst="homePlate">
            <a:avLst/>
          </a:prstGeom>
          <a:solidFill>
            <a:srgbClr val="081F5C"/>
          </a:solidFill>
          <a:ln w="6350">
            <a:solidFill>
              <a:srgbClr val="081F5C"/>
            </a:solidFill>
            <a:prstDash val="solid"/>
          </a:ln>
        </p:spPr>
      </p:sp>
      <p:sp>
        <p:nvSpPr>
          <p:cNvPr id="7" name="Text 5"/>
          <p:cNvSpPr/>
          <p:nvPr/>
        </p:nvSpPr>
        <p:spPr>
          <a:xfrm>
            <a:off x="1847088"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1</a:t>
            </a:r>
            <a:endParaRPr lang="en-US" sz="800" dirty="0"/>
          </a:p>
        </p:txBody>
      </p:sp>
      <p:sp>
        <p:nvSpPr>
          <p:cNvPr id="8" name="Shape 6"/>
          <p:cNvSpPr/>
          <p:nvPr/>
        </p:nvSpPr>
        <p:spPr>
          <a:xfrm>
            <a:off x="3354019" y="969264"/>
            <a:ext cx="1689811" cy="274320"/>
          </a:xfrm>
          <a:prstGeom prst="chevron">
            <a:avLst/>
          </a:prstGeom>
          <a:solidFill>
            <a:srgbClr val="081F5C"/>
          </a:solidFill>
          <a:ln w="6350">
            <a:solidFill>
              <a:srgbClr val="081F5C"/>
            </a:solidFill>
            <a:prstDash val="solid"/>
          </a:ln>
        </p:spPr>
      </p:sp>
      <p:sp>
        <p:nvSpPr>
          <p:cNvPr id="9" name="Text 7"/>
          <p:cNvSpPr/>
          <p:nvPr/>
        </p:nvSpPr>
        <p:spPr>
          <a:xfrm>
            <a:off x="3536899"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2</a:t>
            </a:r>
            <a:endParaRPr lang="en-US" sz="800" dirty="0"/>
          </a:p>
        </p:txBody>
      </p:sp>
      <p:sp>
        <p:nvSpPr>
          <p:cNvPr id="10" name="Shape 8"/>
          <p:cNvSpPr/>
          <p:nvPr/>
        </p:nvSpPr>
        <p:spPr>
          <a:xfrm>
            <a:off x="5043830" y="969264"/>
            <a:ext cx="1689811" cy="274320"/>
          </a:xfrm>
          <a:prstGeom prst="chevron">
            <a:avLst/>
          </a:prstGeom>
          <a:solidFill>
            <a:srgbClr val="081F5C"/>
          </a:solidFill>
          <a:ln w="6350">
            <a:solidFill>
              <a:srgbClr val="081F5C"/>
            </a:solidFill>
            <a:prstDash val="solid"/>
          </a:ln>
        </p:spPr>
      </p:sp>
      <p:sp>
        <p:nvSpPr>
          <p:cNvPr id="11" name="Text 9"/>
          <p:cNvSpPr/>
          <p:nvPr/>
        </p:nvSpPr>
        <p:spPr>
          <a:xfrm>
            <a:off x="5226710"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3</a:t>
            </a:r>
            <a:endParaRPr lang="en-US" sz="800" dirty="0"/>
          </a:p>
        </p:txBody>
      </p:sp>
      <p:sp>
        <p:nvSpPr>
          <p:cNvPr id="12" name="Shape 10"/>
          <p:cNvSpPr/>
          <p:nvPr/>
        </p:nvSpPr>
        <p:spPr>
          <a:xfrm>
            <a:off x="6733642" y="969264"/>
            <a:ext cx="1689811" cy="274320"/>
          </a:xfrm>
          <a:prstGeom prst="chevron">
            <a:avLst/>
          </a:prstGeom>
          <a:solidFill>
            <a:srgbClr val="081F5C"/>
          </a:solidFill>
          <a:ln w="6350">
            <a:solidFill>
              <a:srgbClr val="081F5C"/>
            </a:solidFill>
            <a:prstDash val="solid"/>
          </a:ln>
        </p:spPr>
      </p:sp>
      <p:sp>
        <p:nvSpPr>
          <p:cNvPr id="13" name="Text 11"/>
          <p:cNvSpPr/>
          <p:nvPr/>
        </p:nvSpPr>
        <p:spPr>
          <a:xfrm>
            <a:off x="6916522"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4</a:t>
            </a:r>
            <a:endParaRPr lang="en-US" sz="800" dirty="0"/>
          </a:p>
        </p:txBody>
      </p:sp>
      <p:sp>
        <p:nvSpPr>
          <p:cNvPr id="14" name="Shape 12"/>
          <p:cNvSpPr/>
          <p:nvPr/>
        </p:nvSpPr>
        <p:spPr>
          <a:xfrm>
            <a:off x="8423453" y="969264"/>
            <a:ext cx="1689811" cy="274320"/>
          </a:xfrm>
          <a:prstGeom prst="chevron">
            <a:avLst/>
          </a:prstGeom>
          <a:solidFill>
            <a:srgbClr val="081F5C"/>
          </a:solidFill>
          <a:ln w="6350">
            <a:solidFill>
              <a:srgbClr val="081F5C"/>
            </a:solidFill>
            <a:prstDash val="solid"/>
          </a:ln>
        </p:spPr>
      </p:sp>
      <p:sp>
        <p:nvSpPr>
          <p:cNvPr id="15" name="Text 13"/>
          <p:cNvSpPr/>
          <p:nvPr/>
        </p:nvSpPr>
        <p:spPr>
          <a:xfrm>
            <a:off x="8606333"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5</a:t>
            </a:r>
            <a:endParaRPr lang="en-US" sz="800" dirty="0"/>
          </a:p>
        </p:txBody>
      </p:sp>
      <p:sp>
        <p:nvSpPr>
          <p:cNvPr id="16" name="Shape 14"/>
          <p:cNvSpPr/>
          <p:nvPr/>
        </p:nvSpPr>
        <p:spPr>
          <a:xfrm>
            <a:off x="10113264" y="969264"/>
            <a:ext cx="1689811" cy="274320"/>
          </a:xfrm>
          <a:prstGeom prst="chevron">
            <a:avLst/>
          </a:prstGeom>
          <a:solidFill>
            <a:srgbClr val="081F5C"/>
          </a:solidFill>
          <a:ln w="6350">
            <a:solidFill>
              <a:srgbClr val="081F5C"/>
            </a:solidFill>
            <a:prstDash val="solid"/>
          </a:ln>
        </p:spPr>
      </p:sp>
      <p:sp>
        <p:nvSpPr>
          <p:cNvPr id="17" name="Text 15"/>
          <p:cNvSpPr/>
          <p:nvPr/>
        </p:nvSpPr>
        <p:spPr>
          <a:xfrm>
            <a:off x="10296144" y="969264"/>
            <a:ext cx="1415491" cy="274320"/>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STEP 6</a:t>
            </a:r>
            <a:endParaRPr lang="en-US" sz="800" dirty="0"/>
          </a:p>
        </p:txBody>
      </p:sp>
      <p:sp>
        <p:nvSpPr>
          <p:cNvPr id="18" name="Shape 16"/>
          <p:cNvSpPr/>
          <p:nvPr/>
        </p:nvSpPr>
        <p:spPr>
          <a:xfrm>
            <a:off x="384048" y="1353312"/>
            <a:ext cx="1371600" cy="786384"/>
          </a:xfrm>
          <a:prstGeom prst="rect">
            <a:avLst/>
          </a:prstGeom>
          <a:solidFill>
            <a:srgbClr val="68349A"/>
          </a:solidFill>
          <a:ln w="6350">
            <a:solidFill>
              <a:srgbClr val="68349A"/>
            </a:solidFill>
            <a:prstDash val="solid"/>
          </a:ln>
        </p:spPr>
      </p:sp>
      <p:sp>
        <p:nvSpPr>
          <p:cNvPr id="19" name="Text 17"/>
          <p:cNvSpPr/>
          <p:nvPr/>
        </p:nvSpPr>
        <p:spPr>
          <a:xfrm>
            <a:off x="384048" y="1353312"/>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CogitoSQL</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Rearchitect</a:t>
            </a:r>
            <a:endParaRPr lang="en-US" sz="900" dirty="0"/>
          </a:p>
        </p:txBody>
      </p:sp>
      <p:sp>
        <p:nvSpPr>
          <p:cNvPr id="20" name="Shape 18"/>
          <p:cNvSpPr/>
          <p:nvPr/>
        </p:nvSpPr>
        <p:spPr>
          <a:xfrm>
            <a:off x="1847088" y="1353312"/>
            <a:ext cx="1506931" cy="786384"/>
          </a:xfrm>
          <a:prstGeom prst="rect">
            <a:avLst/>
          </a:prstGeom>
          <a:solidFill>
            <a:srgbClr val="ADDAFB"/>
          </a:solidFill>
          <a:ln w="6350">
            <a:solidFill>
              <a:srgbClr val="ADDAFB"/>
            </a:solidFill>
            <a:prstDash val="solid"/>
          </a:ln>
        </p:spPr>
      </p:sp>
      <p:sp>
        <p:nvSpPr>
          <p:cNvPr id="21" name="Text 19"/>
          <p:cNvSpPr/>
          <p:nvPr/>
        </p:nvSpPr>
        <p:spPr>
          <a:xfrm>
            <a:off x="1847088"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Confirm Epic-native fit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Verify every data element exists in Clarity or Caboodle. Flag any custom-schema gap.</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Gap list signed by the Cogito lead</a:t>
            </a:r>
            <a:endParaRPr lang="en-US" sz="780" dirty="0"/>
          </a:p>
        </p:txBody>
      </p:sp>
      <p:sp>
        <p:nvSpPr>
          <p:cNvPr id="22" name="Shape 20"/>
          <p:cNvSpPr/>
          <p:nvPr/>
        </p:nvSpPr>
        <p:spPr>
          <a:xfrm>
            <a:off x="3370478" y="1627632"/>
            <a:ext cx="149962" cy="237744"/>
          </a:xfrm>
          <a:prstGeom prst="chevron">
            <a:avLst/>
          </a:prstGeom>
          <a:solidFill>
            <a:srgbClr val="EEEEEE"/>
          </a:solidFill>
          <a:ln w="6350">
            <a:solidFill>
              <a:srgbClr val="EEEEEE"/>
            </a:solidFill>
            <a:prstDash val="solid"/>
          </a:ln>
        </p:spPr>
      </p:sp>
      <p:sp>
        <p:nvSpPr>
          <p:cNvPr id="23" name="Shape 21"/>
          <p:cNvSpPr/>
          <p:nvPr/>
        </p:nvSpPr>
        <p:spPr>
          <a:xfrm>
            <a:off x="3536899" y="1353312"/>
            <a:ext cx="1506931" cy="786384"/>
          </a:xfrm>
          <a:prstGeom prst="rect">
            <a:avLst/>
          </a:prstGeom>
          <a:solidFill>
            <a:srgbClr val="ADDAFB"/>
          </a:solidFill>
          <a:ln w="6350">
            <a:solidFill>
              <a:srgbClr val="ADDAFB"/>
            </a:solidFill>
            <a:prstDash val="solid"/>
          </a:ln>
        </p:spPr>
      </p:sp>
      <p:sp>
        <p:nvSpPr>
          <p:cNvPr id="24" name="Text 22"/>
          <p:cNvSpPr/>
          <p:nvPr/>
        </p:nvSpPr>
        <p:spPr>
          <a:xfrm>
            <a:off x="3536899"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Pick the Epic tool</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Choose Reporting Workbench, Radar, SlicerDicer or a governed Cogito SQL view.</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Tool decision in the asset record</a:t>
            </a:r>
            <a:endParaRPr lang="en-US" sz="780" dirty="0"/>
          </a:p>
        </p:txBody>
      </p:sp>
      <p:sp>
        <p:nvSpPr>
          <p:cNvPr id="25" name="Shape 23"/>
          <p:cNvSpPr/>
          <p:nvPr/>
        </p:nvSpPr>
        <p:spPr>
          <a:xfrm>
            <a:off x="5060290" y="1627632"/>
            <a:ext cx="149962" cy="237744"/>
          </a:xfrm>
          <a:prstGeom prst="chevron">
            <a:avLst/>
          </a:prstGeom>
          <a:solidFill>
            <a:srgbClr val="EEEEEE"/>
          </a:solidFill>
          <a:ln w="6350">
            <a:solidFill>
              <a:srgbClr val="EEEEEE"/>
            </a:solidFill>
            <a:prstDash val="solid"/>
          </a:ln>
        </p:spPr>
      </p:sp>
      <p:sp>
        <p:nvSpPr>
          <p:cNvPr id="26" name="Shape 24"/>
          <p:cNvSpPr/>
          <p:nvPr/>
        </p:nvSpPr>
        <p:spPr>
          <a:xfrm>
            <a:off x="5226710" y="1353312"/>
            <a:ext cx="1506931" cy="786384"/>
          </a:xfrm>
          <a:prstGeom prst="rect">
            <a:avLst/>
          </a:prstGeom>
          <a:solidFill>
            <a:srgbClr val="ADDAFB"/>
          </a:solidFill>
          <a:ln w="6350">
            <a:solidFill>
              <a:srgbClr val="ADDAFB"/>
            </a:solidFill>
            <a:prstDash val="solid"/>
          </a:ln>
        </p:spPr>
      </p:sp>
      <p:sp>
        <p:nvSpPr>
          <p:cNvPr id="27" name="Text 25"/>
          <p:cNvSpPr/>
          <p:nvPr/>
        </p:nvSpPr>
        <p:spPr>
          <a:xfrm>
            <a:off x="5226710"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Translate the security</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Map universe restrictions onto Epic security classes and template security.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Mapping reviewed by Epic security</a:t>
            </a:r>
            <a:endParaRPr lang="en-US" sz="780" dirty="0"/>
          </a:p>
        </p:txBody>
      </p:sp>
      <p:sp>
        <p:nvSpPr>
          <p:cNvPr id="28" name="Shape 26"/>
          <p:cNvSpPr/>
          <p:nvPr/>
        </p:nvSpPr>
        <p:spPr>
          <a:xfrm>
            <a:off x="6750101" y="1627632"/>
            <a:ext cx="149962" cy="237744"/>
          </a:xfrm>
          <a:prstGeom prst="chevron">
            <a:avLst/>
          </a:prstGeom>
          <a:solidFill>
            <a:srgbClr val="EEEEEE"/>
          </a:solidFill>
          <a:ln w="6350">
            <a:solidFill>
              <a:srgbClr val="EEEEEE"/>
            </a:solidFill>
            <a:prstDash val="solid"/>
          </a:ln>
        </p:spPr>
      </p:sp>
      <p:sp>
        <p:nvSpPr>
          <p:cNvPr id="29" name="Shape 27"/>
          <p:cNvSpPr/>
          <p:nvPr/>
        </p:nvSpPr>
        <p:spPr>
          <a:xfrm>
            <a:off x="6916522" y="1353312"/>
            <a:ext cx="1506931" cy="786384"/>
          </a:xfrm>
          <a:prstGeom prst="rect">
            <a:avLst/>
          </a:prstGeom>
          <a:solidFill>
            <a:srgbClr val="ADDAFB"/>
          </a:solidFill>
          <a:ln w="6350">
            <a:solidFill>
              <a:srgbClr val="ADDAFB"/>
            </a:solidFill>
            <a:prstDash val="solid"/>
          </a:ln>
        </p:spPr>
      </p:sp>
      <p:sp>
        <p:nvSpPr>
          <p:cNvPr id="30" name="Text 28"/>
          <p:cNvSpPr/>
          <p:nvPr/>
        </p:nvSpPr>
        <p:spPr>
          <a:xfrm>
            <a:off x="6916522"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Build in non-prod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Configure the template. Peer-review it against the source report specification.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Build peer-reviewed in non-prod</a:t>
            </a:r>
            <a:endParaRPr lang="en-US" sz="780" dirty="0"/>
          </a:p>
        </p:txBody>
      </p:sp>
      <p:sp>
        <p:nvSpPr>
          <p:cNvPr id="31" name="Shape 29"/>
          <p:cNvSpPr/>
          <p:nvPr/>
        </p:nvSpPr>
        <p:spPr>
          <a:xfrm>
            <a:off x="8439912" y="1627632"/>
            <a:ext cx="149962" cy="237744"/>
          </a:xfrm>
          <a:prstGeom prst="chevron">
            <a:avLst/>
          </a:prstGeom>
          <a:solidFill>
            <a:srgbClr val="EEEEEE"/>
          </a:solidFill>
          <a:ln w="6350">
            <a:solidFill>
              <a:srgbClr val="EEEEEE"/>
            </a:solidFill>
            <a:prstDash val="solid"/>
          </a:ln>
        </p:spPr>
      </p:sp>
      <p:sp>
        <p:nvSpPr>
          <p:cNvPr id="32" name="Shape 30"/>
          <p:cNvSpPr/>
          <p:nvPr/>
        </p:nvSpPr>
        <p:spPr>
          <a:xfrm>
            <a:off x="8606333" y="1353312"/>
            <a:ext cx="1506931" cy="786384"/>
          </a:xfrm>
          <a:prstGeom prst="rect">
            <a:avLst/>
          </a:prstGeom>
          <a:solidFill>
            <a:srgbClr val="ADDAFB"/>
          </a:solidFill>
          <a:ln w="6350">
            <a:solidFill>
              <a:srgbClr val="ADDAFB"/>
            </a:solidFill>
            <a:prstDash val="solid"/>
          </a:ln>
        </p:spPr>
      </p:sp>
      <p:sp>
        <p:nvSpPr>
          <p:cNvPr id="33" name="Text 31"/>
          <p:cNvSpPr/>
          <p:nvPr/>
        </p:nvSpPr>
        <p:spPr>
          <a:xfrm>
            <a:off x="8606333"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rows and totals to L2+. Run clinician UAT inside Hyperspace context.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pack and UAT sign-off</a:t>
            </a:r>
            <a:endParaRPr lang="en-US" sz="780" dirty="0"/>
          </a:p>
        </p:txBody>
      </p:sp>
      <p:sp>
        <p:nvSpPr>
          <p:cNvPr id="34" name="Shape 32"/>
          <p:cNvSpPr/>
          <p:nvPr/>
        </p:nvSpPr>
        <p:spPr>
          <a:xfrm>
            <a:off x="10129723" y="1627632"/>
            <a:ext cx="149962" cy="237744"/>
          </a:xfrm>
          <a:prstGeom prst="chevron">
            <a:avLst/>
          </a:prstGeom>
          <a:solidFill>
            <a:srgbClr val="EEEEEE"/>
          </a:solidFill>
          <a:ln w="6350">
            <a:solidFill>
              <a:srgbClr val="EEEEEE"/>
            </a:solidFill>
            <a:prstDash val="solid"/>
          </a:ln>
        </p:spPr>
      </p:sp>
      <p:sp>
        <p:nvSpPr>
          <p:cNvPr id="35" name="Shape 33"/>
          <p:cNvSpPr/>
          <p:nvPr/>
        </p:nvSpPr>
        <p:spPr>
          <a:xfrm>
            <a:off x="10296144" y="1353312"/>
            <a:ext cx="1506931" cy="786384"/>
          </a:xfrm>
          <a:prstGeom prst="rect">
            <a:avLst/>
          </a:prstGeom>
          <a:solidFill>
            <a:srgbClr val="ADDAFB"/>
          </a:solidFill>
          <a:ln w="6350">
            <a:solidFill>
              <a:srgbClr val="ADDAFB"/>
            </a:solidFill>
            <a:prstDash val="solid"/>
          </a:ln>
        </p:spPr>
      </p:sp>
      <p:sp>
        <p:nvSpPr>
          <p:cNvPr id="36" name="Text 34"/>
          <p:cNvSpPr/>
          <p:nvPr/>
        </p:nvSpPr>
        <p:spPr>
          <a:xfrm>
            <a:off x="10296144" y="1353312"/>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Publish to the release, redirect users, disable schedules, decommission the object.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schedules off</a:t>
            </a:r>
            <a:endParaRPr lang="en-US" sz="780" dirty="0"/>
          </a:p>
        </p:txBody>
      </p:sp>
      <p:sp>
        <p:nvSpPr>
          <p:cNvPr id="37" name="Shape 35"/>
          <p:cNvSpPr/>
          <p:nvPr/>
        </p:nvSpPr>
        <p:spPr>
          <a:xfrm>
            <a:off x="384048" y="2258568"/>
            <a:ext cx="1371600" cy="786384"/>
          </a:xfrm>
          <a:prstGeom prst="rect">
            <a:avLst/>
          </a:prstGeom>
          <a:solidFill>
            <a:srgbClr val="CEF8FC"/>
          </a:solidFill>
          <a:ln w="6350">
            <a:solidFill>
              <a:srgbClr val="CEF8FC"/>
            </a:solidFill>
            <a:prstDash val="solid"/>
          </a:ln>
        </p:spPr>
      </p:sp>
      <p:sp>
        <p:nvSpPr>
          <p:cNvPr id="38" name="Text 36"/>
          <p:cNvSpPr/>
          <p:nvPr/>
        </p:nvSpPr>
        <p:spPr>
          <a:xfrm>
            <a:off x="384048" y="2258568"/>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081F5C"/>
                </a:solidFill>
                <a:latin typeface="Arial" pitchFamily="34" charset="0"/>
                <a:ea typeface="Arial" pitchFamily="34" charset="-122"/>
                <a:cs typeface="Arial" pitchFamily="34" charset="-120"/>
              </a:rPr>
              <a:t>Power BI</a:t>
            </a:r>
            <a:endParaRPr lang="en-US" sz="900" dirty="0"/>
          </a:p>
          <a:p>
            <a:pPr algn="ctr" indent="0" marL="0">
              <a:lnSpc>
                <a:spcPct val="95000"/>
              </a:lnSpc>
              <a:buNone/>
            </a:pPr>
            <a:r>
              <a:rPr lang="en-US" sz="740" i="1" dirty="0">
                <a:solidFill>
                  <a:srgbClr val="081F5C"/>
                </a:solidFill>
                <a:latin typeface="Arial" pitchFamily="34" charset="0"/>
                <a:ea typeface="Arial" pitchFamily="34" charset="-122"/>
                <a:cs typeface="Arial" pitchFamily="34" charset="-120"/>
              </a:rPr>
              <a:t>Rearchitect</a:t>
            </a:r>
            <a:endParaRPr lang="en-US" sz="900" dirty="0"/>
          </a:p>
        </p:txBody>
      </p:sp>
      <p:sp>
        <p:nvSpPr>
          <p:cNvPr id="39" name="Shape 37"/>
          <p:cNvSpPr/>
          <p:nvPr/>
        </p:nvSpPr>
        <p:spPr>
          <a:xfrm>
            <a:off x="1847088" y="2258568"/>
            <a:ext cx="1506931" cy="786384"/>
          </a:xfrm>
          <a:prstGeom prst="rect">
            <a:avLst/>
          </a:prstGeom>
          <a:solidFill>
            <a:srgbClr val="ADDAFB"/>
          </a:solidFill>
          <a:ln w="6350">
            <a:solidFill>
              <a:srgbClr val="ADDAFB"/>
            </a:solidFill>
            <a:prstDash val="solid"/>
          </a:ln>
        </p:spPr>
      </p:sp>
      <p:sp>
        <p:nvSpPr>
          <p:cNvPr id="40" name="Text 38"/>
          <p:cNvSpPr/>
          <p:nvPr/>
        </p:nvSpPr>
        <p:spPr>
          <a:xfrm>
            <a:off x="1847088"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Split the workload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Decide interactive semantic model, Paginated Report, or both from one dataset.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Workload split recorded per artifact</a:t>
            </a:r>
            <a:endParaRPr lang="en-US" sz="780" dirty="0"/>
          </a:p>
        </p:txBody>
      </p:sp>
      <p:sp>
        <p:nvSpPr>
          <p:cNvPr id="41" name="Shape 39"/>
          <p:cNvSpPr/>
          <p:nvPr/>
        </p:nvSpPr>
        <p:spPr>
          <a:xfrm>
            <a:off x="3370478" y="2532888"/>
            <a:ext cx="149962" cy="237744"/>
          </a:xfrm>
          <a:prstGeom prst="chevron">
            <a:avLst/>
          </a:prstGeom>
          <a:solidFill>
            <a:srgbClr val="EEEEEE"/>
          </a:solidFill>
          <a:ln w="6350">
            <a:solidFill>
              <a:srgbClr val="EEEEEE"/>
            </a:solidFill>
            <a:prstDash val="solid"/>
          </a:ln>
        </p:spPr>
      </p:sp>
      <p:sp>
        <p:nvSpPr>
          <p:cNvPr id="42" name="Shape 40"/>
          <p:cNvSpPr/>
          <p:nvPr/>
        </p:nvSpPr>
        <p:spPr>
          <a:xfrm>
            <a:off x="3536899" y="2258568"/>
            <a:ext cx="1506931" cy="786384"/>
          </a:xfrm>
          <a:prstGeom prst="rect">
            <a:avLst/>
          </a:prstGeom>
          <a:solidFill>
            <a:srgbClr val="ADDAFB"/>
          </a:solidFill>
          <a:ln w="6350">
            <a:solidFill>
              <a:srgbClr val="ADDAFB"/>
            </a:solidFill>
            <a:prstDash val="solid"/>
          </a:ln>
        </p:spPr>
      </p:sp>
      <p:sp>
        <p:nvSpPr>
          <p:cNvPr id="43" name="Text 41"/>
          <p:cNvSpPr/>
          <p:nvPr/>
        </p:nvSpPr>
        <p:spPr>
          <a:xfrm>
            <a:off x="3536899"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Certify the dataset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Model the gold-layer tables, define measures, certify the semantic model.</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Semantic model marked certified</a:t>
            </a:r>
            <a:endParaRPr lang="en-US" sz="780" dirty="0"/>
          </a:p>
        </p:txBody>
      </p:sp>
      <p:sp>
        <p:nvSpPr>
          <p:cNvPr id="44" name="Shape 42"/>
          <p:cNvSpPr/>
          <p:nvPr/>
        </p:nvSpPr>
        <p:spPr>
          <a:xfrm>
            <a:off x="5060290" y="2532888"/>
            <a:ext cx="149962" cy="237744"/>
          </a:xfrm>
          <a:prstGeom prst="chevron">
            <a:avLst/>
          </a:prstGeom>
          <a:solidFill>
            <a:srgbClr val="EEEEEE"/>
          </a:solidFill>
          <a:ln w="6350">
            <a:solidFill>
              <a:srgbClr val="EEEEEE"/>
            </a:solidFill>
            <a:prstDash val="solid"/>
          </a:ln>
        </p:spPr>
      </p:sp>
      <p:sp>
        <p:nvSpPr>
          <p:cNvPr id="45" name="Shape 43"/>
          <p:cNvSpPr/>
          <p:nvPr/>
        </p:nvSpPr>
        <p:spPr>
          <a:xfrm>
            <a:off x="5226710" y="2258568"/>
            <a:ext cx="1506931" cy="786384"/>
          </a:xfrm>
          <a:prstGeom prst="rect">
            <a:avLst/>
          </a:prstGeom>
          <a:solidFill>
            <a:srgbClr val="ADDAFB"/>
          </a:solidFill>
          <a:ln w="6350">
            <a:solidFill>
              <a:srgbClr val="ADDAFB"/>
            </a:solidFill>
            <a:prstDash val="solid"/>
          </a:ln>
        </p:spPr>
      </p:sp>
      <p:sp>
        <p:nvSpPr>
          <p:cNvPr id="46" name="Text 44"/>
          <p:cNvSpPr/>
          <p:nvPr/>
        </p:nvSpPr>
        <p:spPr>
          <a:xfrm>
            <a:off x="5226710"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Rebuild the artifact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Recreate the visuals, or reproduce the statutory layout in Paginated Reports.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Artifact built and peer-reviewed</a:t>
            </a:r>
            <a:endParaRPr lang="en-US" sz="780" dirty="0"/>
          </a:p>
        </p:txBody>
      </p:sp>
      <p:sp>
        <p:nvSpPr>
          <p:cNvPr id="47" name="Shape 45"/>
          <p:cNvSpPr/>
          <p:nvPr/>
        </p:nvSpPr>
        <p:spPr>
          <a:xfrm>
            <a:off x="6750101" y="2532888"/>
            <a:ext cx="149962" cy="237744"/>
          </a:xfrm>
          <a:prstGeom prst="chevron">
            <a:avLst/>
          </a:prstGeom>
          <a:solidFill>
            <a:srgbClr val="EEEEEE"/>
          </a:solidFill>
          <a:ln w="6350">
            <a:solidFill>
              <a:srgbClr val="EEEEEE"/>
            </a:solidFill>
            <a:prstDash val="solid"/>
          </a:ln>
        </p:spPr>
      </p:sp>
      <p:sp>
        <p:nvSpPr>
          <p:cNvPr id="48" name="Shape 46"/>
          <p:cNvSpPr/>
          <p:nvPr/>
        </p:nvSpPr>
        <p:spPr>
          <a:xfrm>
            <a:off x="6916522" y="2258568"/>
            <a:ext cx="1506931" cy="786384"/>
          </a:xfrm>
          <a:prstGeom prst="rect">
            <a:avLst/>
          </a:prstGeom>
          <a:solidFill>
            <a:srgbClr val="ADDAFB"/>
          </a:solidFill>
          <a:ln w="6350">
            <a:solidFill>
              <a:srgbClr val="ADDAFB"/>
            </a:solidFill>
            <a:prstDash val="solid"/>
          </a:ln>
        </p:spPr>
      </p:sp>
      <p:sp>
        <p:nvSpPr>
          <p:cNvPr id="49" name="Text 47"/>
          <p:cNvSpPr/>
          <p:nvPr/>
        </p:nvSpPr>
        <p:spPr>
          <a:xfrm>
            <a:off x="6916522"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Wire RLS and delivery</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Set Entra roles, sensitivity labels and subscriptions replacing BOBJ publications.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RLS tested with a non-privileged account</a:t>
            </a:r>
            <a:endParaRPr lang="en-US" sz="780" dirty="0"/>
          </a:p>
        </p:txBody>
      </p:sp>
      <p:sp>
        <p:nvSpPr>
          <p:cNvPr id="50" name="Shape 48"/>
          <p:cNvSpPr/>
          <p:nvPr/>
        </p:nvSpPr>
        <p:spPr>
          <a:xfrm>
            <a:off x="8439912" y="2532888"/>
            <a:ext cx="149962" cy="237744"/>
          </a:xfrm>
          <a:prstGeom prst="chevron">
            <a:avLst/>
          </a:prstGeom>
          <a:solidFill>
            <a:srgbClr val="EEEEEE"/>
          </a:solidFill>
          <a:ln w="6350">
            <a:solidFill>
              <a:srgbClr val="EEEEEE"/>
            </a:solidFill>
            <a:prstDash val="solid"/>
          </a:ln>
        </p:spPr>
      </p:sp>
      <p:sp>
        <p:nvSpPr>
          <p:cNvPr id="51" name="Shape 49"/>
          <p:cNvSpPr/>
          <p:nvPr/>
        </p:nvSpPr>
        <p:spPr>
          <a:xfrm>
            <a:off x="8606333" y="2258568"/>
            <a:ext cx="1506931" cy="786384"/>
          </a:xfrm>
          <a:prstGeom prst="rect">
            <a:avLst/>
          </a:prstGeom>
          <a:solidFill>
            <a:srgbClr val="ADDAFB"/>
          </a:solidFill>
          <a:ln w="6350">
            <a:solidFill>
              <a:srgbClr val="ADDAFB"/>
            </a:solidFill>
            <a:prstDash val="solid"/>
          </a:ln>
        </p:spPr>
      </p:sp>
      <p:sp>
        <p:nvSpPr>
          <p:cNvPr id="52" name="Text 50"/>
          <p:cNvSpPr/>
          <p:nvPr/>
        </p:nvSpPr>
        <p:spPr>
          <a:xfrm>
            <a:off x="8606333"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the data, check layout fidelity, run a full subscription burst test.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and burst-test evidence</a:t>
            </a:r>
            <a:endParaRPr lang="en-US" sz="780" dirty="0"/>
          </a:p>
        </p:txBody>
      </p:sp>
      <p:sp>
        <p:nvSpPr>
          <p:cNvPr id="53" name="Shape 51"/>
          <p:cNvSpPr/>
          <p:nvPr/>
        </p:nvSpPr>
        <p:spPr>
          <a:xfrm>
            <a:off x="10129723" y="2532888"/>
            <a:ext cx="149962" cy="237744"/>
          </a:xfrm>
          <a:prstGeom prst="chevron">
            <a:avLst/>
          </a:prstGeom>
          <a:solidFill>
            <a:srgbClr val="EEEEEE"/>
          </a:solidFill>
          <a:ln w="6350">
            <a:solidFill>
              <a:srgbClr val="EEEEEE"/>
            </a:solidFill>
            <a:prstDash val="solid"/>
          </a:ln>
        </p:spPr>
      </p:sp>
      <p:sp>
        <p:nvSpPr>
          <p:cNvPr id="54" name="Shape 52"/>
          <p:cNvSpPr/>
          <p:nvPr/>
        </p:nvSpPr>
        <p:spPr>
          <a:xfrm>
            <a:off x="10296144" y="2258568"/>
            <a:ext cx="1506931" cy="786384"/>
          </a:xfrm>
          <a:prstGeom prst="rect">
            <a:avLst/>
          </a:prstGeom>
          <a:solidFill>
            <a:srgbClr val="ADDAFB"/>
          </a:solidFill>
          <a:ln w="6350">
            <a:solidFill>
              <a:srgbClr val="ADDAFB"/>
            </a:solidFill>
            <a:prstDash val="solid"/>
          </a:ln>
        </p:spPr>
      </p:sp>
      <p:sp>
        <p:nvSpPr>
          <p:cNvPr id="55" name="Text 53"/>
          <p:cNvSpPr/>
          <p:nvPr/>
        </p:nvSpPr>
        <p:spPr>
          <a:xfrm>
            <a:off x="10296144" y="2258568"/>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Deploy through the workspace pipeline, redirect users, decommission the object.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publications off</a:t>
            </a:r>
            <a:endParaRPr lang="en-US" sz="780" dirty="0"/>
          </a:p>
        </p:txBody>
      </p:sp>
      <p:sp>
        <p:nvSpPr>
          <p:cNvPr id="56" name="Shape 54"/>
          <p:cNvSpPr/>
          <p:nvPr/>
        </p:nvSpPr>
        <p:spPr>
          <a:xfrm>
            <a:off x="384048" y="3163824"/>
            <a:ext cx="1371600" cy="786384"/>
          </a:xfrm>
          <a:prstGeom prst="rect">
            <a:avLst/>
          </a:prstGeom>
          <a:solidFill>
            <a:srgbClr val="CEF8FC"/>
          </a:solidFill>
          <a:ln w="6350">
            <a:solidFill>
              <a:srgbClr val="CEF8FC"/>
            </a:solidFill>
            <a:prstDash val="solid"/>
          </a:ln>
        </p:spPr>
      </p:sp>
      <p:sp>
        <p:nvSpPr>
          <p:cNvPr id="57" name="Text 55"/>
          <p:cNvSpPr/>
          <p:nvPr/>
        </p:nvSpPr>
        <p:spPr>
          <a:xfrm>
            <a:off x="384048" y="3163824"/>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081F5C"/>
                </a:solidFill>
                <a:latin typeface="Arial" pitchFamily="34" charset="0"/>
                <a:ea typeface="Arial" pitchFamily="34" charset="-122"/>
                <a:cs typeface="Arial" pitchFamily="34" charset="-120"/>
              </a:rPr>
              <a:t>Databricks AI/BI</a:t>
            </a:r>
            <a:endParaRPr lang="en-US" sz="900" dirty="0"/>
          </a:p>
          <a:p>
            <a:pPr algn="ctr" indent="0" marL="0">
              <a:lnSpc>
                <a:spcPct val="95000"/>
              </a:lnSpc>
              <a:buNone/>
            </a:pPr>
            <a:r>
              <a:rPr lang="en-US" sz="740" i="1" dirty="0">
                <a:solidFill>
                  <a:srgbClr val="081F5C"/>
                </a:solidFill>
                <a:latin typeface="Arial" pitchFamily="34" charset="0"/>
                <a:ea typeface="Arial" pitchFamily="34" charset="-122"/>
                <a:cs typeface="Arial" pitchFamily="34" charset="-120"/>
              </a:rPr>
              <a:t>Replatform</a:t>
            </a:r>
            <a:endParaRPr lang="en-US" sz="900" dirty="0"/>
          </a:p>
        </p:txBody>
      </p:sp>
      <p:sp>
        <p:nvSpPr>
          <p:cNvPr id="58" name="Shape 56"/>
          <p:cNvSpPr/>
          <p:nvPr/>
        </p:nvSpPr>
        <p:spPr>
          <a:xfrm>
            <a:off x="1847088" y="3163824"/>
            <a:ext cx="1506931" cy="786384"/>
          </a:xfrm>
          <a:prstGeom prst="rect">
            <a:avLst/>
          </a:prstGeom>
          <a:solidFill>
            <a:srgbClr val="ADDAFB"/>
          </a:solidFill>
          <a:ln w="6350">
            <a:solidFill>
              <a:srgbClr val="ADDAFB"/>
            </a:solidFill>
            <a:prstDash val="solid"/>
          </a:ln>
        </p:spPr>
      </p:sp>
      <p:sp>
        <p:nvSpPr>
          <p:cNvPr id="59" name="Text 57"/>
          <p:cNvSpPr/>
          <p:nvPr/>
        </p:nvSpPr>
        <p:spPr>
          <a:xfrm>
            <a:off x="1847088"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Land the source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Ingest the Oracle and Epic custom-schema objects into bronze via CDC or batch.</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Bronze feed running and monitored</a:t>
            </a:r>
            <a:endParaRPr lang="en-US" sz="780" dirty="0"/>
          </a:p>
        </p:txBody>
      </p:sp>
      <p:sp>
        <p:nvSpPr>
          <p:cNvPr id="60" name="Shape 58"/>
          <p:cNvSpPr/>
          <p:nvPr/>
        </p:nvSpPr>
        <p:spPr>
          <a:xfrm>
            <a:off x="3370478" y="3438144"/>
            <a:ext cx="149962" cy="237744"/>
          </a:xfrm>
          <a:prstGeom prst="chevron">
            <a:avLst/>
          </a:prstGeom>
          <a:solidFill>
            <a:srgbClr val="EEEEEE"/>
          </a:solidFill>
          <a:ln w="6350">
            <a:solidFill>
              <a:srgbClr val="EEEEEE"/>
            </a:solidFill>
            <a:prstDash val="solid"/>
          </a:ln>
        </p:spPr>
      </p:sp>
      <p:sp>
        <p:nvSpPr>
          <p:cNvPr id="61" name="Shape 59"/>
          <p:cNvSpPr/>
          <p:nvPr/>
        </p:nvSpPr>
        <p:spPr>
          <a:xfrm>
            <a:off x="3536899" y="3163824"/>
            <a:ext cx="1506931" cy="786384"/>
          </a:xfrm>
          <a:prstGeom prst="rect">
            <a:avLst/>
          </a:prstGeom>
          <a:solidFill>
            <a:srgbClr val="ADDAFB"/>
          </a:solidFill>
          <a:ln w="6350">
            <a:solidFill>
              <a:srgbClr val="ADDAFB"/>
            </a:solidFill>
            <a:prstDash val="solid"/>
          </a:ln>
        </p:spPr>
      </p:sp>
      <p:sp>
        <p:nvSpPr>
          <p:cNvPr id="62" name="Text 60"/>
          <p:cNvSpPr/>
          <p:nvPr/>
        </p:nvSpPr>
        <p:spPr>
          <a:xfrm>
            <a:off x="3536899"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Model up to gold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Rebuild the universe logic as Delta tables and Unity Catalog metric views.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Gold tables and metric views published</a:t>
            </a:r>
            <a:endParaRPr lang="en-US" sz="780" dirty="0"/>
          </a:p>
        </p:txBody>
      </p:sp>
      <p:sp>
        <p:nvSpPr>
          <p:cNvPr id="63" name="Shape 61"/>
          <p:cNvSpPr/>
          <p:nvPr/>
        </p:nvSpPr>
        <p:spPr>
          <a:xfrm>
            <a:off x="5060290" y="3438144"/>
            <a:ext cx="149962" cy="237744"/>
          </a:xfrm>
          <a:prstGeom prst="chevron">
            <a:avLst/>
          </a:prstGeom>
          <a:solidFill>
            <a:srgbClr val="EEEEEE"/>
          </a:solidFill>
          <a:ln w="6350">
            <a:solidFill>
              <a:srgbClr val="EEEEEE"/>
            </a:solidFill>
            <a:prstDash val="solid"/>
          </a:ln>
        </p:spPr>
      </p:sp>
      <p:sp>
        <p:nvSpPr>
          <p:cNvPr id="64" name="Shape 62"/>
          <p:cNvSpPr/>
          <p:nvPr/>
        </p:nvSpPr>
        <p:spPr>
          <a:xfrm>
            <a:off x="5226710" y="3163824"/>
            <a:ext cx="1506931" cy="786384"/>
          </a:xfrm>
          <a:prstGeom prst="rect">
            <a:avLst/>
          </a:prstGeom>
          <a:solidFill>
            <a:srgbClr val="ADDAFB"/>
          </a:solidFill>
          <a:ln w="6350">
            <a:solidFill>
              <a:srgbClr val="ADDAFB"/>
            </a:solidFill>
            <a:prstDash val="solid"/>
          </a:ln>
        </p:spPr>
      </p:sp>
      <p:sp>
        <p:nvSpPr>
          <p:cNvPr id="65" name="Text 63"/>
          <p:cNvSpPr/>
          <p:nvPr/>
        </p:nvSpPr>
        <p:spPr>
          <a:xfrm>
            <a:off x="5226710"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Apply the governance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Set UC row filters, column masks, lineage capture and audit logging.</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UC policies applied, audit logging on</a:t>
            </a:r>
            <a:endParaRPr lang="en-US" sz="780" dirty="0"/>
          </a:p>
        </p:txBody>
      </p:sp>
      <p:sp>
        <p:nvSpPr>
          <p:cNvPr id="66" name="Shape 64"/>
          <p:cNvSpPr/>
          <p:nvPr/>
        </p:nvSpPr>
        <p:spPr>
          <a:xfrm>
            <a:off x="6750101" y="3438144"/>
            <a:ext cx="149962" cy="237744"/>
          </a:xfrm>
          <a:prstGeom prst="chevron">
            <a:avLst/>
          </a:prstGeom>
          <a:solidFill>
            <a:srgbClr val="EEEEEE"/>
          </a:solidFill>
          <a:ln w="6350">
            <a:solidFill>
              <a:srgbClr val="EEEEEE"/>
            </a:solidFill>
            <a:prstDash val="solid"/>
          </a:ln>
        </p:spPr>
      </p:sp>
      <p:sp>
        <p:nvSpPr>
          <p:cNvPr id="67" name="Shape 65"/>
          <p:cNvSpPr/>
          <p:nvPr/>
        </p:nvSpPr>
        <p:spPr>
          <a:xfrm>
            <a:off x="6916522" y="3163824"/>
            <a:ext cx="1506931" cy="786384"/>
          </a:xfrm>
          <a:prstGeom prst="rect">
            <a:avLst/>
          </a:prstGeom>
          <a:solidFill>
            <a:srgbClr val="ADDAFB"/>
          </a:solidFill>
          <a:ln w="6350">
            <a:solidFill>
              <a:srgbClr val="ADDAFB"/>
            </a:solidFill>
            <a:prstDash val="solid"/>
          </a:ln>
        </p:spPr>
      </p:sp>
      <p:sp>
        <p:nvSpPr>
          <p:cNvPr id="68" name="Text 66"/>
          <p:cNvSpPr/>
          <p:nvPr/>
        </p:nvSpPr>
        <p:spPr>
          <a:xfrm>
            <a:off x="6916522"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Build the dashboard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Recreate the visuals. Scope a Genie space to gold tables with curated instructions.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Dashboard and Genie space reviewed</a:t>
            </a:r>
            <a:endParaRPr lang="en-US" sz="780" dirty="0"/>
          </a:p>
        </p:txBody>
      </p:sp>
      <p:sp>
        <p:nvSpPr>
          <p:cNvPr id="69" name="Shape 67"/>
          <p:cNvSpPr/>
          <p:nvPr/>
        </p:nvSpPr>
        <p:spPr>
          <a:xfrm>
            <a:off x="8439912" y="3438144"/>
            <a:ext cx="149962" cy="237744"/>
          </a:xfrm>
          <a:prstGeom prst="chevron">
            <a:avLst/>
          </a:prstGeom>
          <a:solidFill>
            <a:srgbClr val="EEEEEE"/>
          </a:solidFill>
          <a:ln w="6350">
            <a:solidFill>
              <a:srgbClr val="EEEEEE"/>
            </a:solidFill>
            <a:prstDash val="solid"/>
          </a:ln>
        </p:spPr>
      </p:sp>
      <p:sp>
        <p:nvSpPr>
          <p:cNvPr id="70" name="Shape 68"/>
          <p:cNvSpPr/>
          <p:nvPr/>
        </p:nvSpPr>
        <p:spPr>
          <a:xfrm>
            <a:off x="8606333" y="3163824"/>
            <a:ext cx="1506931" cy="786384"/>
          </a:xfrm>
          <a:prstGeom prst="rect">
            <a:avLst/>
          </a:prstGeom>
          <a:solidFill>
            <a:srgbClr val="ADDAFB"/>
          </a:solidFill>
          <a:ln w="6350">
            <a:solidFill>
              <a:srgbClr val="ADDAFB"/>
            </a:solidFill>
            <a:prstDash val="solid"/>
          </a:ln>
        </p:spPr>
      </p:sp>
      <p:sp>
        <p:nvSpPr>
          <p:cNvPr id="71" name="Text 69"/>
          <p:cNvSpPr/>
          <p:nvPr/>
        </p:nvSpPr>
        <p:spPr>
          <a:xfrm>
            <a:off x="8606333"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Prove equivalence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Reconcile to BOBJ output. Test Genie against a known-answer question set.</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Reconciliation and Genie test results</a:t>
            </a:r>
            <a:endParaRPr lang="en-US" sz="780" dirty="0"/>
          </a:p>
        </p:txBody>
      </p:sp>
      <p:sp>
        <p:nvSpPr>
          <p:cNvPr id="72" name="Shape 70"/>
          <p:cNvSpPr/>
          <p:nvPr/>
        </p:nvSpPr>
        <p:spPr>
          <a:xfrm>
            <a:off x="10129723" y="3438144"/>
            <a:ext cx="149962" cy="237744"/>
          </a:xfrm>
          <a:prstGeom prst="chevron">
            <a:avLst/>
          </a:prstGeom>
          <a:solidFill>
            <a:srgbClr val="EEEEEE"/>
          </a:solidFill>
          <a:ln w="6350">
            <a:solidFill>
              <a:srgbClr val="EEEEEE"/>
            </a:solidFill>
            <a:prstDash val="solid"/>
          </a:ln>
        </p:spPr>
      </p:sp>
      <p:sp>
        <p:nvSpPr>
          <p:cNvPr id="73" name="Shape 71"/>
          <p:cNvSpPr/>
          <p:nvPr/>
        </p:nvSpPr>
        <p:spPr>
          <a:xfrm>
            <a:off x="10296144" y="3163824"/>
            <a:ext cx="1506931" cy="786384"/>
          </a:xfrm>
          <a:prstGeom prst="rect">
            <a:avLst/>
          </a:prstGeom>
          <a:solidFill>
            <a:srgbClr val="ADDAFB"/>
          </a:solidFill>
          <a:ln w="6350">
            <a:solidFill>
              <a:srgbClr val="ADDAFB"/>
            </a:solidFill>
            <a:prstDash val="solid"/>
          </a:ln>
        </p:spPr>
      </p:sp>
      <p:sp>
        <p:nvSpPr>
          <p:cNvPr id="74" name="Text 72"/>
          <p:cNvSpPr/>
          <p:nvPr/>
        </p:nvSpPr>
        <p:spPr>
          <a:xfrm>
            <a:off x="10296144" y="3163824"/>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Release and retire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Grant through UC groups, redirect users, retire the object and the Oracle feed.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BOBJ object deleted, Oracle feed off</a:t>
            </a:r>
            <a:endParaRPr lang="en-US" sz="780" dirty="0"/>
          </a:p>
        </p:txBody>
      </p:sp>
      <p:sp>
        <p:nvSpPr>
          <p:cNvPr id="75" name="Shape 73"/>
          <p:cNvSpPr/>
          <p:nvPr/>
        </p:nvSpPr>
        <p:spPr>
          <a:xfrm>
            <a:off x="384048" y="4069080"/>
            <a:ext cx="1371600" cy="786384"/>
          </a:xfrm>
          <a:prstGeom prst="rect">
            <a:avLst/>
          </a:prstGeom>
          <a:solidFill>
            <a:srgbClr val="707070"/>
          </a:solidFill>
          <a:ln w="6350">
            <a:solidFill>
              <a:srgbClr val="707070"/>
            </a:solidFill>
            <a:prstDash val="solid"/>
          </a:ln>
        </p:spPr>
      </p:sp>
      <p:sp>
        <p:nvSpPr>
          <p:cNvPr id="76" name="Text 74"/>
          <p:cNvSpPr/>
          <p:nvPr/>
        </p:nvSpPr>
        <p:spPr>
          <a:xfrm>
            <a:off x="384048" y="4069080"/>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Retire / Consolidate</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Run down</a:t>
            </a:r>
            <a:endParaRPr lang="en-US" sz="900" dirty="0"/>
          </a:p>
        </p:txBody>
      </p:sp>
      <p:sp>
        <p:nvSpPr>
          <p:cNvPr id="77" name="Shape 75"/>
          <p:cNvSpPr/>
          <p:nvPr/>
        </p:nvSpPr>
        <p:spPr>
          <a:xfrm>
            <a:off x="1847088" y="4069080"/>
            <a:ext cx="1506931" cy="786384"/>
          </a:xfrm>
          <a:prstGeom prst="rect">
            <a:avLst/>
          </a:prstGeom>
          <a:solidFill>
            <a:srgbClr val="F2F2F2"/>
          </a:solidFill>
          <a:ln w="6350">
            <a:solidFill>
              <a:srgbClr val="E2E2E2"/>
            </a:solidFill>
            <a:prstDash val="solid"/>
          </a:ln>
        </p:spPr>
      </p:sp>
      <p:sp>
        <p:nvSpPr>
          <p:cNvPr id="78" name="Text 76"/>
          <p:cNvSpPr/>
          <p:nvPr/>
        </p:nvSpPr>
        <p:spPr>
          <a:xfrm>
            <a:off x="1847088"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Document the evidence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Record the 18-month usage finding, or the duplicate class and its survivor.</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Evidence attached to the asset record</a:t>
            </a:r>
            <a:endParaRPr lang="en-US" sz="780" dirty="0"/>
          </a:p>
        </p:txBody>
      </p:sp>
      <p:sp>
        <p:nvSpPr>
          <p:cNvPr id="79" name="Shape 77"/>
          <p:cNvSpPr/>
          <p:nvPr/>
        </p:nvSpPr>
        <p:spPr>
          <a:xfrm>
            <a:off x="3370478" y="4343400"/>
            <a:ext cx="149962" cy="237744"/>
          </a:xfrm>
          <a:prstGeom prst="chevron">
            <a:avLst/>
          </a:prstGeom>
          <a:solidFill>
            <a:srgbClr val="EEEEEE"/>
          </a:solidFill>
          <a:ln w="6350">
            <a:solidFill>
              <a:srgbClr val="EEEEEE"/>
            </a:solidFill>
            <a:prstDash val="solid"/>
          </a:ln>
        </p:spPr>
      </p:sp>
      <p:sp>
        <p:nvSpPr>
          <p:cNvPr id="80" name="Shape 78"/>
          <p:cNvSpPr/>
          <p:nvPr/>
        </p:nvSpPr>
        <p:spPr>
          <a:xfrm>
            <a:off x="3536899" y="4069080"/>
            <a:ext cx="1506931" cy="786384"/>
          </a:xfrm>
          <a:prstGeom prst="rect">
            <a:avLst/>
          </a:prstGeom>
          <a:solidFill>
            <a:srgbClr val="F2F2F2"/>
          </a:solidFill>
          <a:ln w="6350">
            <a:solidFill>
              <a:srgbClr val="E2E2E2"/>
            </a:solidFill>
            <a:prstDash val="solid"/>
          </a:ln>
        </p:spPr>
      </p:sp>
      <p:sp>
        <p:nvSpPr>
          <p:cNvPr id="81" name="Text 79"/>
          <p:cNvSpPr/>
          <p:nvPr/>
        </p:nvSpPr>
        <p:spPr>
          <a:xfrm>
            <a:off x="3536899"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Notify the consumers</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Give 30 days' notice to last-known users and the asset owner. Log objections.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Notice sent, objection window closed</a:t>
            </a:r>
            <a:endParaRPr lang="en-US" sz="780" dirty="0"/>
          </a:p>
        </p:txBody>
      </p:sp>
      <p:sp>
        <p:nvSpPr>
          <p:cNvPr id="82" name="Shape 80"/>
          <p:cNvSpPr/>
          <p:nvPr/>
        </p:nvSpPr>
        <p:spPr>
          <a:xfrm>
            <a:off x="5060290" y="4343400"/>
            <a:ext cx="149962" cy="237744"/>
          </a:xfrm>
          <a:prstGeom prst="chevron">
            <a:avLst/>
          </a:prstGeom>
          <a:solidFill>
            <a:srgbClr val="EEEEEE"/>
          </a:solidFill>
          <a:ln w="6350">
            <a:solidFill>
              <a:srgbClr val="EEEEEE"/>
            </a:solidFill>
            <a:prstDash val="solid"/>
          </a:ln>
        </p:spPr>
      </p:sp>
      <p:sp>
        <p:nvSpPr>
          <p:cNvPr id="83" name="Shape 81"/>
          <p:cNvSpPr/>
          <p:nvPr/>
        </p:nvSpPr>
        <p:spPr>
          <a:xfrm>
            <a:off x="5226710" y="4069080"/>
            <a:ext cx="1506931" cy="786384"/>
          </a:xfrm>
          <a:prstGeom prst="rect">
            <a:avLst/>
          </a:prstGeom>
          <a:solidFill>
            <a:srgbClr val="F2F2F2"/>
          </a:solidFill>
          <a:ln w="6350">
            <a:solidFill>
              <a:srgbClr val="E2E2E2"/>
            </a:solidFill>
            <a:prstDash val="solid"/>
          </a:ln>
        </p:spPr>
      </p:sp>
      <p:sp>
        <p:nvSpPr>
          <p:cNvPr id="84" name="Text 82"/>
          <p:cNvSpPr/>
          <p:nvPr/>
        </p:nvSpPr>
        <p:spPr>
          <a:xfrm>
            <a:off x="5226710"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Redirect to the survivor</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Point consumers at the canonical asset and confirm it meets their need.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Consumers confirmed on the survivor</a:t>
            </a:r>
            <a:endParaRPr lang="en-US" sz="780" dirty="0"/>
          </a:p>
        </p:txBody>
      </p:sp>
      <p:sp>
        <p:nvSpPr>
          <p:cNvPr id="85" name="Shape 83"/>
          <p:cNvSpPr/>
          <p:nvPr/>
        </p:nvSpPr>
        <p:spPr>
          <a:xfrm>
            <a:off x="6750101" y="4343400"/>
            <a:ext cx="149962" cy="237744"/>
          </a:xfrm>
          <a:prstGeom prst="chevron">
            <a:avLst/>
          </a:prstGeom>
          <a:solidFill>
            <a:srgbClr val="EEEEEE"/>
          </a:solidFill>
          <a:ln w="6350">
            <a:solidFill>
              <a:srgbClr val="EEEEEE"/>
            </a:solidFill>
            <a:prstDash val="solid"/>
          </a:ln>
        </p:spPr>
      </p:sp>
      <p:sp>
        <p:nvSpPr>
          <p:cNvPr id="86" name="Shape 84"/>
          <p:cNvSpPr/>
          <p:nvPr/>
        </p:nvSpPr>
        <p:spPr>
          <a:xfrm>
            <a:off x="6916522" y="4069080"/>
            <a:ext cx="1506931" cy="786384"/>
          </a:xfrm>
          <a:prstGeom prst="rect">
            <a:avLst/>
          </a:prstGeom>
          <a:solidFill>
            <a:srgbClr val="F2F2F2"/>
          </a:solidFill>
          <a:ln w="6350">
            <a:solidFill>
              <a:srgbClr val="E2E2E2"/>
            </a:solidFill>
            <a:prstDash val="solid"/>
          </a:ln>
        </p:spPr>
      </p:sp>
      <p:sp>
        <p:nvSpPr>
          <p:cNvPr id="87" name="Text 85"/>
          <p:cNvSpPr/>
          <p:nvPr/>
        </p:nvSpPr>
        <p:spPr>
          <a:xfrm>
            <a:off x="6916522"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Preserve the record</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Archive the final output and definition where state retention rules apply.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Archive stored with its retention basis</a:t>
            </a:r>
            <a:endParaRPr lang="en-US" sz="780" dirty="0"/>
          </a:p>
        </p:txBody>
      </p:sp>
      <p:sp>
        <p:nvSpPr>
          <p:cNvPr id="88" name="Shape 86"/>
          <p:cNvSpPr/>
          <p:nvPr/>
        </p:nvSpPr>
        <p:spPr>
          <a:xfrm>
            <a:off x="8439912" y="4343400"/>
            <a:ext cx="149962" cy="237744"/>
          </a:xfrm>
          <a:prstGeom prst="chevron">
            <a:avLst/>
          </a:prstGeom>
          <a:solidFill>
            <a:srgbClr val="EEEEEE"/>
          </a:solidFill>
          <a:ln w="6350">
            <a:solidFill>
              <a:srgbClr val="EEEEEE"/>
            </a:solidFill>
            <a:prstDash val="solid"/>
          </a:ln>
        </p:spPr>
      </p:sp>
      <p:sp>
        <p:nvSpPr>
          <p:cNvPr id="89" name="Shape 87"/>
          <p:cNvSpPr/>
          <p:nvPr/>
        </p:nvSpPr>
        <p:spPr>
          <a:xfrm>
            <a:off x="8606333" y="4069080"/>
            <a:ext cx="1506931" cy="786384"/>
          </a:xfrm>
          <a:prstGeom prst="rect">
            <a:avLst/>
          </a:prstGeom>
          <a:solidFill>
            <a:srgbClr val="F2F2F2"/>
          </a:solidFill>
          <a:ln w="6350">
            <a:solidFill>
              <a:srgbClr val="E2E2E2"/>
            </a:solidFill>
            <a:prstDash val="solid"/>
          </a:ln>
        </p:spPr>
      </p:sp>
      <p:sp>
        <p:nvSpPr>
          <p:cNvPr id="90" name="Text 88"/>
          <p:cNvSpPr/>
          <p:nvPr/>
        </p:nvSpPr>
        <p:spPr>
          <a:xfrm>
            <a:off x="8606333"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Disable, do not delete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Stop schedules, remove from folders, quarantine the object for 60–90 days.</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Quarantine start date logged</a:t>
            </a:r>
            <a:endParaRPr lang="en-US" sz="780" dirty="0"/>
          </a:p>
        </p:txBody>
      </p:sp>
      <p:sp>
        <p:nvSpPr>
          <p:cNvPr id="91" name="Shape 89"/>
          <p:cNvSpPr/>
          <p:nvPr/>
        </p:nvSpPr>
        <p:spPr>
          <a:xfrm>
            <a:off x="10129723" y="4343400"/>
            <a:ext cx="149962" cy="237744"/>
          </a:xfrm>
          <a:prstGeom prst="chevron">
            <a:avLst/>
          </a:prstGeom>
          <a:solidFill>
            <a:srgbClr val="EEEEEE"/>
          </a:solidFill>
          <a:ln w="6350">
            <a:solidFill>
              <a:srgbClr val="EEEEEE"/>
            </a:solidFill>
            <a:prstDash val="solid"/>
          </a:ln>
        </p:spPr>
      </p:sp>
      <p:sp>
        <p:nvSpPr>
          <p:cNvPr id="92" name="Shape 90"/>
          <p:cNvSpPr/>
          <p:nvPr/>
        </p:nvSpPr>
        <p:spPr>
          <a:xfrm>
            <a:off x="10296144" y="4069080"/>
            <a:ext cx="1506931" cy="786384"/>
          </a:xfrm>
          <a:prstGeom prst="rect">
            <a:avLst/>
          </a:prstGeom>
          <a:solidFill>
            <a:srgbClr val="F2F2F2"/>
          </a:solidFill>
          <a:ln w="6350">
            <a:solidFill>
              <a:srgbClr val="E2E2E2"/>
            </a:solidFill>
            <a:prstDash val="solid"/>
          </a:ln>
        </p:spPr>
      </p:sp>
      <p:sp>
        <p:nvSpPr>
          <p:cNvPr id="93" name="Text 91"/>
          <p:cNvSpPr/>
          <p:nvPr/>
        </p:nvSpPr>
        <p:spPr>
          <a:xfrm>
            <a:off x="10296144" y="4069080"/>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Decommission</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Delete object, unshared universe and connection. Update the asset inventory.</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Inventory updated, object gone</a:t>
            </a:r>
            <a:endParaRPr lang="en-US" sz="780" dirty="0"/>
          </a:p>
        </p:txBody>
      </p:sp>
      <p:sp>
        <p:nvSpPr>
          <p:cNvPr id="94" name="Shape 92"/>
          <p:cNvSpPr/>
          <p:nvPr/>
        </p:nvSpPr>
        <p:spPr>
          <a:xfrm>
            <a:off x="384048" y="4974336"/>
            <a:ext cx="1371600" cy="786384"/>
          </a:xfrm>
          <a:prstGeom prst="rect">
            <a:avLst/>
          </a:prstGeom>
          <a:solidFill>
            <a:srgbClr val="081F5C"/>
          </a:solidFill>
          <a:ln w="6350">
            <a:solidFill>
              <a:srgbClr val="081F5C"/>
            </a:solidFill>
            <a:prstDash val="solid"/>
          </a:ln>
        </p:spPr>
      </p:sp>
      <p:sp>
        <p:nvSpPr>
          <p:cNvPr id="95" name="Text 93"/>
          <p:cNvSpPr/>
          <p:nvPr/>
        </p:nvSpPr>
        <p:spPr>
          <a:xfrm>
            <a:off x="384048" y="4974336"/>
            <a:ext cx="1371600" cy="786384"/>
          </a:xfrm>
          <a:prstGeom prst="rect">
            <a:avLst/>
          </a:prstGeom>
          <a:noFill/>
          <a:ln/>
        </p:spPr>
        <p:txBody>
          <a:bodyPr wrap="square" lIns="381" tIns="635" rIns="635" bIns="381" rtlCol="0" anchor="ctr"/>
          <a:lstStyle/>
          <a:p>
            <a:pPr algn="ctr" indent="0" marL="0">
              <a:lnSpc>
                <a:spcPct val="95000"/>
              </a:lnSpc>
              <a:buNone/>
            </a:pPr>
            <a:r>
              <a:rPr lang="en-US" sz="900" b="1" dirty="0">
                <a:solidFill>
                  <a:srgbClr val="FFFFFF"/>
                </a:solidFill>
                <a:latin typeface="Arial" pitchFamily="34" charset="0"/>
                <a:ea typeface="Arial" pitchFamily="34" charset="-122"/>
                <a:cs typeface="Arial" pitchFamily="34" charset="-120"/>
              </a:rPr>
              <a:t>Retain in BOBJ</a:t>
            </a:r>
            <a:endParaRPr lang="en-US" sz="900" dirty="0"/>
          </a:p>
          <a:p>
            <a:pPr algn="ctr" indent="0" marL="0">
              <a:lnSpc>
                <a:spcPct val="95000"/>
              </a:lnSpc>
              <a:buNone/>
            </a:pPr>
            <a:r>
              <a:rPr lang="en-US" sz="740" i="1" dirty="0">
                <a:solidFill>
                  <a:srgbClr val="FFFFFF"/>
                </a:solidFill>
                <a:latin typeface="Arial" pitchFamily="34" charset="0"/>
                <a:ea typeface="Arial" pitchFamily="34" charset="-122"/>
                <a:cs typeface="Arial" pitchFamily="34" charset="-120"/>
              </a:rPr>
              <a:t>Exception</a:t>
            </a:r>
            <a:endParaRPr lang="en-US" sz="900" dirty="0"/>
          </a:p>
        </p:txBody>
      </p:sp>
      <p:sp>
        <p:nvSpPr>
          <p:cNvPr id="96" name="Shape 94"/>
          <p:cNvSpPr/>
          <p:nvPr/>
        </p:nvSpPr>
        <p:spPr>
          <a:xfrm>
            <a:off x="1847088" y="4974336"/>
            <a:ext cx="1506931" cy="786384"/>
          </a:xfrm>
          <a:prstGeom prst="rect">
            <a:avLst/>
          </a:prstGeom>
          <a:solidFill>
            <a:srgbClr val="FFFFFF"/>
          </a:solidFill>
          <a:ln w="9525">
            <a:solidFill>
              <a:srgbClr val="081F5C"/>
            </a:solidFill>
            <a:prstDash val="dash"/>
          </a:ln>
        </p:spPr>
      </p:sp>
      <p:sp>
        <p:nvSpPr>
          <p:cNvPr id="97" name="Text 95"/>
          <p:cNvSpPr/>
          <p:nvPr/>
        </p:nvSpPr>
        <p:spPr>
          <a:xfrm>
            <a:off x="1847088"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Document the exception</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Record which of the four criteria hold, with the evidence attached to each.</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Criteria evidence attached</a:t>
            </a:r>
            <a:endParaRPr lang="en-US" sz="780" dirty="0"/>
          </a:p>
        </p:txBody>
      </p:sp>
      <p:sp>
        <p:nvSpPr>
          <p:cNvPr id="98" name="Shape 96"/>
          <p:cNvSpPr/>
          <p:nvPr/>
        </p:nvSpPr>
        <p:spPr>
          <a:xfrm>
            <a:off x="3370478" y="5248656"/>
            <a:ext cx="149962" cy="237744"/>
          </a:xfrm>
          <a:prstGeom prst="chevron">
            <a:avLst/>
          </a:prstGeom>
          <a:solidFill>
            <a:srgbClr val="EEEEEE"/>
          </a:solidFill>
          <a:ln w="6350">
            <a:solidFill>
              <a:srgbClr val="EEEEEE"/>
            </a:solidFill>
            <a:prstDash val="solid"/>
          </a:ln>
        </p:spPr>
      </p:sp>
      <p:sp>
        <p:nvSpPr>
          <p:cNvPr id="99" name="Shape 97"/>
          <p:cNvSpPr/>
          <p:nvPr/>
        </p:nvSpPr>
        <p:spPr>
          <a:xfrm>
            <a:off x="3536899" y="4974336"/>
            <a:ext cx="1506931" cy="786384"/>
          </a:xfrm>
          <a:prstGeom prst="rect">
            <a:avLst/>
          </a:prstGeom>
          <a:solidFill>
            <a:srgbClr val="FFFFFF"/>
          </a:solidFill>
          <a:ln w="9525">
            <a:solidFill>
              <a:srgbClr val="081F5C"/>
            </a:solidFill>
            <a:prstDash val="dash"/>
          </a:ln>
        </p:spPr>
      </p:sp>
      <p:sp>
        <p:nvSpPr>
          <p:cNvPr id="100" name="Text 98"/>
          <p:cNvSpPr/>
          <p:nvPr/>
        </p:nvSpPr>
        <p:spPr>
          <a:xfrm>
            <a:off x="3536899"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Secure the sign-off</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Have named business and platform owners accept, then register the exception.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Exception registered with both owners</a:t>
            </a:r>
            <a:endParaRPr lang="en-US" sz="780" dirty="0"/>
          </a:p>
        </p:txBody>
      </p:sp>
      <p:sp>
        <p:nvSpPr>
          <p:cNvPr id="101" name="Shape 99"/>
          <p:cNvSpPr/>
          <p:nvPr/>
        </p:nvSpPr>
        <p:spPr>
          <a:xfrm>
            <a:off x="5060290" y="5248656"/>
            <a:ext cx="149962" cy="237744"/>
          </a:xfrm>
          <a:prstGeom prst="chevron">
            <a:avLst/>
          </a:prstGeom>
          <a:solidFill>
            <a:srgbClr val="EEEEEE"/>
          </a:solidFill>
          <a:ln w="6350">
            <a:solidFill>
              <a:srgbClr val="EEEEEE"/>
            </a:solidFill>
            <a:prstDash val="solid"/>
          </a:ln>
        </p:spPr>
      </p:sp>
      <p:sp>
        <p:nvSpPr>
          <p:cNvPr id="102" name="Shape 100"/>
          <p:cNvSpPr/>
          <p:nvPr/>
        </p:nvSpPr>
        <p:spPr>
          <a:xfrm>
            <a:off x="5226710" y="4974336"/>
            <a:ext cx="1506931" cy="786384"/>
          </a:xfrm>
          <a:prstGeom prst="rect">
            <a:avLst/>
          </a:prstGeom>
          <a:solidFill>
            <a:srgbClr val="FFFFFF"/>
          </a:solidFill>
          <a:ln w="9525">
            <a:solidFill>
              <a:srgbClr val="081F5C"/>
            </a:solidFill>
            <a:prstDash val="dash"/>
          </a:ln>
        </p:spPr>
      </p:sp>
      <p:sp>
        <p:nvSpPr>
          <p:cNvPr id="103" name="Text 101"/>
          <p:cNvSpPr/>
          <p:nvPr/>
        </p:nvSpPr>
        <p:spPr>
          <a:xfrm>
            <a:off x="5226710"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Set the sunset date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Bound it by the Oracle decommission milestone and enter it in the wave plan.</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Sunset date entered in the wave plan</a:t>
            </a:r>
            <a:endParaRPr lang="en-US" sz="780" dirty="0"/>
          </a:p>
        </p:txBody>
      </p:sp>
      <p:sp>
        <p:nvSpPr>
          <p:cNvPr id="104" name="Shape 102"/>
          <p:cNvSpPr/>
          <p:nvPr/>
        </p:nvSpPr>
        <p:spPr>
          <a:xfrm>
            <a:off x="6750101" y="5248656"/>
            <a:ext cx="149962" cy="237744"/>
          </a:xfrm>
          <a:prstGeom prst="chevron">
            <a:avLst/>
          </a:prstGeom>
          <a:solidFill>
            <a:srgbClr val="EEEEEE"/>
          </a:solidFill>
          <a:ln w="6350">
            <a:solidFill>
              <a:srgbClr val="EEEEEE"/>
            </a:solidFill>
            <a:prstDash val="solid"/>
          </a:ln>
        </p:spPr>
      </p:sp>
      <p:sp>
        <p:nvSpPr>
          <p:cNvPr id="105" name="Shape 103"/>
          <p:cNvSpPr/>
          <p:nvPr/>
        </p:nvSpPr>
        <p:spPr>
          <a:xfrm>
            <a:off x="6916522" y="4974336"/>
            <a:ext cx="1506931" cy="786384"/>
          </a:xfrm>
          <a:prstGeom prst="rect">
            <a:avLst/>
          </a:prstGeom>
          <a:solidFill>
            <a:srgbClr val="FFFFFF"/>
          </a:solidFill>
          <a:ln w="9525">
            <a:solidFill>
              <a:srgbClr val="081F5C"/>
            </a:solidFill>
            <a:prstDash val="dash"/>
          </a:ln>
        </p:spPr>
      </p:sp>
      <p:sp>
        <p:nvSpPr>
          <p:cNvPr id="106" name="Text 104"/>
          <p:cNvSpPr/>
          <p:nvPr/>
        </p:nvSpPr>
        <p:spPr>
          <a:xfrm>
            <a:off x="6916522"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Re-point the source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Move the universe to SQL Server or Databricks. If it cannot move, retention is void.</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Universe re-pointed off Oracle</a:t>
            </a:r>
            <a:endParaRPr lang="en-US" sz="780" dirty="0"/>
          </a:p>
        </p:txBody>
      </p:sp>
      <p:sp>
        <p:nvSpPr>
          <p:cNvPr id="107" name="Shape 105"/>
          <p:cNvSpPr/>
          <p:nvPr/>
        </p:nvSpPr>
        <p:spPr>
          <a:xfrm>
            <a:off x="8439912" y="5248656"/>
            <a:ext cx="149962" cy="237744"/>
          </a:xfrm>
          <a:prstGeom prst="chevron">
            <a:avLst/>
          </a:prstGeom>
          <a:solidFill>
            <a:srgbClr val="EEEEEE"/>
          </a:solidFill>
          <a:ln w="6350">
            <a:solidFill>
              <a:srgbClr val="EEEEEE"/>
            </a:solidFill>
            <a:prstDash val="solid"/>
          </a:ln>
        </p:spPr>
      </p:sp>
      <p:sp>
        <p:nvSpPr>
          <p:cNvPr id="108" name="Shape 106"/>
          <p:cNvSpPr/>
          <p:nvPr/>
        </p:nvSpPr>
        <p:spPr>
          <a:xfrm>
            <a:off x="8606333" y="4974336"/>
            <a:ext cx="1506931" cy="786384"/>
          </a:xfrm>
          <a:prstGeom prst="rect">
            <a:avLst/>
          </a:prstGeom>
          <a:solidFill>
            <a:srgbClr val="FFFFFF"/>
          </a:solidFill>
          <a:ln w="9525">
            <a:solidFill>
              <a:srgbClr val="081F5C"/>
            </a:solidFill>
            <a:prstDash val="dash"/>
          </a:ln>
        </p:spPr>
      </p:sp>
      <p:sp>
        <p:nvSpPr>
          <p:cNvPr id="109" name="Text 107"/>
          <p:cNvSpPr/>
          <p:nvPr/>
        </p:nvSpPr>
        <p:spPr>
          <a:xfrm>
            <a:off x="8606333"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Freeze the asset</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Block enhancements. Any change re-enters the rubric at principle 1.</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Change freeze applied to the asset</a:t>
            </a:r>
            <a:endParaRPr lang="en-US" sz="780" dirty="0"/>
          </a:p>
        </p:txBody>
      </p:sp>
      <p:sp>
        <p:nvSpPr>
          <p:cNvPr id="110" name="Shape 108"/>
          <p:cNvSpPr/>
          <p:nvPr/>
        </p:nvSpPr>
        <p:spPr>
          <a:xfrm>
            <a:off x="10129723" y="5248656"/>
            <a:ext cx="149962" cy="237744"/>
          </a:xfrm>
          <a:prstGeom prst="chevron">
            <a:avLst/>
          </a:prstGeom>
          <a:solidFill>
            <a:srgbClr val="EEEEEE"/>
          </a:solidFill>
          <a:ln w="6350">
            <a:solidFill>
              <a:srgbClr val="EEEEEE"/>
            </a:solidFill>
            <a:prstDash val="solid"/>
          </a:ln>
        </p:spPr>
      </p:sp>
      <p:sp>
        <p:nvSpPr>
          <p:cNvPr id="111" name="Shape 109"/>
          <p:cNvSpPr/>
          <p:nvPr/>
        </p:nvSpPr>
        <p:spPr>
          <a:xfrm>
            <a:off x="10296144" y="4974336"/>
            <a:ext cx="1506931" cy="786384"/>
          </a:xfrm>
          <a:prstGeom prst="rect">
            <a:avLst/>
          </a:prstGeom>
          <a:solidFill>
            <a:srgbClr val="FFFFFF"/>
          </a:solidFill>
          <a:ln w="9525">
            <a:solidFill>
              <a:srgbClr val="081F5C"/>
            </a:solidFill>
            <a:prstDash val="dash"/>
          </a:ln>
        </p:spPr>
      </p:sp>
      <p:sp>
        <p:nvSpPr>
          <p:cNvPr id="112" name="Text 110"/>
          <p:cNvSpPr/>
          <p:nvPr/>
        </p:nvSpPr>
        <p:spPr>
          <a:xfrm>
            <a:off x="10296144" y="4974336"/>
            <a:ext cx="1506931" cy="786384"/>
          </a:xfrm>
          <a:prstGeom prst="rect">
            <a:avLst/>
          </a:prstGeom>
          <a:noFill/>
          <a:ln/>
        </p:spPr>
        <p:txBody>
          <a:bodyPr wrap="square" lIns="762" tIns="1016" rIns="1016" bIns="508" rtlCol="0" anchor="t"/>
          <a:lstStyle/>
          <a:p>
            <a:pPr indent="0" marL="0">
              <a:lnSpc>
                <a:spcPct val="95000"/>
              </a:lnSpc>
              <a:spcAft>
                <a:spcPts val="300"/>
              </a:spcAft>
              <a:buNone/>
            </a:pPr>
            <a:r>
              <a:rPr lang="en-US" sz="780" b="1" dirty="0">
                <a:solidFill>
                  <a:srgbClr val="081F5C"/>
                </a:solidFill>
                <a:latin typeface="Arial" pitchFamily="34" charset="0"/>
                <a:ea typeface="Arial" pitchFamily="34" charset="-122"/>
                <a:cs typeface="Arial" pitchFamily="34" charset="-120"/>
              </a:rPr>
              <a:t>Review at every gate</a:t>
            </a:r>
            <a:endParaRPr lang="en-US" sz="780" dirty="0"/>
          </a:p>
          <a:p>
            <a:pPr indent="0" marL="0">
              <a:lnSpc>
                <a:spcPct val="95000"/>
              </a:lnSpc>
              <a:spcAft>
                <a:spcPts val="400"/>
              </a:spcAft>
              <a:buNone/>
            </a:pPr>
            <a:r>
              <a:rPr lang="en-US" sz="720" dirty="0">
                <a:solidFill>
                  <a:srgbClr val="1A1A1A"/>
                </a:solidFill>
                <a:latin typeface="Arial" pitchFamily="34" charset="0"/>
                <a:ea typeface="Arial" pitchFamily="34" charset="-122"/>
                <a:cs typeface="Arial" pitchFamily="34" charset="-120"/>
              </a:rPr>
              <a:t>Re-test against the rubric each wave. Force a disposition at the sunset date.</a:t>
            </a:r>
            <a:endParaRPr lang="en-US" sz="780" dirty="0"/>
          </a:p>
          <a:p>
            <a:pPr indent="0" marL="0">
              <a:lnSpc>
                <a:spcPct val="95000"/>
              </a:lnSpc>
              <a:buNone/>
            </a:pPr>
            <a:r>
              <a:rPr lang="en-US" sz="640" i="1" dirty="0">
                <a:solidFill>
                  <a:srgbClr val="2E4A85"/>
                </a:solidFill>
                <a:latin typeface="Arial" pitchFamily="34" charset="0"/>
                <a:ea typeface="Arial" pitchFamily="34" charset="-122"/>
                <a:cs typeface="Arial" pitchFamily="34" charset="-120"/>
              </a:rPr>
              <a:t>Exit:  Wave review logged, sunset tracked</a:t>
            </a:r>
            <a:endParaRPr lang="en-US" sz="780" dirty="0"/>
          </a:p>
        </p:txBody>
      </p:sp>
      <p:sp>
        <p:nvSpPr>
          <p:cNvPr id="113" name="Shape 111"/>
          <p:cNvSpPr/>
          <p:nvPr/>
        </p:nvSpPr>
        <p:spPr>
          <a:xfrm>
            <a:off x="384048" y="5870448"/>
            <a:ext cx="11420856" cy="384048"/>
          </a:xfrm>
          <a:prstGeom prst="rect">
            <a:avLst/>
          </a:prstGeom>
          <a:solidFill>
            <a:srgbClr val="EAF5FD"/>
          </a:solidFill>
          <a:ln w="9525">
            <a:solidFill>
              <a:srgbClr val="C9E3F7"/>
            </a:solidFill>
            <a:prstDash val="solid"/>
          </a:ln>
        </p:spPr>
      </p:sp>
      <p:sp>
        <p:nvSpPr>
          <p:cNvPr id="114" name="Text 112"/>
          <p:cNvSpPr/>
          <p:nvPr/>
        </p:nvSpPr>
        <p:spPr>
          <a:xfrm>
            <a:off x="384048" y="5870448"/>
            <a:ext cx="11420856" cy="384048"/>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step 5 of every path.  </a:t>
            </a:r>
            <a:pPr indent="0" marL="0">
              <a:lnSpc>
                <a:spcPct val="95000"/>
              </a:lnSpc>
              <a:buNone/>
            </a:pPr>
            <a:r>
              <a:rPr lang="en-US" sz="700" dirty="0">
                <a:solidFill>
                  <a:srgbClr val="1A1A1A"/>
                </a:solidFill>
                <a:latin typeface="Arial" pitchFamily="34" charset="0"/>
                <a:ea typeface="Arial" pitchFamily="34" charset="-122"/>
                <a:cs typeface="Arial" pitchFamily="34" charset="-120"/>
              </a:rPr>
              <a:t>Complete the security-model translation and the PHI-scope review before release, then re-test row-level access with a non-privileged account rather than an admin. Do not carry BOBJ publication recipient lists into Power BI subscriptions or Unity Catalog groups without re-validating each recipient's minimum-necessary basis. On the retire path, confirm the retention obligation at step 4 before anything is deleted at step 6.</a:t>
            </a:r>
            <a:endParaRPr lang="en-US" sz="700" dirty="0"/>
          </a:p>
        </p:txBody>
      </p:sp>
      <p:sp>
        <p:nvSpPr>
          <p:cNvPr id="115" name="Text 113"/>
          <p:cNvSpPr/>
          <p:nvPr/>
        </p:nvSpPr>
        <p:spPr>
          <a:xfrm>
            <a:off x="384048" y="6309360"/>
            <a:ext cx="11420856" cy="201168"/>
          </a:xfrm>
          <a:prstGeom prst="rect">
            <a:avLst/>
          </a:prstGeom>
          <a:noFill/>
          <a:ln/>
        </p:spPr>
        <p:txBody>
          <a:bodyPr wrap="square" lIns="0" tIns="0" rIns="0" bIns="0" rtlCol="0" anchor="ctr"/>
          <a:lstStyle/>
          <a:p>
            <a:pPr indent="0" marL="0">
              <a:buNone/>
            </a:pPr>
            <a:r>
              <a:rPr lang="en-US" sz="650" i="1" dirty="0">
                <a:solidFill>
                  <a:srgbClr val="545454"/>
                </a:solidFill>
                <a:latin typeface="Arial" pitchFamily="34" charset="0"/>
                <a:ea typeface="Arial" pitchFamily="34" charset="-122"/>
                <a:cs typeface="Arial" pitchFamily="34" charset="-120"/>
              </a:rPr>
              <a:t>Steps run in order and step 6 is not optional — a report is not migrated until the BOBJ object, its universe if unshared, and its schedules are gone. Track step 6 completion, not step 5, as the measure of BOBJ reduction.</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84048" y="182880"/>
            <a:ext cx="10515600" cy="347472"/>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Report Migration Approach  —  Steps by Target Platform</a:t>
            </a:r>
            <a:endParaRPr lang="en-US" sz="2300" dirty="0"/>
          </a:p>
        </p:txBody>
      </p:sp>
      <p:sp>
        <p:nvSpPr>
          <p:cNvPr id="3" name="Text 1"/>
          <p:cNvSpPr/>
          <p:nvPr/>
        </p:nvSpPr>
        <p:spPr>
          <a:xfrm>
            <a:off x="384048" y="548640"/>
            <a:ext cx="11420856" cy="310896"/>
          </a:xfrm>
          <a:prstGeom prst="rect">
            <a:avLst/>
          </a:prstGeom>
          <a:noFill/>
          <a:ln/>
        </p:spPr>
        <p:txBody>
          <a:bodyPr wrap="square" lIns="0" tIns="0" rIns="0" bIns="0" rtlCol="0" anchor="ctr"/>
          <a:lstStyle/>
          <a:p>
            <a:pPr indent="0" marL="0">
              <a:lnSpc>
                <a:spcPct val="95000"/>
              </a:lnSpc>
              <a:buNone/>
            </a:pPr>
            <a:r>
              <a:rPr lang="en-US" sz="950" dirty="0">
                <a:solidFill>
                  <a:srgbClr val="1A1A1A"/>
                </a:solidFill>
                <a:latin typeface="Arial" pitchFamily="34" charset="0"/>
                <a:ea typeface="Arial" pitchFamily="34" charset="-122"/>
                <a:cs typeface="Arial" pitchFamily="34" charset="-120"/>
              </a:rPr>
              <a:t>Migration activities only — retire and consolidate sit outside this view. Power BI and Databricks each carry two tracks: the Oracle database objects the report reads, then the report itself. The data track must clear a step before the report track can clear the same step. CogitoSQL has no data track, because it reads Epic-managed Clarity and Caboodle.</a:t>
            </a:r>
            <a:endParaRPr lang="en-US" sz="950" dirty="0"/>
          </a:p>
        </p:txBody>
      </p:sp>
      <p:sp>
        <p:nvSpPr>
          <p:cNvPr id="4" name="Shape 2"/>
          <p:cNvSpPr/>
          <p:nvPr/>
        </p:nvSpPr>
        <p:spPr>
          <a:xfrm>
            <a:off x="384048" y="932688"/>
            <a:ext cx="1417320" cy="274320"/>
          </a:xfrm>
          <a:prstGeom prst="rect">
            <a:avLst/>
          </a:prstGeom>
          <a:solidFill>
            <a:srgbClr val="081F5C"/>
          </a:solidFill>
          <a:ln w="6350">
            <a:solidFill>
              <a:srgbClr val="081F5C"/>
            </a:solidFill>
            <a:prstDash val="solid"/>
          </a:ln>
        </p:spPr>
      </p:sp>
      <p:sp>
        <p:nvSpPr>
          <p:cNvPr id="5" name="Text 3"/>
          <p:cNvSpPr/>
          <p:nvPr/>
        </p:nvSpPr>
        <p:spPr>
          <a:xfrm>
            <a:off x="384048" y="932688"/>
            <a:ext cx="14173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MIGRATION TRACK</a:t>
            </a:r>
            <a:endParaRPr lang="en-US" sz="800" dirty="0"/>
          </a:p>
        </p:txBody>
      </p:sp>
      <p:sp>
        <p:nvSpPr>
          <p:cNvPr id="6" name="Shape 4"/>
          <p:cNvSpPr/>
          <p:nvPr/>
        </p:nvSpPr>
        <p:spPr>
          <a:xfrm>
            <a:off x="1892808" y="932688"/>
            <a:ext cx="1506931" cy="274320"/>
          </a:xfrm>
          <a:prstGeom prst="homePlate">
            <a:avLst/>
          </a:prstGeom>
          <a:solidFill>
            <a:srgbClr val="081F5C"/>
          </a:solidFill>
          <a:ln w="6350">
            <a:solidFill>
              <a:srgbClr val="081F5C"/>
            </a:solidFill>
            <a:prstDash val="solid"/>
          </a:ln>
        </p:spPr>
      </p:sp>
      <p:sp>
        <p:nvSpPr>
          <p:cNvPr id="7" name="Text 5"/>
          <p:cNvSpPr/>
          <p:nvPr/>
        </p:nvSpPr>
        <p:spPr>
          <a:xfrm>
            <a:off x="1892808"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1 · ASSESS</a:t>
            </a:r>
            <a:endParaRPr lang="en-US" sz="800" dirty="0"/>
          </a:p>
        </p:txBody>
      </p:sp>
      <p:sp>
        <p:nvSpPr>
          <p:cNvPr id="8" name="Shape 6"/>
          <p:cNvSpPr/>
          <p:nvPr/>
        </p:nvSpPr>
        <p:spPr>
          <a:xfrm>
            <a:off x="3390595" y="932688"/>
            <a:ext cx="1689811" cy="274320"/>
          </a:xfrm>
          <a:prstGeom prst="chevron">
            <a:avLst/>
          </a:prstGeom>
          <a:solidFill>
            <a:srgbClr val="081F5C"/>
          </a:solidFill>
          <a:ln w="6350">
            <a:solidFill>
              <a:srgbClr val="081F5C"/>
            </a:solidFill>
            <a:prstDash val="solid"/>
          </a:ln>
        </p:spPr>
      </p:sp>
      <p:sp>
        <p:nvSpPr>
          <p:cNvPr id="9" name="Text 7"/>
          <p:cNvSpPr/>
          <p:nvPr/>
        </p:nvSpPr>
        <p:spPr>
          <a:xfrm>
            <a:off x="3573475"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2 · DESIGN</a:t>
            </a:r>
            <a:endParaRPr lang="en-US" sz="800" dirty="0"/>
          </a:p>
        </p:txBody>
      </p:sp>
      <p:sp>
        <p:nvSpPr>
          <p:cNvPr id="10" name="Shape 8"/>
          <p:cNvSpPr/>
          <p:nvPr/>
        </p:nvSpPr>
        <p:spPr>
          <a:xfrm>
            <a:off x="5071262" y="932688"/>
            <a:ext cx="1689811" cy="274320"/>
          </a:xfrm>
          <a:prstGeom prst="chevron">
            <a:avLst/>
          </a:prstGeom>
          <a:solidFill>
            <a:srgbClr val="081F5C"/>
          </a:solidFill>
          <a:ln w="6350">
            <a:solidFill>
              <a:srgbClr val="081F5C"/>
            </a:solidFill>
            <a:prstDash val="solid"/>
          </a:ln>
        </p:spPr>
      </p:sp>
      <p:sp>
        <p:nvSpPr>
          <p:cNvPr id="11" name="Text 9"/>
          <p:cNvSpPr/>
          <p:nvPr/>
        </p:nvSpPr>
        <p:spPr>
          <a:xfrm>
            <a:off x="5254142"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3 · BUILD</a:t>
            </a:r>
            <a:endParaRPr lang="en-US" sz="800" dirty="0"/>
          </a:p>
        </p:txBody>
      </p:sp>
      <p:sp>
        <p:nvSpPr>
          <p:cNvPr id="12" name="Shape 10"/>
          <p:cNvSpPr/>
          <p:nvPr/>
        </p:nvSpPr>
        <p:spPr>
          <a:xfrm>
            <a:off x="6751930" y="932688"/>
            <a:ext cx="1689811" cy="274320"/>
          </a:xfrm>
          <a:prstGeom prst="chevron">
            <a:avLst/>
          </a:prstGeom>
          <a:solidFill>
            <a:srgbClr val="081F5C"/>
          </a:solidFill>
          <a:ln w="6350">
            <a:solidFill>
              <a:srgbClr val="081F5C"/>
            </a:solidFill>
            <a:prstDash val="solid"/>
          </a:ln>
        </p:spPr>
      </p:sp>
      <p:sp>
        <p:nvSpPr>
          <p:cNvPr id="13" name="Text 11"/>
          <p:cNvSpPr/>
          <p:nvPr/>
        </p:nvSpPr>
        <p:spPr>
          <a:xfrm>
            <a:off x="6934810"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4 · SECURE</a:t>
            </a:r>
            <a:endParaRPr lang="en-US" sz="800" dirty="0"/>
          </a:p>
        </p:txBody>
      </p:sp>
      <p:sp>
        <p:nvSpPr>
          <p:cNvPr id="14" name="Shape 12"/>
          <p:cNvSpPr/>
          <p:nvPr/>
        </p:nvSpPr>
        <p:spPr>
          <a:xfrm>
            <a:off x="8432597" y="932688"/>
            <a:ext cx="1689811" cy="274320"/>
          </a:xfrm>
          <a:prstGeom prst="chevron">
            <a:avLst/>
          </a:prstGeom>
          <a:solidFill>
            <a:srgbClr val="081F5C"/>
          </a:solidFill>
          <a:ln w="6350">
            <a:solidFill>
              <a:srgbClr val="081F5C"/>
            </a:solidFill>
            <a:prstDash val="solid"/>
          </a:ln>
        </p:spPr>
      </p:sp>
      <p:sp>
        <p:nvSpPr>
          <p:cNvPr id="15" name="Text 13"/>
          <p:cNvSpPr/>
          <p:nvPr/>
        </p:nvSpPr>
        <p:spPr>
          <a:xfrm>
            <a:off x="8615477"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5 · VALIDATE</a:t>
            </a:r>
            <a:endParaRPr lang="en-US" sz="800" dirty="0"/>
          </a:p>
        </p:txBody>
      </p:sp>
      <p:sp>
        <p:nvSpPr>
          <p:cNvPr id="16" name="Shape 14"/>
          <p:cNvSpPr/>
          <p:nvPr/>
        </p:nvSpPr>
        <p:spPr>
          <a:xfrm>
            <a:off x="10113264" y="932688"/>
            <a:ext cx="1689811" cy="274320"/>
          </a:xfrm>
          <a:prstGeom prst="chevron">
            <a:avLst/>
          </a:prstGeom>
          <a:solidFill>
            <a:srgbClr val="081F5C"/>
          </a:solidFill>
          <a:ln w="6350">
            <a:solidFill>
              <a:srgbClr val="081F5C"/>
            </a:solidFill>
            <a:prstDash val="solid"/>
          </a:ln>
        </p:spPr>
      </p:sp>
      <p:sp>
        <p:nvSpPr>
          <p:cNvPr id="17" name="Text 15"/>
          <p:cNvSpPr/>
          <p:nvPr/>
        </p:nvSpPr>
        <p:spPr>
          <a:xfrm>
            <a:off x="10296144" y="932688"/>
            <a:ext cx="1415491"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6 · CUT OVER</a:t>
            </a:r>
            <a:endParaRPr lang="en-US" sz="800" dirty="0"/>
          </a:p>
        </p:txBody>
      </p:sp>
      <p:sp>
        <p:nvSpPr>
          <p:cNvPr id="18" name="Shape 16"/>
          <p:cNvSpPr/>
          <p:nvPr/>
        </p:nvSpPr>
        <p:spPr>
          <a:xfrm>
            <a:off x="384048" y="1280160"/>
            <a:ext cx="1417320" cy="658368"/>
          </a:xfrm>
          <a:prstGeom prst="rect">
            <a:avLst/>
          </a:prstGeom>
          <a:solidFill>
            <a:srgbClr val="68349A"/>
          </a:solidFill>
          <a:ln w="6350">
            <a:solidFill>
              <a:srgbClr val="68349A"/>
            </a:solidFill>
            <a:prstDash val="solid"/>
          </a:ln>
        </p:spPr>
      </p:sp>
      <p:sp>
        <p:nvSpPr>
          <p:cNvPr id="19" name="Text 17"/>
          <p:cNvSpPr/>
          <p:nvPr/>
        </p:nvSpPr>
        <p:spPr>
          <a:xfrm>
            <a:off x="384048" y="1280160"/>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FFFFFF"/>
                </a:solidFill>
                <a:latin typeface="Arial" pitchFamily="34" charset="0"/>
                <a:ea typeface="Arial" pitchFamily="34" charset="-122"/>
                <a:cs typeface="Arial" pitchFamily="34" charset="-120"/>
              </a:rPr>
              <a:t>CogitoSQL</a:t>
            </a:r>
            <a:endParaRPr lang="en-US" sz="850" dirty="0"/>
          </a:p>
          <a:p>
            <a:pPr algn="ctr" indent="0" marL="0">
              <a:lnSpc>
                <a:spcPct val="94000"/>
              </a:lnSpc>
              <a:buNone/>
            </a:pPr>
            <a:r>
              <a:rPr lang="en-US" sz="690" dirty="0">
                <a:solidFill>
                  <a:srgbClr val="FFFFFF"/>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FFFFFF"/>
                </a:solidFill>
                <a:latin typeface="Arial" pitchFamily="34" charset="0"/>
                <a:ea typeface="Arial" pitchFamily="34" charset="-122"/>
                <a:cs typeface="Arial" pitchFamily="34" charset="-120"/>
              </a:rPr>
              <a:t>Rearchitect</a:t>
            </a:r>
            <a:endParaRPr lang="en-US" sz="850" dirty="0"/>
          </a:p>
        </p:txBody>
      </p:sp>
      <p:sp>
        <p:nvSpPr>
          <p:cNvPr id="20" name="Shape 18"/>
          <p:cNvSpPr/>
          <p:nvPr/>
        </p:nvSpPr>
        <p:spPr>
          <a:xfrm>
            <a:off x="1892808" y="1280160"/>
            <a:ext cx="1506931" cy="658368"/>
          </a:xfrm>
          <a:prstGeom prst="rect">
            <a:avLst/>
          </a:prstGeom>
          <a:solidFill>
            <a:srgbClr val="ADDAFB"/>
          </a:solidFill>
          <a:ln w="6350">
            <a:solidFill>
              <a:srgbClr val="ADDAFB"/>
            </a:solidFill>
            <a:prstDash val="solid"/>
          </a:ln>
        </p:spPr>
      </p:sp>
      <p:sp>
        <p:nvSpPr>
          <p:cNvPr id="21" name="Text 19"/>
          <p:cNvSpPr/>
          <p:nvPr/>
        </p:nvSpPr>
        <p:spPr>
          <a:xfrm>
            <a:off x="1892808"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Confirm Epic coverage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Check every element exists in Clarity or Caboodle. Route gaps to Databricks.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Coverage confirmed, gaps routed</a:t>
            </a:r>
            <a:endParaRPr lang="en-US" sz="740" dirty="0"/>
          </a:p>
        </p:txBody>
      </p:sp>
      <p:sp>
        <p:nvSpPr>
          <p:cNvPr id="22" name="Shape 20"/>
          <p:cNvSpPr/>
          <p:nvPr/>
        </p:nvSpPr>
        <p:spPr>
          <a:xfrm>
            <a:off x="3416198" y="1499616"/>
            <a:ext cx="149962" cy="219456"/>
          </a:xfrm>
          <a:prstGeom prst="chevron">
            <a:avLst/>
          </a:prstGeom>
          <a:solidFill>
            <a:srgbClr val="EEEEEE"/>
          </a:solidFill>
          <a:ln w="6350">
            <a:solidFill>
              <a:srgbClr val="EEEEEE"/>
            </a:solidFill>
            <a:prstDash val="solid"/>
          </a:ln>
        </p:spPr>
      </p:sp>
      <p:sp>
        <p:nvSpPr>
          <p:cNvPr id="23" name="Shape 21"/>
          <p:cNvSpPr/>
          <p:nvPr/>
        </p:nvSpPr>
        <p:spPr>
          <a:xfrm>
            <a:off x="3573475" y="1280160"/>
            <a:ext cx="1506931" cy="658368"/>
          </a:xfrm>
          <a:prstGeom prst="rect">
            <a:avLst/>
          </a:prstGeom>
          <a:solidFill>
            <a:srgbClr val="ADDAFB"/>
          </a:solidFill>
          <a:ln w="6350">
            <a:solidFill>
              <a:srgbClr val="ADDAFB"/>
            </a:solidFill>
            <a:prstDash val="solid"/>
          </a:ln>
        </p:spPr>
      </p:sp>
      <p:sp>
        <p:nvSpPr>
          <p:cNvPr id="24" name="Text 22"/>
          <p:cNvSpPr/>
          <p:nvPr/>
        </p:nvSpPr>
        <p:spPr>
          <a:xfrm>
            <a:off x="3573475"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Select and spec the tool</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Choose Reporting Workbench, Radar, SlicerDicer or a Cogito SQL view.</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Build spec approved</a:t>
            </a:r>
            <a:endParaRPr lang="en-US" sz="740" dirty="0"/>
          </a:p>
        </p:txBody>
      </p:sp>
      <p:sp>
        <p:nvSpPr>
          <p:cNvPr id="25" name="Shape 23"/>
          <p:cNvSpPr/>
          <p:nvPr/>
        </p:nvSpPr>
        <p:spPr>
          <a:xfrm>
            <a:off x="5096866" y="1499616"/>
            <a:ext cx="149962" cy="219456"/>
          </a:xfrm>
          <a:prstGeom prst="chevron">
            <a:avLst/>
          </a:prstGeom>
          <a:solidFill>
            <a:srgbClr val="EEEEEE"/>
          </a:solidFill>
          <a:ln w="6350">
            <a:solidFill>
              <a:srgbClr val="EEEEEE"/>
            </a:solidFill>
            <a:prstDash val="solid"/>
          </a:ln>
        </p:spPr>
      </p:sp>
      <p:sp>
        <p:nvSpPr>
          <p:cNvPr id="26" name="Shape 24"/>
          <p:cNvSpPr/>
          <p:nvPr/>
        </p:nvSpPr>
        <p:spPr>
          <a:xfrm>
            <a:off x="5254142" y="1280160"/>
            <a:ext cx="1506931" cy="658368"/>
          </a:xfrm>
          <a:prstGeom prst="rect">
            <a:avLst/>
          </a:prstGeom>
          <a:solidFill>
            <a:srgbClr val="ADDAFB"/>
          </a:solidFill>
          <a:ln w="6350">
            <a:solidFill>
              <a:srgbClr val="ADDAFB"/>
            </a:solidFill>
            <a:prstDash val="solid"/>
          </a:ln>
        </p:spPr>
      </p:sp>
      <p:sp>
        <p:nvSpPr>
          <p:cNvPr id="27" name="Text 25"/>
          <p:cNvSpPr/>
          <p:nvPr/>
        </p:nvSpPr>
        <p:spPr>
          <a:xfrm>
            <a:off x="5254142"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Build in non-production</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Configure the template. Peer-review against the source report spec.</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Peer-reviewed in non-prod</a:t>
            </a:r>
            <a:endParaRPr lang="en-US" sz="740" dirty="0"/>
          </a:p>
        </p:txBody>
      </p:sp>
      <p:sp>
        <p:nvSpPr>
          <p:cNvPr id="28" name="Shape 26"/>
          <p:cNvSpPr/>
          <p:nvPr/>
        </p:nvSpPr>
        <p:spPr>
          <a:xfrm>
            <a:off x="6777533" y="1499616"/>
            <a:ext cx="149962" cy="219456"/>
          </a:xfrm>
          <a:prstGeom prst="chevron">
            <a:avLst/>
          </a:prstGeom>
          <a:solidFill>
            <a:srgbClr val="EEEEEE"/>
          </a:solidFill>
          <a:ln w="6350">
            <a:solidFill>
              <a:srgbClr val="EEEEEE"/>
            </a:solidFill>
            <a:prstDash val="solid"/>
          </a:ln>
        </p:spPr>
      </p:sp>
      <p:sp>
        <p:nvSpPr>
          <p:cNvPr id="29" name="Shape 27"/>
          <p:cNvSpPr/>
          <p:nvPr/>
        </p:nvSpPr>
        <p:spPr>
          <a:xfrm>
            <a:off x="6934810" y="1280160"/>
            <a:ext cx="1506931" cy="658368"/>
          </a:xfrm>
          <a:prstGeom prst="rect">
            <a:avLst/>
          </a:prstGeom>
          <a:solidFill>
            <a:srgbClr val="ADDAFB"/>
          </a:solidFill>
          <a:ln w="6350">
            <a:solidFill>
              <a:srgbClr val="ADDAFB"/>
            </a:solidFill>
            <a:prstDash val="solid"/>
          </a:ln>
        </p:spPr>
      </p:sp>
      <p:sp>
        <p:nvSpPr>
          <p:cNvPr id="30" name="Text 28"/>
          <p:cNvSpPr/>
          <p:nvPr/>
        </p:nvSpPr>
        <p:spPr>
          <a:xfrm>
            <a:off x="6934810"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Apply Epic security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Map universe restrictions to security classes and template security.</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Signed by Epic security</a:t>
            </a:r>
            <a:endParaRPr lang="en-US" sz="740" dirty="0"/>
          </a:p>
        </p:txBody>
      </p:sp>
      <p:sp>
        <p:nvSpPr>
          <p:cNvPr id="31" name="Shape 29"/>
          <p:cNvSpPr/>
          <p:nvPr/>
        </p:nvSpPr>
        <p:spPr>
          <a:xfrm>
            <a:off x="8458200" y="1499616"/>
            <a:ext cx="149962" cy="219456"/>
          </a:xfrm>
          <a:prstGeom prst="chevron">
            <a:avLst/>
          </a:prstGeom>
          <a:solidFill>
            <a:srgbClr val="EEEEEE"/>
          </a:solidFill>
          <a:ln w="6350">
            <a:solidFill>
              <a:srgbClr val="EEEEEE"/>
            </a:solidFill>
            <a:prstDash val="solid"/>
          </a:ln>
        </p:spPr>
      </p:sp>
      <p:sp>
        <p:nvSpPr>
          <p:cNvPr id="32" name="Shape 30"/>
          <p:cNvSpPr/>
          <p:nvPr/>
        </p:nvSpPr>
        <p:spPr>
          <a:xfrm>
            <a:off x="8615477" y="1280160"/>
            <a:ext cx="1506931" cy="658368"/>
          </a:xfrm>
          <a:prstGeom prst="rect">
            <a:avLst/>
          </a:prstGeom>
          <a:solidFill>
            <a:srgbClr val="ADDAFB"/>
          </a:solidFill>
          <a:ln w="6350">
            <a:solidFill>
              <a:srgbClr val="ADDAFB"/>
            </a:solidFill>
            <a:prstDash val="solid"/>
          </a:ln>
        </p:spPr>
      </p:sp>
      <p:sp>
        <p:nvSpPr>
          <p:cNvPr id="33" name="Text 31"/>
          <p:cNvSpPr/>
          <p:nvPr/>
        </p:nvSpPr>
        <p:spPr>
          <a:xfrm>
            <a:off x="8615477"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run UAT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rows and totals to L2+. Run clinician UAT in Hyperspace.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pack and UAT</a:t>
            </a:r>
            <a:endParaRPr lang="en-US" sz="740" dirty="0"/>
          </a:p>
        </p:txBody>
      </p:sp>
      <p:sp>
        <p:nvSpPr>
          <p:cNvPr id="34" name="Shape 32"/>
          <p:cNvSpPr/>
          <p:nvPr/>
        </p:nvSpPr>
        <p:spPr>
          <a:xfrm>
            <a:off x="10138867" y="1499616"/>
            <a:ext cx="149962" cy="219456"/>
          </a:xfrm>
          <a:prstGeom prst="chevron">
            <a:avLst/>
          </a:prstGeom>
          <a:solidFill>
            <a:srgbClr val="EEEEEE"/>
          </a:solidFill>
          <a:ln w="6350">
            <a:solidFill>
              <a:srgbClr val="EEEEEE"/>
            </a:solidFill>
            <a:prstDash val="solid"/>
          </a:ln>
        </p:spPr>
      </p:sp>
      <p:sp>
        <p:nvSpPr>
          <p:cNvPr id="35" name="Shape 33"/>
          <p:cNvSpPr/>
          <p:nvPr/>
        </p:nvSpPr>
        <p:spPr>
          <a:xfrm>
            <a:off x="10296144" y="1280160"/>
            <a:ext cx="1506931" cy="658368"/>
          </a:xfrm>
          <a:prstGeom prst="rect">
            <a:avLst/>
          </a:prstGeom>
          <a:solidFill>
            <a:srgbClr val="ADDAFB"/>
          </a:solidFill>
          <a:ln w="6350">
            <a:solidFill>
              <a:srgbClr val="ADDAFB"/>
            </a:solidFill>
            <a:prstDash val="solid"/>
          </a:ln>
        </p:spPr>
      </p:sp>
      <p:sp>
        <p:nvSpPr>
          <p:cNvPr id="36" name="Text 34"/>
          <p:cNvSpPr/>
          <p:nvPr/>
        </p:nvSpPr>
        <p:spPr>
          <a:xfrm>
            <a:off x="10296144" y="1280160"/>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Release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Publish, redirect users, disable schedules, delete the BOBJ object.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schedules off</a:t>
            </a:r>
            <a:endParaRPr lang="en-US" sz="740" dirty="0"/>
          </a:p>
        </p:txBody>
      </p:sp>
      <p:sp>
        <p:nvSpPr>
          <p:cNvPr id="37" name="Shape 35"/>
          <p:cNvSpPr/>
          <p:nvPr/>
        </p:nvSpPr>
        <p:spPr>
          <a:xfrm>
            <a:off x="384048" y="2029968"/>
            <a:ext cx="1417320" cy="658368"/>
          </a:xfrm>
          <a:prstGeom prst="rect">
            <a:avLst/>
          </a:prstGeom>
          <a:solidFill>
            <a:srgbClr val="CEF8FC"/>
          </a:solidFill>
          <a:ln w="6350">
            <a:solidFill>
              <a:srgbClr val="CEF8FC"/>
            </a:solidFill>
            <a:prstDash val="solid"/>
          </a:ln>
        </p:spPr>
      </p:sp>
      <p:sp>
        <p:nvSpPr>
          <p:cNvPr id="38" name="Text 36"/>
          <p:cNvSpPr/>
          <p:nvPr/>
        </p:nvSpPr>
        <p:spPr>
          <a:xfrm>
            <a:off x="384048" y="2029968"/>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Power 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Data objects</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Oracle → MS SQL Server</a:t>
            </a:r>
            <a:endParaRPr lang="en-US" sz="850" dirty="0"/>
          </a:p>
        </p:txBody>
      </p:sp>
      <p:sp>
        <p:nvSpPr>
          <p:cNvPr id="39" name="Shape 37"/>
          <p:cNvSpPr/>
          <p:nvPr/>
        </p:nvSpPr>
        <p:spPr>
          <a:xfrm>
            <a:off x="1892808" y="2029968"/>
            <a:ext cx="1506931" cy="658368"/>
          </a:xfrm>
          <a:prstGeom prst="rect">
            <a:avLst/>
          </a:prstGeom>
          <a:solidFill>
            <a:srgbClr val="D6ECFC"/>
          </a:solidFill>
          <a:ln w="6350">
            <a:solidFill>
              <a:srgbClr val="D6ECFC"/>
            </a:solidFill>
            <a:prstDash val="solid"/>
          </a:ln>
        </p:spPr>
      </p:sp>
      <p:sp>
        <p:nvSpPr>
          <p:cNvPr id="40" name="Text 38"/>
          <p:cNvSpPr/>
          <p:nvPr/>
        </p:nvSpPr>
        <p:spPr>
          <a:xfrm>
            <a:off x="1892808"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Inventory the objects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List every table, view, materialized view, procedure and package read.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Object dependency list published</a:t>
            </a:r>
            <a:endParaRPr lang="en-US" sz="740" dirty="0"/>
          </a:p>
        </p:txBody>
      </p:sp>
      <p:sp>
        <p:nvSpPr>
          <p:cNvPr id="41" name="Shape 39"/>
          <p:cNvSpPr/>
          <p:nvPr/>
        </p:nvSpPr>
        <p:spPr>
          <a:xfrm>
            <a:off x="3416198" y="2249424"/>
            <a:ext cx="149962" cy="219456"/>
          </a:xfrm>
          <a:prstGeom prst="chevron">
            <a:avLst/>
          </a:prstGeom>
          <a:solidFill>
            <a:srgbClr val="EEEEEE"/>
          </a:solidFill>
          <a:ln w="6350">
            <a:solidFill>
              <a:srgbClr val="EEEEEE"/>
            </a:solidFill>
            <a:prstDash val="solid"/>
          </a:ln>
        </p:spPr>
      </p:sp>
      <p:sp>
        <p:nvSpPr>
          <p:cNvPr id="42" name="Shape 40"/>
          <p:cNvSpPr/>
          <p:nvPr/>
        </p:nvSpPr>
        <p:spPr>
          <a:xfrm>
            <a:off x="3573475" y="2029968"/>
            <a:ext cx="1506931" cy="658368"/>
          </a:xfrm>
          <a:prstGeom prst="rect">
            <a:avLst/>
          </a:prstGeom>
          <a:solidFill>
            <a:srgbClr val="D6ECFC"/>
          </a:solidFill>
          <a:ln w="6350">
            <a:solidFill>
              <a:srgbClr val="D6ECFC"/>
            </a:solidFill>
            <a:prstDash val="solid"/>
          </a:ln>
        </p:spPr>
      </p:sp>
      <p:sp>
        <p:nvSpPr>
          <p:cNvPr id="43" name="Text 41"/>
          <p:cNvSpPr/>
          <p:nvPr/>
        </p:nvSpPr>
        <p:spPr>
          <a:xfrm>
            <a:off x="3573475"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Map types to SQL Server</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Table to table, view to view, MV to indexed view, PL/SQL to T-SQL.</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Mapping approved per type</a:t>
            </a:r>
            <a:endParaRPr lang="en-US" sz="740" dirty="0"/>
          </a:p>
        </p:txBody>
      </p:sp>
      <p:sp>
        <p:nvSpPr>
          <p:cNvPr id="44" name="Shape 42"/>
          <p:cNvSpPr/>
          <p:nvPr/>
        </p:nvSpPr>
        <p:spPr>
          <a:xfrm>
            <a:off x="5096866" y="2249424"/>
            <a:ext cx="149962" cy="219456"/>
          </a:xfrm>
          <a:prstGeom prst="chevron">
            <a:avLst/>
          </a:prstGeom>
          <a:solidFill>
            <a:srgbClr val="EEEEEE"/>
          </a:solidFill>
          <a:ln w="6350">
            <a:solidFill>
              <a:srgbClr val="EEEEEE"/>
            </a:solidFill>
            <a:prstDash val="solid"/>
          </a:ln>
        </p:spPr>
      </p:sp>
      <p:sp>
        <p:nvSpPr>
          <p:cNvPr id="45" name="Shape 43"/>
          <p:cNvSpPr/>
          <p:nvPr/>
        </p:nvSpPr>
        <p:spPr>
          <a:xfrm>
            <a:off x="5254142" y="2029968"/>
            <a:ext cx="1506931" cy="658368"/>
          </a:xfrm>
          <a:prstGeom prst="rect">
            <a:avLst/>
          </a:prstGeom>
          <a:solidFill>
            <a:srgbClr val="D6ECFC"/>
          </a:solidFill>
          <a:ln w="6350">
            <a:solidFill>
              <a:srgbClr val="D6ECFC"/>
            </a:solidFill>
            <a:prstDash val="solid"/>
          </a:ln>
        </p:spPr>
      </p:sp>
      <p:sp>
        <p:nvSpPr>
          <p:cNvPr id="46" name="Text 44"/>
          <p:cNvSpPr/>
          <p:nvPr/>
        </p:nvSpPr>
        <p:spPr>
          <a:xfrm>
            <a:off x="5254142"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Convert and deploy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Migrate DDL and data, rewrite PL/SQL as T-SQL, build the gold schema.</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Deployed in the gold schema</a:t>
            </a:r>
            <a:endParaRPr lang="en-US" sz="740" dirty="0"/>
          </a:p>
        </p:txBody>
      </p:sp>
      <p:sp>
        <p:nvSpPr>
          <p:cNvPr id="47" name="Shape 45"/>
          <p:cNvSpPr/>
          <p:nvPr/>
        </p:nvSpPr>
        <p:spPr>
          <a:xfrm>
            <a:off x="6777533" y="2249424"/>
            <a:ext cx="149962" cy="219456"/>
          </a:xfrm>
          <a:prstGeom prst="chevron">
            <a:avLst/>
          </a:prstGeom>
          <a:solidFill>
            <a:srgbClr val="EEEEEE"/>
          </a:solidFill>
          <a:ln w="6350">
            <a:solidFill>
              <a:srgbClr val="EEEEEE"/>
            </a:solidFill>
            <a:prstDash val="solid"/>
          </a:ln>
        </p:spPr>
      </p:sp>
      <p:sp>
        <p:nvSpPr>
          <p:cNvPr id="48" name="Shape 46"/>
          <p:cNvSpPr/>
          <p:nvPr/>
        </p:nvSpPr>
        <p:spPr>
          <a:xfrm>
            <a:off x="6934810" y="2029968"/>
            <a:ext cx="1506931" cy="658368"/>
          </a:xfrm>
          <a:prstGeom prst="rect">
            <a:avLst/>
          </a:prstGeom>
          <a:solidFill>
            <a:srgbClr val="D6ECFC"/>
          </a:solidFill>
          <a:ln w="6350">
            <a:solidFill>
              <a:srgbClr val="D6ECFC"/>
            </a:solidFill>
            <a:prstDash val="solid"/>
          </a:ln>
        </p:spPr>
      </p:sp>
      <p:sp>
        <p:nvSpPr>
          <p:cNvPr id="49" name="Text 47"/>
          <p:cNvSpPr/>
          <p:nvPr/>
        </p:nvSpPr>
        <p:spPr>
          <a:xfrm>
            <a:off x="6934810"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Secure the SQL schema</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schema roles and least privilege, mask PHI columns, enable audit.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Roles, masking and audit on</a:t>
            </a:r>
            <a:endParaRPr lang="en-US" sz="740" dirty="0"/>
          </a:p>
        </p:txBody>
      </p:sp>
      <p:sp>
        <p:nvSpPr>
          <p:cNvPr id="50" name="Shape 48"/>
          <p:cNvSpPr/>
          <p:nvPr/>
        </p:nvSpPr>
        <p:spPr>
          <a:xfrm>
            <a:off x="8458200" y="2249424"/>
            <a:ext cx="149962" cy="219456"/>
          </a:xfrm>
          <a:prstGeom prst="chevron">
            <a:avLst/>
          </a:prstGeom>
          <a:solidFill>
            <a:srgbClr val="EEEEEE"/>
          </a:solidFill>
          <a:ln w="6350">
            <a:solidFill>
              <a:srgbClr val="EEEEEE"/>
            </a:solidFill>
            <a:prstDash val="solid"/>
          </a:ln>
        </p:spPr>
      </p:sp>
      <p:sp>
        <p:nvSpPr>
          <p:cNvPr id="51" name="Shape 49"/>
          <p:cNvSpPr/>
          <p:nvPr/>
        </p:nvSpPr>
        <p:spPr>
          <a:xfrm>
            <a:off x="8615477" y="2029968"/>
            <a:ext cx="1506931" cy="658368"/>
          </a:xfrm>
          <a:prstGeom prst="rect">
            <a:avLst/>
          </a:prstGeom>
          <a:solidFill>
            <a:srgbClr val="D6ECFC"/>
          </a:solidFill>
          <a:ln w="6350">
            <a:solidFill>
              <a:srgbClr val="D6ECFC"/>
            </a:solidFill>
            <a:prstDash val="solid"/>
          </a:ln>
        </p:spPr>
      </p:sp>
      <p:sp>
        <p:nvSpPr>
          <p:cNvPr id="52" name="Text 50"/>
          <p:cNvSpPr/>
          <p:nvPr/>
        </p:nvSpPr>
        <p:spPr>
          <a:xfrm>
            <a:off x="8615477"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to Oracle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Row counts, checksums, key reconciliation. Re-run procs, compare output.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signed per object</a:t>
            </a:r>
            <a:endParaRPr lang="en-US" sz="740" dirty="0"/>
          </a:p>
        </p:txBody>
      </p:sp>
      <p:sp>
        <p:nvSpPr>
          <p:cNvPr id="53" name="Shape 51"/>
          <p:cNvSpPr/>
          <p:nvPr/>
        </p:nvSpPr>
        <p:spPr>
          <a:xfrm>
            <a:off x="10138867" y="2249424"/>
            <a:ext cx="149962" cy="219456"/>
          </a:xfrm>
          <a:prstGeom prst="chevron">
            <a:avLst/>
          </a:prstGeom>
          <a:solidFill>
            <a:srgbClr val="EEEEEE"/>
          </a:solidFill>
          <a:ln w="6350">
            <a:solidFill>
              <a:srgbClr val="EEEEEE"/>
            </a:solidFill>
            <a:prstDash val="solid"/>
          </a:ln>
        </p:spPr>
      </p:sp>
      <p:sp>
        <p:nvSpPr>
          <p:cNvPr id="54" name="Shape 52"/>
          <p:cNvSpPr/>
          <p:nvPr/>
        </p:nvSpPr>
        <p:spPr>
          <a:xfrm>
            <a:off x="10296144" y="2029968"/>
            <a:ext cx="1506931" cy="658368"/>
          </a:xfrm>
          <a:prstGeom prst="rect">
            <a:avLst/>
          </a:prstGeom>
          <a:solidFill>
            <a:srgbClr val="D6ECFC"/>
          </a:solidFill>
          <a:ln w="6350">
            <a:solidFill>
              <a:srgbClr val="D6ECFC"/>
            </a:solidFill>
            <a:prstDash val="solid"/>
          </a:ln>
        </p:spPr>
      </p:sp>
      <p:sp>
        <p:nvSpPr>
          <p:cNvPr id="55" name="Text 53"/>
          <p:cNvSpPr/>
          <p:nvPr/>
        </p:nvSpPr>
        <p:spPr>
          <a:xfrm>
            <a:off x="10296144" y="20299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Retire the Oracle object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Repoint consumers, freeze the Oracle object, drop it at the wave gate.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Oracle object dropped</a:t>
            </a:r>
            <a:endParaRPr lang="en-US" sz="740" dirty="0"/>
          </a:p>
        </p:txBody>
      </p:sp>
      <p:sp>
        <p:nvSpPr>
          <p:cNvPr id="56" name="Shape 54"/>
          <p:cNvSpPr/>
          <p:nvPr/>
        </p:nvSpPr>
        <p:spPr>
          <a:xfrm>
            <a:off x="384048" y="2715768"/>
            <a:ext cx="1417320" cy="658368"/>
          </a:xfrm>
          <a:prstGeom prst="rect">
            <a:avLst/>
          </a:prstGeom>
          <a:solidFill>
            <a:srgbClr val="CEF8FC"/>
          </a:solidFill>
          <a:ln w="6350">
            <a:solidFill>
              <a:srgbClr val="CEF8FC"/>
            </a:solidFill>
            <a:prstDash val="solid"/>
          </a:ln>
        </p:spPr>
      </p:sp>
      <p:sp>
        <p:nvSpPr>
          <p:cNvPr id="57" name="Text 55"/>
          <p:cNvSpPr/>
          <p:nvPr/>
        </p:nvSpPr>
        <p:spPr>
          <a:xfrm>
            <a:off x="384048" y="2715768"/>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Power 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Rearchitect</a:t>
            </a:r>
            <a:endParaRPr lang="en-US" sz="850" dirty="0"/>
          </a:p>
        </p:txBody>
      </p:sp>
      <p:sp>
        <p:nvSpPr>
          <p:cNvPr id="58" name="Shape 56"/>
          <p:cNvSpPr/>
          <p:nvPr/>
        </p:nvSpPr>
        <p:spPr>
          <a:xfrm>
            <a:off x="1892808" y="2715768"/>
            <a:ext cx="1506931" cy="658368"/>
          </a:xfrm>
          <a:prstGeom prst="rect">
            <a:avLst/>
          </a:prstGeom>
          <a:solidFill>
            <a:srgbClr val="ADDAFB"/>
          </a:solidFill>
          <a:ln w="6350">
            <a:solidFill>
              <a:srgbClr val="ADDAFB"/>
            </a:solidFill>
            <a:prstDash val="solid"/>
          </a:ln>
        </p:spPr>
      </p:sp>
      <p:sp>
        <p:nvSpPr>
          <p:cNvPr id="59" name="Text 57"/>
          <p:cNvSpPr/>
          <p:nvPr/>
        </p:nvSpPr>
        <p:spPr>
          <a:xfrm>
            <a:off x="1892808"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Decide the artifact split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Decide semantic model, Paginated Report, or both from one dataset.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Artifact split recorded</a:t>
            </a:r>
            <a:endParaRPr lang="en-US" sz="740" dirty="0"/>
          </a:p>
        </p:txBody>
      </p:sp>
      <p:sp>
        <p:nvSpPr>
          <p:cNvPr id="60" name="Shape 58"/>
          <p:cNvSpPr/>
          <p:nvPr/>
        </p:nvSpPr>
        <p:spPr>
          <a:xfrm>
            <a:off x="3416198" y="2935224"/>
            <a:ext cx="149962" cy="219456"/>
          </a:xfrm>
          <a:prstGeom prst="chevron">
            <a:avLst/>
          </a:prstGeom>
          <a:solidFill>
            <a:srgbClr val="EEEEEE"/>
          </a:solidFill>
          <a:ln w="6350">
            <a:solidFill>
              <a:srgbClr val="EEEEEE"/>
            </a:solidFill>
            <a:prstDash val="solid"/>
          </a:ln>
        </p:spPr>
      </p:sp>
      <p:sp>
        <p:nvSpPr>
          <p:cNvPr id="61" name="Shape 59"/>
          <p:cNvSpPr/>
          <p:nvPr/>
        </p:nvSpPr>
        <p:spPr>
          <a:xfrm>
            <a:off x="3573475" y="2715768"/>
            <a:ext cx="1506931" cy="658368"/>
          </a:xfrm>
          <a:prstGeom prst="rect">
            <a:avLst/>
          </a:prstGeom>
          <a:solidFill>
            <a:srgbClr val="ADDAFB"/>
          </a:solidFill>
          <a:ln w="6350">
            <a:solidFill>
              <a:srgbClr val="ADDAFB"/>
            </a:solidFill>
            <a:prstDash val="solid"/>
          </a:ln>
        </p:spPr>
      </p:sp>
      <p:sp>
        <p:nvSpPr>
          <p:cNvPr id="62" name="Text 60"/>
          <p:cNvSpPr/>
          <p:nvPr/>
        </p:nvSpPr>
        <p:spPr>
          <a:xfrm>
            <a:off x="3573475"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Model and certify dataset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Model on the SQL Server gold schema, define measures, certify 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Semantic model certified</a:t>
            </a:r>
            <a:endParaRPr lang="en-US" sz="740" dirty="0"/>
          </a:p>
        </p:txBody>
      </p:sp>
      <p:sp>
        <p:nvSpPr>
          <p:cNvPr id="63" name="Shape 61"/>
          <p:cNvSpPr/>
          <p:nvPr/>
        </p:nvSpPr>
        <p:spPr>
          <a:xfrm>
            <a:off x="5096866" y="2935224"/>
            <a:ext cx="149962" cy="219456"/>
          </a:xfrm>
          <a:prstGeom prst="chevron">
            <a:avLst/>
          </a:prstGeom>
          <a:solidFill>
            <a:srgbClr val="EEEEEE"/>
          </a:solidFill>
          <a:ln w="6350">
            <a:solidFill>
              <a:srgbClr val="EEEEEE"/>
            </a:solidFill>
            <a:prstDash val="solid"/>
          </a:ln>
        </p:spPr>
      </p:sp>
      <p:sp>
        <p:nvSpPr>
          <p:cNvPr id="64" name="Shape 62"/>
          <p:cNvSpPr/>
          <p:nvPr/>
        </p:nvSpPr>
        <p:spPr>
          <a:xfrm>
            <a:off x="5254142" y="2715768"/>
            <a:ext cx="1506931" cy="658368"/>
          </a:xfrm>
          <a:prstGeom prst="rect">
            <a:avLst/>
          </a:prstGeom>
          <a:solidFill>
            <a:srgbClr val="ADDAFB"/>
          </a:solidFill>
          <a:ln w="6350">
            <a:solidFill>
              <a:srgbClr val="ADDAFB"/>
            </a:solidFill>
            <a:prstDash val="solid"/>
          </a:ln>
        </p:spPr>
      </p:sp>
      <p:sp>
        <p:nvSpPr>
          <p:cNvPr id="65" name="Text 63"/>
          <p:cNvSpPr/>
          <p:nvPr/>
        </p:nvSpPr>
        <p:spPr>
          <a:xfrm>
            <a:off x="5254142"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Rebuild the artifact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Recreate visuals on the model, or rebuild the layout in Paginated.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Built and peer-reviewed</a:t>
            </a:r>
            <a:endParaRPr lang="en-US" sz="740" dirty="0"/>
          </a:p>
        </p:txBody>
      </p:sp>
      <p:sp>
        <p:nvSpPr>
          <p:cNvPr id="66" name="Shape 64"/>
          <p:cNvSpPr/>
          <p:nvPr/>
        </p:nvSpPr>
        <p:spPr>
          <a:xfrm>
            <a:off x="6777533" y="2935224"/>
            <a:ext cx="149962" cy="219456"/>
          </a:xfrm>
          <a:prstGeom prst="chevron">
            <a:avLst/>
          </a:prstGeom>
          <a:solidFill>
            <a:srgbClr val="EEEEEE"/>
          </a:solidFill>
          <a:ln w="6350">
            <a:solidFill>
              <a:srgbClr val="EEEEEE"/>
            </a:solidFill>
            <a:prstDash val="solid"/>
          </a:ln>
        </p:spPr>
      </p:sp>
      <p:sp>
        <p:nvSpPr>
          <p:cNvPr id="67" name="Shape 65"/>
          <p:cNvSpPr/>
          <p:nvPr/>
        </p:nvSpPr>
        <p:spPr>
          <a:xfrm>
            <a:off x="6934810" y="2715768"/>
            <a:ext cx="1506931" cy="658368"/>
          </a:xfrm>
          <a:prstGeom prst="rect">
            <a:avLst/>
          </a:prstGeom>
          <a:solidFill>
            <a:srgbClr val="ADDAFB"/>
          </a:solidFill>
          <a:ln w="6350">
            <a:solidFill>
              <a:srgbClr val="ADDAFB"/>
            </a:solidFill>
            <a:prstDash val="solid"/>
          </a:ln>
        </p:spPr>
      </p:sp>
      <p:sp>
        <p:nvSpPr>
          <p:cNvPr id="68" name="Text 66"/>
          <p:cNvSpPr/>
          <p:nvPr/>
        </p:nvSpPr>
        <p:spPr>
          <a:xfrm>
            <a:off x="6934810"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Wire RLS and delivery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Entra roles, RLS, sensitivity labels and subscriptions.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RLS tested, non-privileged</a:t>
            </a:r>
            <a:endParaRPr lang="en-US" sz="740" dirty="0"/>
          </a:p>
        </p:txBody>
      </p:sp>
      <p:sp>
        <p:nvSpPr>
          <p:cNvPr id="69" name="Shape 67"/>
          <p:cNvSpPr/>
          <p:nvPr/>
        </p:nvSpPr>
        <p:spPr>
          <a:xfrm>
            <a:off x="8458200" y="2935224"/>
            <a:ext cx="149962" cy="219456"/>
          </a:xfrm>
          <a:prstGeom prst="chevron">
            <a:avLst/>
          </a:prstGeom>
          <a:solidFill>
            <a:srgbClr val="EEEEEE"/>
          </a:solidFill>
          <a:ln w="6350">
            <a:solidFill>
              <a:srgbClr val="EEEEEE"/>
            </a:solidFill>
            <a:prstDash val="solid"/>
          </a:ln>
        </p:spPr>
      </p:sp>
      <p:sp>
        <p:nvSpPr>
          <p:cNvPr id="70" name="Shape 68"/>
          <p:cNvSpPr/>
          <p:nvPr/>
        </p:nvSpPr>
        <p:spPr>
          <a:xfrm>
            <a:off x="8615477" y="2715768"/>
            <a:ext cx="1506931" cy="658368"/>
          </a:xfrm>
          <a:prstGeom prst="rect">
            <a:avLst/>
          </a:prstGeom>
          <a:solidFill>
            <a:srgbClr val="ADDAFB"/>
          </a:solidFill>
          <a:ln w="6350">
            <a:solidFill>
              <a:srgbClr val="ADDAFB"/>
            </a:solidFill>
            <a:prstDash val="solid"/>
          </a:ln>
        </p:spPr>
      </p:sp>
      <p:sp>
        <p:nvSpPr>
          <p:cNvPr id="71" name="Text 69"/>
          <p:cNvSpPr/>
          <p:nvPr/>
        </p:nvSpPr>
        <p:spPr>
          <a:xfrm>
            <a:off x="8615477"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test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the report, check layout fidelity, run a burst test.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and burst test</a:t>
            </a:r>
            <a:endParaRPr lang="en-US" sz="740" dirty="0"/>
          </a:p>
        </p:txBody>
      </p:sp>
      <p:sp>
        <p:nvSpPr>
          <p:cNvPr id="72" name="Shape 70"/>
          <p:cNvSpPr/>
          <p:nvPr/>
        </p:nvSpPr>
        <p:spPr>
          <a:xfrm>
            <a:off x="10138867" y="2935224"/>
            <a:ext cx="149962" cy="219456"/>
          </a:xfrm>
          <a:prstGeom prst="chevron">
            <a:avLst/>
          </a:prstGeom>
          <a:solidFill>
            <a:srgbClr val="EEEEEE"/>
          </a:solidFill>
          <a:ln w="6350">
            <a:solidFill>
              <a:srgbClr val="EEEEEE"/>
            </a:solidFill>
            <a:prstDash val="solid"/>
          </a:ln>
        </p:spPr>
      </p:sp>
      <p:sp>
        <p:nvSpPr>
          <p:cNvPr id="73" name="Shape 71"/>
          <p:cNvSpPr/>
          <p:nvPr/>
        </p:nvSpPr>
        <p:spPr>
          <a:xfrm>
            <a:off x="10296144" y="2715768"/>
            <a:ext cx="1506931" cy="658368"/>
          </a:xfrm>
          <a:prstGeom prst="rect">
            <a:avLst/>
          </a:prstGeom>
          <a:solidFill>
            <a:srgbClr val="ADDAFB"/>
          </a:solidFill>
          <a:ln w="6350">
            <a:solidFill>
              <a:srgbClr val="ADDAFB"/>
            </a:solidFill>
            <a:prstDash val="solid"/>
          </a:ln>
        </p:spPr>
      </p:sp>
      <p:sp>
        <p:nvSpPr>
          <p:cNvPr id="74" name="Text 72"/>
          <p:cNvSpPr/>
          <p:nvPr/>
        </p:nvSpPr>
        <p:spPr>
          <a:xfrm>
            <a:off x="10296144" y="2715768"/>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Deploy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Deploy through the pipeline, redirect users, delete the BOBJ object.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publications off</a:t>
            </a:r>
            <a:endParaRPr lang="en-US" sz="740" dirty="0"/>
          </a:p>
        </p:txBody>
      </p:sp>
      <p:sp>
        <p:nvSpPr>
          <p:cNvPr id="75" name="Shape 73"/>
          <p:cNvSpPr/>
          <p:nvPr/>
        </p:nvSpPr>
        <p:spPr>
          <a:xfrm>
            <a:off x="384048" y="3465576"/>
            <a:ext cx="1417320" cy="658368"/>
          </a:xfrm>
          <a:prstGeom prst="rect">
            <a:avLst/>
          </a:prstGeom>
          <a:solidFill>
            <a:srgbClr val="CEF8FC"/>
          </a:solidFill>
          <a:ln w="6350">
            <a:solidFill>
              <a:srgbClr val="CEF8FC"/>
            </a:solidFill>
            <a:prstDash val="solid"/>
          </a:ln>
        </p:spPr>
      </p:sp>
      <p:sp>
        <p:nvSpPr>
          <p:cNvPr id="76" name="Text 74"/>
          <p:cNvSpPr/>
          <p:nvPr/>
        </p:nvSpPr>
        <p:spPr>
          <a:xfrm>
            <a:off x="384048" y="3465576"/>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Databricks</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Data objects</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Oracle → Delta + UC</a:t>
            </a:r>
            <a:endParaRPr lang="en-US" sz="850" dirty="0"/>
          </a:p>
        </p:txBody>
      </p:sp>
      <p:sp>
        <p:nvSpPr>
          <p:cNvPr id="77" name="Shape 75"/>
          <p:cNvSpPr/>
          <p:nvPr/>
        </p:nvSpPr>
        <p:spPr>
          <a:xfrm>
            <a:off x="1892808" y="3465576"/>
            <a:ext cx="1506931" cy="658368"/>
          </a:xfrm>
          <a:prstGeom prst="rect">
            <a:avLst/>
          </a:prstGeom>
          <a:solidFill>
            <a:srgbClr val="D6ECFC"/>
          </a:solidFill>
          <a:ln w="6350">
            <a:solidFill>
              <a:srgbClr val="D6ECFC"/>
            </a:solidFill>
            <a:prstDash val="solid"/>
          </a:ln>
        </p:spPr>
      </p:sp>
      <p:sp>
        <p:nvSpPr>
          <p:cNvPr id="78" name="Text 76"/>
          <p:cNvSpPr/>
          <p:nvPr/>
        </p:nvSpPr>
        <p:spPr>
          <a:xfrm>
            <a:off x="1892808"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Inventory the objects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Parse universe SQL. List every table, view, MV, procedure and package.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Dependency graph published</a:t>
            </a:r>
            <a:endParaRPr lang="en-US" sz="740" dirty="0"/>
          </a:p>
        </p:txBody>
      </p:sp>
      <p:sp>
        <p:nvSpPr>
          <p:cNvPr id="79" name="Shape 77"/>
          <p:cNvSpPr/>
          <p:nvPr/>
        </p:nvSpPr>
        <p:spPr>
          <a:xfrm>
            <a:off x="3416198" y="3685032"/>
            <a:ext cx="149962" cy="219456"/>
          </a:xfrm>
          <a:prstGeom prst="chevron">
            <a:avLst/>
          </a:prstGeom>
          <a:solidFill>
            <a:srgbClr val="EEEEEE"/>
          </a:solidFill>
          <a:ln w="6350">
            <a:solidFill>
              <a:srgbClr val="EEEEEE"/>
            </a:solidFill>
            <a:prstDash val="solid"/>
          </a:ln>
        </p:spPr>
      </p:sp>
      <p:sp>
        <p:nvSpPr>
          <p:cNvPr id="80" name="Shape 78"/>
          <p:cNvSpPr/>
          <p:nvPr/>
        </p:nvSpPr>
        <p:spPr>
          <a:xfrm>
            <a:off x="3573475" y="3465576"/>
            <a:ext cx="1506931" cy="658368"/>
          </a:xfrm>
          <a:prstGeom prst="rect">
            <a:avLst/>
          </a:prstGeom>
          <a:solidFill>
            <a:srgbClr val="D6ECFC"/>
          </a:solidFill>
          <a:ln w="6350">
            <a:solidFill>
              <a:srgbClr val="D6ECFC"/>
            </a:solidFill>
            <a:prstDash val="solid"/>
          </a:ln>
        </p:spPr>
      </p:sp>
      <p:sp>
        <p:nvSpPr>
          <p:cNvPr id="81" name="Text 79"/>
          <p:cNvSpPr/>
          <p:nvPr/>
        </p:nvSpPr>
        <p:spPr>
          <a:xfrm>
            <a:off x="3573475"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Map types to Databricks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Table to Delta, view to SQL view, MV to Delta MV, PL/SQL to UDF or DLT.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Mapping approved per type</a:t>
            </a:r>
            <a:endParaRPr lang="en-US" sz="740" dirty="0"/>
          </a:p>
        </p:txBody>
      </p:sp>
      <p:sp>
        <p:nvSpPr>
          <p:cNvPr id="82" name="Shape 80"/>
          <p:cNvSpPr/>
          <p:nvPr/>
        </p:nvSpPr>
        <p:spPr>
          <a:xfrm>
            <a:off x="5096866" y="3685032"/>
            <a:ext cx="149962" cy="219456"/>
          </a:xfrm>
          <a:prstGeom prst="chevron">
            <a:avLst/>
          </a:prstGeom>
          <a:solidFill>
            <a:srgbClr val="EEEEEE"/>
          </a:solidFill>
          <a:ln w="6350">
            <a:solidFill>
              <a:srgbClr val="EEEEEE"/>
            </a:solidFill>
            <a:prstDash val="solid"/>
          </a:ln>
        </p:spPr>
      </p:sp>
      <p:sp>
        <p:nvSpPr>
          <p:cNvPr id="83" name="Shape 81"/>
          <p:cNvSpPr/>
          <p:nvPr/>
        </p:nvSpPr>
        <p:spPr>
          <a:xfrm>
            <a:off x="5254142" y="3465576"/>
            <a:ext cx="1506931" cy="658368"/>
          </a:xfrm>
          <a:prstGeom prst="rect">
            <a:avLst/>
          </a:prstGeom>
          <a:solidFill>
            <a:srgbClr val="D6ECFC"/>
          </a:solidFill>
          <a:ln w="6350">
            <a:solidFill>
              <a:srgbClr val="D6ECFC"/>
            </a:solidFill>
            <a:prstDash val="solid"/>
          </a:ln>
        </p:spPr>
      </p:sp>
      <p:sp>
        <p:nvSpPr>
          <p:cNvPr id="84" name="Text 82"/>
          <p:cNvSpPr/>
          <p:nvPr/>
        </p:nvSpPr>
        <p:spPr>
          <a:xfrm>
            <a:off x="5254142"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Land, convert and deploy</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Ingest to bronze, build silver and gold, deploy views and logic into UC.</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Objects deployed in the catalog</a:t>
            </a:r>
            <a:endParaRPr lang="en-US" sz="740" dirty="0"/>
          </a:p>
        </p:txBody>
      </p:sp>
      <p:sp>
        <p:nvSpPr>
          <p:cNvPr id="85" name="Shape 83"/>
          <p:cNvSpPr/>
          <p:nvPr/>
        </p:nvSpPr>
        <p:spPr>
          <a:xfrm>
            <a:off x="6777533" y="3685032"/>
            <a:ext cx="149962" cy="219456"/>
          </a:xfrm>
          <a:prstGeom prst="chevron">
            <a:avLst/>
          </a:prstGeom>
          <a:solidFill>
            <a:srgbClr val="EEEEEE"/>
          </a:solidFill>
          <a:ln w="6350">
            <a:solidFill>
              <a:srgbClr val="EEEEEE"/>
            </a:solidFill>
            <a:prstDash val="solid"/>
          </a:ln>
        </p:spPr>
      </p:sp>
      <p:sp>
        <p:nvSpPr>
          <p:cNvPr id="86" name="Shape 84"/>
          <p:cNvSpPr/>
          <p:nvPr/>
        </p:nvSpPr>
        <p:spPr>
          <a:xfrm>
            <a:off x="6934810" y="3465576"/>
            <a:ext cx="1506931" cy="658368"/>
          </a:xfrm>
          <a:prstGeom prst="rect">
            <a:avLst/>
          </a:prstGeom>
          <a:solidFill>
            <a:srgbClr val="D6ECFC"/>
          </a:solidFill>
          <a:ln w="6350">
            <a:solidFill>
              <a:srgbClr val="D6ECFC"/>
            </a:solidFill>
            <a:prstDash val="solid"/>
          </a:ln>
        </p:spPr>
      </p:sp>
      <p:sp>
        <p:nvSpPr>
          <p:cNvPr id="87" name="Text 85"/>
          <p:cNvSpPr/>
          <p:nvPr/>
        </p:nvSpPr>
        <p:spPr>
          <a:xfrm>
            <a:off x="6934810"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Govern in Unity Catalog</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Set ownership, row filters, column masks, lineage. Register PHI objects.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UC policies and audit logging on</a:t>
            </a:r>
            <a:endParaRPr lang="en-US" sz="740" dirty="0"/>
          </a:p>
        </p:txBody>
      </p:sp>
      <p:sp>
        <p:nvSpPr>
          <p:cNvPr id="88" name="Shape 86"/>
          <p:cNvSpPr/>
          <p:nvPr/>
        </p:nvSpPr>
        <p:spPr>
          <a:xfrm>
            <a:off x="8458200" y="3685032"/>
            <a:ext cx="149962" cy="219456"/>
          </a:xfrm>
          <a:prstGeom prst="chevron">
            <a:avLst/>
          </a:prstGeom>
          <a:solidFill>
            <a:srgbClr val="EEEEEE"/>
          </a:solidFill>
          <a:ln w="6350">
            <a:solidFill>
              <a:srgbClr val="EEEEEE"/>
            </a:solidFill>
            <a:prstDash val="solid"/>
          </a:ln>
        </p:spPr>
      </p:sp>
      <p:sp>
        <p:nvSpPr>
          <p:cNvPr id="89" name="Shape 87"/>
          <p:cNvSpPr/>
          <p:nvPr/>
        </p:nvSpPr>
        <p:spPr>
          <a:xfrm>
            <a:off x="8615477" y="3465576"/>
            <a:ext cx="1506931" cy="658368"/>
          </a:xfrm>
          <a:prstGeom prst="rect">
            <a:avLst/>
          </a:prstGeom>
          <a:solidFill>
            <a:srgbClr val="D6ECFC"/>
          </a:solidFill>
          <a:ln w="6350">
            <a:solidFill>
              <a:srgbClr val="D6ECFC"/>
            </a:solidFill>
            <a:prstDash val="solid"/>
          </a:ln>
        </p:spPr>
      </p:sp>
      <p:sp>
        <p:nvSpPr>
          <p:cNvPr id="90" name="Text 88"/>
          <p:cNvSpPr/>
          <p:nvPr/>
        </p:nvSpPr>
        <p:spPr>
          <a:xfrm>
            <a:off x="8615477"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to Oracle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Row counts, checksums, key reconciliation. Compare re-run output.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signed per object</a:t>
            </a:r>
            <a:endParaRPr lang="en-US" sz="740" dirty="0"/>
          </a:p>
        </p:txBody>
      </p:sp>
      <p:sp>
        <p:nvSpPr>
          <p:cNvPr id="91" name="Shape 89"/>
          <p:cNvSpPr/>
          <p:nvPr/>
        </p:nvSpPr>
        <p:spPr>
          <a:xfrm>
            <a:off x="10138867" y="3685032"/>
            <a:ext cx="149962" cy="219456"/>
          </a:xfrm>
          <a:prstGeom prst="chevron">
            <a:avLst/>
          </a:prstGeom>
          <a:solidFill>
            <a:srgbClr val="EEEEEE"/>
          </a:solidFill>
          <a:ln w="6350">
            <a:solidFill>
              <a:srgbClr val="EEEEEE"/>
            </a:solidFill>
            <a:prstDash val="solid"/>
          </a:ln>
        </p:spPr>
      </p:sp>
      <p:sp>
        <p:nvSpPr>
          <p:cNvPr id="92" name="Shape 90"/>
          <p:cNvSpPr/>
          <p:nvPr/>
        </p:nvSpPr>
        <p:spPr>
          <a:xfrm>
            <a:off x="10296144" y="3465576"/>
            <a:ext cx="1506931" cy="658368"/>
          </a:xfrm>
          <a:prstGeom prst="rect">
            <a:avLst/>
          </a:prstGeom>
          <a:solidFill>
            <a:srgbClr val="D6ECFC"/>
          </a:solidFill>
          <a:ln w="6350">
            <a:solidFill>
              <a:srgbClr val="D6ECFC"/>
            </a:solidFill>
            <a:prstDash val="solid"/>
          </a:ln>
        </p:spPr>
      </p:sp>
      <p:sp>
        <p:nvSpPr>
          <p:cNvPr id="93" name="Text 91"/>
          <p:cNvSpPr/>
          <p:nvPr/>
        </p:nvSpPr>
        <p:spPr>
          <a:xfrm>
            <a:off x="10296144" y="34655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Retire the Oracle object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Repoint consumers, freeze the object, drop it at the wave gate.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Oracle dropped, lineage updated</a:t>
            </a:r>
            <a:endParaRPr lang="en-US" sz="740" dirty="0"/>
          </a:p>
        </p:txBody>
      </p:sp>
      <p:sp>
        <p:nvSpPr>
          <p:cNvPr id="94" name="Shape 92"/>
          <p:cNvSpPr/>
          <p:nvPr/>
        </p:nvSpPr>
        <p:spPr>
          <a:xfrm>
            <a:off x="384048" y="4151376"/>
            <a:ext cx="1417320" cy="658368"/>
          </a:xfrm>
          <a:prstGeom prst="rect">
            <a:avLst/>
          </a:prstGeom>
          <a:solidFill>
            <a:srgbClr val="CEF8FC"/>
          </a:solidFill>
          <a:ln w="6350">
            <a:solidFill>
              <a:srgbClr val="CEF8FC"/>
            </a:solidFill>
            <a:prstDash val="solid"/>
          </a:ln>
        </p:spPr>
      </p:sp>
      <p:sp>
        <p:nvSpPr>
          <p:cNvPr id="95" name="Text 93"/>
          <p:cNvSpPr/>
          <p:nvPr/>
        </p:nvSpPr>
        <p:spPr>
          <a:xfrm>
            <a:off x="384048" y="4151376"/>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Databricks AI/BI</a:t>
            </a:r>
            <a:endParaRPr lang="en-US" sz="850" dirty="0"/>
          </a:p>
          <a:p>
            <a:pPr algn="ctr" indent="0" marL="0">
              <a:lnSpc>
                <a:spcPct val="94000"/>
              </a:lnSpc>
              <a:buNone/>
            </a:pPr>
            <a:r>
              <a:rPr lang="en-US" sz="690" dirty="0">
                <a:solidFill>
                  <a:srgbClr val="081F5C"/>
                </a:solidFill>
                <a:latin typeface="Arial" pitchFamily="34" charset="0"/>
                <a:ea typeface="Arial" pitchFamily="34" charset="-122"/>
                <a:cs typeface="Arial" pitchFamily="34" charset="-120"/>
              </a:rPr>
              <a:t>Report rebuild</a:t>
            </a:r>
            <a:endParaRPr lang="en-US" sz="850" dirty="0"/>
          </a:p>
          <a:p>
            <a:pPr algn="ctr" indent="0" marL="0">
              <a:lnSpc>
                <a:spcPct val="94000"/>
              </a:lnSpc>
              <a:buNone/>
            </a:pPr>
            <a:r>
              <a:rPr lang="en-US" sz="630" i="1" dirty="0">
                <a:solidFill>
                  <a:srgbClr val="081F5C"/>
                </a:solidFill>
                <a:latin typeface="Arial" pitchFamily="34" charset="0"/>
                <a:ea typeface="Arial" pitchFamily="34" charset="-122"/>
                <a:cs typeface="Arial" pitchFamily="34" charset="-120"/>
              </a:rPr>
              <a:t>Replatform</a:t>
            </a:r>
            <a:endParaRPr lang="en-US" sz="850" dirty="0"/>
          </a:p>
        </p:txBody>
      </p:sp>
      <p:sp>
        <p:nvSpPr>
          <p:cNvPr id="96" name="Shape 94"/>
          <p:cNvSpPr/>
          <p:nvPr/>
        </p:nvSpPr>
        <p:spPr>
          <a:xfrm>
            <a:off x="1892808" y="4151376"/>
            <a:ext cx="1506931" cy="658368"/>
          </a:xfrm>
          <a:prstGeom prst="rect">
            <a:avLst/>
          </a:prstGeom>
          <a:solidFill>
            <a:srgbClr val="ADDAFB"/>
          </a:solidFill>
          <a:ln w="6350">
            <a:solidFill>
              <a:srgbClr val="ADDAFB"/>
            </a:solidFill>
            <a:prstDash val="solid"/>
          </a:ln>
        </p:spPr>
      </p:sp>
      <p:sp>
        <p:nvSpPr>
          <p:cNvPr id="97" name="Text 95"/>
          <p:cNvSpPr/>
          <p:nvPr/>
        </p:nvSpPr>
        <p:spPr>
          <a:xfrm>
            <a:off x="1892808"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Confirm the gold layer</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Verify the objects this report needs are landed and certified above.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Gold tables available</a:t>
            </a:r>
            <a:endParaRPr lang="en-US" sz="740" dirty="0"/>
          </a:p>
        </p:txBody>
      </p:sp>
      <p:sp>
        <p:nvSpPr>
          <p:cNvPr id="98" name="Shape 96"/>
          <p:cNvSpPr/>
          <p:nvPr/>
        </p:nvSpPr>
        <p:spPr>
          <a:xfrm>
            <a:off x="3416198" y="4370832"/>
            <a:ext cx="149962" cy="219456"/>
          </a:xfrm>
          <a:prstGeom prst="chevron">
            <a:avLst/>
          </a:prstGeom>
          <a:solidFill>
            <a:srgbClr val="EEEEEE"/>
          </a:solidFill>
          <a:ln w="6350">
            <a:solidFill>
              <a:srgbClr val="EEEEEE"/>
            </a:solidFill>
            <a:prstDash val="solid"/>
          </a:ln>
        </p:spPr>
      </p:sp>
      <p:sp>
        <p:nvSpPr>
          <p:cNvPr id="99" name="Shape 97"/>
          <p:cNvSpPr/>
          <p:nvPr/>
        </p:nvSpPr>
        <p:spPr>
          <a:xfrm>
            <a:off x="3573475" y="4151376"/>
            <a:ext cx="1506931" cy="658368"/>
          </a:xfrm>
          <a:prstGeom prst="rect">
            <a:avLst/>
          </a:prstGeom>
          <a:solidFill>
            <a:srgbClr val="ADDAFB"/>
          </a:solidFill>
          <a:ln w="6350">
            <a:solidFill>
              <a:srgbClr val="ADDAFB"/>
            </a:solidFill>
            <a:prstDash val="solid"/>
          </a:ln>
        </p:spPr>
      </p:sp>
      <p:sp>
        <p:nvSpPr>
          <p:cNvPr id="100" name="Text 98"/>
          <p:cNvSpPr/>
          <p:nvPr/>
        </p:nvSpPr>
        <p:spPr>
          <a:xfrm>
            <a:off x="3573475"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Rebuild the semantics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Express the universe logic as SQL views or UC metric views.</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Metric views published</a:t>
            </a:r>
            <a:endParaRPr lang="en-US" sz="740" dirty="0"/>
          </a:p>
        </p:txBody>
      </p:sp>
      <p:sp>
        <p:nvSpPr>
          <p:cNvPr id="101" name="Shape 99"/>
          <p:cNvSpPr/>
          <p:nvPr/>
        </p:nvSpPr>
        <p:spPr>
          <a:xfrm>
            <a:off x="5096866" y="4370832"/>
            <a:ext cx="149962" cy="219456"/>
          </a:xfrm>
          <a:prstGeom prst="chevron">
            <a:avLst/>
          </a:prstGeom>
          <a:solidFill>
            <a:srgbClr val="EEEEEE"/>
          </a:solidFill>
          <a:ln w="6350">
            <a:solidFill>
              <a:srgbClr val="EEEEEE"/>
            </a:solidFill>
            <a:prstDash val="solid"/>
          </a:ln>
        </p:spPr>
      </p:sp>
      <p:sp>
        <p:nvSpPr>
          <p:cNvPr id="102" name="Shape 100"/>
          <p:cNvSpPr/>
          <p:nvPr/>
        </p:nvSpPr>
        <p:spPr>
          <a:xfrm>
            <a:off x="5254142" y="4151376"/>
            <a:ext cx="1506931" cy="658368"/>
          </a:xfrm>
          <a:prstGeom prst="rect">
            <a:avLst/>
          </a:prstGeom>
          <a:solidFill>
            <a:srgbClr val="ADDAFB"/>
          </a:solidFill>
          <a:ln w="6350">
            <a:solidFill>
              <a:srgbClr val="ADDAFB"/>
            </a:solidFill>
            <a:prstDash val="solid"/>
          </a:ln>
        </p:spPr>
      </p:sp>
      <p:sp>
        <p:nvSpPr>
          <p:cNvPr id="103" name="Text 101"/>
          <p:cNvSpPr/>
          <p:nvPr/>
        </p:nvSpPr>
        <p:spPr>
          <a:xfrm>
            <a:off x="5254142"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Build the dashboard</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Recreate the visuals as an AI/BI dashboard. Scope a Genie space.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Dashboard and Genie reviewed</a:t>
            </a:r>
            <a:endParaRPr lang="en-US" sz="740" dirty="0"/>
          </a:p>
        </p:txBody>
      </p:sp>
      <p:sp>
        <p:nvSpPr>
          <p:cNvPr id="104" name="Shape 102"/>
          <p:cNvSpPr/>
          <p:nvPr/>
        </p:nvSpPr>
        <p:spPr>
          <a:xfrm>
            <a:off x="6777533" y="4370832"/>
            <a:ext cx="149962" cy="219456"/>
          </a:xfrm>
          <a:prstGeom prst="chevron">
            <a:avLst/>
          </a:prstGeom>
          <a:solidFill>
            <a:srgbClr val="EEEEEE"/>
          </a:solidFill>
          <a:ln w="6350">
            <a:solidFill>
              <a:srgbClr val="EEEEEE"/>
            </a:solidFill>
            <a:prstDash val="solid"/>
          </a:ln>
        </p:spPr>
      </p:sp>
      <p:sp>
        <p:nvSpPr>
          <p:cNvPr id="105" name="Shape 103"/>
          <p:cNvSpPr/>
          <p:nvPr/>
        </p:nvSpPr>
        <p:spPr>
          <a:xfrm>
            <a:off x="6934810" y="4151376"/>
            <a:ext cx="1506931" cy="658368"/>
          </a:xfrm>
          <a:prstGeom prst="rect">
            <a:avLst/>
          </a:prstGeom>
          <a:solidFill>
            <a:srgbClr val="ADDAFB"/>
          </a:solidFill>
          <a:ln w="6350">
            <a:solidFill>
              <a:srgbClr val="ADDAFB"/>
            </a:solidFill>
            <a:prstDash val="solid"/>
          </a:ln>
        </p:spPr>
      </p:sp>
      <p:sp>
        <p:nvSpPr>
          <p:cNvPr id="106" name="Text 104"/>
          <p:cNvSpPr/>
          <p:nvPr/>
        </p:nvSpPr>
        <p:spPr>
          <a:xfrm>
            <a:off x="6934810"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Grant through UC</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Bind UC groups, inherit row filters and masks, switch on audit.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UC grants applied, audit on</a:t>
            </a:r>
            <a:endParaRPr lang="en-US" sz="740" dirty="0"/>
          </a:p>
        </p:txBody>
      </p:sp>
      <p:sp>
        <p:nvSpPr>
          <p:cNvPr id="107" name="Shape 105"/>
          <p:cNvSpPr/>
          <p:nvPr/>
        </p:nvSpPr>
        <p:spPr>
          <a:xfrm>
            <a:off x="8458200" y="4370832"/>
            <a:ext cx="149962" cy="219456"/>
          </a:xfrm>
          <a:prstGeom prst="chevron">
            <a:avLst/>
          </a:prstGeom>
          <a:solidFill>
            <a:srgbClr val="EEEEEE"/>
          </a:solidFill>
          <a:ln w="6350">
            <a:solidFill>
              <a:srgbClr val="EEEEEE"/>
            </a:solidFill>
            <a:prstDash val="solid"/>
          </a:ln>
        </p:spPr>
      </p:sp>
      <p:sp>
        <p:nvSpPr>
          <p:cNvPr id="108" name="Shape 106"/>
          <p:cNvSpPr/>
          <p:nvPr/>
        </p:nvSpPr>
        <p:spPr>
          <a:xfrm>
            <a:off x="8615477" y="4151376"/>
            <a:ext cx="1506931" cy="658368"/>
          </a:xfrm>
          <a:prstGeom prst="rect">
            <a:avLst/>
          </a:prstGeom>
          <a:solidFill>
            <a:srgbClr val="ADDAFB"/>
          </a:solidFill>
          <a:ln w="6350">
            <a:solidFill>
              <a:srgbClr val="ADDAFB"/>
            </a:solidFill>
            <a:prstDash val="solid"/>
          </a:ln>
        </p:spPr>
      </p:sp>
      <p:sp>
        <p:nvSpPr>
          <p:cNvPr id="109" name="Text 107"/>
          <p:cNvSpPr/>
          <p:nvPr/>
        </p:nvSpPr>
        <p:spPr>
          <a:xfrm>
            <a:off x="8615477"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and test Genie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Reconcile to BOBJ output. Run a known-answer set through Genie.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Reconciliation and Genie results</a:t>
            </a:r>
            <a:endParaRPr lang="en-US" sz="740" dirty="0"/>
          </a:p>
        </p:txBody>
      </p:sp>
      <p:sp>
        <p:nvSpPr>
          <p:cNvPr id="110" name="Shape 108"/>
          <p:cNvSpPr/>
          <p:nvPr/>
        </p:nvSpPr>
        <p:spPr>
          <a:xfrm>
            <a:off x="10138867" y="4370832"/>
            <a:ext cx="149962" cy="219456"/>
          </a:xfrm>
          <a:prstGeom prst="chevron">
            <a:avLst/>
          </a:prstGeom>
          <a:solidFill>
            <a:srgbClr val="EEEEEE"/>
          </a:solidFill>
          <a:ln w="6350">
            <a:solidFill>
              <a:srgbClr val="EEEEEE"/>
            </a:solidFill>
            <a:prstDash val="solid"/>
          </a:ln>
        </p:spPr>
      </p:sp>
      <p:sp>
        <p:nvSpPr>
          <p:cNvPr id="111" name="Shape 109"/>
          <p:cNvSpPr/>
          <p:nvPr/>
        </p:nvSpPr>
        <p:spPr>
          <a:xfrm>
            <a:off x="10296144" y="4151376"/>
            <a:ext cx="1506931" cy="658368"/>
          </a:xfrm>
          <a:prstGeom prst="rect">
            <a:avLst/>
          </a:prstGeom>
          <a:solidFill>
            <a:srgbClr val="ADDAFB"/>
          </a:solidFill>
          <a:ln w="6350">
            <a:solidFill>
              <a:srgbClr val="ADDAFB"/>
            </a:solidFill>
            <a:prstDash val="solid"/>
          </a:ln>
        </p:spPr>
      </p:sp>
      <p:sp>
        <p:nvSpPr>
          <p:cNvPr id="112" name="Text 110"/>
          <p:cNvSpPr/>
          <p:nvPr/>
        </p:nvSpPr>
        <p:spPr>
          <a:xfrm>
            <a:off x="10296144" y="4151376"/>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Release and delete source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Grant to UC groups, redirect users, delete the object and Oracle feed.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BOBJ deleted, Oracle feed off</a:t>
            </a:r>
            <a:endParaRPr lang="en-US" sz="740" dirty="0"/>
          </a:p>
        </p:txBody>
      </p:sp>
      <p:sp>
        <p:nvSpPr>
          <p:cNvPr id="113" name="Shape 111"/>
          <p:cNvSpPr/>
          <p:nvPr/>
        </p:nvSpPr>
        <p:spPr>
          <a:xfrm>
            <a:off x="384048" y="4901184"/>
            <a:ext cx="1417320" cy="658368"/>
          </a:xfrm>
          <a:prstGeom prst="rect">
            <a:avLst/>
          </a:prstGeom>
          <a:solidFill>
            <a:srgbClr val="081F5C"/>
          </a:solidFill>
          <a:ln w="6350">
            <a:solidFill>
              <a:srgbClr val="081F5C"/>
            </a:solidFill>
            <a:prstDash val="solid"/>
          </a:ln>
        </p:spPr>
      </p:sp>
      <p:sp>
        <p:nvSpPr>
          <p:cNvPr id="114" name="Text 112"/>
          <p:cNvSpPr/>
          <p:nvPr/>
        </p:nvSpPr>
        <p:spPr>
          <a:xfrm>
            <a:off x="384048" y="4901184"/>
            <a:ext cx="1417320" cy="658368"/>
          </a:xfrm>
          <a:prstGeom prst="rect">
            <a:avLst/>
          </a:prstGeom>
          <a:noFill/>
          <a:ln/>
        </p:spPr>
        <p:txBody>
          <a:bodyPr wrap="square" lIns="254" tIns="635" rIns="635" bIns="254" rtlCol="0" anchor="ctr"/>
          <a:lstStyle/>
          <a:p>
            <a:pPr algn="ctr" indent="0" marL="0">
              <a:lnSpc>
                <a:spcPct val="94000"/>
              </a:lnSpc>
              <a:buNone/>
            </a:pPr>
            <a:r>
              <a:rPr lang="en-US" sz="850" b="1" dirty="0">
                <a:solidFill>
                  <a:srgbClr val="FFFFFF"/>
                </a:solidFill>
                <a:latin typeface="Arial" pitchFamily="34" charset="0"/>
                <a:ea typeface="Arial" pitchFamily="34" charset="-122"/>
                <a:cs typeface="Arial" pitchFamily="34" charset="-120"/>
              </a:rPr>
              <a:t>Retain in BOBJ</a:t>
            </a:r>
            <a:endParaRPr lang="en-US" sz="850" dirty="0"/>
          </a:p>
          <a:p>
            <a:pPr algn="ctr" indent="0" marL="0">
              <a:lnSpc>
                <a:spcPct val="94000"/>
              </a:lnSpc>
              <a:buNone/>
            </a:pPr>
            <a:r>
              <a:rPr lang="en-US" sz="690" dirty="0">
                <a:solidFill>
                  <a:srgbClr val="FFFFFF"/>
                </a:solidFill>
                <a:latin typeface="Arial" pitchFamily="34" charset="0"/>
                <a:ea typeface="Arial" pitchFamily="34" charset="-122"/>
                <a:cs typeface="Arial" pitchFamily="34" charset="-120"/>
              </a:rPr>
              <a:t>Re-point and freeze</a:t>
            </a:r>
            <a:endParaRPr lang="en-US" sz="850" dirty="0"/>
          </a:p>
          <a:p>
            <a:pPr algn="ctr" indent="0" marL="0">
              <a:lnSpc>
                <a:spcPct val="94000"/>
              </a:lnSpc>
              <a:buNone/>
            </a:pPr>
            <a:r>
              <a:rPr lang="en-US" sz="630" i="1" dirty="0">
                <a:solidFill>
                  <a:srgbClr val="FFFFFF"/>
                </a:solidFill>
                <a:latin typeface="Arial" pitchFamily="34" charset="0"/>
                <a:ea typeface="Arial" pitchFamily="34" charset="-122"/>
                <a:cs typeface="Arial" pitchFamily="34" charset="-120"/>
              </a:rPr>
              <a:t>Exception</a:t>
            </a:r>
            <a:endParaRPr lang="en-US" sz="850" dirty="0"/>
          </a:p>
        </p:txBody>
      </p:sp>
      <p:sp>
        <p:nvSpPr>
          <p:cNvPr id="115" name="Shape 113"/>
          <p:cNvSpPr/>
          <p:nvPr/>
        </p:nvSpPr>
        <p:spPr>
          <a:xfrm>
            <a:off x="1892808" y="4901184"/>
            <a:ext cx="1506931" cy="658368"/>
          </a:xfrm>
          <a:prstGeom prst="rect">
            <a:avLst/>
          </a:prstGeom>
          <a:solidFill>
            <a:srgbClr val="FFFFFF"/>
          </a:solidFill>
          <a:ln w="9525">
            <a:solidFill>
              <a:srgbClr val="081F5C"/>
            </a:solidFill>
            <a:prstDash val="dash"/>
          </a:ln>
        </p:spPr>
      </p:sp>
      <p:sp>
        <p:nvSpPr>
          <p:cNvPr id="116" name="Text 114"/>
          <p:cNvSpPr/>
          <p:nvPr/>
        </p:nvSpPr>
        <p:spPr>
          <a:xfrm>
            <a:off x="1892808"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Record the exception</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Capture which of the four criteria hold, with evidence attached.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Criteria evidence attached</a:t>
            </a:r>
            <a:endParaRPr lang="en-US" sz="740" dirty="0"/>
          </a:p>
        </p:txBody>
      </p:sp>
      <p:sp>
        <p:nvSpPr>
          <p:cNvPr id="117" name="Shape 115"/>
          <p:cNvSpPr/>
          <p:nvPr/>
        </p:nvSpPr>
        <p:spPr>
          <a:xfrm>
            <a:off x="3416198" y="5120640"/>
            <a:ext cx="149962" cy="219456"/>
          </a:xfrm>
          <a:prstGeom prst="chevron">
            <a:avLst/>
          </a:prstGeom>
          <a:solidFill>
            <a:srgbClr val="EEEEEE"/>
          </a:solidFill>
          <a:ln w="6350">
            <a:solidFill>
              <a:srgbClr val="EEEEEE"/>
            </a:solidFill>
            <a:prstDash val="solid"/>
          </a:ln>
        </p:spPr>
      </p:sp>
      <p:sp>
        <p:nvSpPr>
          <p:cNvPr id="118" name="Shape 116"/>
          <p:cNvSpPr/>
          <p:nvPr/>
        </p:nvSpPr>
        <p:spPr>
          <a:xfrm>
            <a:off x="3573475" y="4901184"/>
            <a:ext cx="1506931" cy="658368"/>
          </a:xfrm>
          <a:prstGeom prst="rect">
            <a:avLst/>
          </a:prstGeom>
          <a:solidFill>
            <a:srgbClr val="FFFFFF"/>
          </a:solidFill>
          <a:ln w="9525">
            <a:solidFill>
              <a:srgbClr val="081F5C"/>
            </a:solidFill>
            <a:prstDash val="dash"/>
          </a:ln>
        </p:spPr>
      </p:sp>
      <p:sp>
        <p:nvSpPr>
          <p:cNvPr id="119" name="Text 117"/>
          <p:cNvSpPr/>
          <p:nvPr/>
        </p:nvSpPr>
        <p:spPr>
          <a:xfrm>
            <a:off x="3573475"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Plan the re-point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Choose the target connection, set the sunset date, agree the freeze.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Re-point plan and sunset agreed</a:t>
            </a:r>
            <a:endParaRPr lang="en-US" sz="740" dirty="0"/>
          </a:p>
        </p:txBody>
      </p:sp>
      <p:sp>
        <p:nvSpPr>
          <p:cNvPr id="120" name="Shape 118"/>
          <p:cNvSpPr/>
          <p:nvPr/>
        </p:nvSpPr>
        <p:spPr>
          <a:xfrm>
            <a:off x="5096866" y="5120640"/>
            <a:ext cx="149962" cy="219456"/>
          </a:xfrm>
          <a:prstGeom prst="chevron">
            <a:avLst/>
          </a:prstGeom>
          <a:solidFill>
            <a:srgbClr val="EEEEEE"/>
          </a:solidFill>
          <a:ln w="6350">
            <a:solidFill>
              <a:srgbClr val="EEEEEE"/>
            </a:solidFill>
            <a:prstDash val="solid"/>
          </a:ln>
        </p:spPr>
      </p:sp>
      <p:sp>
        <p:nvSpPr>
          <p:cNvPr id="121" name="Shape 119"/>
          <p:cNvSpPr/>
          <p:nvPr/>
        </p:nvSpPr>
        <p:spPr>
          <a:xfrm>
            <a:off x="5254142" y="4901184"/>
            <a:ext cx="1506931" cy="658368"/>
          </a:xfrm>
          <a:prstGeom prst="rect">
            <a:avLst/>
          </a:prstGeom>
          <a:solidFill>
            <a:srgbClr val="FFFFFF"/>
          </a:solidFill>
          <a:ln w="9525">
            <a:solidFill>
              <a:srgbClr val="081F5C"/>
            </a:solidFill>
            <a:prstDash val="dash"/>
          </a:ln>
        </p:spPr>
      </p:sp>
      <p:sp>
        <p:nvSpPr>
          <p:cNvPr id="122" name="Text 120"/>
          <p:cNvSpPr/>
          <p:nvPr/>
        </p:nvSpPr>
        <p:spPr>
          <a:xfrm>
            <a:off x="5254142"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Re-point the universe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Move the connection to SQL Server or Databricks, or retention is void.</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Re-pointed off Oracle</a:t>
            </a:r>
            <a:endParaRPr lang="en-US" sz="740" dirty="0"/>
          </a:p>
        </p:txBody>
      </p:sp>
      <p:sp>
        <p:nvSpPr>
          <p:cNvPr id="123" name="Shape 121"/>
          <p:cNvSpPr/>
          <p:nvPr/>
        </p:nvSpPr>
        <p:spPr>
          <a:xfrm>
            <a:off x="6777533" y="5120640"/>
            <a:ext cx="149962" cy="219456"/>
          </a:xfrm>
          <a:prstGeom prst="chevron">
            <a:avLst/>
          </a:prstGeom>
          <a:solidFill>
            <a:srgbClr val="EEEEEE"/>
          </a:solidFill>
          <a:ln w="6350">
            <a:solidFill>
              <a:srgbClr val="EEEEEE"/>
            </a:solidFill>
            <a:prstDash val="solid"/>
          </a:ln>
        </p:spPr>
      </p:sp>
      <p:sp>
        <p:nvSpPr>
          <p:cNvPr id="124" name="Shape 122"/>
          <p:cNvSpPr/>
          <p:nvPr/>
        </p:nvSpPr>
        <p:spPr>
          <a:xfrm>
            <a:off x="6934810" y="4901184"/>
            <a:ext cx="1506931" cy="658368"/>
          </a:xfrm>
          <a:prstGeom prst="rect">
            <a:avLst/>
          </a:prstGeom>
          <a:solidFill>
            <a:srgbClr val="FFFFFF"/>
          </a:solidFill>
          <a:ln w="9525">
            <a:solidFill>
              <a:srgbClr val="081F5C"/>
            </a:solidFill>
            <a:prstDash val="dash"/>
          </a:ln>
        </p:spPr>
      </p:sp>
      <p:sp>
        <p:nvSpPr>
          <p:cNvPr id="125" name="Text 123"/>
          <p:cNvSpPr/>
          <p:nvPr/>
        </p:nvSpPr>
        <p:spPr>
          <a:xfrm>
            <a:off x="6934810"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Re-test the restrictions</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Confirm universe restrictions still enforce after the change.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Restrictions re-tested</a:t>
            </a:r>
            <a:endParaRPr lang="en-US" sz="740" dirty="0"/>
          </a:p>
        </p:txBody>
      </p:sp>
      <p:sp>
        <p:nvSpPr>
          <p:cNvPr id="126" name="Shape 124"/>
          <p:cNvSpPr/>
          <p:nvPr/>
        </p:nvSpPr>
        <p:spPr>
          <a:xfrm>
            <a:off x="8458200" y="5120640"/>
            <a:ext cx="149962" cy="219456"/>
          </a:xfrm>
          <a:prstGeom prst="chevron">
            <a:avLst/>
          </a:prstGeom>
          <a:solidFill>
            <a:srgbClr val="EEEEEE"/>
          </a:solidFill>
          <a:ln w="6350">
            <a:solidFill>
              <a:srgbClr val="EEEEEE"/>
            </a:solidFill>
            <a:prstDash val="solid"/>
          </a:ln>
        </p:spPr>
      </p:sp>
      <p:sp>
        <p:nvSpPr>
          <p:cNvPr id="127" name="Shape 125"/>
          <p:cNvSpPr/>
          <p:nvPr/>
        </p:nvSpPr>
        <p:spPr>
          <a:xfrm>
            <a:off x="8615477" y="4901184"/>
            <a:ext cx="1506931" cy="658368"/>
          </a:xfrm>
          <a:prstGeom prst="rect">
            <a:avLst/>
          </a:prstGeom>
          <a:solidFill>
            <a:srgbClr val="FFFFFF"/>
          </a:solidFill>
          <a:ln w="9525">
            <a:solidFill>
              <a:srgbClr val="081F5C"/>
            </a:solidFill>
            <a:prstDash val="dash"/>
          </a:ln>
        </p:spPr>
      </p:sp>
      <p:sp>
        <p:nvSpPr>
          <p:cNvPr id="128" name="Text 126"/>
          <p:cNvSpPr/>
          <p:nvPr/>
        </p:nvSpPr>
        <p:spPr>
          <a:xfrm>
            <a:off x="8615477"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Reconcile either side</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Compare output either side of the re-point. No logic drift.</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Pre and post reconciliation</a:t>
            </a:r>
            <a:endParaRPr lang="en-US" sz="740" dirty="0"/>
          </a:p>
        </p:txBody>
      </p:sp>
      <p:sp>
        <p:nvSpPr>
          <p:cNvPr id="129" name="Shape 127"/>
          <p:cNvSpPr/>
          <p:nvPr/>
        </p:nvSpPr>
        <p:spPr>
          <a:xfrm>
            <a:off x="10138867" y="5120640"/>
            <a:ext cx="149962" cy="219456"/>
          </a:xfrm>
          <a:prstGeom prst="chevron">
            <a:avLst/>
          </a:prstGeom>
          <a:solidFill>
            <a:srgbClr val="EEEEEE"/>
          </a:solidFill>
          <a:ln w="6350">
            <a:solidFill>
              <a:srgbClr val="EEEEEE"/>
            </a:solidFill>
            <a:prstDash val="solid"/>
          </a:ln>
        </p:spPr>
      </p:sp>
      <p:sp>
        <p:nvSpPr>
          <p:cNvPr id="130" name="Shape 128"/>
          <p:cNvSpPr/>
          <p:nvPr/>
        </p:nvSpPr>
        <p:spPr>
          <a:xfrm>
            <a:off x="10296144" y="4901184"/>
            <a:ext cx="1506931" cy="658368"/>
          </a:xfrm>
          <a:prstGeom prst="rect">
            <a:avLst/>
          </a:prstGeom>
          <a:solidFill>
            <a:srgbClr val="FFFFFF"/>
          </a:solidFill>
          <a:ln w="9525">
            <a:solidFill>
              <a:srgbClr val="081F5C"/>
            </a:solidFill>
            <a:prstDash val="dash"/>
          </a:ln>
        </p:spPr>
      </p:sp>
      <p:sp>
        <p:nvSpPr>
          <p:cNvPr id="131" name="Text 129"/>
          <p:cNvSpPr/>
          <p:nvPr/>
        </p:nvSpPr>
        <p:spPr>
          <a:xfrm>
            <a:off x="10296144" y="4901184"/>
            <a:ext cx="1506931" cy="658368"/>
          </a:xfrm>
          <a:prstGeom prst="rect">
            <a:avLst/>
          </a:prstGeom>
          <a:noFill/>
          <a:ln/>
        </p:spPr>
        <p:txBody>
          <a:bodyPr wrap="square" lIns="635" tIns="1016" rIns="1016" bIns="381" rtlCol="0" anchor="t"/>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Freeze and track sunset</a:t>
            </a:r>
            <a:endParaRPr lang="en-US" sz="740" dirty="0"/>
          </a:p>
          <a:p>
            <a:pPr indent="0" marL="0">
              <a:lnSpc>
                <a:spcPct val="94000"/>
              </a:lnSpc>
              <a:spcAft>
                <a:spcPts val="300"/>
              </a:spcAft>
              <a:buNone/>
            </a:pPr>
            <a:r>
              <a:rPr lang="en-US" sz="700" dirty="0">
                <a:solidFill>
                  <a:srgbClr val="1A1A1A"/>
                </a:solidFill>
                <a:latin typeface="Arial" pitchFamily="34" charset="0"/>
                <a:ea typeface="Arial" pitchFamily="34" charset="-122"/>
                <a:cs typeface="Arial" pitchFamily="34" charset="-120"/>
              </a:rPr>
              <a:t>Block enhancements, register the exception, re-test each wave.</a:t>
            </a:r>
            <a:endParaRPr lang="en-US" sz="740" dirty="0"/>
          </a:p>
          <a:p>
            <a:pPr indent="0" marL="0">
              <a:lnSpc>
                <a:spcPct val="94000"/>
              </a:lnSpc>
              <a:buNone/>
            </a:pPr>
            <a:r>
              <a:rPr lang="en-US" sz="630" i="1" dirty="0">
                <a:solidFill>
                  <a:srgbClr val="2E4A85"/>
                </a:solidFill>
                <a:latin typeface="Arial" pitchFamily="34" charset="0"/>
                <a:ea typeface="Arial" pitchFamily="34" charset="-122"/>
                <a:cs typeface="Arial" pitchFamily="34" charset="-120"/>
              </a:rPr>
              <a:t>Exit:  Sunset in plan, freeze applied</a:t>
            </a:r>
            <a:endParaRPr lang="en-US" sz="740" dirty="0"/>
          </a:p>
        </p:txBody>
      </p:sp>
      <p:sp>
        <p:nvSpPr>
          <p:cNvPr id="132" name="Shape 130"/>
          <p:cNvSpPr/>
          <p:nvPr/>
        </p:nvSpPr>
        <p:spPr>
          <a:xfrm>
            <a:off x="384048" y="5632704"/>
            <a:ext cx="5650992" cy="438912"/>
          </a:xfrm>
          <a:prstGeom prst="rect">
            <a:avLst/>
          </a:prstGeom>
          <a:solidFill>
            <a:srgbClr val="ADDAFB"/>
          </a:solidFill>
          <a:ln w="6350">
            <a:solidFill>
              <a:srgbClr val="ADDAFB"/>
            </a:solidFill>
            <a:prstDash val="solid"/>
          </a:ln>
        </p:spPr>
      </p:sp>
      <p:sp>
        <p:nvSpPr>
          <p:cNvPr id="133" name="Text 131"/>
          <p:cNvSpPr/>
          <p:nvPr/>
        </p:nvSpPr>
        <p:spPr>
          <a:xfrm>
            <a:off x="384048" y="5632704"/>
            <a:ext cx="5650992" cy="438912"/>
          </a:xfrm>
          <a:prstGeom prst="rect">
            <a:avLst/>
          </a:prstGeom>
          <a:noFill/>
          <a:ln/>
        </p:spPr>
        <p:txBody>
          <a:bodyPr wrap="square" lIns="381" tIns="1143" rIns="1143" bIns="381" rtlCol="0" anchor="ctr"/>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Oracle → MS SQL Server   (feeds Power BI)</a:t>
            </a:r>
            <a:endParaRPr lang="en-US" sz="740" dirty="0"/>
          </a:p>
          <a:p>
            <a:pPr indent="0" marL="0">
              <a:lnSpc>
                <a:spcPct val="94000"/>
              </a:lnSpc>
              <a:buNone/>
            </a:pPr>
            <a:r>
              <a:rPr lang="en-US" sz="680" dirty="0">
                <a:solidFill>
                  <a:srgbClr val="1A1A1A"/>
                </a:solidFill>
                <a:latin typeface="Arial" pitchFamily="34" charset="0"/>
                <a:ea typeface="Arial" pitchFamily="34" charset="-122"/>
                <a:cs typeface="Arial" pitchFamily="34" charset="-120"/>
              </a:rPr>
              <a:t>Table → table with clustered index  ·  View → view, or indexed view where the report needs it  ·  Materialized view → indexed view, or a scheduled table where refresh cost is high  ·  Stored procedure → T-SQL stored procedure  ·  Package → schema-bound procedure set sharing one header</a:t>
            </a:r>
            <a:endParaRPr lang="en-US" sz="740" dirty="0"/>
          </a:p>
        </p:txBody>
      </p:sp>
      <p:sp>
        <p:nvSpPr>
          <p:cNvPr id="134" name="Shape 132"/>
          <p:cNvSpPr/>
          <p:nvPr/>
        </p:nvSpPr>
        <p:spPr>
          <a:xfrm>
            <a:off x="6153912" y="5632704"/>
            <a:ext cx="5650992" cy="438912"/>
          </a:xfrm>
          <a:prstGeom prst="rect">
            <a:avLst/>
          </a:prstGeom>
          <a:solidFill>
            <a:srgbClr val="ADDAFB"/>
          </a:solidFill>
          <a:ln w="6350">
            <a:solidFill>
              <a:srgbClr val="ADDAFB"/>
            </a:solidFill>
            <a:prstDash val="solid"/>
          </a:ln>
        </p:spPr>
      </p:sp>
      <p:sp>
        <p:nvSpPr>
          <p:cNvPr id="135" name="Text 133"/>
          <p:cNvSpPr/>
          <p:nvPr/>
        </p:nvSpPr>
        <p:spPr>
          <a:xfrm>
            <a:off x="6153912" y="5632704"/>
            <a:ext cx="5650992" cy="438912"/>
          </a:xfrm>
          <a:prstGeom prst="rect">
            <a:avLst/>
          </a:prstGeom>
          <a:noFill/>
          <a:ln/>
        </p:spPr>
        <p:txBody>
          <a:bodyPr wrap="square" lIns="381" tIns="1143" rIns="1143" bIns="381" rtlCol="0" anchor="ctr"/>
          <a:lstStyle/>
          <a:p>
            <a:pPr indent="0" marL="0">
              <a:lnSpc>
                <a:spcPct val="94000"/>
              </a:lnSpc>
              <a:spcAft>
                <a:spcPts val="200"/>
              </a:spcAft>
              <a:buNone/>
            </a:pPr>
            <a:r>
              <a:rPr lang="en-US" sz="740" b="1" dirty="0">
                <a:solidFill>
                  <a:srgbClr val="081F5C"/>
                </a:solidFill>
                <a:latin typeface="Arial" pitchFamily="34" charset="0"/>
                <a:ea typeface="Arial" pitchFamily="34" charset="-122"/>
                <a:cs typeface="Arial" pitchFamily="34" charset="-120"/>
              </a:rPr>
              <a:t>Oracle → Databricks   (feeds Databricks AI/BI)</a:t>
            </a:r>
            <a:endParaRPr lang="en-US" sz="740" dirty="0"/>
          </a:p>
          <a:p>
            <a:pPr indent="0" marL="0">
              <a:lnSpc>
                <a:spcPct val="94000"/>
              </a:lnSpc>
              <a:buNone/>
            </a:pPr>
            <a:r>
              <a:rPr lang="en-US" sz="680" dirty="0">
                <a:solidFill>
                  <a:srgbClr val="1A1A1A"/>
                </a:solidFill>
                <a:latin typeface="Arial" pitchFamily="34" charset="0"/>
                <a:ea typeface="Arial" pitchFamily="34" charset="-122"/>
                <a:cs typeface="Arial" pitchFamily="34" charset="-120"/>
              </a:rPr>
              <a:t>Table → managed Delta table  ·  View → Databricks SQL view  ·  Materialized view → Delta materialized view, or a scheduled gold table  ·  Stored procedure → SQL UDF for set logic, notebook or DLT pipeline for procedural logic  ·  Package → notebook module or Python wheel in Unity Catalog</a:t>
            </a:r>
            <a:endParaRPr lang="en-US" sz="740" dirty="0"/>
          </a:p>
        </p:txBody>
      </p:sp>
      <p:sp>
        <p:nvSpPr>
          <p:cNvPr id="136" name="Shape 134"/>
          <p:cNvSpPr/>
          <p:nvPr/>
        </p:nvSpPr>
        <p:spPr>
          <a:xfrm>
            <a:off x="384048" y="6126480"/>
            <a:ext cx="11420856" cy="347472"/>
          </a:xfrm>
          <a:prstGeom prst="rect">
            <a:avLst/>
          </a:prstGeom>
          <a:solidFill>
            <a:srgbClr val="EAF5FD"/>
          </a:solidFill>
          <a:ln w="9525">
            <a:solidFill>
              <a:srgbClr val="C9E3F7"/>
            </a:solidFill>
            <a:prstDash val="solid"/>
          </a:ln>
        </p:spPr>
      </p:sp>
      <p:sp>
        <p:nvSpPr>
          <p:cNvPr id="137" name="Text 135"/>
          <p:cNvSpPr/>
          <p:nvPr/>
        </p:nvSpPr>
        <p:spPr>
          <a:xfrm>
            <a:off x="384048" y="6126480"/>
            <a:ext cx="11420856" cy="347472"/>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clear it at steps 4 and 5 of every track.  </a:t>
            </a:r>
            <a:pPr indent="0" marL="0">
              <a:lnSpc>
                <a:spcPct val="95000"/>
              </a:lnSpc>
              <a:buNone/>
            </a:pPr>
            <a:r>
              <a:rPr lang="en-US" sz="700" dirty="0">
                <a:solidFill>
                  <a:srgbClr val="1A1A1A"/>
                </a:solidFill>
                <a:latin typeface="Arial" pitchFamily="34" charset="0"/>
                <a:ea typeface="Arial" pitchFamily="34" charset="-122"/>
                <a:cs typeface="Arial" pitchFamily="34" charset="-120"/>
              </a:rPr>
              <a:t>Re-assert minimum necessary as objects land: PHI columns are masked and row-level access enforced in SQL Server and in Unity Catalog before any report is pointed at them. Re-test with a non-privileged account, never an admin. Do not carry BOBJ publication recipient lists into Power BI subscriptions or UC groups without re-validating each recipient. A universe re-pointed under the retain exception must have its restrictions re-tested — a connection change silently breaks row-level security.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84048" y="164592"/>
            <a:ext cx="10515600" cy="329184"/>
          </a:xfrm>
          <a:prstGeom prst="rect">
            <a:avLst/>
          </a:prstGeom>
          <a:noFill/>
          <a:ln/>
        </p:spPr>
        <p:txBody>
          <a:bodyPr wrap="square" lIns="0" tIns="0" rIns="0" bIns="0" rtlCol="0" anchor="ctr"/>
          <a:lstStyle/>
          <a:p>
            <a:pPr indent="0" marL="0">
              <a:buNone/>
            </a:pPr>
            <a:r>
              <a:rPr lang="en-US" sz="2300" dirty="0">
                <a:solidFill>
                  <a:srgbClr val="1A1A1A"/>
                </a:solidFill>
                <a:latin typeface="Arial" pitchFamily="34" charset="0"/>
                <a:ea typeface="Arial" pitchFamily="34" charset="-122"/>
                <a:cs typeface="Arial" pitchFamily="34" charset="-120"/>
              </a:rPr>
              <a:t>Report Migration  —  Parallel Execution Paths</a:t>
            </a:r>
            <a:endParaRPr lang="en-US" sz="2300" dirty="0"/>
          </a:p>
        </p:txBody>
      </p:sp>
      <p:sp>
        <p:nvSpPr>
          <p:cNvPr id="3" name="Text 1"/>
          <p:cNvSpPr/>
          <p:nvPr/>
        </p:nvSpPr>
        <p:spPr>
          <a:xfrm>
            <a:off x="384048" y="512064"/>
            <a:ext cx="11420856" cy="292608"/>
          </a:xfrm>
          <a:prstGeom prst="rect">
            <a:avLst/>
          </a:prstGeom>
          <a:noFill/>
          <a:ln/>
        </p:spPr>
        <p:txBody>
          <a:bodyPr wrap="square" lIns="0" tIns="0" rIns="0" bIns="0" rtlCol="0" anchor="ctr"/>
          <a:lstStyle/>
          <a:p>
            <a:pPr indent="0" marL="0">
              <a:lnSpc>
                <a:spcPct val="95000"/>
              </a:lnSpc>
              <a:buNone/>
            </a:pPr>
            <a:r>
              <a:rPr lang="en-US" sz="950" dirty="0">
                <a:solidFill>
                  <a:srgbClr val="1A1A1A"/>
                </a:solidFill>
                <a:latin typeface="Arial" pitchFamily="34" charset="0"/>
                <a:ea typeface="Arial" pitchFamily="34" charset="-122"/>
                <a:cs typeface="Arial" pitchFamily="34" charset="-120"/>
              </a:rPr>
              <a:t>Disposition is already assigned. All four platform paths run concurrently — nothing waits on another platform. Two are gated by a database migration: the Oracle objects a Power BI report reads move to MS SQL Server, and those a Databricks report reads move to Delta and Unity Catalog. CogitoSQL needs none.</a:t>
            </a:r>
            <a:endParaRPr lang="en-US" sz="950" dirty="0"/>
          </a:p>
        </p:txBody>
      </p:sp>
      <p:sp>
        <p:nvSpPr>
          <p:cNvPr id="4" name="Shape 2"/>
          <p:cNvSpPr/>
          <p:nvPr/>
        </p:nvSpPr>
        <p:spPr>
          <a:xfrm>
            <a:off x="1051560" y="1883664"/>
            <a:ext cx="10561320" cy="749808"/>
          </a:xfrm>
          <a:prstGeom prst="rect">
            <a:avLst/>
          </a:prstGeom>
          <a:solidFill>
            <a:srgbClr val="F2F2F2"/>
          </a:solidFill>
          <a:ln w="6350">
            <a:solidFill>
              <a:srgbClr val="F2F2F2"/>
            </a:solidFill>
            <a:prstDash val="solid"/>
          </a:ln>
        </p:spPr>
      </p:sp>
      <p:sp>
        <p:nvSpPr>
          <p:cNvPr id="5" name="Shape 3"/>
          <p:cNvSpPr/>
          <p:nvPr/>
        </p:nvSpPr>
        <p:spPr>
          <a:xfrm>
            <a:off x="1051560" y="3419856"/>
            <a:ext cx="10561320" cy="749808"/>
          </a:xfrm>
          <a:prstGeom prst="rect">
            <a:avLst/>
          </a:prstGeom>
          <a:solidFill>
            <a:srgbClr val="F2F2F2"/>
          </a:solidFill>
          <a:ln w="6350">
            <a:solidFill>
              <a:srgbClr val="F2F2F2"/>
            </a:solidFill>
            <a:prstDash val="solid"/>
          </a:ln>
        </p:spPr>
      </p:sp>
      <p:sp>
        <p:nvSpPr>
          <p:cNvPr id="6" name="Shape 4"/>
          <p:cNvSpPr/>
          <p:nvPr/>
        </p:nvSpPr>
        <p:spPr>
          <a:xfrm>
            <a:off x="621792" y="3200400"/>
            <a:ext cx="182880" cy="182880"/>
          </a:xfrm>
          <a:prstGeom prst="rect">
            <a:avLst/>
          </a:prstGeom>
          <a:solidFill>
            <a:srgbClr val="081F5C"/>
          </a:solidFill>
          <a:ln w="12700">
            <a:solidFill>
              <a:srgbClr val="081F5C"/>
            </a:solidFill>
            <a:prstDash val="solid"/>
          </a:ln>
        </p:spPr>
      </p:sp>
      <p:sp>
        <p:nvSpPr>
          <p:cNvPr id="7" name="Shape 5"/>
          <p:cNvSpPr/>
          <p:nvPr/>
        </p:nvSpPr>
        <p:spPr>
          <a:xfrm>
            <a:off x="804672" y="3291840"/>
            <a:ext cx="338328" cy="0"/>
          </a:xfrm>
          <a:prstGeom prst="line">
            <a:avLst/>
          </a:prstGeom>
          <a:noFill/>
          <a:ln w="15875">
            <a:solidFill>
              <a:srgbClr val="081F5C"/>
            </a:solidFill>
            <a:prstDash val="solid"/>
          </a:ln>
        </p:spPr>
      </p:sp>
      <p:sp>
        <p:nvSpPr>
          <p:cNvPr id="8" name="Shape 6"/>
          <p:cNvSpPr/>
          <p:nvPr/>
        </p:nvSpPr>
        <p:spPr>
          <a:xfrm>
            <a:off x="1143000" y="1371600"/>
            <a:ext cx="0" cy="3840480"/>
          </a:xfrm>
          <a:prstGeom prst="line">
            <a:avLst/>
          </a:prstGeom>
          <a:noFill/>
          <a:ln w="15875">
            <a:solidFill>
              <a:srgbClr val="081F5C"/>
            </a:solidFill>
            <a:prstDash val="solid"/>
          </a:ln>
        </p:spPr>
      </p:sp>
      <p:sp>
        <p:nvSpPr>
          <p:cNvPr id="9" name="Text 7"/>
          <p:cNvSpPr/>
          <p:nvPr/>
        </p:nvSpPr>
        <p:spPr>
          <a:xfrm>
            <a:off x="384048" y="2816352"/>
            <a:ext cx="713232" cy="347472"/>
          </a:xfrm>
          <a:prstGeom prst="rect">
            <a:avLst/>
          </a:prstGeom>
          <a:noFill/>
          <a:ln/>
        </p:spPr>
        <p:txBody>
          <a:bodyPr wrap="square" lIns="0" tIns="0" rIns="0" bIns="0" rtlCol="0" anchor="b"/>
          <a:lstStyle/>
          <a:p>
            <a:pPr algn="ctr" indent="0" marL="0">
              <a:lnSpc>
                <a:spcPct val="92000"/>
              </a:lnSpc>
              <a:buNone/>
            </a:pPr>
            <a:r>
              <a:rPr lang="en-US" sz="630" b="1" dirty="0">
                <a:solidFill>
                  <a:srgbClr val="081F5C"/>
                </a:solidFill>
                <a:latin typeface="Arial" pitchFamily="34" charset="0"/>
                <a:ea typeface="Arial" pitchFamily="34" charset="-122"/>
                <a:cs typeface="Arial" pitchFamily="34" charset="-120"/>
              </a:rPr>
              <a:t>Disposition register</a:t>
            </a:r>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  (input, not an activity)</a:t>
            </a:r>
            <a:endParaRPr lang="en-US" sz="630" dirty="0"/>
          </a:p>
        </p:txBody>
      </p:sp>
      <p:sp>
        <p:nvSpPr>
          <p:cNvPr id="10" name="Shape 8"/>
          <p:cNvSpPr/>
          <p:nvPr/>
        </p:nvSpPr>
        <p:spPr>
          <a:xfrm>
            <a:off x="1143000" y="1371600"/>
            <a:ext cx="9738360" cy="0"/>
          </a:xfrm>
          <a:prstGeom prst="line">
            <a:avLst/>
          </a:prstGeom>
          <a:noFill/>
          <a:ln w="22225">
            <a:solidFill>
              <a:srgbClr val="68349A"/>
            </a:solidFill>
            <a:prstDash val="solid"/>
          </a:ln>
        </p:spPr>
      </p:sp>
      <p:sp>
        <p:nvSpPr>
          <p:cNvPr id="11" name="Text 9"/>
          <p:cNvSpPr/>
          <p:nvPr/>
        </p:nvSpPr>
        <p:spPr>
          <a:xfrm>
            <a:off x="1463040" y="1152144"/>
            <a:ext cx="4206240" cy="146304"/>
          </a:xfrm>
          <a:prstGeom prst="rect">
            <a:avLst/>
          </a:prstGeom>
          <a:noFill/>
          <a:ln/>
        </p:spPr>
        <p:txBody>
          <a:bodyPr wrap="square" lIns="0" tIns="0" rIns="0" bIns="0" rtlCol="0" anchor="ctr"/>
          <a:lstStyle/>
          <a:p>
            <a:pPr indent="0" marL="0">
              <a:buNone/>
            </a:pPr>
            <a:r>
              <a:rPr lang="en-US" sz="740" b="1" i="1" dirty="0">
                <a:solidFill>
                  <a:srgbClr val="68349A"/>
                </a:solidFill>
                <a:latin typeface="Arial" pitchFamily="34" charset="0"/>
                <a:ea typeface="Arial" pitchFamily="34" charset="-122"/>
                <a:cs typeface="Arial" pitchFamily="34" charset="-120"/>
              </a:rPr>
              <a:t>CogitoSQL  —  Rearchitect</a:t>
            </a:r>
            <a:endParaRPr lang="en-US" sz="740" dirty="0"/>
          </a:p>
        </p:txBody>
      </p:sp>
      <p:sp>
        <p:nvSpPr>
          <p:cNvPr id="12" name="Shape 10"/>
          <p:cNvSpPr/>
          <p:nvPr/>
        </p:nvSpPr>
        <p:spPr>
          <a:xfrm>
            <a:off x="1851660" y="1303020"/>
            <a:ext cx="137160" cy="137160"/>
          </a:xfrm>
          <a:prstGeom prst="ellipse">
            <a:avLst/>
          </a:prstGeom>
          <a:solidFill>
            <a:srgbClr val="FFFFFF"/>
          </a:solidFill>
          <a:ln w="15875">
            <a:solidFill>
              <a:srgbClr val="68349A"/>
            </a:solidFill>
            <a:prstDash val="solid"/>
          </a:ln>
        </p:spPr>
      </p:sp>
      <p:sp>
        <p:nvSpPr>
          <p:cNvPr id="13" name="Shape 11"/>
          <p:cNvSpPr/>
          <p:nvPr/>
        </p:nvSpPr>
        <p:spPr>
          <a:xfrm>
            <a:off x="1920240" y="1453896"/>
            <a:ext cx="0" cy="54864"/>
          </a:xfrm>
          <a:prstGeom prst="line">
            <a:avLst/>
          </a:prstGeom>
          <a:noFill/>
          <a:ln w="9525">
            <a:solidFill>
              <a:srgbClr val="C8C8C8"/>
            </a:solidFill>
            <a:prstDash val="solid"/>
          </a:ln>
        </p:spPr>
      </p:sp>
      <p:sp>
        <p:nvSpPr>
          <p:cNvPr id="14" name="Text 12"/>
          <p:cNvSpPr/>
          <p:nvPr/>
        </p:nvSpPr>
        <p:spPr>
          <a:xfrm>
            <a:off x="109728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Confirm Epic coverage in Clarity and Caboodle</a:t>
            </a:r>
            <a:endParaRPr lang="en-US" sz="650" dirty="0"/>
          </a:p>
        </p:txBody>
      </p:sp>
      <p:sp>
        <p:nvSpPr>
          <p:cNvPr id="15" name="Shape 13"/>
          <p:cNvSpPr/>
          <p:nvPr/>
        </p:nvSpPr>
        <p:spPr>
          <a:xfrm>
            <a:off x="3589020" y="1303020"/>
            <a:ext cx="137160" cy="137160"/>
          </a:xfrm>
          <a:prstGeom prst="ellipse">
            <a:avLst/>
          </a:prstGeom>
          <a:solidFill>
            <a:srgbClr val="FFFFFF"/>
          </a:solidFill>
          <a:ln w="15875">
            <a:solidFill>
              <a:srgbClr val="68349A"/>
            </a:solidFill>
            <a:prstDash val="solid"/>
          </a:ln>
        </p:spPr>
      </p:sp>
      <p:sp>
        <p:nvSpPr>
          <p:cNvPr id="16" name="Shape 14"/>
          <p:cNvSpPr/>
          <p:nvPr/>
        </p:nvSpPr>
        <p:spPr>
          <a:xfrm>
            <a:off x="3657600" y="1453896"/>
            <a:ext cx="0" cy="54864"/>
          </a:xfrm>
          <a:prstGeom prst="line">
            <a:avLst/>
          </a:prstGeom>
          <a:noFill/>
          <a:ln w="9525">
            <a:solidFill>
              <a:srgbClr val="C8C8C8"/>
            </a:solidFill>
            <a:prstDash val="solid"/>
          </a:ln>
        </p:spPr>
      </p:sp>
      <p:sp>
        <p:nvSpPr>
          <p:cNvPr id="17" name="Text 15"/>
          <p:cNvSpPr/>
          <p:nvPr/>
        </p:nvSpPr>
        <p:spPr>
          <a:xfrm>
            <a:off x="283464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Select and spec the Epic tool</a:t>
            </a:r>
            <a:endParaRPr lang="en-US" sz="650" dirty="0"/>
          </a:p>
        </p:txBody>
      </p:sp>
      <p:sp>
        <p:nvSpPr>
          <p:cNvPr id="18" name="Shape 16"/>
          <p:cNvSpPr/>
          <p:nvPr/>
        </p:nvSpPr>
        <p:spPr>
          <a:xfrm>
            <a:off x="5326380" y="1303020"/>
            <a:ext cx="137160" cy="137160"/>
          </a:xfrm>
          <a:prstGeom prst="ellipse">
            <a:avLst/>
          </a:prstGeom>
          <a:solidFill>
            <a:srgbClr val="FFFFFF"/>
          </a:solidFill>
          <a:ln w="15875">
            <a:solidFill>
              <a:srgbClr val="68349A"/>
            </a:solidFill>
            <a:prstDash val="solid"/>
          </a:ln>
        </p:spPr>
      </p:sp>
      <p:sp>
        <p:nvSpPr>
          <p:cNvPr id="19" name="Shape 17"/>
          <p:cNvSpPr/>
          <p:nvPr/>
        </p:nvSpPr>
        <p:spPr>
          <a:xfrm>
            <a:off x="5394960" y="1453896"/>
            <a:ext cx="0" cy="54864"/>
          </a:xfrm>
          <a:prstGeom prst="line">
            <a:avLst/>
          </a:prstGeom>
          <a:noFill/>
          <a:ln w="9525">
            <a:solidFill>
              <a:srgbClr val="C8C8C8"/>
            </a:solidFill>
            <a:prstDash val="solid"/>
          </a:ln>
        </p:spPr>
      </p:sp>
      <p:sp>
        <p:nvSpPr>
          <p:cNvPr id="20" name="Text 18"/>
          <p:cNvSpPr/>
          <p:nvPr/>
        </p:nvSpPr>
        <p:spPr>
          <a:xfrm>
            <a:off x="457200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Build the template in non-production</a:t>
            </a:r>
            <a:endParaRPr lang="en-US" sz="650" dirty="0"/>
          </a:p>
        </p:txBody>
      </p:sp>
      <p:sp>
        <p:nvSpPr>
          <p:cNvPr id="21" name="Shape 19"/>
          <p:cNvSpPr/>
          <p:nvPr/>
        </p:nvSpPr>
        <p:spPr>
          <a:xfrm>
            <a:off x="7063740" y="1303020"/>
            <a:ext cx="137160" cy="137160"/>
          </a:xfrm>
          <a:prstGeom prst="ellipse">
            <a:avLst/>
          </a:prstGeom>
          <a:solidFill>
            <a:srgbClr val="FFFFFF"/>
          </a:solidFill>
          <a:ln w="15875">
            <a:solidFill>
              <a:srgbClr val="68349A"/>
            </a:solidFill>
            <a:prstDash val="solid"/>
          </a:ln>
        </p:spPr>
      </p:sp>
      <p:sp>
        <p:nvSpPr>
          <p:cNvPr id="22" name="Shape 20"/>
          <p:cNvSpPr/>
          <p:nvPr/>
        </p:nvSpPr>
        <p:spPr>
          <a:xfrm>
            <a:off x="7132320" y="1453896"/>
            <a:ext cx="0" cy="54864"/>
          </a:xfrm>
          <a:prstGeom prst="line">
            <a:avLst/>
          </a:prstGeom>
          <a:noFill/>
          <a:ln w="9525">
            <a:solidFill>
              <a:srgbClr val="C8C8C8"/>
            </a:solidFill>
            <a:prstDash val="solid"/>
          </a:ln>
        </p:spPr>
      </p:sp>
      <p:sp>
        <p:nvSpPr>
          <p:cNvPr id="23" name="Text 21"/>
          <p:cNvSpPr/>
          <p:nvPr/>
        </p:nvSpPr>
        <p:spPr>
          <a:xfrm>
            <a:off x="630936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Apply Epic security classes</a:t>
            </a:r>
            <a:endParaRPr lang="en-US" sz="650" dirty="0"/>
          </a:p>
        </p:txBody>
      </p:sp>
      <p:sp>
        <p:nvSpPr>
          <p:cNvPr id="24" name="Shape 22"/>
          <p:cNvSpPr/>
          <p:nvPr/>
        </p:nvSpPr>
        <p:spPr>
          <a:xfrm>
            <a:off x="8801100" y="1303020"/>
            <a:ext cx="137160" cy="137160"/>
          </a:xfrm>
          <a:prstGeom prst="ellipse">
            <a:avLst/>
          </a:prstGeom>
          <a:solidFill>
            <a:srgbClr val="FFFFFF"/>
          </a:solidFill>
          <a:ln w="15875">
            <a:solidFill>
              <a:srgbClr val="68349A"/>
            </a:solidFill>
            <a:prstDash val="solid"/>
          </a:ln>
        </p:spPr>
      </p:sp>
      <p:sp>
        <p:nvSpPr>
          <p:cNvPr id="25" name="Shape 23"/>
          <p:cNvSpPr/>
          <p:nvPr/>
        </p:nvSpPr>
        <p:spPr>
          <a:xfrm>
            <a:off x="8869680" y="1453896"/>
            <a:ext cx="0" cy="54864"/>
          </a:xfrm>
          <a:prstGeom prst="line">
            <a:avLst/>
          </a:prstGeom>
          <a:noFill/>
          <a:ln w="9525">
            <a:solidFill>
              <a:srgbClr val="C8C8C8"/>
            </a:solidFill>
            <a:prstDash val="solid"/>
          </a:ln>
        </p:spPr>
      </p:sp>
      <p:sp>
        <p:nvSpPr>
          <p:cNvPr id="26" name="Text 24"/>
          <p:cNvSpPr/>
          <p:nvPr/>
        </p:nvSpPr>
        <p:spPr>
          <a:xfrm>
            <a:off x="804672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to L2+ and run clinician UAT</a:t>
            </a:r>
            <a:endParaRPr lang="en-US" sz="650" dirty="0"/>
          </a:p>
        </p:txBody>
      </p:sp>
      <p:sp>
        <p:nvSpPr>
          <p:cNvPr id="27" name="Shape 25"/>
          <p:cNvSpPr/>
          <p:nvPr/>
        </p:nvSpPr>
        <p:spPr>
          <a:xfrm>
            <a:off x="10529316" y="1293876"/>
            <a:ext cx="155448" cy="155448"/>
          </a:xfrm>
          <a:prstGeom prst="rect">
            <a:avLst/>
          </a:prstGeom>
          <a:solidFill>
            <a:srgbClr val="68349A"/>
          </a:solidFill>
          <a:ln w="12700">
            <a:solidFill>
              <a:srgbClr val="68349A"/>
            </a:solidFill>
            <a:prstDash val="solid"/>
          </a:ln>
        </p:spPr>
      </p:sp>
      <p:sp>
        <p:nvSpPr>
          <p:cNvPr id="28" name="Shape 26"/>
          <p:cNvSpPr/>
          <p:nvPr/>
        </p:nvSpPr>
        <p:spPr>
          <a:xfrm>
            <a:off x="10607040" y="1453896"/>
            <a:ext cx="0" cy="54864"/>
          </a:xfrm>
          <a:prstGeom prst="line">
            <a:avLst/>
          </a:prstGeom>
          <a:noFill/>
          <a:ln w="9525">
            <a:solidFill>
              <a:srgbClr val="C8C8C8"/>
            </a:solidFill>
            <a:prstDash val="solid"/>
          </a:ln>
        </p:spPr>
      </p:sp>
      <p:sp>
        <p:nvSpPr>
          <p:cNvPr id="29" name="Text 27"/>
          <p:cNvSpPr/>
          <p:nvPr/>
        </p:nvSpPr>
        <p:spPr>
          <a:xfrm>
            <a:off x="9784080" y="149961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1F.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Release and delete the BOBJ object</a:t>
            </a:r>
            <a:endParaRPr lang="en-US" sz="650" dirty="0"/>
          </a:p>
        </p:txBody>
      </p:sp>
      <p:sp>
        <p:nvSpPr>
          <p:cNvPr id="30" name="Shape 28"/>
          <p:cNvSpPr/>
          <p:nvPr/>
        </p:nvSpPr>
        <p:spPr>
          <a:xfrm>
            <a:off x="1143000" y="2139696"/>
            <a:ext cx="9738360" cy="0"/>
          </a:xfrm>
          <a:prstGeom prst="line">
            <a:avLst/>
          </a:prstGeom>
          <a:noFill/>
          <a:ln w="22225">
            <a:solidFill>
              <a:srgbClr val="707070"/>
            </a:solidFill>
            <a:prstDash val="solid"/>
          </a:ln>
        </p:spPr>
      </p:sp>
      <p:sp>
        <p:nvSpPr>
          <p:cNvPr id="31" name="Text 29"/>
          <p:cNvSpPr/>
          <p:nvPr/>
        </p:nvSpPr>
        <p:spPr>
          <a:xfrm>
            <a:off x="1463040" y="1920240"/>
            <a:ext cx="4206240" cy="146304"/>
          </a:xfrm>
          <a:prstGeom prst="rect">
            <a:avLst/>
          </a:prstGeom>
          <a:noFill/>
          <a:ln/>
        </p:spPr>
        <p:txBody>
          <a:bodyPr wrap="square" lIns="0" tIns="0" rIns="0" bIns="0" rtlCol="0" anchor="ctr"/>
          <a:lstStyle/>
          <a:p>
            <a:pPr indent="0" marL="0">
              <a:buNone/>
            </a:pPr>
            <a:r>
              <a:rPr lang="en-US" sz="740" b="1" i="1" dirty="0">
                <a:solidFill>
                  <a:srgbClr val="707070"/>
                </a:solidFill>
                <a:latin typeface="Arial" pitchFamily="34" charset="0"/>
                <a:ea typeface="Arial" pitchFamily="34" charset="-122"/>
                <a:cs typeface="Arial" pitchFamily="34" charset="-120"/>
              </a:rPr>
              <a:t>Power BI  ·  database objects  →  MS SQL Server</a:t>
            </a:r>
            <a:endParaRPr lang="en-US" sz="740" dirty="0"/>
          </a:p>
        </p:txBody>
      </p:sp>
      <p:sp>
        <p:nvSpPr>
          <p:cNvPr id="32" name="Shape 30"/>
          <p:cNvSpPr/>
          <p:nvPr/>
        </p:nvSpPr>
        <p:spPr>
          <a:xfrm>
            <a:off x="1851660" y="2071116"/>
            <a:ext cx="137160" cy="137160"/>
          </a:xfrm>
          <a:prstGeom prst="ellipse">
            <a:avLst/>
          </a:prstGeom>
          <a:solidFill>
            <a:srgbClr val="FFFFFF"/>
          </a:solidFill>
          <a:ln w="15875">
            <a:solidFill>
              <a:srgbClr val="707070"/>
            </a:solidFill>
            <a:prstDash val="solid"/>
          </a:ln>
        </p:spPr>
      </p:sp>
      <p:sp>
        <p:nvSpPr>
          <p:cNvPr id="33" name="Shape 31"/>
          <p:cNvSpPr/>
          <p:nvPr/>
        </p:nvSpPr>
        <p:spPr>
          <a:xfrm>
            <a:off x="1920240" y="2221992"/>
            <a:ext cx="0" cy="54864"/>
          </a:xfrm>
          <a:prstGeom prst="line">
            <a:avLst/>
          </a:prstGeom>
          <a:noFill/>
          <a:ln w="9525">
            <a:solidFill>
              <a:srgbClr val="C8C8C8"/>
            </a:solidFill>
            <a:prstDash val="solid"/>
          </a:ln>
        </p:spPr>
      </p:sp>
      <p:sp>
        <p:nvSpPr>
          <p:cNvPr id="34" name="Text 32"/>
          <p:cNvSpPr/>
          <p:nvPr/>
        </p:nvSpPr>
        <p:spPr>
          <a:xfrm>
            <a:off x="109728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Inventory tables, views, MVs, procedures, packages</a:t>
            </a:r>
            <a:endParaRPr lang="en-US" sz="650" dirty="0"/>
          </a:p>
        </p:txBody>
      </p:sp>
      <p:sp>
        <p:nvSpPr>
          <p:cNvPr id="35" name="Shape 33"/>
          <p:cNvSpPr/>
          <p:nvPr/>
        </p:nvSpPr>
        <p:spPr>
          <a:xfrm>
            <a:off x="3589020" y="2071116"/>
            <a:ext cx="137160" cy="137160"/>
          </a:xfrm>
          <a:prstGeom prst="ellipse">
            <a:avLst/>
          </a:prstGeom>
          <a:solidFill>
            <a:srgbClr val="FFFFFF"/>
          </a:solidFill>
          <a:ln w="15875">
            <a:solidFill>
              <a:srgbClr val="707070"/>
            </a:solidFill>
            <a:prstDash val="solid"/>
          </a:ln>
        </p:spPr>
      </p:sp>
      <p:sp>
        <p:nvSpPr>
          <p:cNvPr id="36" name="Shape 34"/>
          <p:cNvSpPr/>
          <p:nvPr/>
        </p:nvSpPr>
        <p:spPr>
          <a:xfrm>
            <a:off x="3657600" y="2221992"/>
            <a:ext cx="0" cy="54864"/>
          </a:xfrm>
          <a:prstGeom prst="line">
            <a:avLst/>
          </a:prstGeom>
          <a:noFill/>
          <a:ln w="9525">
            <a:solidFill>
              <a:srgbClr val="C8C8C8"/>
            </a:solidFill>
            <a:prstDash val="solid"/>
          </a:ln>
        </p:spPr>
      </p:sp>
      <p:sp>
        <p:nvSpPr>
          <p:cNvPr id="37" name="Text 35"/>
          <p:cNvSpPr/>
          <p:nvPr/>
        </p:nvSpPr>
        <p:spPr>
          <a:xfrm>
            <a:off x="283464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Map each object type to a SQL Server target</a:t>
            </a:r>
            <a:endParaRPr lang="en-US" sz="650" dirty="0"/>
          </a:p>
        </p:txBody>
      </p:sp>
      <p:sp>
        <p:nvSpPr>
          <p:cNvPr id="38" name="Shape 36"/>
          <p:cNvSpPr/>
          <p:nvPr/>
        </p:nvSpPr>
        <p:spPr>
          <a:xfrm>
            <a:off x="5326380" y="2071116"/>
            <a:ext cx="137160" cy="137160"/>
          </a:xfrm>
          <a:prstGeom prst="ellipse">
            <a:avLst/>
          </a:prstGeom>
          <a:solidFill>
            <a:srgbClr val="FFFFFF"/>
          </a:solidFill>
          <a:ln w="15875">
            <a:solidFill>
              <a:srgbClr val="707070"/>
            </a:solidFill>
            <a:prstDash val="solid"/>
          </a:ln>
        </p:spPr>
      </p:sp>
      <p:sp>
        <p:nvSpPr>
          <p:cNvPr id="39" name="Shape 37"/>
          <p:cNvSpPr/>
          <p:nvPr/>
        </p:nvSpPr>
        <p:spPr>
          <a:xfrm>
            <a:off x="5394960" y="2221992"/>
            <a:ext cx="0" cy="54864"/>
          </a:xfrm>
          <a:prstGeom prst="line">
            <a:avLst/>
          </a:prstGeom>
          <a:noFill/>
          <a:ln w="9525">
            <a:solidFill>
              <a:srgbClr val="C8C8C8"/>
            </a:solidFill>
            <a:prstDash val="solid"/>
          </a:ln>
        </p:spPr>
      </p:sp>
      <p:sp>
        <p:nvSpPr>
          <p:cNvPr id="40" name="Text 38"/>
          <p:cNvSpPr/>
          <p:nvPr/>
        </p:nvSpPr>
        <p:spPr>
          <a:xfrm>
            <a:off x="457200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Migrate DDL and data, rewrite PL/SQL as T-SQL</a:t>
            </a:r>
            <a:endParaRPr lang="en-US" sz="650" dirty="0"/>
          </a:p>
        </p:txBody>
      </p:sp>
      <p:sp>
        <p:nvSpPr>
          <p:cNvPr id="41" name="Shape 39"/>
          <p:cNvSpPr/>
          <p:nvPr/>
        </p:nvSpPr>
        <p:spPr>
          <a:xfrm>
            <a:off x="7063740" y="2071116"/>
            <a:ext cx="137160" cy="137160"/>
          </a:xfrm>
          <a:prstGeom prst="ellipse">
            <a:avLst/>
          </a:prstGeom>
          <a:solidFill>
            <a:srgbClr val="FFFFFF"/>
          </a:solidFill>
          <a:ln w="15875">
            <a:solidFill>
              <a:srgbClr val="707070"/>
            </a:solidFill>
            <a:prstDash val="solid"/>
          </a:ln>
        </p:spPr>
      </p:sp>
      <p:sp>
        <p:nvSpPr>
          <p:cNvPr id="42" name="Shape 40"/>
          <p:cNvSpPr/>
          <p:nvPr/>
        </p:nvSpPr>
        <p:spPr>
          <a:xfrm>
            <a:off x="7132320" y="2221992"/>
            <a:ext cx="0" cy="54864"/>
          </a:xfrm>
          <a:prstGeom prst="line">
            <a:avLst/>
          </a:prstGeom>
          <a:noFill/>
          <a:ln w="9525">
            <a:solidFill>
              <a:srgbClr val="C8C8C8"/>
            </a:solidFill>
            <a:prstDash val="solid"/>
          </a:ln>
        </p:spPr>
      </p:sp>
      <p:sp>
        <p:nvSpPr>
          <p:cNvPr id="43" name="Text 41"/>
          <p:cNvSpPr/>
          <p:nvPr/>
        </p:nvSpPr>
        <p:spPr>
          <a:xfrm>
            <a:off x="630936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Set schema roles and mask PHI columns</a:t>
            </a:r>
            <a:endParaRPr lang="en-US" sz="650" dirty="0"/>
          </a:p>
        </p:txBody>
      </p:sp>
      <p:sp>
        <p:nvSpPr>
          <p:cNvPr id="44" name="Shape 42"/>
          <p:cNvSpPr/>
          <p:nvPr/>
        </p:nvSpPr>
        <p:spPr>
          <a:xfrm>
            <a:off x="8801100" y="2071116"/>
            <a:ext cx="137160" cy="137160"/>
          </a:xfrm>
          <a:prstGeom prst="ellipse">
            <a:avLst/>
          </a:prstGeom>
          <a:solidFill>
            <a:srgbClr val="FFFFFF"/>
          </a:solidFill>
          <a:ln w="15875">
            <a:solidFill>
              <a:srgbClr val="707070"/>
            </a:solidFill>
            <a:prstDash val="solid"/>
          </a:ln>
        </p:spPr>
      </p:sp>
      <p:sp>
        <p:nvSpPr>
          <p:cNvPr id="45" name="Shape 43"/>
          <p:cNvSpPr/>
          <p:nvPr/>
        </p:nvSpPr>
        <p:spPr>
          <a:xfrm>
            <a:off x="8869680" y="2221992"/>
            <a:ext cx="0" cy="54864"/>
          </a:xfrm>
          <a:prstGeom prst="line">
            <a:avLst/>
          </a:prstGeom>
          <a:noFill/>
          <a:ln w="9525">
            <a:solidFill>
              <a:srgbClr val="C8C8C8"/>
            </a:solidFill>
            <a:prstDash val="solid"/>
          </a:ln>
        </p:spPr>
      </p:sp>
      <p:sp>
        <p:nvSpPr>
          <p:cNvPr id="46" name="Text 44"/>
          <p:cNvSpPr/>
          <p:nvPr/>
        </p:nvSpPr>
        <p:spPr>
          <a:xfrm>
            <a:off x="804672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counts, checksums and procedure output</a:t>
            </a:r>
            <a:endParaRPr lang="en-US" sz="650" dirty="0"/>
          </a:p>
        </p:txBody>
      </p:sp>
      <p:sp>
        <p:nvSpPr>
          <p:cNvPr id="47" name="Shape 45"/>
          <p:cNvSpPr/>
          <p:nvPr/>
        </p:nvSpPr>
        <p:spPr>
          <a:xfrm>
            <a:off x="10529316" y="2061972"/>
            <a:ext cx="155448" cy="155448"/>
          </a:xfrm>
          <a:prstGeom prst="rect">
            <a:avLst/>
          </a:prstGeom>
          <a:solidFill>
            <a:srgbClr val="707070"/>
          </a:solidFill>
          <a:ln w="12700">
            <a:solidFill>
              <a:srgbClr val="707070"/>
            </a:solidFill>
            <a:prstDash val="solid"/>
          </a:ln>
        </p:spPr>
      </p:sp>
      <p:sp>
        <p:nvSpPr>
          <p:cNvPr id="48" name="Shape 46"/>
          <p:cNvSpPr/>
          <p:nvPr/>
        </p:nvSpPr>
        <p:spPr>
          <a:xfrm>
            <a:off x="10607040" y="2221992"/>
            <a:ext cx="0" cy="54864"/>
          </a:xfrm>
          <a:prstGeom prst="line">
            <a:avLst/>
          </a:prstGeom>
          <a:noFill/>
          <a:ln w="9525">
            <a:solidFill>
              <a:srgbClr val="C8C8C8"/>
            </a:solidFill>
            <a:prstDash val="solid"/>
          </a:ln>
        </p:spPr>
      </p:sp>
      <p:sp>
        <p:nvSpPr>
          <p:cNvPr id="49" name="Text 47"/>
          <p:cNvSpPr/>
          <p:nvPr/>
        </p:nvSpPr>
        <p:spPr>
          <a:xfrm>
            <a:off x="9784080" y="2267712"/>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2F.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drop the Oracle object</a:t>
            </a:r>
            <a:endParaRPr lang="en-US" sz="650" dirty="0"/>
          </a:p>
        </p:txBody>
      </p:sp>
      <p:sp>
        <p:nvSpPr>
          <p:cNvPr id="50" name="Shape 48"/>
          <p:cNvSpPr/>
          <p:nvPr/>
        </p:nvSpPr>
        <p:spPr>
          <a:xfrm>
            <a:off x="1143000" y="2907792"/>
            <a:ext cx="9738360" cy="0"/>
          </a:xfrm>
          <a:prstGeom prst="line">
            <a:avLst/>
          </a:prstGeom>
          <a:noFill/>
          <a:ln w="22225">
            <a:solidFill>
              <a:srgbClr val="1596B0"/>
            </a:solidFill>
            <a:prstDash val="solid"/>
          </a:ln>
        </p:spPr>
      </p:sp>
      <p:sp>
        <p:nvSpPr>
          <p:cNvPr id="51" name="Text 49"/>
          <p:cNvSpPr/>
          <p:nvPr/>
        </p:nvSpPr>
        <p:spPr>
          <a:xfrm>
            <a:off x="1463040" y="2688336"/>
            <a:ext cx="4206240" cy="146304"/>
          </a:xfrm>
          <a:prstGeom prst="rect">
            <a:avLst/>
          </a:prstGeom>
          <a:noFill/>
          <a:ln/>
        </p:spPr>
        <p:txBody>
          <a:bodyPr wrap="square" lIns="0" tIns="0" rIns="0" bIns="0" rtlCol="0" anchor="ctr"/>
          <a:lstStyle/>
          <a:p>
            <a:pPr indent="0" marL="0">
              <a:buNone/>
            </a:pPr>
            <a:r>
              <a:rPr lang="en-US" sz="740" b="1" i="1" dirty="0">
                <a:solidFill>
                  <a:srgbClr val="1596B0"/>
                </a:solidFill>
                <a:latin typeface="Arial" pitchFamily="34" charset="0"/>
                <a:ea typeface="Arial" pitchFamily="34" charset="-122"/>
                <a:cs typeface="Arial" pitchFamily="34" charset="-120"/>
              </a:rPr>
              <a:t>Power BI  —  Rearchitect</a:t>
            </a:r>
            <a:endParaRPr lang="en-US" sz="740" dirty="0"/>
          </a:p>
        </p:txBody>
      </p:sp>
      <p:sp>
        <p:nvSpPr>
          <p:cNvPr id="52" name="Shape 50"/>
          <p:cNvSpPr/>
          <p:nvPr/>
        </p:nvSpPr>
        <p:spPr>
          <a:xfrm>
            <a:off x="1851660" y="2839212"/>
            <a:ext cx="137160" cy="137160"/>
          </a:xfrm>
          <a:prstGeom prst="ellipse">
            <a:avLst/>
          </a:prstGeom>
          <a:solidFill>
            <a:srgbClr val="FFFFFF"/>
          </a:solidFill>
          <a:ln w="15875">
            <a:solidFill>
              <a:srgbClr val="1596B0"/>
            </a:solidFill>
            <a:prstDash val="solid"/>
          </a:ln>
        </p:spPr>
      </p:sp>
      <p:sp>
        <p:nvSpPr>
          <p:cNvPr id="53" name="Shape 51"/>
          <p:cNvSpPr/>
          <p:nvPr/>
        </p:nvSpPr>
        <p:spPr>
          <a:xfrm>
            <a:off x="1920240" y="2990088"/>
            <a:ext cx="0" cy="54864"/>
          </a:xfrm>
          <a:prstGeom prst="line">
            <a:avLst/>
          </a:prstGeom>
          <a:noFill/>
          <a:ln w="9525">
            <a:solidFill>
              <a:srgbClr val="C8C8C8"/>
            </a:solidFill>
            <a:prstDash val="solid"/>
          </a:ln>
        </p:spPr>
      </p:sp>
      <p:sp>
        <p:nvSpPr>
          <p:cNvPr id="54" name="Text 52"/>
          <p:cNvSpPr/>
          <p:nvPr/>
        </p:nvSpPr>
        <p:spPr>
          <a:xfrm>
            <a:off x="109728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Decide the artifact split</a:t>
            </a:r>
            <a:endParaRPr lang="en-US" sz="650" dirty="0"/>
          </a:p>
        </p:txBody>
      </p:sp>
      <p:sp>
        <p:nvSpPr>
          <p:cNvPr id="55" name="Shape 53"/>
          <p:cNvSpPr/>
          <p:nvPr/>
        </p:nvSpPr>
        <p:spPr>
          <a:xfrm>
            <a:off x="3589020" y="2839212"/>
            <a:ext cx="137160" cy="137160"/>
          </a:xfrm>
          <a:prstGeom prst="ellipse">
            <a:avLst/>
          </a:prstGeom>
          <a:solidFill>
            <a:srgbClr val="FFFFFF"/>
          </a:solidFill>
          <a:ln w="15875">
            <a:solidFill>
              <a:srgbClr val="1596B0"/>
            </a:solidFill>
            <a:prstDash val="solid"/>
          </a:ln>
        </p:spPr>
      </p:sp>
      <p:sp>
        <p:nvSpPr>
          <p:cNvPr id="56" name="Shape 54"/>
          <p:cNvSpPr/>
          <p:nvPr/>
        </p:nvSpPr>
        <p:spPr>
          <a:xfrm>
            <a:off x="3657600" y="2990088"/>
            <a:ext cx="0" cy="54864"/>
          </a:xfrm>
          <a:prstGeom prst="line">
            <a:avLst/>
          </a:prstGeom>
          <a:noFill/>
          <a:ln w="9525">
            <a:solidFill>
              <a:srgbClr val="C8C8C8"/>
            </a:solidFill>
            <a:prstDash val="solid"/>
          </a:ln>
        </p:spPr>
      </p:sp>
      <p:sp>
        <p:nvSpPr>
          <p:cNvPr id="57" name="Text 55"/>
          <p:cNvSpPr/>
          <p:nvPr/>
        </p:nvSpPr>
        <p:spPr>
          <a:xfrm>
            <a:off x="283464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Model and certify the dataset</a:t>
            </a:r>
            <a:endParaRPr lang="en-US" sz="650" dirty="0"/>
          </a:p>
        </p:txBody>
      </p:sp>
      <p:sp>
        <p:nvSpPr>
          <p:cNvPr id="58" name="Shape 56"/>
          <p:cNvSpPr/>
          <p:nvPr/>
        </p:nvSpPr>
        <p:spPr>
          <a:xfrm>
            <a:off x="5326380" y="2839212"/>
            <a:ext cx="137160" cy="137160"/>
          </a:xfrm>
          <a:prstGeom prst="ellipse">
            <a:avLst/>
          </a:prstGeom>
          <a:solidFill>
            <a:srgbClr val="FFFFFF"/>
          </a:solidFill>
          <a:ln w="15875">
            <a:solidFill>
              <a:srgbClr val="1596B0"/>
            </a:solidFill>
            <a:prstDash val="solid"/>
          </a:ln>
        </p:spPr>
      </p:sp>
      <p:sp>
        <p:nvSpPr>
          <p:cNvPr id="59" name="Shape 57"/>
          <p:cNvSpPr/>
          <p:nvPr/>
        </p:nvSpPr>
        <p:spPr>
          <a:xfrm>
            <a:off x="5394960" y="2990088"/>
            <a:ext cx="0" cy="54864"/>
          </a:xfrm>
          <a:prstGeom prst="line">
            <a:avLst/>
          </a:prstGeom>
          <a:noFill/>
          <a:ln w="9525">
            <a:solidFill>
              <a:srgbClr val="C8C8C8"/>
            </a:solidFill>
            <a:prstDash val="solid"/>
          </a:ln>
        </p:spPr>
      </p:sp>
      <p:sp>
        <p:nvSpPr>
          <p:cNvPr id="60" name="Text 58"/>
          <p:cNvSpPr/>
          <p:nvPr/>
        </p:nvSpPr>
        <p:spPr>
          <a:xfrm>
            <a:off x="457200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Rebuild the report or the paginated layout</a:t>
            </a:r>
            <a:endParaRPr lang="en-US" sz="650" dirty="0"/>
          </a:p>
        </p:txBody>
      </p:sp>
      <p:sp>
        <p:nvSpPr>
          <p:cNvPr id="61" name="Shape 59"/>
          <p:cNvSpPr/>
          <p:nvPr/>
        </p:nvSpPr>
        <p:spPr>
          <a:xfrm>
            <a:off x="7063740" y="2839212"/>
            <a:ext cx="137160" cy="137160"/>
          </a:xfrm>
          <a:prstGeom prst="ellipse">
            <a:avLst/>
          </a:prstGeom>
          <a:solidFill>
            <a:srgbClr val="FFFFFF"/>
          </a:solidFill>
          <a:ln w="15875">
            <a:solidFill>
              <a:srgbClr val="1596B0"/>
            </a:solidFill>
            <a:prstDash val="solid"/>
          </a:ln>
        </p:spPr>
      </p:sp>
      <p:sp>
        <p:nvSpPr>
          <p:cNvPr id="62" name="Shape 60"/>
          <p:cNvSpPr/>
          <p:nvPr/>
        </p:nvSpPr>
        <p:spPr>
          <a:xfrm>
            <a:off x="7132320" y="2990088"/>
            <a:ext cx="0" cy="54864"/>
          </a:xfrm>
          <a:prstGeom prst="line">
            <a:avLst/>
          </a:prstGeom>
          <a:noFill/>
          <a:ln w="9525">
            <a:solidFill>
              <a:srgbClr val="C8C8C8"/>
            </a:solidFill>
            <a:prstDash val="solid"/>
          </a:ln>
        </p:spPr>
      </p:sp>
      <p:sp>
        <p:nvSpPr>
          <p:cNvPr id="63" name="Text 61"/>
          <p:cNvSpPr/>
          <p:nvPr/>
        </p:nvSpPr>
        <p:spPr>
          <a:xfrm>
            <a:off x="630936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Wire Entra RLS, labels and subscriptions</a:t>
            </a:r>
            <a:endParaRPr lang="en-US" sz="650" dirty="0"/>
          </a:p>
        </p:txBody>
      </p:sp>
      <p:sp>
        <p:nvSpPr>
          <p:cNvPr id="64" name="Shape 62"/>
          <p:cNvSpPr/>
          <p:nvPr/>
        </p:nvSpPr>
        <p:spPr>
          <a:xfrm>
            <a:off x="8801100" y="2839212"/>
            <a:ext cx="137160" cy="137160"/>
          </a:xfrm>
          <a:prstGeom prst="ellipse">
            <a:avLst/>
          </a:prstGeom>
          <a:solidFill>
            <a:srgbClr val="FFFFFF"/>
          </a:solidFill>
          <a:ln w="15875">
            <a:solidFill>
              <a:srgbClr val="1596B0"/>
            </a:solidFill>
            <a:prstDash val="solid"/>
          </a:ln>
        </p:spPr>
      </p:sp>
      <p:sp>
        <p:nvSpPr>
          <p:cNvPr id="65" name="Shape 63"/>
          <p:cNvSpPr/>
          <p:nvPr/>
        </p:nvSpPr>
        <p:spPr>
          <a:xfrm>
            <a:off x="8869680" y="2990088"/>
            <a:ext cx="0" cy="54864"/>
          </a:xfrm>
          <a:prstGeom prst="line">
            <a:avLst/>
          </a:prstGeom>
          <a:noFill/>
          <a:ln w="9525">
            <a:solidFill>
              <a:srgbClr val="C8C8C8"/>
            </a:solidFill>
            <a:prstDash val="solid"/>
          </a:ln>
        </p:spPr>
      </p:sp>
      <p:sp>
        <p:nvSpPr>
          <p:cNvPr id="66" name="Text 64"/>
          <p:cNvSpPr/>
          <p:nvPr/>
        </p:nvSpPr>
        <p:spPr>
          <a:xfrm>
            <a:off x="804672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the report and run a burst test</a:t>
            </a:r>
            <a:endParaRPr lang="en-US" sz="650" dirty="0"/>
          </a:p>
        </p:txBody>
      </p:sp>
      <p:sp>
        <p:nvSpPr>
          <p:cNvPr id="67" name="Shape 65"/>
          <p:cNvSpPr/>
          <p:nvPr/>
        </p:nvSpPr>
        <p:spPr>
          <a:xfrm>
            <a:off x="10529316" y="2830068"/>
            <a:ext cx="155448" cy="155448"/>
          </a:xfrm>
          <a:prstGeom prst="rect">
            <a:avLst/>
          </a:prstGeom>
          <a:solidFill>
            <a:srgbClr val="1596B0"/>
          </a:solidFill>
          <a:ln w="12700">
            <a:solidFill>
              <a:srgbClr val="1596B0"/>
            </a:solidFill>
            <a:prstDash val="solid"/>
          </a:ln>
        </p:spPr>
      </p:sp>
      <p:sp>
        <p:nvSpPr>
          <p:cNvPr id="68" name="Shape 66"/>
          <p:cNvSpPr/>
          <p:nvPr/>
        </p:nvSpPr>
        <p:spPr>
          <a:xfrm>
            <a:off x="10607040" y="2990088"/>
            <a:ext cx="0" cy="54864"/>
          </a:xfrm>
          <a:prstGeom prst="line">
            <a:avLst/>
          </a:prstGeom>
          <a:noFill/>
          <a:ln w="9525">
            <a:solidFill>
              <a:srgbClr val="C8C8C8"/>
            </a:solidFill>
            <a:prstDash val="solid"/>
          </a:ln>
        </p:spPr>
      </p:sp>
      <p:sp>
        <p:nvSpPr>
          <p:cNvPr id="69" name="Text 67"/>
          <p:cNvSpPr/>
          <p:nvPr/>
        </p:nvSpPr>
        <p:spPr>
          <a:xfrm>
            <a:off x="9784080" y="3035808"/>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3F.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Deploy and delete the BOBJ object</a:t>
            </a:r>
            <a:endParaRPr lang="en-US" sz="650" dirty="0"/>
          </a:p>
        </p:txBody>
      </p:sp>
      <p:sp>
        <p:nvSpPr>
          <p:cNvPr id="70" name="Shape 68"/>
          <p:cNvSpPr/>
          <p:nvPr/>
        </p:nvSpPr>
        <p:spPr>
          <a:xfrm>
            <a:off x="1143000" y="3675888"/>
            <a:ext cx="9738360" cy="0"/>
          </a:xfrm>
          <a:prstGeom prst="line">
            <a:avLst/>
          </a:prstGeom>
          <a:noFill/>
          <a:ln w="22225">
            <a:solidFill>
              <a:srgbClr val="707070"/>
            </a:solidFill>
            <a:prstDash val="solid"/>
          </a:ln>
        </p:spPr>
      </p:sp>
      <p:sp>
        <p:nvSpPr>
          <p:cNvPr id="71" name="Text 69"/>
          <p:cNvSpPr/>
          <p:nvPr/>
        </p:nvSpPr>
        <p:spPr>
          <a:xfrm>
            <a:off x="1463040" y="3456432"/>
            <a:ext cx="4206240" cy="146304"/>
          </a:xfrm>
          <a:prstGeom prst="rect">
            <a:avLst/>
          </a:prstGeom>
          <a:noFill/>
          <a:ln/>
        </p:spPr>
        <p:txBody>
          <a:bodyPr wrap="square" lIns="0" tIns="0" rIns="0" bIns="0" rtlCol="0" anchor="ctr"/>
          <a:lstStyle/>
          <a:p>
            <a:pPr indent="0" marL="0">
              <a:buNone/>
            </a:pPr>
            <a:r>
              <a:rPr lang="en-US" sz="740" b="1" i="1" dirty="0">
                <a:solidFill>
                  <a:srgbClr val="707070"/>
                </a:solidFill>
                <a:latin typeface="Arial" pitchFamily="34" charset="0"/>
                <a:ea typeface="Arial" pitchFamily="34" charset="-122"/>
                <a:cs typeface="Arial" pitchFamily="34" charset="-120"/>
              </a:rPr>
              <a:t>Databricks  ·  database objects  →  Delta and Unity Catalog</a:t>
            </a:r>
            <a:endParaRPr lang="en-US" sz="740" dirty="0"/>
          </a:p>
        </p:txBody>
      </p:sp>
      <p:sp>
        <p:nvSpPr>
          <p:cNvPr id="72" name="Shape 70"/>
          <p:cNvSpPr/>
          <p:nvPr/>
        </p:nvSpPr>
        <p:spPr>
          <a:xfrm>
            <a:off x="1851660" y="3607308"/>
            <a:ext cx="137160" cy="137160"/>
          </a:xfrm>
          <a:prstGeom prst="ellipse">
            <a:avLst/>
          </a:prstGeom>
          <a:solidFill>
            <a:srgbClr val="FFFFFF"/>
          </a:solidFill>
          <a:ln w="15875">
            <a:solidFill>
              <a:srgbClr val="707070"/>
            </a:solidFill>
            <a:prstDash val="solid"/>
          </a:ln>
        </p:spPr>
      </p:sp>
      <p:sp>
        <p:nvSpPr>
          <p:cNvPr id="73" name="Shape 71"/>
          <p:cNvSpPr/>
          <p:nvPr/>
        </p:nvSpPr>
        <p:spPr>
          <a:xfrm>
            <a:off x="1920240" y="3758184"/>
            <a:ext cx="0" cy="54864"/>
          </a:xfrm>
          <a:prstGeom prst="line">
            <a:avLst/>
          </a:prstGeom>
          <a:noFill/>
          <a:ln w="9525">
            <a:solidFill>
              <a:srgbClr val="C8C8C8"/>
            </a:solidFill>
            <a:prstDash val="solid"/>
          </a:ln>
        </p:spPr>
      </p:sp>
      <p:sp>
        <p:nvSpPr>
          <p:cNvPr id="74" name="Text 72"/>
          <p:cNvSpPr/>
          <p:nvPr/>
        </p:nvSpPr>
        <p:spPr>
          <a:xfrm>
            <a:off x="109728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Parse universe SQL and inventory the objects</a:t>
            </a:r>
            <a:endParaRPr lang="en-US" sz="650" dirty="0"/>
          </a:p>
        </p:txBody>
      </p:sp>
      <p:sp>
        <p:nvSpPr>
          <p:cNvPr id="75" name="Shape 73"/>
          <p:cNvSpPr/>
          <p:nvPr/>
        </p:nvSpPr>
        <p:spPr>
          <a:xfrm>
            <a:off x="3589020" y="3607308"/>
            <a:ext cx="137160" cy="137160"/>
          </a:xfrm>
          <a:prstGeom prst="ellipse">
            <a:avLst/>
          </a:prstGeom>
          <a:solidFill>
            <a:srgbClr val="FFFFFF"/>
          </a:solidFill>
          <a:ln w="15875">
            <a:solidFill>
              <a:srgbClr val="707070"/>
            </a:solidFill>
            <a:prstDash val="solid"/>
          </a:ln>
        </p:spPr>
      </p:sp>
      <p:sp>
        <p:nvSpPr>
          <p:cNvPr id="76" name="Shape 74"/>
          <p:cNvSpPr/>
          <p:nvPr/>
        </p:nvSpPr>
        <p:spPr>
          <a:xfrm>
            <a:off x="3657600" y="3758184"/>
            <a:ext cx="0" cy="54864"/>
          </a:xfrm>
          <a:prstGeom prst="line">
            <a:avLst/>
          </a:prstGeom>
          <a:noFill/>
          <a:ln w="9525">
            <a:solidFill>
              <a:srgbClr val="C8C8C8"/>
            </a:solidFill>
            <a:prstDash val="solid"/>
          </a:ln>
        </p:spPr>
      </p:sp>
      <p:sp>
        <p:nvSpPr>
          <p:cNvPr id="77" name="Text 75"/>
          <p:cNvSpPr/>
          <p:nvPr/>
        </p:nvSpPr>
        <p:spPr>
          <a:xfrm>
            <a:off x="283464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Map each object type to a Databricks target</a:t>
            </a:r>
            <a:endParaRPr lang="en-US" sz="650" dirty="0"/>
          </a:p>
        </p:txBody>
      </p:sp>
      <p:sp>
        <p:nvSpPr>
          <p:cNvPr id="78" name="Shape 76"/>
          <p:cNvSpPr/>
          <p:nvPr/>
        </p:nvSpPr>
        <p:spPr>
          <a:xfrm>
            <a:off x="5326380" y="3607308"/>
            <a:ext cx="137160" cy="137160"/>
          </a:xfrm>
          <a:prstGeom prst="ellipse">
            <a:avLst/>
          </a:prstGeom>
          <a:solidFill>
            <a:srgbClr val="FFFFFF"/>
          </a:solidFill>
          <a:ln w="15875">
            <a:solidFill>
              <a:srgbClr val="707070"/>
            </a:solidFill>
            <a:prstDash val="solid"/>
          </a:ln>
        </p:spPr>
      </p:sp>
      <p:sp>
        <p:nvSpPr>
          <p:cNvPr id="79" name="Shape 77"/>
          <p:cNvSpPr/>
          <p:nvPr/>
        </p:nvSpPr>
        <p:spPr>
          <a:xfrm>
            <a:off x="5394960" y="3758184"/>
            <a:ext cx="0" cy="54864"/>
          </a:xfrm>
          <a:prstGeom prst="line">
            <a:avLst/>
          </a:prstGeom>
          <a:noFill/>
          <a:ln w="9525">
            <a:solidFill>
              <a:srgbClr val="C8C8C8"/>
            </a:solidFill>
            <a:prstDash val="solid"/>
          </a:ln>
        </p:spPr>
      </p:sp>
      <p:sp>
        <p:nvSpPr>
          <p:cNvPr id="80" name="Text 78"/>
          <p:cNvSpPr/>
          <p:nvPr/>
        </p:nvSpPr>
        <p:spPr>
          <a:xfrm>
            <a:off x="457200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Land to bronze, build gold, deploy views and logic</a:t>
            </a:r>
            <a:endParaRPr lang="en-US" sz="650" dirty="0"/>
          </a:p>
        </p:txBody>
      </p:sp>
      <p:sp>
        <p:nvSpPr>
          <p:cNvPr id="81" name="Shape 79"/>
          <p:cNvSpPr/>
          <p:nvPr/>
        </p:nvSpPr>
        <p:spPr>
          <a:xfrm>
            <a:off x="7063740" y="3607308"/>
            <a:ext cx="137160" cy="137160"/>
          </a:xfrm>
          <a:prstGeom prst="ellipse">
            <a:avLst/>
          </a:prstGeom>
          <a:solidFill>
            <a:srgbClr val="FFFFFF"/>
          </a:solidFill>
          <a:ln w="15875">
            <a:solidFill>
              <a:srgbClr val="707070"/>
            </a:solidFill>
            <a:prstDash val="solid"/>
          </a:ln>
        </p:spPr>
      </p:sp>
      <p:sp>
        <p:nvSpPr>
          <p:cNvPr id="82" name="Shape 80"/>
          <p:cNvSpPr/>
          <p:nvPr/>
        </p:nvSpPr>
        <p:spPr>
          <a:xfrm>
            <a:off x="7132320" y="3758184"/>
            <a:ext cx="0" cy="54864"/>
          </a:xfrm>
          <a:prstGeom prst="line">
            <a:avLst/>
          </a:prstGeom>
          <a:noFill/>
          <a:ln w="9525">
            <a:solidFill>
              <a:srgbClr val="C8C8C8"/>
            </a:solidFill>
            <a:prstDash val="solid"/>
          </a:ln>
        </p:spPr>
      </p:sp>
      <p:sp>
        <p:nvSpPr>
          <p:cNvPr id="83" name="Text 81"/>
          <p:cNvSpPr/>
          <p:nvPr/>
        </p:nvSpPr>
        <p:spPr>
          <a:xfrm>
            <a:off x="630936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Apply UC row filters, masks and lineage</a:t>
            </a:r>
            <a:endParaRPr lang="en-US" sz="650" dirty="0"/>
          </a:p>
        </p:txBody>
      </p:sp>
      <p:sp>
        <p:nvSpPr>
          <p:cNvPr id="84" name="Shape 82"/>
          <p:cNvSpPr/>
          <p:nvPr/>
        </p:nvSpPr>
        <p:spPr>
          <a:xfrm>
            <a:off x="8801100" y="3607308"/>
            <a:ext cx="137160" cy="137160"/>
          </a:xfrm>
          <a:prstGeom prst="ellipse">
            <a:avLst/>
          </a:prstGeom>
          <a:solidFill>
            <a:srgbClr val="FFFFFF"/>
          </a:solidFill>
          <a:ln w="15875">
            <a:solidFill>
              <a:srgbClr val="707070"/>
            </a:solidFill>
            <a:prstDash val="solid"/>
          </a:ln>
        </p:spPr>
      </p:sp>
      <p:sp>
        <p:nvSpPr>
          <p:cNvPr id="85" name="Shape 83"/>
          <p:cNvSpPr/>
          <p:nvPr/>
        </p:nvSpPr>
        <p:spPr>
          <a:xfrm>
            <a:off x="8869680" y="3758184"/>
            <a:ext cx="0" cy="54864"/>
          </a:xfrm>
          <a:prstGeom prst="line">
            <a:avLst/>
          </a:prstGeom>
          <a:noFill/>
          <a:ln w="9525">
            <a:solidFill>
              <a:srgbClr val="C8C8C8"/>
            </a:solidFill>
            <a:prstDash val="solid"/>
          </a:ln>
        </p:spPr>
      </p:sp>
      <p:sp>
        <p:nvSpPr>
          <p:cNvPr id="86" name="Text 84"/>
          <p:cNvSpPr/>
          <p:nvPr/>
        </p:nvSpPr>
        <p:spPr>
          <a:xfrm>
            <a:off x="804672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counts, checksums and re-run output</a:t>
            </a:r>
            <a:endParaRPr lang="en-US" sz="650" dirty="0"/>
          </a:p>
        </p:txBody>
      </p:sp>
      <p:sp>
        <p:nvSpPr>
          <p:cNvPr id="87" name="Shape 85"/>
          <p:cNvSpPr/>
          <p:nvPr/>
        </p:nvSpPr>
        <p:spPr>
          <a:xfrm>
            <a:off x="10529316" y="3598164"/>
            <a:ext cx="155448" cy="155448"/>
          </a:xfrm>
          <a:prstGeom prst="rect">
            <a:avLst/>
          </a:prstGeom>
          <a:solidFill>
            <a:srgbClr val="707070"/>
          </a:solidFill>
          <a:ln w="12700">
            <a:solidFill>
              <a:srgbClr val="707070"/>
            </a:solidFill>
            <a:prstDash val="solid"/>
          </a:ln>
        </p:spPr>
      </p:sp>
      <p:sp>
        <p:nvSpPr>
          <p:cNvPr id="88" name="Shape 86"/>
          <p:cNvSpPr/>
          <p:nvPr/>
        </p:nvSpPr>
        <p:spPr>
          <a:xfrm>
            <a:off x="10607040" y="3758184"/>
            <a:ext cx="0" cy="54864"/>
          </a:xfrm>
          <a:prstGeom prst="line">
            <a:avLst/>
          </a:prstGeom>
          <a:noFill/>
          <a:ln w="9525">
            <a:solidFill>
              <a:srgbClr val="C8C8C8"/>
            </a:solidFill>
            <a:prstDash val="solid"/>
          </a:ln>
        </p:spPr>
      </p:sp>
      <p:sp>
        <p:nvSpPr>
          <p:cNvPr id="89" name="Text 87"/>
          <p:cNvSpPr/>
          <p:nvPr/>
        </p:nvSpPr>
        <p:spPr>
          <a:xfrm>
            <a:off x="9784080" y="3803904"/>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4F.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drop the Oracle object</a:t>
            </a:r>
            <a:endParaRPr lang="en-US" sz="650" dirty="0"/>
          </a:p>
        </p:txBody>
      </p:sp>
      <p:sp>
        <p:nvSpPr>
          <p:cNvPr id="90" name="Shape 88"/>
          <p:cNvSpPr/>
          <p:nvPr/>
        </p:nvSpPr>
        <p:spPr>
          <a:xfrm>
            <a:off x="1143000" y="4443984"/>
            <a:ext cx="9738360" cy="0"/>
          </a:xfrm>
          <a:prstGeom prst="line">
            <a:avLst/>
          </a:prstGeom>
          <a:noFill/>
          <a:ln w="22225">
            <a:solidFill>
              <a:srgbClr val="3E6DA8"/>
            </a:solidFill>
            <a:prstDash val="solid"/>
          </a:ln>
        </p:spPr>
      </p:sp>
      <p:sp>
        <p:nvSpPr>
          <p:cNvPr id="91" name="Text 89"/>
          <p:cNvSpPr/>
          <p:nvPr/>
        </p:nvSpPr>
        <p:spPr>
          <a:xfrm>
            <a:off x="1463040" y="4224528"/>
            <a:ext cx="4206240" cy="146304"/>
          </a:xfrm>
          <a:prstGeom prst="rect">
            <a:avLst/>
          </a:prstGeom>
          <a:noFill/>
          <a:ln/>
        </p:spPr>
        <p:txBody>
          <a:bodyPr wrap="square" lIns="0" tIns="0" rIns="0" bIns="0" rtlCol="0" anchor="ctr"/>
          <a:lstStyle/>
          <a:p>
            <a:pPr indent="0" marL="0">
              <a:buNone/>
            </a:pPr>
            <a:r>
              <a:rPr lang="en-US" sz="740" b="1" i="1" dirty="0">
                <a:solidFill>
                  <a:srgbClr val="3E6DA8"/>
                </a:solidFill>
                <a:latin typeface="Arial" pitchFamily="34" charset="0"/>
                <a:ea typeface="Arial" pitchFamily="34" charset="-122"/>
                <a:cs typeface="Arial" pitchFamily="34" charset="-120"/>
              </a:rPr>
              <a:t>Databricks AI/BI  —  Replatform</a:t>
            </a:r>
            <a:endParaRPr lang="en-US" sz="740" dirty="0"/>
          </a:p>
        </p:txBody>
      </p:sp>
      <p:sp>
        <p:nvSpPr>
          <p:cNvPr id="92" name="Shape 90"/>
          <p:cNvSpPr/>
          <p:nvPr/>
        </p:nvSpPr>
        <p:spPr>
          <a:xfrm>
            <a:off x="1851660" y="4375404"/>
            <a:ext cx="137160" cy="137160"/>
          </a:xfrm>
          <a:prstGeom prst="ellipse">
            <a:avLst/>
          </a:prstGeom>
          <a:solidFill>
            <a:srgbClr val="FFFFFF"/>
          </a:solidFill>
          <a:ln w="15875">
            <a:solidFill>
              <a:srgbClr val="3E6DA8"/>
            </a:solidFill>
            <a:prstDash val="solid"/>
          </a:ln>
        </p:spPr>
      </p:sp>
      <p:sp>
        <p:nvSpPr>
          <p:cNvPr id="93" name="Shape 91"/>
          <p:cNvSpPr/>
          <p:nvPr/>
        </p:nvSpPr>
        <p:spPr>
          <a:xfrm>
            <a:off x="1920240" y="4526280"/>
            <a:ext cx="0" cy="54864"/>
          </a:xfrm>
          <a:prstGeom prst="line">
            <a:avLst/>
          </a:prstGeom>
          <a:noFill/>
          <a:ln w="9525">
            <a:solidFill>
              <a:srgbClr val="C8C8C8"/>
            </a:solidFill>
            <a:prstDash val="solid"/>
          </a:ln>
        </p:spPr>
      </p:sp>
      <p:sp>
        <p:nvSpPr>
          <p:cNvPr id="94" name="Text 92"/>
          <p:cNvSpPr/>
          <p:nvPr/>
        </p:nvSpPr>
        <p:spPr>
          <a:xfrm>
            <a:off x="109728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Confirm the gold layer is ready</a:t>
            </a:r>
            <a:endParaRPr lang="en-US" sz="650" dirty="0"/>
          </a:p>
        </p:txBody>
      </p:sp>
      <p:sp>
        <p:nvSpPr>
          <p:cNvPr id="95" name="Shape 93"/>
          <p:cNvSpPr/>
          <p:nvPr/>
        </p:nvSpPr>
        <p:spPr>
          <a:xfrm>
            <a:off x="3589020" y="4375404"/>
            <a:ext cx="137160" cy="137160"/>
          </a:xfrm>
          <a:prstGeom prst="ellipse">
            <a:avLst/>
          </a:prstGeom>
          <a:solidFill>
            <a:srgbClr val="FFFFFF"/>
          </a:solidFill>
          <a:ln w="15875">
            <a:solidFill>
              <a:srgbClr val="3E6DA8"/>
            </a:solidFill>
            <a:prstDash val="solid"/>
          </a:ln>
        </p:spPr>
      </p:sp>
      <p:sp>
        <p:nvSpPr>
          <p:cNvPr id="96" name="Shape 94"/>
          <p:cNvSpPr/>
          <p:nvPr/>
        </p:nvSpPr>
        <p:spPr>
          <a:xfrm>
            <a:off x="3657600" y="4526280"/>
            <a:ext cx="0" cy="54864"/>
          </a:xfrm>
          <a:prstGeom prst="line">
            <a:avLst/>
          </a:prstGeom>
          <a:noFill/>
          <a:ln w="9525">
            <a:solidFill>
              <a:srgbClr val="C8C8C8"/>
            </a:solidFill>
            <a:prstDash val="solid"/>
          </a:ln>
        </p:spPr>
      </p:sp>
      <p:sp>
        <p:nvSpPr>
          <p:cNvPr id="97" name="Text 95"/>
          <p:cNvSpPr/>
          <p:nvPr/>
        </p:nvSpPr>
        <p:spPr>
          <a:xfrm>
            <a:off x="283464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Rebuild the semantics as metric views</a:t>
            </a:r>
            <a:endParaRPr lang="en-US" sz="650" dirty="0"/>
          </a:p>
        </p:txBody>
      </p:sp>
      <p:sp>
        <p:nvSpPr>
          <p:cNvPr id="98" name="Shape 96"/>
          <p:cNvSpPr/>
          <p:nvPr/>
        </p:nvSpPr>
        <p:spPr>
          <a:xfrm>
            <a:off x="5326380" y="4375404"/>
            <a:ext cx="137160" cy="137160"/>
          </a:xfrm>
          <a:prstGeom prst="ellipse">
            <a:avLst/>
          </a:prstGeom>
          <a:solidFill>
            <a:srgbClr val="FFFFFF"/>
          </a:solidFill>
          <a:ln w="15875">
            <a:solidFill>
              <a:srgbClr val="3E6DA8"/>
            </a:solidFill>
            <a:prstDash val="solid"/>
          </a:ln>
        </p:spPr>
      </p:sp>
      <p:sp>
        <p:nvSpPr>
          <p:cNvPr id="99" name="Shape 97"/>
          <p:cNvSpPr/>
          <p:nvPr/>
        </p:nvSpPr>
        <p:spPr>
          <a:xfrm>
            <a:off x="5394960" y="4526280"/>
            <a:ext cx="0" cy="54864"/>
          </a:xfrm>
          <a:prstGeom prst="line">
            <a:avLst/>
          </a:prstGeom>
          <a:noFill/>
          <a:ln w="9525">
            <a:solidFill>
              <a:srgbClr val="C8C8C8"/>
            </a:solidFill>
            <a:prstDash val="solid"/>
          </a:ln>
        </p:spPr>
      </p:sp>
      <p:sp>
        <p:nvSpPr>
          <p:cNvPr id="100" name="Text 98"/>
          <p:cNvSpPr/>
          <p:nvPr/>
        </p:nvSpPr>
        <p:spPr>
          <a:xfrm>
            <a:off x="457200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Build the dashboard and Genie space</a:t>
            </a:r>
            <a:endParaRPr lang="en-US" sz="650" dirty="0"/>
          </a:p>
        </p:txBody>
      </p:sp>
      <p:sp>
        <p:nvSpPr>
          <p:cNvPr id="101" name="Shape 99"/>
          <p:cNvSpPr/>
          <p:nvPr/>
        </p:nvSpPr>
        <p:spPr>
          <a:xfrm>
            <a:off x="7063740" y="4375404"/>
            <a:ext cx="137160" cy="137160"/>
          </a:xfrm>
          <a:prstGeom prst="ellipse">
            <a:avLst/>
          </a:prstGeom>
          <a:solidFill>
            <a:srgbClr val="FFFFFF"/>
          </a:solidFill>
          <a:ln w="15875">
            <a:solidFill>
              <a:srgbClr val="3E6DA8"/>
            </a:solidFill>
            <a:prstDash val="solid"/>
          </a:ln>
        </p:spPr>
      </p:sp>
      <p:sp>
        <p:nvSpPr>
          <p:cNvPr id="102" name="Shape 100"/>
          <p:cNvSpPr/>
          <p:nvPr/>
        </p:nvSpPr>
        <p:spPr>
          <a:xfrm>
            <a:off x="7132320" y="4526280"/>
            <a:ext cx="0" cy="54864"/>
          </a:xfrm>
          <a:prstGeom prst="line">
            <a:avLst/>
          </a:prstGeom>
          <a:noFill/>
          <a:ln w="9525">
            <a:solidFill>
              <a:srgbClr val="C8C8C8"/>
            </a:solidFill>
            <a:prstDash val="solid"/>
          </a:ln>
        </p:spPr>
      </p:sp>
      <p:sp>
        <p:nvSpPr>
          <p:cNvPr id="103" name="Text 101"/>
          <p:cNvSpPr/>
          <p:nvPr/>
        </p:nvSpPr>
        <p:spPr>
          <a:xfrm>
            <a:off x="630936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Grant through Unity Catalog groups</a:t>
            </a:r>
            <a:endParaRPr lang="en-US" sz="650" dirty="0"/>
          </a:p>
        </p:txBody>
      </p:sp>
      <p:sp>
        <p:nvSpPr>
          <p:cNvPr id="104" name="Shape 102"/>
          <p:cNvSpPr/>
          <p:nvPr/>
        </p:nvSpPr>
        <p:spPr>
          <a:xfrm>
            <a:off x="8801100" y="4375404"/>
            <a:ext cx="137160" cy="137160"/>
          </a:xfrm>
          <a:prstGeom prst="ellipse">
            <a:avLst/>
          </a:prstGeom>
          <a:solidFill>
            <a:srgbClr val="FFFFFF"/>
          </a:solidFill>
          <a:ln w="15875">
            <a:solidFill>
              <a:srgbClr val="3E6DA8"/>
            </a:solidFill>
            <a:prstDash val="solid"/>
          </a:ln>
        </p:spPr>
      </p:sp>
      <p:sp>
        <p:nvSpPr>
          <p:cNvPr id="105" name="Shape 103"/>
          <p:cNvSpPr/>
          <p:nvPr/>
        </p:nvSpPr>
        <p:spPr>
          <a:xfrm>
            <a:off x="8869680" y="4526280"/>
            <a:ext cx="0" cy="54864"/>
          </a:xfrm>
          <a:prstGeom prst="line">
            <a:avLst/>
          </a:prstGeom>
          <a:noFill/>
          <a:ln w="9525">
            <a:solidFill>
              <a:srgbClr val="C8C8C8"/>
            </a:solidFill>
            <a:prstDash val="solid"/>
          </a:ln>
        </p:spPr>
      </p:sp>
      <p:sp>
        <p:nvSpPr>
          <p:cNvPr id="106" name="Text 104"/>
          <p:cNvSpPr/>
          <p:nvPr/>
        </p:nvSpPr>
        <p:spPr>
          <a:xfrm>
            <a:off x="804672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to BOBJ output and test Genie</a:t>
            </a:r>
            <a:endParaRPr lang="en-US" sz="650" dirty="0"/>
          </a:p>
        </p:txBody>
      </p:sp>
      <p:sp>
        <p:nvSpPr>
          <p:cNvPr id="107" name="Shape 105"/>
          <p:cNvSpPr/>
          <p:nvPr/>
        </p:nvSpPr>
        <p:spPr>
          <a:xfrm>
            <a:off x="10529316" y="4366260"/>
            <a:ext cx="155448" cy="155448"/>
          </a:xfrm>
          <a:prstGeom prst="rect">
            <a:avLst/>
          </a:prstGeom>
          <a:solidFill>
            <a:srgbClr val="3E6DA8"/>
          </a:solidFill>
          <a:ln w="12700">
            <a:solidFill>
              <a:srgbClr val="3E6DA8"/>
            </a:solidFill>
            <a:prstDash val="solid"/>
          </a:ln>
        </p:spPr>
      </p:sp>
      <p:sp>
        <p:nvSpPr>
          <p:cNvPr id="108" name="Shape 106"/>
          <p:cNvSpPr/>
          <p:nvPr/>
        </p:nvSpPr>
        <p:spPr>
          <a:xfrm>
            <a:off x="10607040" y="4526280"/>
            <a:ext cx="0" cy="54864"/>
          </a:xfrm>
          <a:prstGeom prst="line">
            <a:avLst/>
          </a:prstGeom>
          <a:noFill/>
          <a:ln w="9525">
            <a:solidFill>
              <a:srgbClr val="C8C8C8"/>
            </a:solidFill>
            <a:prstDash val="solid"/>
          </a:ln>
        </p:spPr>
      </p:sp>
      <p:sp>
        <p:nvSpPr>
          <p:cNvPr id="109" name="Text 107"/>
          <p:cNvSpPr/>
          <p:nvPr/>
        </p:nvSpPr>
        <p:spPr>
          <a:xfrm>
            <a:off x="9784080" y="4572000"/>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5F.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Release and delete the BOBJ object</a:t>
            </a:r>
            <a:endParaRPr lang="en-US" sz="650" dirty="0"/>
          </a:p>
        </p:txBody>
      </p:sp>
      <p:sp>
        <p:nvSpPr>
          <p:cNvPr id="110" name="Shape 108"/>
          <p:cNvSpPr/>
          <p:nvPr/>
        </p:nvSpPr>
        <p:spPr>
          <a:xfrm>
            <a:off x="1143000" y="5212080"/>
            <a:ext cx="9738360" cy="0"/>
          </a:xfrm>
          <a:prstGeom prst="line">
            <a:avLst/>
          </a:prstGeom>
          <a:noFill/>
          <a:ln w="22225">
            <a:solidFill>
              <a:srgbClr val="081F5C"/>
            </a:solidFill>
            <a:prstDash val="dash"/>
          </a:ln>
        </p:spPr>
      </p:sp>
      <p:sp>
        <p:nvSpPr>
          <p:cNvPr id="111" name="Text 109"/>
          <p:cNvSpPr/>
          <p:nvPr/>
        </p:nvSpPr>
        <p:spPr>
          <a:xfrm>
            <a:off x="1463040" y="4992624"/>
            <a:ext cx="4206240" cy="146304"/>
          </a:xfrm>
          <a:prstGeom prst="rect">
            <a:avLst/>
          </a:prstGeom>
          <a:noFill/>
          <a:ln/>
        </p:spPr>
        <p:txBody>
          <a:bodyPr wrap="square" lIns="0" tIns="0" rIns="0" bIns="0" rtlCol="0" anchor="ctr"/>
          <a:lstStyle/>
          <a:p>
            <a:pPr indent="0" marL="0">
              <a:buNone/>
            </a:pPr>
            <a:r>
              <a:rPr lang="en-US" sz="740" b="1" i="1" dirty="0">
                <a:solidFill>
                  <a:srgbClr val="081F5C"/>
                </a:solidFill>
                <a:latin typeface="Arial" pitchFamily="34" charset="0"/>
                <a:ea typeface="Arial" pitchFamily="34" charset="-122"/>
                <a:cs typeface="Arial" pitchFamily="34" charset="-120"/>
              </a:rPr>
              <a:t>Retain in BOBJ  —  Exception</a:t>
            </a:r>
            <a:endParaRPr lang="en-US" sz="740" dirty="0"/>
          </a:p>
        </p:txBody>
      </p:sp>
      <p:sp>
        <p:nvSpPr>
          <p:cNvPr id="112" name="Shape 110"/>
          <p:cNvSpPr/>
          <p:nvPr/>
        </p:nvSpPr>
        <p:spPr>
          <a:xfrm>
            <a:off x="1851660" y="5143500"/>
            <a:ext cx="137160" cy="137160"/>
          </a:xfrm>
          <a:prstGeom prst="ellipse">
            <a:avLst/>
          </a:prstGeom>
          <a:solidFill>
            <a:srgbClr val="FFFFFF"/>
          </a:solidFill>
          <a:ln w="15875">
            <a:solidFill>
              <a:srgbClr val="081F5C"/>
            </a:solidFill>
            <a:prstDash val="solid"/>
          </a:ln>
        </p:spPr>
      </p:sp>
      <p:sp>
        <p:nvSpPr>
          <p:cNvPr id="113" name="Shape 111"/>
          <p:cNvSpPr/>
          <p:nvPr/>
        </p:nvSpPr>
        <p:spPr>
          <a:xfrm>
            <a:off x="1920240" y="5294376"/>
            <a:ext cx="0" cy="54864"/>
          </a:xfrm>
          <a:prstGeom prst="line">
            <a:avLst/>
          </a:prstGeom>
          <a:noFill/>
          <a:ln w="9525">
            <a:solidFill>
              <a:srgbClr val="C8C8C8"/>
            </a:solidFill>
            <a:prstDash val="solid"/>
          </a:ln>
        </p:spPr>
      </p:sp>
      <p:sp>
        <p:nvSpPr>
          <p:cNvPr id="114" name="Text 112"/>
          <p:cNvSpPr/>
          <p:nvPr/>
        </p:nvSpPr>
        <p:spPr>
          <a:xfrm>
            <a:off x="109728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6A.</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Record which exception criteria hold</a:t>
            </a:r>
            <a:endParaRPr lang="en-US" sz="650" dirty="0"/>
          </a:p>
        </p:txBody>
      </p:sp>
      <p:sp>
        <p:nvSpPr>
          <p:cNvPr id="115" name="Shape 113"/>
          <p:cNvSpPr/>
          <p:nvPr/>
        </p:nvSpPr>
        <p:spPr>
          <a:xfrm>
            <a:off x="3589020" y="5143500"/>
            <a:ext cx="137160" cy="137160"/>
          </a:xfrm>
          <a:prstGeom prst="ellipse">
            <a:avLst/>
          </a:prstGeom>
          <a:solidFill>
            <a:srgbClr val="FFFFFF"/>
          </a:solidFill>
          <a:ln w="15875">
            <a:solidFill>
              <a:srgbClr val="081F5C"/>
            </a:solidFill>
            <a:prstDash val="solid"/>
          </a:ln>
        </p:spPr>
      </p:sp>
      <p:sp>
        <p:nvSpPr>
          <p:cNvPr id="116" name="Shape 114"/>
          <p:cNvSpPr/>
          <p:nvPr/>
        </p:nvSpPr>
        <p:spPr>
          <a:xfrm>
            <a:off x="3657600" y="5294376"/>
            <a:ext cx="0" cy="54864"/>
          </a:xfrm>
          <a:prstGeom prst="line">
            <a:avLst/>
          </a:prstGeom>
          <a:noFill/>
          <a:ln w="9525">
            <a:solidFill>
              <a:srgbClr val="C8C8C8"/>
            </a:solidFill>
            <a:prstDash val="solid"/>
          </a:ln>
        </p:spPr>
      </p:sp>
      <p:sp>
        <p:nvSpPr>
          <p:cNvPr id="117" name="Text 115"/>
          <p:cNvSpPr/>
          <p:nvPr/>
        </p:nvSpPr>
        <p:spPr>
          <a:xfrm>
            <a:off x="283464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6B.</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Plan the re-point and set the sunset</a:t>
            </a:r>
            <a:endParaRPr lang="en-US" sz="650" dirty="0"/>
          </a:p>
        </p:txBody>
      </p:sp>
      <p:sp>
        <p:nvSpPr>
          <p:cNvPr id="118" name="Shape 116"/>
          <p:cNvSpPr/>
          <p:nvPr/>
        </p:nvSpPr>
        <p:spPr>
          <a:xfrm>
            <a:off x="5326380" y="5143500"/>
            <a:ext cx="137160" cy="137160"/>
          </a:xfrm>
          <a:prstGeom prst="ellipse">
            <a:avLst/>
          </a:prstGeom>
          <a:solidFill>
            <a:srgbClr val="FFFFFF"/>
          </a:solidFill>
          <a:ln w="15875">
            <a:solidFill>
              <a:srgbClr val="081F5C"/>
            </a:solidFill>
            <a:prstDash val="solid"/>
          </a:ln>
        </p:spPr>
      </p:sp>
      <p:sp>
        <p:nvSpPr>
          <p:cNvPr id="119" name="Shape 117"/>
          <p:cNvSpPr/>
          <p:nvPr/>
        </p:nvSpPr>
        <p:spPr>
          <a:xfrm>
            <a:off x="5394960" y="5294376"/>
            <a:ext cx="0" cy="54864"/>
          </a:xfrm>
          <a:prstGeom prst="line">
            <a:avLst/>
          </a:prstGeom>
          <a:noFill/>
          <a:ln w="9525">
            <a:solidFill>
              <a:srgbClr val="C8C8C8"/>
            </a:solidFill>
            <a:prstDash val="solid"/>
          </a:ln>
        </p:spPr>
      </p:sp>
      <p:sp>
        <p:nvSpPr>
          <p:cNvPr id="120" name="Text 118"/>
          <p:cNvSpPr/>
          <p:nvPr/>
        </p:nvSpPr>
        <p:spPr>
          <a:xfrm>
            <a:off x="457200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6C.</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Re-point the universe off Oracle</a:t>
            </a:r>
            <a:endParaRPr lang="en-US" sz="650" dirty="0"/>
          </a:p>
        </p:txBody>
      </p:sp>
      <p:sp>
        <p:nvSpPr>
          <p:cNvPr id="121" name="Shape 119"/>
          <p:cNvSpPr/>
          <p:nvPr/>
        </p:nvSpPr>
        <p:spPr>
          <a:xfrm>
            <a:off x="7063740" y="5143500"/>
            <a:ext cx="137160" cy="137160"/>
          </a:xfrm>
          <a:prstGeom prst="ellipse">
            <a:avLst/>
          </a:prstGeom>
          <a:solidFill>
            <a:srgbClr val="FFFFFF"/>
          </a:solidFill>
          <a:ln w="15875">
            <a:solidFill>
              <a:srgbClr val="081F5C"/>
            </a:solidFill>
            <a:prstDash val="solid"/>
          </a:ln>
        </p:spPr>
      </p:sp>
      <p:sp>
        <p:nvSpPr>
          <p:cNvPr id="122" name="Shape 120"/>
          <p:cNvSpPr/>
          <p:nvPr/>
        </p:nvSpPr>
        <p:spPr>
          <a:xfrm>
            <a:off x="7132320" y="5294376"/>
            <a:ext cx="0" cy="54864"/>
          </a:xfrm>
          <a:prstGeom prst="line">
            <a:avLst/>
          </a:prstGeom>
          <a:noFill/>
          <a:ln w="9525">
            <a:solidFill>
              <a:srgbClr val="C8C8C8"/>
            </a:solidFill>
            <a:prstDash val="solid"/>
          </a:ln>
        </p:spPr>
      </p:sp>
      <p:sp>
        <p:nvSpPr>
          <p:cNvPr id="123" name="Text 121"/>
          <p:cNvSpPr/>
          <p:nvPr/>
        </p:nvSpPr>
        <p:spPr>
          <a:xfrm>
            <a:off x="630936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6D.</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Re-test the universe restrictions</a:t>
            </a:r>
            <a:endParaRPr lang="en-US" sz="650" dirty="0"/>
          </a:p>
        </p:txBody>
      </p:sp>
      <p:sp>
        <p:nvSpPr>
          <p:cNvPr id="124" name="Shape 122"/>
          <p:cNvSpPr/>
          <p:nvPr/>
        </p:nvSpPr>
        <p:spPr>
          <a:xfrm>
            <a:off x="8801100" y="5143500"/>
            <a:ext cx="137160" cy="137160"/>
          </a:xfrm>
          <a:prstGeom prst="ellipse">
            <a:avLst/>
          </a:prstGeom>
          <a:solidFill>
            <a:srgbClr val="FFFFFF"/>
          </a:solidFill>
          <a:ln w="15875">
            <a:solidFill>
              <a:srgbClr val="081F5C"/>
            </a:solidFill>
            <a:prstDash val="solid"/>
          </a:ln>
        </p:spPr>
      </p:sp>
      <p:sp>
        <p:nvSpPr>
          <p:cNvPr id="125" name="Shape 123"/>
          <p:cNvSpPr/>
          <p:nvPr/>
        </p:nvSpPr>
        <p:spPr>
          <a:xfrm>
            <a:off x="8869680" y="5294376"/>
            <a:ext cx="0" cy="54864"/>
          </a:xfrm>
          <a:prstGeom prst="line">
            <a:avLst/>
          </a:prstGeom>
          <a:noFill/>
          <a:ln w="9525">
            <a:solidFill>
              <a:srgbClr val="C8C8C8"/>
            </a:solidFill>
            <a:prstDash val="solid"/>
          </a:ln>
        </p:spPr>
      </p:sp>
      <p:sp>
        <p:nvSpPr>
          <p:cNvPr id="126" name="Text 124"/>
          <p:cNvSpPr/>
          <p:nvPr/>
        </p:nvSpPr>
        <p:spPr>
          <a:xfrm>
            <a:off x="804672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6E.</a:t>
            </a:r>
            <a:pPr algn="ctr" indent="0" marL="0">
              <a:lnSpc>
                <a:spcPct val="92000"/>
              </a:lnSpc>
              <a:buNone/>
            </a:pPr>
            <a:r>
              <a:rPr lang="en-US" sz="650" dirty="0">
                <a:solidFill>
                  <a:srgbClr val="1A1A1A"/>
                </a:solidFill>
                <a:latin typeface="Arial" pitchFamily="34" charset="0"/>
                <a:ea typeface="Arial" pitchFamily="34" charset="-122"/>
                <a:cs typeface="Arial" pitchFamily="34" charset="-120"/>
              </a:rPr>
              <a:t> Reconcile either side of the re-point</a:t>
            </a:r>
            <a:endParaRPr lang="en-US" sz="650" dirty="0"/>
          </a:p>
        </p:txBody>
      </p:sp>
      <p:sp>
        <p:nvSpPr>
          <p:cNvPr id="127" name="Shape 125"/>
          <p:cNvSpPr/>
          <p:nvPr/>
        </p:nvSpPr>
        <p:spPr>
          <a:xfrm>
            <a:off x="10529316" y="5134356"/>
            <a:ext cx="155448" cy="155448"/>
          </a:xfrm>
          <a:prstGeom prst="rect">
            <a:avLst/>
          </a:prstGeom>
          <a:solidFill>
            <a:srgbClr val="081F5C"/>
          </a:solidFill>
          <a:ln w="12700">
            <a:solidFill>
              <a:srgbClr val="081F5C"/>
            </a:solidFill>
            <a:prstDash val="solid"/>
          </a:ln>
        </p:spPr>
      </p:sp>
      <p:sp>
        <p:nvSpPr>
          <p:cNvPr id="128" name="Shape 126"/>
          <p:cNvSpPr/>
          <p:nvPr/>
        </p:nvSpPr>
        <p:spPr>
          <a:xfrm>
            <a:off x="10607040" y="5294376"/>
            <a:ext cx="0" cy="54864"/>
          </a:xfrm>
          <a:prstGeom prst="line">
            <a:avLst/>
          </a:prstGeom>
          <a:noFill/>
          <a:ln w="9525">
            <a:solidFill>
              <a:srgbClr val="C8C8C8"/>
            </a:solidFill>
            <a:prstDash val="solid"/>
          </a:ln>
        </p:spPr>
      </p:sp>
      <p:sp>
        <p:nvSpPr>
          <p:cNvPr id="129" name="Text 127"/>
          <p:cNvSpPr/>
          <p:nvPr/>
        </p:nvSpPr>
        <p:spPr>
          <a:xfrm>
            <a:off x="9784080" y="5340096"/>
            <a:ext cx="1645920" cy="347472"/>
          </a:xfrm>
          <a:prstGeom prst="rect">
            <a:avLst/>
          </a:prstGeom>
          <a:noFill/>
          <a:ln/>
        </p:spPr>
        <p:txBody>
          <a:bodyPr wrap="square" lIns="0" tIns="0" rIns="0" bIns="0" rtlCol="0" anchor="t"/>
          <a:lstStyle/>
          <a:p>
            <a:pPr algn="ctr" indent="0" marL="0">
              <a:lnSpc>
                <a:spcPct val="92000"/>
              </a:lnSpc>
              <a:buNone/>
            </a:pPr>
            <a:r>
              <a:rPr lang="en-US" sz="650" b="1" dirty="0">
                <a:solidFill>
                  <a:srgbClr val="081F5C"/>
                </a:solidFill>
                <a:latin typeface="Arial" pitchFamily="34" charset="0"/>
                <a:ea typeface="Arial" pitchFamily="34" charset="-122"/>
                <a:cs typeface="Arial" pitchFamily="34" charset="-120"/>
              </a:rPr>
              <a:t>6F.</a:t>
            </a:r>
            <a:pPr algn="ctr" indent="0" marL="0">
              <a:lnSpc>
                <a:spcPct val="92000"/>
              </a:lnSpc>
              <a:buNone/>
            </a:pPr>
            <a:r>
              <a:rPr lang="en-US" sz="650" b="1" dirty="0">
                <a:solidFill>
                  <a:srgbClr val="1A1A1A"/>
                </a:solidFill>
                <a:latin typeface="Arial" pitchFamily="34" charset="0"/>
                <a:ea typeface="Arial" pitchFamily="34" charset="-122"/>
                <a:cs typeface="Arial" pitchFamily="34" charset="-120"/>
              </a:rPr>
              <a:t> Freeze and track to the sunset date</a:t>
            </a:r>
            <a:endParaRPr lang="en-US" sz="650" dirty="0"/>
          </a:p>
        </p:txBody>
      </p:sp>
      <p:sp>
        <p:nvSpPr>
          <p:cNvPr id="130" name="Shape 128"/>
          <p:cNvSpPr/>
          <p:nvPr/>
        </p:nvSpPr>
        <p:spPr>
          <a:xfrm>
            <a:off x="9738360" y="2194560"/>
            <a:ext cx="0" cy="585216"/>
          </a:xfrm>
          <a:prstGeom prst="line">
            <a:avLst/>
          </a:prstGeom>
          <a:noFill/>
          <a:ln w="12700">
            <a:solidFill>
              <a:srgbClr val="081F5C"/>
            </a:solidFill>
            <a:prstDash val="dash"/>
          </a:ln>
        </p:spPr>
      </p:sp>
      <p:sp>
        <p:nvSpPr>
          <p:cNvPr id="131" name="Shape 129"/>
          <p:cNvSpPr/>
          <p:nvPr/>
        </p:nvSpPr>
        <p:spPr>
          <a:xfrm flipV="1">
            <a:off x="9678924" y="2770632"/>
            <a:ext cx="118872" cy="109728"/>
          </a:xfrm>
          <a:prstGeom prst="triangle">
            <a:avLst/>
          </a:prstGeom>
          <a:solidFill>
            <a:srgbClr val="081F5C"/>
          </a:solidFill>
          <a:ln w="6350">
            <a:solidFill>
              <a:srgbClr val="081F5C"/>
            </a:solidFill>
            <a:prstDash val="solid"/>
          </a:ln>
        </p:spPr>
      </p:sp>
      <p:sp>
        <p:nvSpPr>
          <p:cNvPr id="132" name="Shape 130"/>
          <p:cNvSpPr/>
          <p:nvPr/>
        </p:nvSpPr>
        <p:spPr>
          <a:xfrm>
            <a:off x="9738360" y="3730752"/>
            <a:ext cx="0" cy="585216"/>
          </a:xfrm>
          <a:prstGeom prst="line">
            <a:avLst/>
          </a:prstGeom>
          <a:noFill/>
          <a:ln w="12700">
            <a:solidFill>
              <a:srgbClr val="081F5C"/>
            </a:solidFill>
            <a:prstDash val="dash"/>
          </a:ln>
        </p:spPr>
      </p:sp>
      <p:sp>
        <p:nvSpPr>
          <p:cNvPr id="133" name="Shape 131"/>
          <p:cNvSpPr/>
          <p:nvPr/>
        </p:nvSpPr>
        <p:spPr>
          <a:xfrm flipV="1">
            <a:off x="9678924" y="4306824"/>
            <a:ext cx="118872" cy="109728"/>
          </a:xfrm>
          <a:prstGeom prst="triangle">
            <a:avLst/>
          </a:prstGeom>
          <a:solidFill>
            <a:srgbClr val="081F5C"/>
          </a:solidFill>
          <a:ln w="6350">
            <a:solidFill>
              <a:srgbClr val="081F5C"/>
            </a:solidFill>
            <a:prstDash val="solid"/>
          </a:ln>
        </p:spPr>
      </p:sp>
      <p:sp>
        <p:nvSpPr>
          <p:cNvPr id="134" name="Shape 132"/>
          <p:cNvSpPr/>
          <p:nvPr/>
        </p:nvSpPr>
        <p:spPr>
          <a:xfrm>
            <a:off x="384048" y="5760720"/>
            <a:ext cx="11420856" cy="347472"/>
          </a:xfrm>
          <a:prstGeom prst="rect">
            <a:avLst/>
          </a:prstGeom>
          <a:solidFill>
            <a:srgbClr val="ADDAFB"/>
          </a:solidFill>
          <a:ln w="6350">
            <a:solidFill>
              <a:srgbClr val="ADDAFB"/>
            </a:solidFill>
            <a:prstDash val="solid"/>
          </a:ln>
        </p:spPr>
      </p:sp>
      <p:sp>
        <p:nvSpPr>
          <p:cNvPr id="135" name="Text 133"/>
          <p:cNvSpPr/>
          <p:nvPr/>
        </p:nvSpPr>
        <p:spPr>
          <a:xfrm>
            <a:off x="384048" y="5760720"/>
            <a:ext cx="11420856" cy="347472"/>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Parallel by design.</a:t>
            </a:r>
            <a:pPr indent="0" marL="0">
              <a:lnSpc>
                <a:spcPct val="95000"/>
              </a:lnSpc>
              <a:buNone/>
            </a:pPr>
            <a:r>
              <a:rPr lang="en-US" sz="700" dirty="0">
                <a:solidFill>
                  <a:srgbClr val="1A1A1A"/>
                </a:solidFill>
                <a:latin typeface="Arial" pitchFamily="34" charset="0"/>
                <a:ea typeface="Arial" pitchFamily="34" charset="-122"/>
                <a:cs typeface="Arial" pitchFamily="34" charset="-120"/>
              </a:rPr>
              <a:t>  The four platform paths run at the same time; none waits on another. Capacity, not sequence, sets the wave size.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Shaded tracks</a:t>
            </a:r>
            <a:pPr indent="0" marL="0">
              <a:lnSpc>
                <a:spcPct val="95000"/>
              </a:lnSpc>
              <a:buNone/>
            </a:pPr>
            <a:r>
              <a:rPr lang="en-US" sz="700" dirty="0">
                <a:solidFill>
                  <a:srgbClr val="1A1A1A"/>
                </a:solidFill>
                <a:latin typeface="Arial" pitchFamily="34" charset="0"/>
                <a:ea typeface="Arial" pitchFamily="34" charset="-122"/>
                <a:cs typeface="Arial" pitchFamily="34" charset="-120"/>
              </a:rPr>
              <a:t> are database migrations, needed only where the report reads Oracle custom-schema objects — CogitoSQL reads Epic-managed Clarity and Caboodle and has none.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Dotted link</a:t>
            </a:r>
            <a:pPr indent="0" marL="0">
              <a:lnSpc>
                <a:spcPct val="95000"/>
              </a:lnSpc>
              <a:buNone/>
            </a:pPr>
            <a:r>
              <a:rPr lang="en-US" sz="700" dirty="0">
                <a:solidFill>
                  <a:srgbClr val="1A1A1A"/>
                </a:solidFill>
                <a:latin typeface="Arial" pitchFamily="34" charset="0"/>
                <a:ea typeface="Arial" pitchFamily="34" charset="-122"/>
                <a:cs typeface="Arial" pitchFamily="34" charset="-120"/>
              </a:rPr>
              <a:t> is a gate: a report track cannot clear step E until the database track above it has, so data variances surface before report variances.    </a:t>
            </a:r>
            <a:pPr indent="0" marL="0">
              <a:lnSpc>
                <a:spcPct val="95000"/>
              </a:lnSpc>
              <a:buNone/>
            </a:pPr>
            <a:r>
              <a:rPr lang="en-US" sz="700" b="1" dirty="0">
                <a:solidFill>
                  <a:srgbClr val="081F5C"/>
                </a:solidFill>
                <a:latin typeface="Arial" pitchFamily="34" charset="0"/>
                <a:ea typeface="Arial" pitchFamily="34" charset="-122"/>
                <a:cs typeface="Arial" pitchFamily="34" charset="-120"/>
              </a:rPr>
              <a:t>Step F</a:t>
            </a:r>
            <a:pPr indent="0" marL="0">
              <a:lnSpc>
                <a:spcPct val="95000"/>
              </a:lnSpc>
              <a:buNone/>
            </a:pPr>
            <a:r>
              <a:rPr lang="en-US" sz="700" dirty="0">
                <a:solidFill>
                  <a:srgbClr val="1A1A1A"/>
                </a:solidFill>
                <a:latin typeface="Arial" pitchFamily="34" charset="0"/>
                <a:ea typeface="Arial" pitchFamily="34" charset="-122"/>
                <a:cs typeface="Arial" pitchFamily="34" charset="-120"/>
              </a:rPr>
              <a:t> is the decommission milestone on every path — the point at which the reduction is actually booked.</a:t>
            </a:r>
            <a:endParaRPr lang="en-US" sz="700" dirty="0"/>
          </a:p>
        </p:txBody>
      </p:sp>
      <p:sp>
        <p:nvSpPr>
          <p:cNvPr id="136" name="Shape 134"/>
          <p:cNvSpPr/>
          <p:nvPr/>
        </p:nvSpPr>
        <p:spPr>
          <a:xfrm>
            <a:off x="384048" y="6163056"/>
            <a:ext cx="11420856" cy="329184"/>
          </a:xfrm>
          <a:prstGeom prst="rect">
            <a:avLst/>
          </a:prstGeom>
          <a:solidFill>
            <a:srgbClr val="EAF5FD"/>
          </a:solidFill>
          <a:ln w="9525">
            <a:solidFill>
              <a:srgbClr val="C9E3F7"/>
            </a:solidFill>
            <a:prstDash val="solid"/>
          </a:ln>
        </p:spPr>
      </p:sp>
      <p:sp>
        <p:nvSpPr>
          <p:cNvPr id="137" name="Text 135"/>
          <p:cNvSpPr/>
          <p:nvPr/>
        </p:nvSpPr>
        <p:spPr>
          <a:xfrm>
            <a:off x="384048" y="6163056"/>
            <a:ext cx="11420856" cy="329184"/>
          </a:xfrm>
          <a:prstGeom prst="rect">
            <a:avLst/>
          </a:prstGeom>
          <a:noFill/>
          <a:ln/>
        </p:spPr>
        <p:txBody>
          <a:bodyPr wrap="square" lIns="254" tIns="1270" rIns="1270" bIns="254" rtlCol="0" anchor="ctr"/>
          <a:lstStyle/>
          <a:p>
            <a:pPr indent="0" marL="0">
              <a:lnSpc>
                <a:spcPct val="95000"/>
              </a:lnSpc>
              <a:buNone/>
            </a:pPr>
            <a:r>
              <a:rPr lang="en-US" sz="700" b="1" dirty="0">
                <a:solidFill>
                  <a:srgbClr val="081F5C"/>
                </a:solidFill>
                <a:latin typeface="Arial" pitchFamily="34" charset="0"/>
                <a:ea typeface="Arial" pitchFamily="34" charset="-122"/>
                <a:cs typeface="Arial" pitchFamily="34" charset="-120"/>
              </a:rPr>
              <a:t>HIPAA checkpoint — steps D and E on every path.  </a:t>
            </a:r>
            <a:pPr indent="0" marL="0">
              <a:lnSpc>
                <a:spcPct val="95000"/>
              </a:lnSpc>
              <a:buNone/>
            </a:pPr>
            <a:r>
              <a:rPr lang="en-US" sz="700" dirty="0">
                <a:solidFill>
                  <a:srgbClr val="1A1A1A"/>
                </a:solidFill>
                <a:latin typeface="Arial" pitchFamily="34" charset="0"/>
                <a:ea typeface="Arial" pitchFamily="34" charset="-122"/>
                <a:cs typeface="Arial" pitchFamily="34" charset="-120"/>
              </a:rPr>
              <a:t>PHI columns are masked and row-level access enforced in SQL Server and Unity Catalog before any report is pointed at them. Re-test with a non-privileged account, never an admin. Do not carry BOBJ publication recipient lists into Power BI subscriptions or UC groups without re-validating each recipient. Under the retain exception, a re-pointed universe must have its restrictions re-tested — a connection change silently breaks row-level security.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217152" y="164592"/>
            <a:ext cx="2587752" cy="6327648"/>
          </a:xfrm>
          <a:prstGeom prst="roundRect">
            <a:avLst>
              <a:gd name="adj" fmla="val 2120"/>
            </a:avLst>
          </a:prstGeom>
          <a:solidFill>
            <a:srgbClr val="081F5C"/>
          </a:solidFill>
          <a:ln w="12700">
            <a:solidFill>
              <a:srgbClr val="081F5C"/>
            </a:solidFill>
            <a:prstDash val="solid"/>
          </a:ln>
        </p:spPr>
      </p:sp>
      <p:sp>
        <p:nvSpPr>
          <p:cNvPr id="3" name="Text 1"/>
          <p:cNvSpPr/>
          <p:nvPr/>
        </p:nvSpPr>
        <p:spPr>
          <a:xfrm>
            <a:off x="384048" y="164592"/>
            <a:ext cx="8686800" cy="329184"/>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Accelerating the Migration  —  Agents by Phase</a:t>
            </a:r>
            <a:endParaRPr lang="en-US" sz="2100" dirty="0"/>
          </a:p>
        </p:txBody>
      </p:sp>
      <p:sp>
        <p:nvSpPr>
          <p:cNvPr id="4" name="Text 2"/>
          <p:cNvSpPr/>
          <p:nvPr/>
        </p:nvSpPr>
        <p:spPr>
          <a:xfrm>
            <a:off x="384048" y="512064"/>
            <a:ext cx="8686800" cy="274320"/>
          </a:xfrm>
          <a:prstGeom prst="rect">
            <a:avLst/>
          </a:prstGeom>
          <a:noFill/>
          <a:ln/>
        </p:spPr>
        <p:txBody>
          <a:bodyPr wrap="square" lIns="0" tIns="0" rIns="0" bIns="0" rtlCol="0" anchor="ctr"/>
          <a:lstStyle/>
          <a:p>
            <a:pPr indent="0" marL="0">
              <a:lnSpc>
                <a:spcPct val="95000"/>
              </a:lnSpc>
              <a:buNone/>
            </a:pPr>
            <a:r>
              <a:rPr lang="en-US" sz="900" dirty="0">
                <a:solidFill>
                  <a:srgbClr val="1A1A1A"/>
                </a:solidFill>
                <a:latin typeface="Arial" pitchFamily="34" charset="0"/>
                <a:ea typeface="Arial" pitchFamily="34" charset="-122"/>
                <a:cs typeface="Arial" pitchFamily="34" charset="-120"/>
              </a:rPr>
              <a:t>Twelve Data Assist accelerators cover Assess, Design, Build and Validate on every disposition path. Secure and Cut over are out of scope in this view and stay manual. ★ marks a new accelerator.</a:t>
            </a:r>
            <a:endParaRPr lang="en-US" sz="900" dirty="0"/>
          </a:p>
        </p:txBody>
      </p:sp>
      <p:sp>
        <p:nvSpPr>
          <p:cNvPr id="5" name="Text 3"/>
          <p:cNvSpPr/>
          <p:nvPr/>
        </p:nvSpPr>
        <p:spPr>
          <a:xfrm>
            <a:off x="384048" y="914400"/>
            <a:ext cx="1399032" cy="237744"/>
          </a:xfrm>
          <a:prstGeom prst="rect">
            <a:avLst/>
          </a:prstGeom>
          <a:noFill/>
          <a:ln/>
        </p:spPr>
        <p:txBody>
          <a:bodyPr wrap="square" lIns="0" tIns="0" rIns="0" bIns="0" rtlCol="0" anchor="ctr"/>
          <a:lstStyle/>
          <a:p>
            <a:pPr algn="ctr" indent="0" marL="0">
              <a:buNone/>
            </a:pPr>
            <a:r>
              <a:rPr lang="en-US" sz="1200" b="1" dirty="0">
                <a:solidFill>
                  <a:srgbClr val="081F5C"/>
                </a:solidFill>
                <a:latin typeface="Arial" pitchFamily="34" charset="0"/>
                <a:ea typeface="Arial" pitchFamily="34" charset="-122"/>
                <a:cs typeface="Arial" pitchFamily="34" charset="-120"/>
              </a:rPr>
              <a:t>Report Rationalization</a:t>
            </a:r>
            <a:endParaRPr lang="en-US" sz="1200" dirty="0"/>
          </a:p>
        </p:txBody>
      </p:sp>
      <p:sp>
        <p:nvSpPr>
          <p:cNvPr id="6" name="Shape 4"/>
          <p:cNvSpPr/>
          <p:nvPr/>
        </p:nvSpPr>
        <p:spPr>
          <a:xfrm>
            <a:off x="384048" y="1188720"/>
            <a:ext cx="1399032" cy="32004"/>
          </a:xfrm>
          <a:prstGeom prst="rect">
            <a:avLst/>
          </a:prstGeom>
          <a:solidFill>
            <a:srgbClr val="081F5C"/>
          </a:solidFill>
          <a:ln w="6350">
            <a:solidFill>
              <a:srgbClr val="081F5C"/>
            </a:solidFill>
            <a:prstDash val="solid"/>
          </a:ln>
        </p:spPr>
      </p:sp>
      <p:sp>
        <p:nvSpPr>
          <p:cNvPr id="7" name="Text 5"/>
          <p:cNvSpPr/>
          <p:nvPr/>
        </p:nvSpPr>
        <p:spPr>
          <a:xfrm>
            <a:off x="1856232" y="914400"/>
            <a:ext cx="7214616" cy="237744"/>
          </a:xfrm>
          <a:prstGeom prst="rect">
            <a:avLst/>
          </a:prstGeom>
          <a:noFill/>
          <a:ln/>
        </p:spPr>
        <p:txBody>
          <a:bodyPr wrap="square" lIns="0" tIns="0" rIns="0" bIns="0" rtlCol="0" anchor="ctr"/>
          <a:lstStyle/>
          <a:p>
            <a:pPr algn="ctr" indent="0" marL="0">
              <a:buNone/>
            </a:pPr>
            <a:r>
              <a:rPr lang="en-US" sz="1200" b="1" dirty="0">
                <a:solidFill>
                  <a:srgbClr val="081F5C"/>
                </a:solidFill>
                <a:latin typeface="Arial" pitchFamily="34" charset="0"/>
                <a:ea typeface="Arial" pitchFamily="34" charset="-122"/>
                <a:cs typeface="Arial" pitchFamily="34" charset="-120"/>
              </a:rPr>
              <a:t>Migration Phase</a:t>
            </a:r>
            <a:endParaRPr lang="en-US" sz="1200" dirty="0"/>
          </a:p>
        </p:txBody>
      </p:sp>
      <p:sp>
        <p:nvSpPr>
          <p:cNvPr id="8" name="Shape 6"/>
          <p:cNvSpPr/>
          <p:nvPr/>
        </p:nvSpPr>
        <p:spPr>
          <a:xfrm>
            <a:off x="1856232" y="1188720"/>
            <a:ext cx="7214616" cy="32004"/>
          </a:xfrm>
          <a:prstGeom prst="rect">
            <a:avLst/>
          </a:prstGeom>
          <a:solidFill>
            <a:srgbClr val="081F5C"/>
          </a:solidFill>
          <a:ln w="6350">
            <a:solidFill>
              <a:srgbClr val="081F5C"/>
            </a:solidFill>
            <a:prstDash val="solid"/>
          </a:ln>
        </p:spPr>
      </p:sp>
      <p:sp>
        <p:nvSpPr>
          <p:cNvPr id="9" name="Shape 7"/>
          <p:cNvSpPr/>
          <p:nvPr/>
        </p:nvSpPr>
        <p:spPr>
          <a:xfrm>
            <a:off x="457200" y="1335024"/>
            <a:ext cx="1296619" cy="310896"/>
          </a:xfrm>
          <a:prstGeom prst="roundRect">
            <a:avLst>
              <a:gd name="adj" fmla="val 73529"/>
            </a:avLst>
          </a:prstGeom>
          <a:solidFill>
            <a:srgbClr val="ADDAFB"/>
          </a:solidFill>
          <a:ln w="12700">
            <a:solidFill>
              <a:srgbClr val="3E6DA8"/>
            </a:solidFill>
            <a:prstDash val="solid"/>
          </a:ln>
        </p:spPr>
      </p:sp>
      <p:sp>
        <p:nvSpPr>
          <p:cNvPr id="10" name="Text 8"/>
          <p:cNvSpPr/>
          <p:nvPr/>
        </p:nvSpPr>
        <p:spPr>
          <a:xfrm>
            <a:off x="457200" y="1335024"/>
            <a:ext cx="1296619"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Rationalization Agents</a:t>
            </a:r>
            <a:endParaRPr lang="en-US" sz="800" dirty="0"/>
          </a:p>
        </p:txBody>
      </p:sp>
      <p:sp>
        <p:nvSpPr>
          <p:cNvPr id="11" name="Shape 9"/>
          <p:cNvSpPr/>
          <p:nvPr/>
        </p:nvSpPr>
        <p:spPr>
          <a:xfrm>
            <a:off x="1105510" y="1645920"/>
            <a:ext cx="0" cy="402336"/>
          </a:xfrm>
          <a:prstGeom prst="line">
            <a:avLst/>
          </a:prstGeom>
          <a:noFill/>
          <a:ln w="12700">
            <a:solidFill>
              <a:srgbClr val="3E6DA8"/>
            </a:solidFill>
            <a:prstDash val="dash"/>
          </a:ln>
        </p:spPr>
      </p:sp>
      <p:sp>
        <p:nvSpPr>
          <p:cNvPr id="12" name="Shape 10"/>
          <p:cNvSpPr/>
          <p:nvPr/>
        </p:nvSpPr>
        <p:spPr>
          <a:xfrm>
            <a:off x="1105510" y="2048256"/>
            <a:ext cx="0" cy="0"/>
          </a:xfrm>
          <a:prstGeom prst="line">
            <a:avLst/>
          </a:prstGeom>
          <a:noFill/>
          <a:ln w="12700">
            <a:solidFill>
              <a:srgbClr val="3E6DA8"/>
            </a:solidFill>
            <a:prstDash val="dash"/>
          </a:ln>
        </p:spPr>
      </p:sp>
      <p:sp>
        <p:nvSpPr>
          <p:cNvPr id="13" name="Shape 11"/>
          <p:cNvSpPr/>
          <p:nvPr/>
        </p:nvSpPr>
        <p:spPr>
          <a:xfrm>
            <a:off x="1105510" y="2048256"/>
            <a:ext cx="0" cy="347472"/>
          </a:xfrm>
          <a:prstGeom prst="line">
            <a:avLst/>
          </a:prstGeom>
          <a:noFill/>
          <a:ln w="12700">
            <a:solidFill>
              <a:srgbClr val="3E6DA8"/>
            </a:solidFill>
            <a:prstDash val="dash"/>
          </a:ln>
        </p:spPr>
      </p:sp>
      <p:sp>
        <p:nvSpPr>
          <p:cNvPr id="14" name="Shape 12"/>
          <p:cNvSpPr/>
          <p:nvPr/>
        </p:nvSpPr>
        <p:spPr>
          <a:xfrm>
            <a:off x="1909267" y="1335024"/>
            <a:ext cx="4200754" cy="310896"/>
          </a:xfrm>
          <a:prstGeom prst="roundRect">
            <a:avLst>
              <a:gd name="adj" fmla="val 73529"/>
            </a:avLst>
          </a:prstGeom>
          <a:solidFill>
            <a:srgbClr val="ADDAFB"/>
          </a:solidFill>
          <a:ln w="12700">
            <a:solidFill>
              <a:srgbClr val="3E6DA8"/>
            </a:solidFill>
            <a:prstDash val="solid"/>
          </a:ln>
        </p:spPr>
      </p:sp>
      <p:sp>
        <p:nvSpPr>
          <p:cNvPr id="15" name="Text 13"/>
          <p:cNvSpPr/>
          <p:nvPr/>
        </p:nvSpPr>
        <p:spPr>
          <a:xfrm>
            <a:off x="1909267" y="1335024"/>
            <a:ext cx="4200754"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Migration Agents</a:t>
            </a:r>
            <a:endParaRPr lang="en-US" sz="800" dirty="0"/>
          </a:p>
        </p:txBody>
      </p:sp>
      <p:sp>
        <p:nvSpPr>
          <p:cNvPr id="16" name="Shape 14"/>
          <p:cNvSpPr/>
          <p:nvPr/>
        </p:nvSpPr>
        <p:spPr>
          <a:xfrm>
            <a:off x="4009644" y="1645920"/>
            <a:ext cx="0" cy="402336"/>
          </a:xfrm>
          <a:prstGeom prst="line">
            <a:avLst/>
          </a:prstGeom>
          <a:noFill/>
          <a:ln w="12700">
            <a:solidFill>
              <a:srgbClr val="3E6DA8"/>
            </a:solidFill>
            <a:prstDash val="dash"/>
          </a:ln>
        </p:spPr>
      </p:sp>
      <p:sp>
        <p:nvSpPr>
          <p:cNvPr id="17" name="Shape 15"/>
          <p:cNvSpPr/>
          <p:nvPr/>
        </p:nvSpPr>
        <p:spPr>
          <a:xfrm>
            <a:off x="2557577" y="2048256"/>
            <a:ext cx="2904134" cy="0"/>
          </a:xfrm>
          <a:prstGeom prst="line">
            <a:avLst/>
          </a:prstGeom>
          <a:noFill/>
          <a:ln w="12700">
            <a:solidFill>
              <a:srgbClr val="3E6DA8"/>
            </a:solidFill>
            <a:prstDash val="dash"/>
          </a:ln>
        </p:spPr>
      </p:sp>
      <p:sp>
        <p:nvSpPr>
          <p:cNvPr id="18" name="Shape 16"/>
          <p:cNvSpPr/>
          <p:nvPr/>
        </p:nvSpPr>
        <p:spPr>
          <a:xfrm>
            <a:off x="2557577" y="2048256"/>
            <a:ext cx="0" cy="347472"/>
          </a:xfrm>
          <a:prstGeom prst="line">
            <a:avLst/>
          </a:prstGeom>
          <a:noFill/>
          <a:ln w="12700">
            <a:solidFill>
              <a:srgbClr val="3E6DA8"/>
            </a:solidFill>
            <a:prstDash val="dash"/>
          </a:ln>
        </p:spPr>
      </p:sp>
      <p:sp>
        <p:nvSpPr>
          <p:cNvPr id="19" name="Shape 17"/>
          <p:cNvSpPr/>
          <p:nvPr/>
        </p:nvSpPr>
        <p:spPr>
          <a:xfrm>
            <a:off x="4009644" y="2048256"/>
            <a:ext cx="0" cy="347472"/>
          </a:xfrm>
          <a:prstGeom prst="line">
            <a:avLst/>
          </a:prstGeom>
          <a:noFill/>
          <a:ln w="12700">
            <a:solidFill>
              <a:srgbClr val="3E6DA8"/>
            </a:solidFill>
            <a:prstDash val="dash"/>
          </a:ln>
        </p:spPr>
      </p:sp>
      <p:sp>
        <p:nvSpPr>
          <p:cNvPr id="20" name="Shape 18"/>
          <p:cNvSpPr/>
          <p:nvPr/>
        </p:nvSpPr>
        <p:spPr>
          <a:xfrm>
            <a:off x="5461711" y="2048256"/>
            <a:ext cx="0" cy="347472"/>
          </a:xfrm>
          <a:prstGeom prst="line">
            <a:avLst/>
          </a:prstGeom>
          <a:noFill/>
          <a:ln w="12700">
            <a:solidFill>
              <a:srgbClr val="3E6DA8"/>
            </a:solidFill>
            <a:prstDash val="dash"/>
          </a:ln>
        </p:spPr>
      </p:sp>
      <p:sp>
        <p:nvSpPr>
          <p:cNvPr id="21" name="Shape 19"/>
          <p:cNvSpPr/>
          <p:nvPr/>
        </p:nvSpPr>
        <p:spPr>
          <a:xfrm>
            <a:off x="6451092" y="1335024"/>
            <a:ext cx="2563063" cy="310896"/>
          </a:xfrm>
          <a:prstGeom prst="roundRect">
            <a:avLst>
              <a:gd name="adj" fmla="val 73529"/>
            </a:avLst>
          </a:prstGeom>
          <a:solidFill>
            <a:srgbClr val="ADDAFB"/>
          </a:solidFill>
          <a:ln w="12700">
            <a:solidFill>
              <a:srgbClr val="3E6DA8"/>
            </a:solidFill>
            <a:prstDash val="solid"/>
          </a:ln>
        </p:spPr>
      </p:sp>
      <p:sp>
        <p:nvSpPr>
          <p:cNvPr id="22" name="Text 20"/>
          <p:cNvSpPr/>
          <p:nvPr/>
        </p:nvSpPr>
        <p:spPr>
          <a:xfrm>
            <a:off x="6451092" y="1335024"/>
            <a:ext cx="2563063" cy="310896"/>
          </a:xfrm>
          <a:prstGeom prst="rect">
            <a:avLst/>
          </a:prstGeom>
          <a:noFill/>
          <a:ln/>
        </p:spPr>
        <p:txBody>
          <a:bodyPr wrap="square" lIns="0" tIns="0" rIns="0" bIns="0" rtlCol="0" anchor="ctr"/>
          <a:lstStyle/>
          <a:p>
            <a:pPr algn="ctr" indent="0" marL="0">
              <a:buNone/>
            </a:pPr>
            <a:r>
              <a:rPr lang="en-US" sz="800" b="1" dirty="0">
                <a:solidFill>
                  <a:srgbClr val="081F5C"/>
                </a:solidFill>
                <a:latin typeface="Arial" pitchFamily="34" charset="0"/>
                <a:ea typeface="Arial" pitchFamily="34" charset="-122"/>
                <a:cs typeface="Arial" pitchFamily="34" charset="-120"/>
              </a:rPr>
              <a:t>Validation &amp; Tuning Agents</a:t>
            </a:r>
            <a:endParaRPr lang="en-US" sz="800" dirty="0"/>
          </a:p>
        </p:txBody>
      </p:sp>
      <p:sp>
        <p:nvSpPr>
          <p:cNvPr id="23" name="Shape 21"/>
          <p:cNvSpPr/>
          <p:nvPr/>
        </p:nvSpPr>
        <p:spPr>
          <a:xfrm>
            <a:off x="7732624" y="1645920"/>
            <a:ext cx="0" cy="402336"/>
          </a:xfrm>
          <a:prstGeom prst="line">
            <a:avLst/>
          </a:prstGeom>
          <a:noFill/>
          <a:ln w="12700">
            <a:solidFill>
              <a:srgbClr val="3E6DA8"/>
            </a:solidFill>
            <a:prstDash val="dash"/>
          </a:ln>
        </p:spPr>
      </p:sp>
      <p:sp>
        <p:nvSpPr>
          <p:cNvPr id="24" name="Shape 22"/>
          <p:cNvSpPr/>
          <p:nvPr/>
        </p:nvSpPr>
        <p:spPr>
          <a:xfrm>
            <a:off x="6913778" y="2048256"/>
            <a:ext cx="1452067" cy="0"/>
          </a:xfrm>
          <a:prstGeom prst="line">
            <a:avLst/>
          </a:prstGeom>
          <a:noFill/>
          <a:ln w="12700">
            <a:solidFill>
              <a:srgbClr val="3E6DA8"/>
            </a:solidFill>
            <a:prstDash val="dash"/>
          </a:ln>
        </p:spPr>
      </p:sp>
      <p:sp>
        <p:nvSpPr>
          <p:cNvPr id="25" name="Shape 23"/>
          <p:cNvSpPr/>
          <p:nvPr/>
        </p:nvSpPr>
        <p:spPr>
          <a:xfrm>
            <a:off x="6913778" y="2048256"/>
            <a:ext cx="0" cy="347472"/>
          </a:xfrm>
          <a:prstGeom prst="line">
            <a:avLst/>
          </a:prstGeom>
          <a:noFill/>
          <a:ln w="12700">
            <a:solidFill>
              <a:srgbClr val="3E6DA8"/>
            </a:solidFill>
            <a:prstDash val="dash"/>
          </a:ln>
        </p:spPr>
      </p:sp>
      <p:sp>
        <p:nvSpPr>
          <p:cNvPr id="26" name="Shape 24"/>
          <p:cNvSpPr/>
          <p:nvPr/>
        </p:nvSpPr>
        <p:spPr>
          <a:xfrm>
            <a:off x="8365846" y="2048256"/>
            <a:ext cx="0" cy="347472"/>
          </a:xfrm>
          <a:prstGeom prst="line">
            <a:avLst/>
          </a:prstGeom>
          <a:noFill/>
          <a:ln w="12700">
            <a:solidFill>
              <a:srgbClr val="3E6DA8"/>
            </a:solidFill>
            <a:prstDash val="dash"/>
          </a:ln>
        </p:spPr>
      </p:sp>
      <p:sp>
        <p:nvSpPr>
          <p:cNvPr id="27" name="Shape 25"/>
          <p:cNvSpPr/>
          <p:nvPr/>
        </p:nvSpPr>
        <p:spPr>
          <a:xfrm>
            <a:off x="457200" y="2395728"/>
            <a:ext cx="1296619" cy="749808"/>
          </a:xfrm>
          <a:prstGeom prst="roundRect">
            <a:avLst>
              <a:gd name="adj" fmla="val 14634"/>
            </a:avLst>
          </a:prstGeom>
          <a:solidFill>
            <a:srgbClr val="FFFFFF"/>
          </a:solidFill>
          <a:ln w="15875">
            <a:solidFill>
              <a:srgbClr val="3E6DA8"/>
            </a:solidFill>
            <a:prstDash val="solid"/>
          </a:ln>
        </p:spPr>
      </p:sp>
      <p:sp>
        <p:nvSpPr>
          <p:cNvPr id="28" name="Shape 26"/>
          <p:cNvSpPr/>
          <p:nvPr/>
        </p:nvSpPr>
        <p:spPr>
          <a:xfrm>
            <a:off x="374904" y="2331720"/>
            <a:ext cx="182880" cy="182880"/>
          </a:xfrm>
          <a:prstGeom prst="ellipse">
            <a:avLst/>
          </a:prstGeom>
          <a:solidFill>
            <a:srgbClr val="081F5C"/>
          </a:solidFill>
          <a:ln w="6350">
            <a:solidFill>
              <a:srgbClr val="081F5C"/>
            </a:solidFill>
            <a:prstDash val="solid"/>
          </a:ln>
        </p:spPr>
      </p:sp>
      <p:sp>
        <p:nvSpPr>
          <p:cNvPr id="29" name="Text 27"/>
          <p:cNvSpPr/>
          <p:nvPr/>
        </p:nvSpPr>
        <p:spPr>
          <a:xfrm>
            <a:off x="374904"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1</a:t>
            </a:r>
            <a:endParaRPr lang="en-US" sz="700" dirty="0"/>
          </a:p>
        </p:txBody>
      </p:sp>
      <p:sp>
        <p:nvSpPr>
          <p:cNvPr id="30" name="Text 28"/>
          <p:cNvSpPr/>
          <p:nvPr/>
        </p:nvSpPr>
        <p:spPr>
          <a:xfrm>
            <a:off x="457200"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Report Rationalization &amp; Disposition</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DRECT · Rationalizer · ★ Fit Scorer</a:t>
            </a:r>
            <a:endParaRPr lang="en-US" sz="740" dirty="0"/>
          </a:p>
        </p:txBody>
      </p:sp>
      <p:sp>
        <p:nvSpPr>
          <p:cNvPr id="31" name="Shape 29"/>
          <p:cNvSpPr/>
          <p:nvPr/>
        </p:nvSpPr>
        <p:spPr>
          <a:xfrm>
            <a:off x="1105510" y="3145536"/>
            <a:ext cx="0" cy="164592"/>
          </a:xfrm>
          <a:prstGeom prst="line">
            <a:avLst/>
          </a:prstGeom>
          <a:noFill/>
          <a:ln w="12700">
            <a:solidFill>
              <a:srgbClr val="3E6DA8"/>
            </a:solidFill>
            <a:prstDash val="dash"/>
          </a:ln>
        </p:spPr>
      </p:sp>
      <p:sp>
        <p:nvSpPr>
          <p:cNvPr id="32" name="Shape 30"/>
          <p:cNvSpPr/>
          <p:nvPr/>
        </p:nvSpPr>
        <p:spPr>
          <a:xfrm>
            <a:off x="1909267" y="2395728"/>
            <a:ext cx="1296619" cy="749808"/>
          </a:xfrm>
          <a:prstGeom prst="roundRect">
            <a:avLst>
              <a:gd name="adj" fmla="val 14634"/>
            </a:avLst>
          </a:prstGeom>
          <a:solidFill>
            <a:srgbClr val="FFFFFF"/>
          </a:solidFill>
          <a:ln w="15875">
            <a:solidFill>
              <a:srgbClr val="3E6DA8"/>
            </a:solidFill>
            <a:prstDash val="solid"/>
          </a:ln>
        </p:spPr>
      </p:sp>
      <p:sp>
        <p:nvSpPr>
          <p:cNvPr id="33" name="Shape 31"/>
          <p:cNvSpPr/>
          <p:nvPr/>
        </p:nvSpPr>
        <p:spPr>
          <a:xfrm>
            <a:off x="1826971" y="2331720"/>
            <a:ext cx="182880" cy="182880"/>
          </a:xfrm>
          <a:prstGeom prst="ellipse">
            <a:avLst/>
          </a:prstGeom>
          <a:solidFill>
            <a:srgbClr val="081F5C"/>
          </a:solidFill>
          <a:ln w="6350">
            <a:solidFill>
              <a:srgbClr val="081F5C"/>
            </a:solidFill>
            <a:prstDash val="solid"/>
          </a:ln>
        </p:spPr>
      </p:sp>
      <p:sp>
        <p:nvSpPr>
          <p:cNvPr id="34" name="Text 32"/>
          <p:cNvSpPr/>
          <p:nvPr/>
        </p:nvSpPr>
        <p:spPr>
          <a:xfrm>
            <a:off x="1826971"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2</a:t>
            </a:r>
            <a:endParaRPr lang="en-US" sz="700" dirty="0"/>
          </a:p>
        </p:txBody>
      </p:sp>
      <p:sp>
        <p:nvSpPr>
          <p:cNvPr id="35" name="Text 33"/>
          <p:cNvSpPr/>
          <p:nvPr/>
        </p:nvSpPr>
        <p:spPr>
          <a:xfrm>
            <a:off x="1909267"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 Schema Mapper</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classify · map · size the effort</a:t>
            </a:r>
            <a:endParaRPr lang="en-US" sz="740" dirty="0"/>
          </a:p>
        </p:txBody>
      </p:sp>
      <p:sp>
        <p:nvSpPr>
          <p:cNvPr id="36" name="Shape 34"/>
          <p:cNvSpPr/>
          <p:nvPr/>
        </p:nvSpPr>
        <p:spPr>
          <a:xfrm>
            <a:off x="2557577" y="3145536"/>
            <a:ext cx="0" cy="164592"/>
          </a:xfrm>
          <a:prstGeom prst="line">
            <a:avLst/>
          </a:prstGeom>
          <a:noFill/>
          <a:ln w="12700">
            <a:solidFill>
              <a:srgbClr val="3E6DA8"/>
            </a:solidFill>
            <a:prstDash val="dash"/>
          </a:ln>
        </p:spPr>
      </p:sp>
      <p:sp>
        <p:nvSpPr>
          <p:cNvPr id="37" name="Shape 35"/>
          <p:cNvSpPr/>
          <p:nvPr/>
        </p:nvSpPr>
        <p:spPr>
          <a:xfrm>
            <a:off x="3361334" y="2395728"/>
            <a:ext cx="1296619" cy="749808"/>
          </a:xfrm>
          <a:prstGeom prst="roundRect">
            <a:avLst>
              <a:gd name="adj" fmla="val 14634"/>
            </a:avLst>
          </a:prstGeom>
          <a:solidFill>
            <a:srgbClr val="FFFFFF"/>
          </a:solidFill>
          <a:ln w="15875">
            <a:solidFill>
              <a:srgbClr val="3E6DA8"/>
            </a:solidFill>
            <a:prstDash val="solid"/>
          </a:ln>
        </p:spPr>
      </p:sp>
      <p:sp>
        <p:nvSpPr>
          <p:cNvPr id="38" name="Shape 36"/>
          <p:cNvSpPr/>
          <p:nvPr/>
        </p:nvSpPr>
        <p:spPr>
          <a:xfrm>
            <a:off x="3279038" y="2331720"/>
            <a:ext cx="182880" cy="182880"/>
          </a:xfrm>
          <a:prstGeom prst="ellipse">
            <a:avLst/>
          </a:prstGeom>
          <a:solidFill>
            <a:srgbClr val="081F5C"/>
          </a:solidFill>
          <a:ln w="6350">
            <a:solidFill>
              <a:srgbClr val="081F5C"/>
            </a:solidFill>
            <a:prstDash val="solid"/>
          </a:ln>
        </p:spPr>
      </p:sp>
      <p:sp>
        <p:nvSpPr>
          <p:cNvPr id="39" name="Text 37"/>
          <p:cNvSpPr/>
          <p:nvPr/>
        </p:nvSpPr>
        <p:spPr>
          <a:xfrm>
            <a:off x="3279038"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a:t>
            </a:r>
            <a:endParaRPr lang="en-US" sz="700" dirty="0"/>
          </a:p>
        </p:txBody>
      </p:sp>
      <p:sp>
        <p:nvSpPr>
          <p:cNvPr id="40" name="Text 38"/>
          <p:cNvSpPr/>
          <p:nvPr/>
        </p:nvSpPr>
        <p:spPr>
          <a:xfrm>
            <a:off x="3361334"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DDL &amp; Object Converter</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Code Converter · Data Migration Agent</a:t>
            </a:r>
            <a:endParaRPr lang="en-US" sz="740" dirty="0"/>
          </a:p>
        </p:txBody>
      </p:sp>
      <p:sp>
        <p:nvSpPr>
          <p:cNvPr id="41" name="Shape 39"/>
          <p:cNvSpPr/>
          <p:nvPr/>
        </p:nvSpPr>
        <p:spPr>
          <a:xfrm>
            <a:off x="4009644" y="3145536"/>
            <a:ext cx="0" cy="164592"/>
          </a:xfrm>
          <a:prstGeom prst="line">
            <a:avLst/>
          </a:prstGeom>
          <a:noFill/>
          <a:ln w="12700">
            <a:solidFill>
              <a:srgbClr val="3E6DA8"/>
            </a:solidFill>
            <a:prstDash val="dash"/>
          </a:ln>
        </p:spPr>
      </p:sp>
      <p:sp>
        <p:nvSpPr>
          <p:cNvPr id="42" name="Shape 40"/>
          <p:cNvSpPr/>
          <p:nvPr/>
        </p:nvSpPr>
        <p:spPr>
          <a:xfrm>
            <a:off x="4813402" y="2395728"/>
            <a:ext cx="1296619" cy="749808"/>
          </a:xfrm>
          <a:prstGeom prst="roundRect">
            <a:avLst>
              <a:gd name="adj" fmla="val 14634"/>
            </a:avLst>
          </a:prstGeom>
          <a:solidFill>
            <a:srgbClr val="FFFFFF"/>
          </a:solidFill>
          <a:ln w="15875">
            <a:solidFill>
              <a:srgbClr val="3E6DA8"/>
            </a:solidFill>
            <a:prstDash val="solid"/>
          </a:ln>
        </p:spPr>
      </p:sp>
      <p:sp>
        <p:nvSpPr>
          <p:cNvPr id="43" name="Shape 41"/>
          <p:cNvSpPr/>
          <p:nvPr/>
        </p:nvSpPr>
        <p:spPr>
          <a:xfrm>
            <a:off x="4731106" y="2331720"/>
            <a:ext cx="182880" cy="182880"/>
          </a:xfrm>
          <a:prstGeom prst="ellipse">
            <a:avLst/>
          </a:prstGeom>
          <a:solidFill>
            <a:srgbClr val="081F5C"/>
          </a:solidFill>
          <a:ln w="6350">
            <a:solidFill>
              <a:srgbClr val="081F5C"/>
            </a:solidFill>
            <a:prstDash val="solid"/>
          </a:ln>
        </p:spPr>
      </p:sp>
      <p:sp>
        <p:nvSpPr>
          <p:cNvPr id="44" name="Text 42"/>
          <p:cNvSpPr/>
          <p:nvPr/>
        </p:nvSpPr>
        <p:spPr>
          <a:xfrm>
            <a:off x="4731106"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4</a:t>
            </a:r>
            <a:endParaRPr lang="en-US" sz="700" dirty="0"/>
          </a:p>
        </p:txBody>
      </p:sp>
      <p:sp>
        <p:nvSpPr>
          <p:cNvPr id="45" name="Text 43"/>
          <p:cNvSpPr/>
          <p:nvPr/>
        </p:nvSpPr>
        <p:spPr>
          <a:xfrm>
            <a:off x="4813402"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Report Migration Agents</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Automator · Transpiler · ★ AI/BI Gen</a:t>
            </a:r>
            <a:endParaRPr lang="en-US" sz="740" dirty="0"/>
          </a:p>
        </p:txBody>
      </p:sp>
      <p:sp>
        <p:nvSpPr>
          <p:cNvPr id="46" name="Shape 44"/>
          <p:cNvSpPr/>
          <p:nvPr/>
        </p:nvSpPr>
        <p:spPr>
          <a:xfrm>
            <a:off x="5461711" y="3145536"/>
            <a:ext cx="0" cy="164592"/>
          </a:xfrm>
          <a:prstGeom prst="line">
            <a:avLst/>
          </a:prstGeom>
          <a:noFill/>
          <a:ln w="12700">
            <a:solidFill>
              <a:srgbClr val="3E6DA8"/>
            </a:solidFill>
            <a:prstDash val="dash"/>
          </a:ln>
        </p:spPr>
      </p:sp>
      <p:sp>
        <p:nvSpPr>
          <p:cNvPr id="47" name="Shape 45"/>
          <p:cNvSpPr/>
          <p:nvPr/>
        </p:nvSpPr>
        <p:spPr>
          <a:xfrm>
            <a:off x="6265469" y="2395728"/>
            <a:ext cx="1296619" cy="749808"/>
          </a:xfrm>
          <a:prstGeom prst="roundRect">
            <a:avLst>
              <a:gd name="adj" fmla="val 14634"/>
            </a:avLst>
          </a:prstGeom>
          <a:solidFill>
            <a:srgbClr val="FFFFFF"/>
          </a:solidFill>
          <a:ln w="15875">
            <a:solidFill>
              <a:srgbClr val="3E6DA8"/>
            </a:solidFill>
            <a:prstDash val="solid"/>
          </a:ln>
        </p:spPr>
      </p:sp>
      <p:sp>
        <p:nvSpPr>
          <p:cNvPr id="48" name="Shape 46"/>
          <p:cNvSpPr/>
          <p:nvPr/>
        </p:nvSpPr>
        <p:spPr>
          <a:xfrm>
            <a:off x="6183173" y="2331720"/>
            <a:ext cx="182880" cy="182880"/>
          </a:xfrm>
          <a:prstGeom prst="ellipse">
            <a:avLst/>
          </a:prstGeom>
          <a:solidFill>
            <a:srgbClr val="081F5C"/>
          </a:solidFill>
          <a:ln w="6350">
            <a:solidFill>
              <a:srgbClr val="081F5C"/>
            </a:solidFill>
            <a:prstDash val="solid"/>
          </a:ln>
        </p:spPr>
      </p:sp>
      <p:sp>
        <p:nvSpPr>
          <p:cNvPr id="49" name="Text 47"/>
          <p:cNvSpPr/>
          <p:nvPr/>
        </p:nvSpPr>
        <p:spPr>
          <a:xfrm>
            <a:off x="6183173"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5</a:t>
            </a:r>
            <a:endParaRPr lang="en-US" sz="700" dirty="0"/>
          </a:p>
        </p:txBody>
      </p:sp>
      <p:sp>
        <p:nvSpPr>
          <p:cNvPr id="50" name="Text 48"/>
          <p:cNvSpPr/>
          <p:nvPr/>
        </p:nvSpPr>
        <p:spPr>
          <a:xfrm>
            <a:off x="6265469"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Testing Agents: Data &amp; Reports</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CATE · Automated Report Tester</a:t>
            </a:r>
            <a:endParaRPr lang="en-US" sz="740" dirty="0"/>
          </a:p>
        </p:txBody>
      </p:sp>
      <p:sp>
        <p:nvSpPr>
          <p:cNvPr id="51" name="Shape 49"/>
          <p:cNvSpPr/>
          <p:nvPr/>
        </p:nvSpPr>
        <p:spPr>
          <a:xfrm>
            <a:off x="6913778" y="3145536"/>
            <a:ext cx="0" cy="164592"/>
          </a:xfrm>
          <a:prstGeom prst="line">
            <a:avLst/>
          </a:prstGeom>
          <a:noFill/>
          <a:ln w="12700">
            <a:solidFill>
              <a:srgbClr val="3E6DA8"/>
            </a:solidFill>
            <a:prstDash val="dash"/>
          </a:ln>
        </p:spPr>
      </p:sp>
      <p:sp>
        <p:nvSpPr>
          <p:cNvPr id="52" name="Shape 50"/>
          <p:cNvSpPr/>
          <p:nvPr/>
        </p:nvSpPr>
        <p:spPr>
          <a:xfrm>
            <a:off x="7717536" y="2395728"/>
            <a:ext cx="1296619" cy="749808"/>
          </a:xfrm>
          <a:prstGeom prst="roundRect">
            <a:avLst>
              <a:gd name="adj" fmla="val 14634"/>
            </a:avLst>
          </a:prstGeom>
          <a:solidFill>
            <a:srgbClr val="FFFFFF"/>
          </a:solidFill>
          <a:ln w="15875">
            <a:solidFill>
              <a:srgbClr val="3E6DA8"/>
            </a:solidFill>
            <a:prstDash val="solid"/>
          </a:ln>
        </p:spPr>
      </p:sp>
      <p:sp>
        <p:nvSpPr>
          <p:cNvPr id="53" name="Shape 51"/>
          <p:cNvSpPr/>
          <p:nvPr/>
        </p:nvSpPr>
        <p:spPr>
          <a:xfrm>
            <a:off x="7635240" y="2331720"/>
            <a:ext cx="182880" cy="182880"/>
          </a:xfrm>
          <a:prstGeom prst="ellipse">
            <a:avLst/>
          </a:prstGeom>
          <a:solidFill>
            <a:srgbClr val="081F5C"/>
          </a:solidFill>
          <a:ln w="6350">
            <a:solidFill>
              <a:srgbClr val="081F5C"/>
            </a:solidFill>
            <a:prstDash val="solid"/>
          </a:ln>
        </p:spPr>
      </p:sp>
      <p:sp>
        <p:nvSpPr>
          <p:cNvPr id="54" name="Text 52"/>
          <p:cNvSpPr/>
          <p:nvPr/>
        </p:nvSpPr>
        <p:spPr>
          <a:xfrm>
            <a:off x="7635240" y="2331720"/>
            <a:ext cx="18288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6</a:t>
            </a:r>
            <a:endParaRPr lang="en-US" sz="700" dirty="0"/>
          </a:p>
        </p:txBody>
      </p:sp>
      <p:sp>
        <p:nvSpPr>
          <p:cNvPr id="55" name="Text 53"/>
          <p:cNvSpPr/>
          <p:nvPr/>
        </p:nvSpPr>
        <p:spPr>
          <a:xfrm>
            <a:off x="7717536" y="2395728"/>
            <a:ext cx="1296619" cy="749808"/>
          </a:xfrm>
          <a:prstGeom prst="rect">
            <a:avLst/>
          </a:prstGeom>
          <a:noFill/>
          <a:ln/>
        </p:spPr>
        <p:txBody>
          <a:bodyPr wrap="square" lIns="381" tIns="762" rIns="762" bIns="381" rtlCol="0" anchor="ctr"/>
          <a:lstStyle/>
          <a:p>
            <a:pPr algn="ctr" indent="0" marL="0">
              <a:lnSpc>
                <a:spcPct val="92000"/>
              </a:lnSpc>
              <a:spcAft>
                <a:spcPts val="300"/>
              </a:spcAft>
              <a:buNone/>
            </a:pPr>
            <a:r>
              <a:rPr lang="en-US" sz="740" b="1" dirty="0">
                <a:solidFill>
                  <a:srgbClr val="081F5C"/>
                </a:solidFill>
                <a:latin typeface="Arial" pitchFamily="34" charset="0"/>
                <a:ea typeface="Arial" pitchFamily="34" charset="-122"/>
                <a:cs typeface="Arial" pitchFamily="34" charset="-120"/>
              </a:rPr>
              <a:t>Code Optimization Agent</a:t>
            </a:r>
            <a:endParaRPr lang="en-US" sz="740" dirty="0"/>
          </a:p>
          <a:p>
            <a:pPr algn="ctr" indent="0" marL="0">
              <a:lnSpc>
                <a:spcPct val="92000"/>
              </a:lnSpc>
              <a:buNone/>
            </a:pPr>
            <a:r>
              <a:rPr lang="en-US" sz="620" i="1" dirty="0">
                <a:solidFill>
                  <a:srgbClr val="2E4A85"/>
                </a:solidFill>
                <a:latin typeface="Arial" pitchFamily="34" charset="0"/>
                <a:ea typeface="Arial" pitchFamily="34" charset="-122"/>
                <a:cs typeface="Arial" pitchFamily="34" charset="-120"/>
              </a:rPr>
              <a:t>post-migration query tuning</a:t>
            </a:r>
            <a:endParaRPr lang="en-US" sz="740" dirty="0"/>
          </a:p>
        </p:txBody>
      </p:sp>
      <p:sp>
        <p:nvSpPr>
          <p:cNvPr id="56" name="Shape 54"/>
          <p:cNvSpPr/>
          <p:nvPr/>
        </p:nvSpPr>
        <p:spPr>
          <a:xfrm>
            <a:off x="8365846" y="3145536"/>
            <a:ext cx="0" cy="164592"/>
          </a:xfrm>
          <a:prstGeom prst="line">
            <a:avLst/>
          </a:prstGeom>
          <a:noFill/>
          <a:ln w="12700">
            <a:solidFill>
              <a:srgbClr val="3E6DA8"/>
            </a:solidFill>
            <a:prstDash val="dash"/>
          </a:ln>
        </p:spPr>
      </p:sp>
      <p:sp>
        <p:nvSpPr>
          <p:cNvPr id="57" name="Shape 55"/>
          <p:cNvSpPr/>
          <p:nvPr/>
        </p:nvSpPr>
        <p:spPr>
          <a:xfrm>
            <a:off x="548640" y="3310128"/>
            <a:ext cx="8412480" cy="384048"/>
          </a:xfrm>
          <a:prstGeom prst="roundRect">
            <a:avLst>
              <a:gd name="adj" fmla="val 23810"/>
            </a:avLst>
          </a:prstGeom>
          <a:solidFill>
            <a:srgbClr val="CEF8FC"/>
          </a:solidFill>
          <a:ln w="12700">
            <a:solidFill>
              <a:srgbClr val="3E6DA8"/>
            </a:solidFill>
            <a:prstDash val="solid"/>
          </a:ln>
        </p:spPr>
      </p:sp>
      <p:sp>
        <p:nvSpPr>
          <p:cNvPr id="58" name="Text 56"/>
          <p:cNvSpPr/>
          <p:nvPr/>
        </p:nvSpPr>
        <p:spPr>
          <a:xfrm>
            <a:off x="548640" y="3310128"/>
            <a:ext cx="8412480" cy="384048"/>
          </a:xfrm>
          <a:prstGeom prst="rect">
            <a:avLst/>
          </a:prstGeom>
          <a:noFill/>
          <a:ln/>
        </p:spPr>
        <p:txBody>
          <a:bodyPr wrap="square" lIns="254" tIns="1270" rIns="1270" bIns="254" rtlCol="0" anchor="ctr"/>
          <a:lstStyle/>
          <a:p>
            <a:pPr algn="ctr" indent="0" marL="0">
              <a:lnSpc>
                <a:spcPct val="94000"/>
              </a:lnSpc>
              <a:buNone/>
            </a:pPr>
            <a:r>
              <a:rPr lang="en-US" sz="850" b="1" dirty="0">
                <a:solidFill>
                  <a:srgbClr val="081F5C"/>
                </a:solidFill>
                <a:latin typeface="Arial" pitchFamily="34" charset="0"/>
                <a:ea typeface="Arial" pitchFamily="34" charset="-122"/>
                <a:cs typeface="Arial" pitchFamily="34" charset="-120"/>
              </a:rPr>
              <a:t>Data Assist  </a:t>
            </a:r>
            <a:pPr algn="ctr" indent="0" marL="0">
              <a:lnSpc>
                <a:spcPct val="94000"/>
              </a:lnSpc>
              <a:buNone/>
            </a:pPr>
            <a:r>
              <a:rPr lang="en-US" sz="700" i="1" dirty="0">
                <a:solidFill>
                  <a:srgbClr val="1A1A1A"/>
                </a:solidFill>
                <a:latin typeface="Arial" pitchFamily="34" charset="0"/>
                <a:ea typeface="Arial" pitchFamily="34" charset="-122"/>
                <a:cs typeface="Arial" pitchFamily="34" charset="-120"/>
              </a:rPr>
              <a:t>DRECT · Report Rationalizer · ★ Platform Fit Scorer · ★ Schema Mapper · Deloitte Code Converter · Data Migration Agent · Report Automator · Epic Oracle-to-SQL Transpiler · ★ AI/BI Dashboard Generator · CATE Test Engine · Automated Report Tester · Code Optimizer</a:t>
            </a:r>
            <a:endParaRPr lang="en-US" sz="850" dirty="0"/>
          </a:p>
        </p:txBody>
      </p:sp>
      <p:sp>
        <p:nvSpPr>
          <p:cNvPr id="59" name="Shape 57"/>
          <p:cNvSpPr/>
          <p:nvPr/>
        </p:nvSpPr>
        <p:spPr>
          <a:xfrm>
            <a:off x="2557577" y="3694176"/>
            <a:ext cx="0" cy="182880"/>
          </a:xfrm>
          <a:prstGeom prst="line">
            <a:avLst/>
          </a:prstGeom>
          <a:noFill/>
          <a:ln w="12700">
            <a:solidFill>
              <a:srgbClr val="3E6DA8"/>
            </a:solidFill>
            <a:prstDash val="dash"/>
          </a:ln>
        </p:spPr>
      </p:sp>
      <p:sp>
        <p:nvSpPr>
          <p:cNvPr id="60" name="Text 58"/>
          <p:cNvSpPr/>
          <p:nvPr/>
        </p:nvSpPr>
        <p:spPr>
          <a:xfrm>
            <a:off x="1862633"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Classify every Oracle object the surviving reports read and map it to its MS SQL Server or Delta target.</a:t>
            </a:r>
            <a:endParaRPr lang="en-US" sz="680" dirty="0"/>
          </a:p>
        </p:txBody>
      </p:sp>
      <p:sp>
        <p:nvSpPr>
          <p:cNvPr id="61" name="Shape 59"/>
          <p:cNvSpPr/>
          <p:nvPr/>
        </p:nvSpPr>
        <p:spPr>
          <a:xfrm>
            <a:off x="4009644" y="3694176"/>
            <a:ext cx="0" cy="182880"/>
          </a:xfrm>
          <a:prstGeom prst="line">
            <a:avLst/>
          </a:prstGeom>
          <a:noFill/>
          <a:ln w="12700">
            <a:solidFill>
              <a:srgbClr val="3E6DA8"/>
            </a:solidFill>
            <a:prstDash val="dash"/>
          </a:ln>
        </p:spPr>
      </p:sp>
      <p:sp>
        <p:nvSpPr>
          <p:cNvPr id="62" name="Text 60"/>
          <p:cNvSpPr/>
          <p:nvPr/>
        </p:nvSpPr>
        <p:spPr>
          <a:xfrm>
            <a:off x="3314700"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Convert table and view DDL, materialized views, packages and stored procedures, then move history and incremental data.</a:t>
            </a:r>
            <a:endParaRPr lang="en-US" sz="680" dirty="0"/>
          </a:p>
        </p:txBody>
      </p:sp>
      <p:sp>
        <p:nvSpPr>
          <p:cNvPr id="63" name="Shape 61"/>
          <p:cNvSpPr/>
          <p:nvPr/>
        </p:nvSpPr>
        <p:spPr>
          <a:xfrm>
            <a:off x="5461711" y="3694176"/>
            <a:ext cx="0" cy="182880"/>
          </a:xfrm>
          <a:prstGeom prst="line">
            <a:avLst/>
          </a:prstGeom>
          <a:noFill/>
          <a:ln w="12700">
            <a:solidFill>
              <a:srgbClr val="3E6DA8"/>
            </a:solidFill>
            <a:prstDash val="dash"/>
          </a:ln>
        </p:spPr>
      </p:sp>
      <p:sp>
        <p:nvSpPr>
          <p:cNvPr id="64" name="Text 62"/>
          <p:cNvSpPr/>
          <p:nvPr/>
        </p:nvSpPr>
        <p:spPr>
          <a:xfrm>
            <a:off x="4766767"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Rebuild each report on the platform its disposition assigned — Power BI, Cogito, or Databricks AI/BI with a scoped Genie space.</a:t>
            </a:r>
            <a:endParaRPr lang="en-US" sz="680" dirty="0"/>
          </a:p>
        </p:txBody>
      </p:sp>
      <p:sp>
        <p:nvSpPr>
          <p:cNvPr id="65" name="Shape 63"/>
          <p:cNvSpPr/>
          <p:nvPr/>
        </p:nvSpPr>
        <p:spPr>
          <a:xfrm>
            <a:off x="6913778" y="3694176"/>
            <a:ext cx="0" cy="182880"/>
          </a:xfrm>
          <a:prstGeom prst="line">
            <a:avLst/>
          </a:prstGeom>
          <a:noFill/>
          <a:ln w="12700">
            <a:solidFill>
              <a:srgbClr val="3E6DA8"/>
            </a:solidFill>
            <a:prstDash val="dash"/>
          </a:ln>
        </p:spPr>
      </p:sp>
      <p:sp>
        <p:nvSpPr>
          <p:cNvPr id="66" name="Text 64"/>
          <p:cNvSpPr/>
          <p:nvPr/>
        </p:nvSpPr>
        <p:spPr>
          <a:xfrm>
            <a:off x="6218834" y="3877056"/>
            <a:ext cx="1389888" cy="566928"/>
          </a:xfrm>
          <a:prstGeom prst="rect">
            <a:avLst/>
          </a:prstGeom>
          <a:noFill/>
          <a:ln/>
        </p:spPr>
        <p:txBody>
          <a:bodyPr wrap="square" lIns="0" tIns="0" rIns="0" bIns="0" rtlCol="0" anchor="t"/>
          <a:lstStyle/>
          <a:p>
            <a:pPr algn="ctr" indent="0" marL="0">
              <a:lnSpc>
                <a:spcPct val="93000"/>
              </a:lnSpc>
              <a:buNone/>
            </a:pPr>
            <a:r>
              <a:rPr lang="en-US" sz="680" dirty="0">
                <a:solidFill>
                  <a:srgbClr val="1A1A1A"/>
                </a:solidFill>
                <a:latin typeface="Arial" pitchFamily="34" charset="0"/>
                <a:ea typeface="Arial" pitchFamily="34" charset="-122"/>
                <a:cs typeface="Arial" pitchFamily="34" charset="-120"/>
              </a:rPr>
              <a:t>Reconcile migrated objects for row count, checksums and keys, then validate rebuilt reports against the BOBJ baseline.</a:t>
            </a:r>
            <a:endParaRPr lang="en-US" sz="680" dirty="0"/>
          </a:p>
        </p:txBody>
      </p:sp>
      <p:sp>
        <p:nvSpPr>
          <p:cNvPr id="67" name="Text 65"/>
          <p:cNvSpPr/>
          <p:nvPr/>
        </p:nvSpPr>
        <p:spPr>
          <a:xfrm>
            <a:off x="384048" y="4572000"/>
            <a:ext cx="8686800" cy="164592"/>
          </a:xfrm>
          <a:prstGeom prst="rect">
            <a:avLst/>
          </a:prstGeom>
          <a:noFill/>
          <a:ln/>
        </p:spPr>
        <p:txBody>
          <a:bodyPr wrap="square" lIns="0" tIns="0" rIns="0" bIns="0" rtlCol="0" anchor="ctr"/>
          <a:lstStyle/>
          <a:p>
            <a:pPr indent="0" marL="0">
              <a:buNone/>
            </a:pPr>
            <a:r>
              <a:rPr lang="en-US" sz="800" b="1" dirty="0">
                <a:solidFill>
                  <a:srgbClr val="081F5C"/>
                </a:solidFill>
                <a:latin typeface="Arial" pitchFamily="34" charset="0"/>
                <a:ea typeface="Arial" pitchFamily="34" charset="-122"/>
                <a:cs typeface="Arial" pitchFamily="34" charset="-120"/>
              </a:rPr>
              <a:t>Lifecycle coverage in this view</a:t>
            </a:r>
            <a:endParaRPr lang="en-US" sz="800" dirty="0"/>
          </a:p>
        </p:txBody>
      </p:sp>
      <p:sp>
        <p:nvSpPr>
          <p:cNvPr id="68" name="Shape 66"/>
          <p:cNvSpPr/>
          <p:nvPr/>
        </p:nvSpPr>
        <p:spPr>
          <a:xfrm>
            <a:off x="384048" y="4773168"/>
            <a:ext cx="1341120" cy="274320"/>
          </a:xfrm>
          <a:prstGeom prst="rect">
            <a:avLst/>
          </a:prstGeom>
          <a:solidFill>
            <a:srgbClr val="081F5C"/>
          </a:solidFill>
          <a:ln w="9525">
            <a:solidFill>
              <a:srgbClr val="081F5C"/>
            </a:solidFill>
            <a:prstDash val="solid"/>
          </a:ln>
        </p:spPr>
      </p:sp>
      <p:sp>
        <p:nvSpPr>
          <p:cNvPr id="69" name="Text 67"/>
          <p:cNvSpPr/>
          <p:nvPr/>
        </p:nvSpPr>
        <p:spPr>
          <a:xfrm>
            <a:off x="384048"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ASSESS</a:t>
            </a:r>
            <a:endParaRPr lang="en-US" sz="800" dirty="0"/>
          </a:p>
        </p:txBody>
      </p:sp>
      <p:sp>
        <p:nvSpPr>
          <p:cNvPr id="70" name="Text 68"/>
          <p:cNvSpPr/>
          <p:nvPr/>
        </p:nvSpPr>
        <p:spPr>
          <a:xfrm>
            <a:off x="384048"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Rationalization &amp; Disposition</a:t>
            </a:r>
            <a:endParaRPr lang="en-US" sz="650" dirty="0"/>
          </a:p>
        </p:txBody>
      </p:sp>
      <p:sp>
        <p:nvSpPr>
          <p:cNvPr id="71" name="Shape 69"/>
          <p:cNvSpPr/>
          <p:nvPr/>
        </p:nvSpPr>
        <p:spPr>
          <a:xfrm>
            <a:off x="1853184" y="4773168"/>
            <a:ext cx="1341120" cy="274320"/>
          </a:xfrm>
          <a:prstGeom prst="rect">
            <a:avLst/>
          </a:prstGeom>
          <a:solidFill>
            <a:srgbClr val="081F5C"/>
          </a:solidFill>
          <a:ln w="9525">
            <a:solidFill>
              <a:srgbClr val="081F5C"/>
            </a:solidFill>
            <a:prstDash val="solid"/>
          </a:ln>
        </p:spPr>
      </p:sp>
      <p:sp>
        <p:nvSpPr>
          <p:cNvPr id="72" name="Text 70"/>
          <p:cNvSpPr/>
          <p:nvPr/>
        </p:nvSpPr>
        <p:spPr>
          <a:xfrm>
            <a:off x="1853184"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DESIGN</a:t>
            </a:r>
            <a:endParaRPr lang="en-US" sz="800" dirty="0"/>
          </a:p>
        </p:txBody>
      </p:sp>
      <p:sp>
        <p:nvSpPr>
          <p:cNvPr id="73" name="Text 71"/>
          <p:cNvSpPr/>
          <p:nvPr/>
        </p:nvSpPr>
        <p:spPr>
          <a:xfrm>
            <a:off x="1853184"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Schema Mapper · Fit Scorer</a:t>
            </a:r>
            <a:endParaRPr lang="en-US" sz="650" dirty="0"/>
          </a:p>
        </p:txBody>
      </p:sp>
      <p:sp>
        <p:nvSpPr>
          <p:cNvPr id="74" name="Shape 72"/>
          <p:cNvSpPr/>
          <p:nvPr/>
        </p:nvSpPr>
        <p:spPr>
          <a:xfrm>
            <a:off x="3322320" y="4773168"/>
            <a:ext cx="1341120" cy="274320"/>
          </a:xfrm>
          <a:prstGeom prst="rect">
            <a:avLst/>
          </a:prstGeom>
          <a:solidFill>
            <a:srgbClr val="081F5C"/>
          </a:solidFill>
          <a:ln w="9525">
            <a:solidFill>
              <a:srgbClr val="081F5C"/>
            </a:solidFill>
            <a:prstDash val="solid"/>
          </a:ln>
        </p:spPr>
      </p:sp>
      <p:sp>
        <p:nvSpPr>
          <p:cNvPr id="75" name="Text 73"/>
          <p:cNvSpPr/>
          <p:nvPr/>
        </p:nvSpPr>
        <p:spPr>
          <a:xfrm>
            <a:off x="3322320"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BUILD</a:t>
            </a:r>
            <a:endParaRPr lang="en-US" sz="800" dirty="0"/>
          </a:p>
        </p:txBody>
      </p:sp>
      <p:sp>
        <p:nvSpPr>
          <p:cNvPr id="76" name="Text 74"/>
          <p:cNvSpPr/>
          <p:nvPr/>
        </p:nvSpPr>
        <p:spPr>
          <a:xfrm>
            <a:off x="3322320"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Converters · Migration Agents</a:t>
            </a:r>
            <a:endParaRPr lang="en-US" sz="650" dirty="0"/>
          </a:p>
        </p:txBody>
      </p:sp>
      <p:sp>
        <p:nvSpPr>
          <p:cNvPr id="77" name="Shape 75"/>
          <p:cNvSpPr/>
          <p:nvPr/>
        </p:nvSpPr>
        <p:spPr>
          <a:xfrm>
            <a:off x="4791456" y="4773168"/>
            <a:ext cx="1341120" cy="274320"/>
          </a:xfrm>
          <a:prstGeom prst="rect">
            <a:avLst/>
          </a:prstGeom>
          <a:solidFill>
            <a:srgbClr val="E8E8E8"/>
          </a:solidFill>
          <a:ln w="9525">
            <a:solidFill>
              <a:srgbClr val="9A9A9A"/>
            </a:solidFill>
            <a:prstDash val="solid"/>
          </a:ln>
        </p:spPr>
      </p:sp>
      <p:sp>
        <p:nvSpPr>
          <p:cNvPr id="78" name="Text 76"/>
          <p:cNvSpPr/>
          <p:nvPr/>
        </p:nvSpPr>
        <p:spPr>
          <a:xfrm>
            <a:off x="4791456"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9A9A9A"/>
                </a:solidFill>
                <a:latin typeface="Arial" pitchFamily="34" charset="0"/>
                <a:ea typeface="Arial" pitchFamily="34" charset="-122"/>
                <a:cs typeface="Arial" pitchFamily="34" charset="-120"/>
              </a:rPr>
              <a:t>SECURE</a:t>
            </a:r>
            <a:endParaRPr lang="en-US" sz="800" dirty="0"/>
          </a:p>
        </p:txBody>
      </p:sp>
      <p:sp>
        <p:nvSpPr>
          <p:cNvPr id="79" name="Text 77"/>
          <p:cNvSpPr/>
          <p:nvPr/>
        </p:nvSpPr>
        <p:spPr>
          <a:xfrm>
            <a:off x="4791456"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9A9A9A"/>
                </a:solidFill>
                <a:latin typeface="Arial" pitchFamily="34" charset="0"/>
                <a:ea typeface="Arial" pitchFamily="34" charset="-122"/>
                <a:cs typeface="Arial" pitchFamily="34" charset="-120"/>
              </a:rPr>
              <a:t>out of scope — manual</a:t>
            </a:r>
            <a:endParaRPr lang="en-US" sz="650" dirty="0"/>
          </a:p>
        </p:txBody>
      </p:sp>
      <p:sp>
        <p:nvSpPr>
          <p:cNvPr id="80" name="Shape 78"/>
          <p:cNvSpPr/>
          <p:nvPr/>
        </p:nvSpPr>
        <p:spPr>
          <a:xfrm>
            <a:off x="6260592" y="4773168"/>
            <a:ext cx="1341120" cy="274320"/>
          </a:xfrm>
          <a:prstGeom prst="rect">
            <a:avLst/>
          </a:prstGeom>
          <a:solidFill>
            <a:srgbClr val="081F5C"/>
          </a:solidFill>
          <a:ln w="9525">
            <a:solidFill>
              <a:srgbClr val="081F5C"/>
            </a:solidFill>
            <a:prstDash val="solid"/>
          </a:ln>
        </p:spPr>
      </p:sp>
      <p:sp>
        <p:nvSpPr>
          <p:cNvPr id="81" name="Text 79"/>
          <p:cNvSpPr/>
          <p:nvPr/>
        </p:nvSpPr>
        <p:spPr>
          <a:xfrm>
            <a:off x="6260592"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FFFFFF"/>
                </a:solidFill>
                <a:latin typeface="Arial" pitchFamily="34" charset="0"/>
                <a:ea typeface="Arial" pitchFamily="34" charset="-122"/>
                <a:cs typeface="Arial" pitchFamily="34" charset="-120"/>
              </a:rPr>
              <a:t>VALIDATE</a:t>
            </a:r>
            <a:endParaRPr lang="en-US" sz="800" dirty="0"/>
          </a:p>
        </p:txBody>
      </p:sp>
      <p:sp>
        <p:nvSpPr>
          <p:cNvPr id="82" name="Text 80"/>
          <p:cNvSpPr/>
          <p:nvPr/>
        </p:nvSpPr>
        <p:spPr>
          <a:xfrm>
            <a:off x="6260592"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2E4A85"/>
                </a:solidFill>
                <a:latin typeface="Arial" pitchFamily="34" charset="0"/>
                <a:ea typeface="Arial" pitchFamily="34" charset="-122"/>
                <a:cs typeface="Arial" pitchFamily="34" charset="-120"/>
              </a:rPr>
              <a:t>Testing Agents · CATE</a:t>
            </a:r>
            <a:endParaRPr lang="en-US" sz="650" dirty="0"/>
          </a:p>
        </p:txBody>
      </p:sp>
      <p:sp>
        <p:nvSpPr>
          <p:cNvPr id="83" name="Shape 81"/>
          <p:cNvSpPr/>
          <p:nvPr/>
        </p:nvSpPr>
        <p:spPr>
          <a:xfrm>
            <a:off x="7729728" y="4773168"/>
            <a:ext cx="1341120" cy="274320"/>
          </a:xfrm>
          <a:prstGeom prst="rect">
            <a:avLst/>
          </a:prstGeom>
          <a:solidFill>
            <a:srgbClr val="E8E8E8"/>
          </a:solidFill>
          <a:ln w="9525">
            <a:solidFill>
              <a:srgbClr val="9A9A9A"/>
            </a:solidFill>
            <a:prstDash val="solid"/>
          </a:ln>
        </p:spPr>
      </p:sp>
      <p:sp>
        <p:nvSpPr>
          <p:cNvPr id="84" name="Text 82"/>
          <p:cNvSpPr/>
          <p:nvPr/>
        </p:nvSpPr>
        <p:spPr>
          <a:xfrm>
            <a:off x="7729728" y="4773168"/>
            <a:ext cx="1341120" cy="274320"/>
          </a:xfrm>
          <a:prstGeom prst="rect">
            <a:avLst/>
          </a:prstGeom>
          <a:noFill/>
          <a:ln/>
        </p:spPr>
        <p:txBody>
          <a:bodyPr wrap="square" lIns="0" tIns="0" rIns="0" bIns="0" rtlCol="0" anchor="ctr"/>
          <a:lstStyle/>
          <a:p>
            <a:pPr algn="ctr" indent="0" marL="0">
              <a:buNone/>
            </a:pPr>
            <a:r>
              <a:rPr lang="en-US" sz="800" b="1" spc="40" kern="0" dirty="0">
                <a:solidFill>
                  <a:srgbClr val="9A9A9A"/>
                </a:solidFill>
                <a:latin typeface="Arial" pitchFamily="34" charset="0"/>
                <a:ea typeface="Arial" pitchFamily="34" charset="-122"/>
                <a:cs typeface="Arial" pitchFamily="34" charset="-120"/>
              </a:rPr>
              <a:t>CUT OVER</a:t>
            </a:r>
            <a:endParaRPr lang="en-US" sz="800" dirty="0"/>
          </a:p>
        </p:txBody>
      </p:sp>
      <p:sp>
        <p:nvSpPr>
          <p:cNvPr id="85" name="Text 83"/>
          <p:cNvSpPr/>
          <p:nvPr/>
        </p:nvSpPr>
        <p:spPr>
          <a:xfrm>
            <a:off x="7729728" y="5074920"/>
            <a:ext cx="1341120" cy="237744"/>
          </a:xfrm>
          <a:prstGeom prst="rect">
            <a:avLst/>
          </a:prstGeom>
          <a:noFill/>
          <a:ln/>
        </p:spPr>
        <p:txBody>
          <a:bodyPr wrap="square" lIns="0" tIns="0" rIns="0" bIns="0" rtlCol="0" anchor="t"/>
          <a:lstStyle/>
          <a:p>
            <a:pPr algn="ctr" indent="0" marL="0">
              <a:lnSpc>
                <a:spcPct val="92000"/>
              </a:lnSpc>
              <a:buNone/>
            </a:pPr>
            <a:r>
              <a:rPr lang="en-US" sz="650" i="1" dirty="0">
                <a:solidFill>
                  <a:srgbClr val="9A9A9A"/>
                </a:solidFill>
                <a:latin typeface="Arial" pitchFamily="34" charset="0"/>
                <a:ea typeface="Arial" pitchFamily="34" charset="-122"/>
                <a:cs typeface="Arial" pitchFamily="34" charset="-120"/>
              </a:rPr>
              <a:t>out of scope — manual</a:t>
            </a:r>
            <a:endParaRPr lang="en-US" sz="650" dirty="0"/>
          </a:p>
        </p:txBody>
      </p:sp>
      <p:sp>
        <p:nvSpPr>
          <p:cNvPr id="86" name="Shape 84"/>
          <p:cNvSpPr/>
          <p:nvPr/>
        </p:nvSpPr>
        <p:spPr>
          <a:xfrm>
            <a:off x="384048" y="5449824"/>
            <a:ext cx="8686800" cy="402336"/>
          </a:xfrm>
          <a:prstGeom prst="rect">
            <a:avLst/>
          </a:prstGeom>
          <a:solidFill>
            <a:srgbClr val="F2F2F2"/>
          </a:solidFill>
          <a:ln w="9525">
            <a:solidFill>
              <a:srgbClr val="E2E2E2"/>
            </a:solidFill>
            <a:prstDash val="solid"/>
          </a:ln>
        </p:spPr>
      </p:sp>
      <p:sp>
        <p:nvSpPr>
          <p:cNvPr id="87" name="Text 85"/>
          <p:cNvSpPr/>
          <p:nvPr/>
        </p:nvSpPr>
        <p:spPr>
          <a:xfrm>
            <a:off x="384048" y="5449824"/>
            <a:ext cx="8686800" cy="402336"/>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Scope of this view.  </a:t>
            </a:r>
            <a:pPr indent="0" marL="0">
              <a:lnSpc>
                <a:spcPct val="94000"/>
              </a:lnSpc>
              <a:buNone/>
            </a:pPr>
            <a:r>
              <a:rPr lang="en-US" sz="700" dirty="0">
                <a:solidFill>
                  <a:srgbClr val="1A1A1A"/>
                </a:solidFill>
                <a:latin typeface="Arial" pitchFamily="34" charset="0"/>
                <a:ea typeface="Arial" pitchFamily="34" charset="-122"/>
                <a:cs typeface="Arial" pitchFamily="34" charset="-120"/>
              </a:rPr>
              <a:t>Secure and Cut over are deliberately excluded here, but they are not optional work — the earlier coverage audit found zero of six activities automated in each. Secure carries the HIPAA exposure on every path, and Cut over is the step that actually removes the BOBJ estate, so a programme that automates only the four steps above will build faster than it reduces.</a:t>
            </a:r>
            <a:endParaRPr lang="en-US" sz="700" dirty="0"/>
          </a:p>
        </p:txBody>
      </p:sp>
      <p:sp>
        <p:nvSpPr>
          <p:cNvPr id="88" name="Shape 86"/>
          <p:cNvSpPr/>
          <p:nvPr/>
        </p:nvSpPr>
        <p:spPr>
          <a:xfrm>
            <a:off x="384048" y="5943600"/>
            <a:ext cx="8686800" cy="402336"/>
          </a:xfrm>
          <a:prstGeom prst="rect">
            <a:avLst/>
          </a:prstGeom>
          <a:solidFill>
            <a:srgbClr val="EAF5FD"/>
          </a:solidFill>
          <a:ln w="9525">
            <a:solidFill>
              <a:srgbClr val="C9E3F7"/>
            </a:solidFill>
            <a:prstDash val="solid"/>
          </a:ln>
        </p:spPr>
      </p:sp>
      <p:sp>
        <p:nvSpPr>
          <p:cNvPr id="89" name="Text 87"/>
          <p:cNvSpPr/>
          <p:nvPr/>
        </p:nvSpPr>
        <p:spPr>
          <a:xfrm>
            <a:off x="384048" y="5943600"/>
            <a:ext cx="8686800" cy="402336"/>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HIPAA checkpoint.  </a:t>
            </a:r>
            <a:pPr indent="0" marL="0">
              <a:lnSpc>
                <a:spcPct val="94000"/>
              </a:lnSpc>
              <a:buNone/>
            </a:pPr>
            <a:r>
              <a:rPr lang="en-US" sz="700" dirty="0">
                <a:solidFill>
                  <a:srgbClr val="1A1A1A"/>
                </a:solidFill>
                <a:latin typeface="Arial" pitchFamily="34" charset="0"/>
                <a:ea typeface="Arial" pitchFamily="34" charset="-122"/>
                <a:cs typeface="Arial" pitchFamily="34" charset="-120"/>
              </a:rPr>
              <a:t>Every agent runs inside the secured environment on the same PHI boundary as the pipeline — no report output, universe extract or reconciliation sample leaves it. Reconciliation samples drawn by CATE and the Automated Report Tester contain PHI and are treated as production data, not test data. Agents propose; the data owner still approves.</a:t>
            </a:r>
            <a:endParaRPr lang="en-US" sz="700" dirty="0"/>
          </a:p>
        </p:txBody>
      </p:sp>
      <p:sp>
        <p:nvSpPr>
          <p:cNvPr id="90" name="Shape 88"/>
          <p:cNvSpPr/>
          <p:nvPr/>
        </p:nvSpPr>
        <p:spPr>
          <a:xfrm>
            <a:off x="9326880" y="548640"/>
            <a:ext cx="192024" cy="192024"/>
          </a:xfrm>
          <a:prstGeom prst="roundRect">
            <a:avLst>
              <a:gd name="adj" fmla="val 95238"/>
            </a:avLst>
          </a:prstGeom>
          <a:solidFill>
            <a:srgbClr val="ADDAFB"/>
          </a:solidFill>
          <a:ln w="6350">
            <a:solidFill>
              <a:srgbClr val="ADDAFB"/>
            </a:solidFill>
            <a:prstDash val="solid"/>
          </a:ln>
        </p:spPr>
      </p:sp>
      <p:sp>
        <p:nvSpPr>
          <p:cNvPr id="91" name="Text 89"/>
          <p:cNvSpPr/>
          <p:nvPr/>
        </p:nvSpPr>
        <p:spPr>
          <a:xfrm>
            <a:off x="9326880" y="548640"/>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1</a:t>
            </a:r>
            <a:endParaRPr lang="en-US" sz="660" dirty="0"/>
          </a:p>
        </p:txBody>
      </p:sp>
      <p:sp>
        <p:nvSpPr>
          <p:cNvPr id="92" name="Text 90"/>
          <p:cNvSpPr/>
          <p:nvPr/>
        </p:nvSpPr>
        <p:spPr>
          <a:xfrm>
            <a:off x="9601200" y="521208"/>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Report Rationalization &amp; Disposition</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DRECT · Report Rationalizer · ★ Platform Fit Scorer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Reverse-engineers universe SQL and report queries into an object dependency graph and lineage. Mines 18 months of CMS run history and Report DNA signatures for dormancy and duplicate classes. Scores each surviving report against the rubric and publishes the disposition register.</a:t>
            </a:r>
            <a:endParaRPr lang="en-US" sz="760" dirty="0"/>
          </a:p>
        </p:txBody>
      </p:sp>
      <p:sp>
        <p:nvSpPr>
          <p:cNvPr id="93" name="Shape 91"/>
          <p:cNvSpPr/>
          <p:nvPr/>
        </p:nvSpPr>
        <p:spPr>
          <a:xfrm>
            <a:off x="9326880" y="1700784"/>
            <a:ext cx="192024" cy="192024"/>
          </a:xfrm>
          <a:prstGeom prst="roundRect">
            <a:avLst>
              <a:gd name="adj" fmla="val 95238"/>
            </a:avLst>
          </a:prstGeom>
          <a:solidFill>
            <a:srgbClr val="ADDAFB"/>
          </a:solidFill>
          <a:ln w="6350">
            <a:solidFill>
              <a:srgbClr val="ADDAFB"/>
            </a:solidFill>
            <a:prstDash val="solid"/>
          </a:ln>
        </p:spPr>
      </p:sp>
      <p:sp>
        <p:nvSpPr>
          <p:cNvPr id="94" name="Text 92"/>
          <p:cNvSpPr/>
          <p:nvPr/>
        </p:nvSpPr>
        <p:spPr>
          <a:xfrm>
            <a:off x="9326880" y="1700784"/>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2</a:t>
            </a:r>
            <a:endParaRPr lang="en-US" sz="660" dirty="0"/>
          </a:p>
        </p:txBody>
      </p:sp>
      <p:sp>
        <p:nvSpPr>
          <p:cNvPr id="95" name="Text 93"/>
          <p:cNvSpPr/>
          <p:nvPr/>
        </p:nvSpPr>
        <p:spPr>
          <a:xfrm>
            <a:off x="9601200" y="1673352"/>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 Schema Mapper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Classifies every Oracle custom-schema object a surviving report reads — table, view, materialized view, stored procedure, package — maps each to its MS SQL Server or Delta and Unity Catalog target, and sizes the conversion effort per object.</a:t>
            </a:r>
            <a:endParaRPr lang="en-US" sz="760" dirty="0"/>
          </a:p>
        </p:txBody>
      </p:sp>
      <p:sp>
        <p:nvSpPr>
          <p:cNvPr id="96" name="Shape 94"/>
          <p:cNvSpPr/>
          <p:nvPr/>
        </p:nvSpPr>
        <p:spPr>
          <a:xfrm>
            <a:off x="9326880" y="2688336"/>
            <a:ext cx="192024" cy="192024"/>
          </a:xfrm>
          <a:prstGeom prst="roundRect">
            <a:avLst>
              <a:gd name="adj" fmla="val 95238"/>
            </a:avLst>
          </a:prstGeom>
          <a:solidFill>
            <a:srgbClr val="ADDAFB"/>
          </a:solidFill>
          <a:ln w="6350">
            <a:solidFill>
              <a:srgbClr val="ADDAFB"/>
            </a:solidFill>
            <a:prstDash val="solid"/>
          </a:ln>
        </p:spPr>
      </p:sp>
      <p:sp>
        <p:nvSpPr>
          <p:cNvPr id="97" name="Text 95"/>
          <p:cNvSpPr/>
          <p:nvPr/>
        </p:nvSpPr>
        <p:spPr>
          <a:xfrm>
            <a:off x="9326880" y="2688336"/>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3</a:t>
            </a:r>
            <a:endParaRPr lang="en-US" sz="660" dirty="0"/>
          </a:p>
        </p:txBody>
      </p:sp>
      <p:sp>
        <p:nvSpPr>
          <p:cNvPr id="98" name="Text 96"/>
          <p:cNvSpPr/>
          <p:nvPr/>
        </p:nvSpPr>
        <p:spPr>
          <a:xfrm>
            <a:off x="9601200" y="2660904"/>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DDL &amp; Object Converter</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Deloitte Code Converter · Data Migration Agent</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Converts table and view DDL, materialized views, packages and stored procedures into T-SQL or Delta and Unity Catalog constructs, then generates the history and incremental load configuration to move the data.</a:t>
            </a:r>
            <a:endParaRPr lang="en-US" sz="760" dirty="0"/>
          </a:p>
        </p:txBody>
      </p:sp>
      <p:sp>
        <p:nvSpPr>
          <p:cNvPr id="99" name="Shape 97"/>
          <p:cNvSpPr/>
          <p:nvPr/>
        </p:nvSpPr>
        <p:spPr>
          <a:xfrm>
            <a:off x="9326880" y="3675888"/>
            <a:ext cx="192024" cy="192024"/>
          </a:xfrm>
          <a:prstGeom prst="roundRect">
            <a:avLst>
              <a:gd name="adj" fmla="val 95238"/>
            </a:avLst>
          </a:prstGeom>
          <a:solidFill>
            <a:srgbClr val="ADDAFB"/>
          </a:solidFill>
          <a:ln w="6350">
            <a:solidFill>
              <a:srgbClr val="ADDAFB"/>
            </a:solidFill>
            <a:prstDash val="solid"/>
          </a:ln>
        </p:spPr>
      </p:sp>
      <p:sp>
        <p:nvSpPr>
          <p:cNvPr id="100" name="Text 98"/>
          <p:cNvSpPr/>
          <p:nvPr/>
        </p:nvSpPr>
        <p:spPr>
          <a:xfrm>
            <a:off x="9326880" y="3675888"/>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4</a:t>
            </a:r>
            <a:endParaRPr lang="en-US" sz="660" dirty="0"/>
          </a:p>
        </p:txBody>
      </p:sp>
      <p:sp>
        <p:nvSpPr>
          <p:cNvPr id="101" name="Text 99"/>
          <p:cNvSpPr/>
          <p:nvPr/>
        </p:nvSpPr>
        <p:spPr>
          <a:xfrm>
            <a:off x="9601200" y="3648456"/>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Report Migration Agents</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Report Automator · Epic Oracle-to-SQL Transpiler · ★ AI/BI Dashboard Generator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Rebuilds each BO report on the platform its disposition assigned: a Power BI semantic model or paginated layout, a Cogito Reporting Workbench template or SQL view, or a Databricks AI/BI dashboard with a Genie space scoped to governed gold tables.</a:t>
            </a:r>
            <a:endParaRPr lang="en-US" sz="760" dirty="0"/>
          </a:p>
        </p:txBody>
      </p:sp>
      <p:sp>
        <p:nvSpPr>
          <p:cNvPr id="102" name="Shape 100"/>
          <p:cNvSpPr/>
          <p:nvPr/>
        </p:nvSpPr>
        <p:spPr>
          <a:xfrm>
            <a:off x="9326880" y="4800600"/>
            <a:ext cx="192024" cy="192024"/>
          </a:xfrm>
          <a:prstGeom prst="roundRect">
            <a:avLst>
              <a:gd name="adj" fmla="val 95238"/>
            </a:avLst>
          </a:prstGeom>
          <a:solidFill>
            <a:srgbClr val="ADDAFB"/>
          </a:solidFill>
          <a:ln w="6350">
            <a:solidFill>
              <a:srgbClr val="ADDAFB"/>
            </a:solidFill>
            <a:prstDash val="solid"/>
          </a:ln>
        </p:spPr>
      </p:sp>
      <p:sp>
        <p:nvSpPr>
          <p:cNvPr id="103" name="Text 101"/>
          <p:cNvSpPr/>
          <p:nvPr/>
        </p:nvSpPr>
        <p:spPr>
          <a:xfrm>
            <a:off x="9326880" y="4800600"/>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5</a:t>
            </a:r>
            <a:endParaRPr lang="en-US" sz="660" dirty="0"/>
          </a:p>
        </p:txBody>
      </p:sp>
      <p:sp>
        <p:nvSpPr>
          <p:cNvPr id="104" name="Text 102"/>
          <p:cNvSpPr/>
          <p:nvPr/>
        </p:nvSpPr>
        <p:spPr>
          <a:xfrm>
            <a:off x="9601200" y="4773168"/>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Testing Agents: Data &amp; Reports</a:t>
            </a:r>
            <a:endParaRPr lang="en-US" sz="760" dirty="0"/>
          </a:p>
          <a:p>
            <a:pPr indent="0" marL="0">
              <a:lnSpc>
                <a:spcPct val="93000"/>
              </a:lnSpc>
              <a:spcAft>
                <a:spcPts val="300"/>
              </a:spcAft>
              <a:buNone/>
            </a:pPr>
            <a:r>
              <a:rPr lang="en-US" sz="660" i="1" dirty="0">
                <a:solidFill>
                  <a:srgbClr val="9FD4EC"/>
                </a:solidFill>
                <a:latin typeface="Arial" pitchFamily="34" charset="0"/>
                <a:ea typeface="Arial" pitchFamily="34" charset="-122"/>
                <a:cs typeface="Arial" pitchFamily="34" charset="-120"/>
              </a:rPr>
              <a:t>CATE Test Engine · Automated Report Tester</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Reconciles row counts, checksums, business keys and re-run procedure output against Oracle, then compares report output, layout fidelity, burst delivery and Genie answers against the BOBJ baseline.</a:t>
            </a:r>
            <a:endParaRPr lang="en-US" sz="760" dirty="0"/>
          </a:p>
        </p:txBody>
      </p:sp>
      <p:sp>
        <p:nvSpPr>
          <p:cNvPr id="105" name="Shape 103"/>
          <p:cNvSpPr/>
          <p:nvPr/>
        </p:nvSpPr>
        <p:spPr>
          <a:xfrm>
            <a:off x="9326880" y="5788152"/>
            <a:ext cx="192024" cy="192024"/>
          </a:xfrm>
          <a:prstGeom prst="roundRect">
            <a:avLst>
              <a:gd name="adj" fmla="val 95238"/>
            </a:avLst>
          </a:prstGeom>
          <a:solidFill>
            <a:srgbClr val="ADDAFB"/>
          </a:solidFill>
          <a:ln w="6350">
            <a:solidFill>
              <a:srgbClr val="ADDAFB"/>
            </a:solidFill>
            <a:prstDash val="solid"/>
          </a:ln>
        </p:spPr>
      </p:sp>
      <p:sp>
        <p:nvSpPr>
          <p:cNvPr id="106" name="Text 104"/>
          <p:cNvSpPr/>
          <p:nvPr/>
        </p:nvSpPr>
        <p:spPr>
          <a:xfrm>
            <a:off x="9326880" y="5788152"/>
            <a:ext cx="192024" cy="192024"/>
          </a:xfrm>
          <a:prstGeom prst="rect">
            <a:avLst/>
          </a:prstGeom>
          <a:noFill/>
          <a:ln/>
        </p:spPr>
        <p:txBody>
          <a:bodyPr wrap="square" lIns="0" tIns="0" rIns="0" bIns="0" rtlCol="0" anchor="ctr"/>
          <a:lstStyle/>
          <a:p>
            <a:pPr algn="ctr" indent="0" marL="0">
              <a:buNone/>
            </a:pPr>
            <a:r>
              <a:rPr lang="en-US" sz="660" b="1" dirty="0">
                <a:solidFill>
                  <a:srgbClr val="081F5C"/>
                </a:solidFill>
                <a:latin typeface="Arial" pitchFamily="34" charset="0"/>
                <a:ea typeface="Arial" pitchFamily="34" charset="-122"/>
                <a:cs typeface="Arial" pitchFamily="34" charset="-120"/>
              </a:rPr>
              <a:t>6</a:t>
            </a:r>
            <a:endParaRPr lang="en-US" sz="660" dirty="0"/>
          </a:p>
        </p:txBody>
      </p:sp>
      <p:sp>
        <p:nvSpPr>
          <p:cNvPr id="107" name="Text 105"/>
          <p:cNvSpPr/>
          <p:nvPr/>
        </p:nvSpPr>
        <p:spPr>
          <a:xfrm>
            <a:off x="9601200" y="5760720"/>
            <a:ext cx="2121408" cy="1097280"/>
          </a:xfrm>
          <a:prstGeom prst="rect">
            <a:avLst/>
          </a:prstGeom>
          <a:noFill/>
          <a:ln/>
        </p:spPr>
        <p:txBody>
          <a:bodyPr wrap="square" lIns="0" tIns="0" rIns="0" bIns="0" rtlCol="0" anchor="t"/>
          <a:lstStyle/>
          <a:p>
            <a:pPr indent="0" marL="0">
              <a:lnSpc>
                <a:spcPct val="93000"/>
              </a:lnSpc>
              <a:spcAft>
                <a:spcPts val="200"/>
              </a:spcAft>
              <a:buNone/>
            </a:pPr>
            <a:r>
              <a:rPr lang="en-US" sz="760" b="1" dirty="0">
                <a:solidFill>
                  <a:srgbClr val="FFFFFF"/>
                </a:solidFill>
                <a:latin typeface="Arial" pitchFamily="34" charset="0"/>
                <a:ea typeface="Arial" pitchFamily="34" charset="-122"/>
                <a:cs typeface="Arial" pitchFamily="34" charset="-120"/>
              </a:rPr>
              <a:t>Code Optimization Agent</a:t>
            </a:r>
            <a:endParaRPr lang="en-US" sz="760" dirty="0"/>
          </a:p>
          <a:p>
            <a:pPr indent="0" marL="0">
              <a:lnSpc>
                <a:spcPct val="93000"/>
              </a:lnSpc>
              <a:buNone/>
            </a:pPr>
            <a:r>
              <a:rPr lang="en-US" sz="710" dirty="0">
                <a:solidFill>
                  <a:srgbClr val="E3E9F5"/>
                </a:solidFill>
                <a:latin typeface="Arial" pitchFamily="34" charset="0"/>
                <a:ea typeface="Arial" pitchFamily="34" charset="-122"/>
                <a:cs typeface="Arial" pitchFamily="34" charset="-120"/>
              </a:rPr>
              <a:t>Monitors query behaviour on SQL Server and Databricks after migration and recommends tuning for performance and cost, including partitioning, clustering and refresh strategy.</a:t>
            </a:r>
            <a:endParaRPr lang="en-US" sz="7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84048" y="146304"/>
            <a:ext cx="10058400" cy="310896"/>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Migration Test Automation  —  Validation at Every Hop</a:t>
            </a:r>
            <a:endParaRPr lang="en-US" sz="2100" dirty="0"/>
          </a:p>
        </p:txBody>
      </p:sp>
      <p:sp>
        <p:nvSpPr>
          <p:cNvPr id="3" name="Text 1"/>
          <p:cNvSpPr/>
          <p:nvPr/>
        </p:nvSpPr>
        <p:spPr>
          <a:xfrm>
            <a:off x="384048" y="475488"/>
            <a:ext cx="11420856" cy="274320"/>
          </a:xfrm>
          <a:prstGeom prst="rect">
            <a:avLst/>
          </a:prstGeom>
          <a:noFill/>
          <a:ln/>
        </p:spPr>
        <p:txBody>
          <a:bodyPr wrap="square" lIns="0" tIns="0" rIns="0" bIns="0" rtlCol="0" anchor="ctr"/>
          <a:lstStyle/>
          <a:p>
            <a:pPr indent="0" marL="0">
              <a:lnSpc>
                <a:spcPct val="95000"/>
              </a:lnSpc>
              <a:buNone/>
            </a:pPr>
            <a:r>
              <a:rPr lang="en-US" sz="900" dirty="0">
                <a:solidFill>
                  <a:srgbClr val="1A1A1A"/>
                </a:solidFill>
                <a:latin typeface="Arial" pitchFamily="34" charset="0"/>
                <a:ea typeface="Arial" pitchFamily="34" charset="-122"/>
                <a:cs typeface="Arial" pitchFamily="34" charset="-120"/>
              </a:rPr>
              <a:t>Table-level validation runs automatically at each hop of the data path, then report-level validation runs on each disposition. Checks are chosen for the conversion hazards that actually bite on Oracle 19c — precision, collation, timezone and NULL ordering — not a generic count-and-checksum pass.</a:t>
            </a:r>
            <a:endParaRPr lang="en-US" sz="900" dirty="0"/>
          </a:p>
        </p:txBody>
      </p:sp>
      <p:sp>
        <p:nvSpPr>
          <p:cNvPr id="4" name="Shape 2"/>
          <p:cNvSpPr/>
          <p:nvPr/>
        </p:nvSpPr>
        <p:spPr>
          <a:xfrm>
            <a:off x="384048" y="914400"/>
            <a:ext cx="9464040" cy="219456"/>
          </a:xfrm>
          <a:prstGeom prst="rect">
            <a:avLst/>
          </a:prstGeom>
          <a:solidFill>
            <a:srgbClr val="1596B0"/>
          </a:solidFill>
          <a:ln w="6350">
            <a:solidFill>
              <a:srgbClr val="1596B0"/>
            </a:solidFill>
            <a:prstDash val="solid"/>
          </a:ln>
        </p:spPr>
      </p:sp>
      <p:sp>
        <p:nvSpPr>
          <p:cNvPr id="5" name="Text 3"/>
          <p:cNvSpPr/>
          <p:nvPr/>
        </p:nvSpPr>
        <p:spPr>
          <a:xfrm>
            <a:off x="475488" y="914400"/>
            <a:ext cx="7360920" cy="219456"/>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1 · Database objects   Oracle 19c  →  MS SQL Server        feeds Power BI reports</a:t>
            </a:r>
            <a:endParaRPr lang="en-US" sz="850" dirty="0"/>
          </a:p>
        </p:txBody>
      </p:sp>
      <p:sp>
        <p:nvSpPr>
          <p:cNvPr id="6" name="Text 4"/>
          <p:cNvSpPr/>
          <p:nvPr/>
        </p:nvSpPr>
        <p:spPr>
          <a:xfrm>
            <a:off x="7744968" y="914400"/>
            <a:ext cx="2011680" cy="219456"/>
          </a:xfrm>
          <a:prstGeom prst="rect">
            <a:avLst/>
          </a:prstGeom>
          <a:noFill/>
          <a:ln/>
        </p:spPr>
        <p:txBody>
          <a:bodyPr wrap="square" lIns="0" tIns="0" rIns="0" bIns="0" rtlCol="0" anchor="ctr"/>
          <a:lstStyle/>
          <a:p>
            <a:pPr algn="r" indent="0" marL="0">
              <a:buNone/>
            </a:pPr>
            <a:r>
              <a:rPr lang="en-US" sz="700" i="1" dirty="0">
                <a:solidFill>
                  <a:srgbClr val="E3E9F5"/>
                </a:solidFill>
                <a:latin typeface="Arial" pitchFamily="34" charset="0"/>
                <a:ea typeface="Arial" pitchFamily="34" charset="-122"/>
                <a:cs typeface="Arial" pitchFamily="34" charset="-120"/>
              </a:rPr>
              <a:t>CATE Test Engine</a:t>
            </a:r>
            <a:endParaRPr lang="en-US" sz="700" dirty="0"/>
          </a:p>
        </p:txBody>
      </p:sp>
      <p:sp>
        <p:nvSpPr>
          <p:cNvPr id="7" name="Shape 5"/>
          <p:cNvSpPr/>
          <p:nvPr/>
        </p:nvSpPr>
        <p:spPr>
          <a:xfrm>
            <a:off x="384048" y="1133856"/>
            <a:ext cx="9464040" cy="1353312"/>
          </a:xfrm>
          <a:prstGeom prst="rect">
            <a:avLst/>
          </a:prstGeom>
          <a:solidFill>
            <a:srgbClr val="FCFDFE"/>
          </a:solidFill>
          <a:ln w="9525">
            <a:solidFill>
              <a:srgbClr val="DCE6F0"/>
            </a:solidFill>
            <a:prstDash val="solid"/>
          </a:ln>
        </p:spPr>
      </p:sp>
      <p:sp>
        <p:nvSpPr>
          <p:cNvPr id="8" name="Shape 6"/>
          <p:cNvSpPr/>
          <p:nvPr/>
        </p:nvSpPr>
        <p:spPr>
          <a:xfrm>
            <a:off x="530352" y="1207008"/>
            <a:ext cx="1207008" cy="420624"/>
          </a:xfrm>
          <a:prstGeom prst="roundRect">
            <a:avLst>
              <a:gd name="adj" fmla="val 21739"/>
            </a:avLst>
          </a:prstGeom>
          <a:solidFill>
            <a:srgbClr val="FFFFFF"/>
          </a:solidFill>
          <a:ln w="15875">
            <a:solidFill>
              <a:srgbClr val="1596B0"/>
            </a:solidFill>
            <a:prstDash val="solid"/>
          </a:ln>
        </p:spPr>
      </p:sp>
      <p:sp>
        <p:nvSpPr>
          <p:cNvPr id="9" name="Text 7"/>
          <p:cNvSpPr/>
          <p:nvPr/>
        </p:nvSpPr>
        <p:spPr>
          <a:xfrm>
            <a:off x="530352" y="1207008"/>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Oracle 19c custom schema</a:t>
            </a:r>
            <a:endParaRPr lang="en-US" sz="690" dirty="0"/>
          </a:p>
        </p:txBody>
      </p:sp>
      <p:sp>
        <p:nvSpPr>
          <p:cNvPr id="10" name="Shape 8"/>
          <p:cNvSpPr/>
          <p:nvPr/>
        </p:nvSpPr>
        <p:spPr>
          <a:xfrm>
            <a:off x="1755648" y="1344168"/>
            <a:ext cx="365760" cy="146304"/>
          </a:xfrm>
          <a:prstGeom prst="rightArrow">
            <a:avLst/>
          </a:prstGeom>
          <a:solidFill>
            <a:srgbClr val="1596B0"/>
          </a:solidFill>
          <a:ln w="6350">
            <a:solidFill>
              <a:srgbClr val="1596B0"/>
            </a:solidFill>
            <a:prstDash val="solid"/>
          </a:ln>
        </p:spPr>
      </p:sp>
      <p:sp>
        <p:nvSpPr>
          <p:cNvPr id="11" name="Shape 9"/>
          <p:cNvSpPr/>
          <p:nvPr/>
        </p:nvSpPr>
        <p:spPr>
          <a:xfrm>
            <a:off x="2176272" y="1207008"/>
            <a:ext cx="1207008" cy="420624"/>
          </a:xfrm>
          <a:prstGeom prst="roundRect">
            <a:avLst>
              <a:gd name="adj" fmla="val 21739"/>
            </a:avLst>
          </a:prstGeom>
          <a:solidFill>
            <a:srgbClr val="FFFFFF"/>
          </a:solidFill>
          <a:ln w="15875">
            <a:solidFill>
              <a:srgbClr val="1596B0"/>
            </a:solidFill>
            <a:prstDash val="solid"/>
          </a:ln>
        </p:spPr>
      </p:sp>
      <p:sp>
        <p:nvSpPr>
          <p:cNvPr id="12" name="Text 10"/>
          <p:cNvSpPr/>
          <p:nvPr/>
        </p:nvSpPr>
        <p:spPr>
          <a:xfrm>
            <a:off x="2176272" y="1207008"/>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Extract &amp; stage</a:t>
            </a:r>
            <a:endParaRPr lang="en-US" sz="690" dirty="0"/>
          </a:p>
        </p:txBody>
      </p:sp>
      <p:sp>
        <p:nvSpPr>
          <p:cNvPr id="13" name="Shape 11"/>
          <p:cNvSpPr/>
          <p:nvPr/>
        </p:nvSpPr>
        <p:spPr>
          <a:xfrm>
            <a:off x="3401568" y="1344168"/>
            <a:ext cx="365760" cy="146304"/>
          </a:xfrm>
          <a:prstGeom prst="rightArrow">
            <a:avLst/>
          </a:prstGeom>
          <a:solidFill>
            <a:srgbClr val="1596B0"/>
          </a:solidFill>
          <a:ln w="6350">
            <a:solidFill>
              <a:srgbClr val="1596B0"/>
            </a:solidFill>
            <a:prstDash val="solid"/>
          </a:ln>
        </p:spPr>
      </p:sp>
      <p:sp>
        <p:nvSpPr>
          <p:cNvPr id="14" name="Shape 12"/>
          <p:cNvSpPr/>
          <p:nvPr/>
        </p:nvSpPr>
        <p:spPr>
          <a:xfrm>
            <a:off x="3822192" y="1207008"/>
            <a:ext cx="1207008" cy="420624"/>
          </a:xfrm>
          <a:prstGeom prst="roundRect">
            <a:avLst>
              <a:gd name="adj" fmla="val 21739"/>
            </a:avLst>
          </a:prstGeom>
          <a:solidFill>
            <a:srgbClr val="FFFFFF"/>
          </a:solidFill>
          <a:ln w="15875">
            <a:solidFill>
              <a:srgbClr val="1596B0"/>
            </a:solidFill>
            <a:prstDash val="solid"/>
          </a:ln>
        </p:spPr>
      </p:sp>
      <p:sp>
        <p:nvSpPr>
          <p:cNvPr id="15" name="Text 13"/>
          <p:cNvSpPr/>
          <p:nvPr/>
        </p:nvSpPr>
        <p:spPr>
          <a:xfrm>
            <a:off x="3822192" y="1207008"/>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SQL Server gold schema</a:t>
            </a:r>
            <a:endParaRPr lang="en-US" sz="690" dirty="0"/>
          </a:p>
        </p:txBody>
      </p:sp>
      <p:sp>
        <p:nvSpPr>
          <p:cNvPr id="16" name="Shape 14"/>
          <p:cNvSpPr/>
          <p:nvPr/>
        </p:nvSpPr>
        <p:spPr>
          <a:xfrm>
            <a:off x="5047488" y="1344168"/>
            <a:ext cx="365760" cy="146304"/>
          </a:xfrm>
          <a:prstGeom prst="rightArrow">
            <a:avLst/>
          </a:prstGeom>
          <a:solidFill>
            <a:srgbClr val="1596B0"/>
          </a:solidFill>
          <a:ln w="6350">
            <a:solidFill>
              <a:srgbClr val="1596B0"/>
            </a:solidFill>
            <a:prstDash val="solid"/>
          </a:ln>
        </p:spPr>
      </p:sp>
      <p:sp>
        <p:nvSpPr>
          <p:cNvPr id="17" name="Shape 15"/>
          <p:cNvSpPr/>
          <p:nvPr/>
        </p:nvSpPr>
        <p:spPr>
          <a:xfrm>
            <a:off x="5468112" y="1207008"/>
            <a:ext cx="1207008" cy="420624"/>
          </a:xfrm>
          <a:prstGeom prst="roundRect">
            <a:avLst>
              <a:gd name="adj" fmla="val 21739"/>
            </a:avLst>
          </a:prstGeom>
          <a:solidFill>
            <a:srgbClr val="FFFFFF"/>
          </a:solidFill>
          <a:ln w="15875">
            <a:solidFill>
              <a:srgbClr val="1596B0"/>
            </a:solidFill>
            <a:prstDash val="solid"/>
          </a:ln>
        </p:spPr>
      </p:sp>
      <p:sp>
        <p:nvSpPr>
          <p:cNvPr id="18" name="Text 16"/>
          <p:cNvSpPr/>
          <p:nvPr/>
        </p:nvSpPr>
        <p:spPr>
          <a:xfrm>
            <a:off x="5468112" y="1207008"/>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Power BI semantic model</a:t>
            </a:r>
            <a:endParaRPr lang="en-US" sz="690" dirty="0"/>
          </a:p>
        </p:txBody>
      </p:sp>
      <p:sp>
        <p:nvSpPr>
          <p:cNvPr id="19" name="Text 17"/>
          <p:cNvSpPr/>
          <p:nvPr/>
        </p:nvSpPr>
        <p:spPr>
          <a:xfrm>
            <a:off x="1188720" y="1682496"/>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Extract completeness: row count and high-water mark per table, CDC continuity</a:t>
            </a:r>
            <a:endParaRPr lang="en-US" sz="630" dirty="0"/>
          </a:p>
        </p:txBody>
      </p:sp>
      <p:sp>
        <p:nvSpPr>
          <p:cNvPr id="20" name="Text 18"/>
          <p:cNvSpPr/>
          <p:nvPr/>
        </p:nvSpPr>
        <p:spPr>
          <a:xfrm>
            <a:off x="2834640" y="1682496"/>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DDL parity, type and precision mapping, checksum and business-key reconciliation</a:t>
            </a:r>
            <a:endParaRPr lang="en-US" sz="630" dirty="0"/>
          </a:p>
        </p:txBody>
      </p:sp>
      <p:sp>
        <p:nvSpPr>
          <p:cNvPr id="21" name="Text 19"/>
          <p:cNvSpPr/>
          <p:nvPr/>
        </p:nvSpPr>
        <p:spPr>
          <a:xfrm>
            <a:off x="4480560" y="1682496"/>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Measure parity in DAX under the same filter context, RLS, refresh SLA</a:t>
            </a:r>
            <a:endParaRPr lang="en-US" sz="630" dirty="0"/>
          </a:p>
        </p:txBody>
      </p:sp>
      <p:sp>
        <p:nvSpPr>
          <p:cNvPr id="22" name="Shape 20"/>
          <p:cNvSpPr/>
          <p:nvPr/>
        </p:nvSpPr>
        <p:spPr>
          <a:xfrm>
            <a:off x="6858000" y="1188720"/>
            <a:ext cx="2926080" cy="1243584"/>
          </a:xfrm>
          <a:prstGeom prst="rect">
            <a:avLst/>
          </a:prstGeom>
          <a:solidFill>
            <a:srgbClr val="ADDAFB"/>
          </a:solidFill>
          <a:ln w="6350">
            <a:solidFill>
              <a:srgbClr val="ADDAFB"/>
            </a:solidFill>
            <a:prstDash val="solid"/>
          </a:ln>
        </p:spPr>
      </p:sp>
      <p:sp>
        <p:nvSpPr>
          <p:cNvPr id="23" name="Text 21"/>
          <p:cNvSpPr/>
          <p:nvPr/>
        </p:nvSpPr>
        <p:spPr>
          <a:xfrm>
            <a:off x="6858000" y="1188720"/>
            <a:ext cx="2926080" cy="1243584"/>
          </a:xfrm>
          <a:prstGeom prst="rect">
            <a:avLst/>
          </a:prstGeom>
          <a:noFill/>
          <a:ln/>
        </p:spPr>
        <p:txBody>
          <a:bodyPr wrap="square" lIns="762" tIns="1143" rIns="1143" bIns="508" rtlCol="0" anchor="t"/>
          <a:lstStyle/>
          <a:p>
            <a:pPr indent="0" marL="0">
              <a:lnSpc>
                <a:spcPct val="92000"/>
              </a:lnSpc>
              <a:spcAft>
                <a:spcPts val="300"/>
              </a:spcAft>
              <a:buNone/>
            </a:pPr>
            <a:r>
              <a:rPr lang="en-US" sz="720" b="1" dirty="0">
                <a:solidFill>
                  <a:srgbClr val="081F5C"/>
                </a:solidFill>
                <a:latin typeface="Arial" pitchFamily="34" charset="0"/>
                <a:ea typeface="Arial" pitchFamily="34" charset="-122"/>
                <a:cs typeface="Arial" pitchFamily="34" charset="-120"/>
              </a:rPr>
              <a:t>Automated checks  ·  Oracle 19c → MS SQL Server</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DDL and type mapping: NUMBER(p,s) to DECIMAL, VARCHAR2 to VARCHAR, DATE to DATETIME2, CLOB to VARCHAR(MAX)</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Collation and case sensitivity — Oracle compares case-sensitively, SQL Server does not by default, which silently changes joins and filters</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Row count, column checksum, business-key uniqueness, orphan foreign keys, NULL-ratio drift</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Converted T-SQL procedure re-run on pinned inputs and diffed against the Oracle package output</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Domain control totals — encounter counts, charge amounts and member months balanced across the subject area</a:t>
            </a:r>
            <a:endParaRPr lang="en-US" sz="720" dirty="0"/>
          </a:p>
        </p:txBody>
      </p:sp>
      <p:sp>
        <p:nvSpPr>
          <p:cNvPr id="24" name="Shape 22"/>
          <p:cNvSpPr/>
          <p:nvPr/>
        </p:nvSpPr>
        <p:spPr>
          <a:xfrm>
            <a:off x="384048" y="2578608"/>
            <a:ext cx="9464040" cy="219456"/>
          </a:xfrm>
          <a:prstGeom prst="rect">
            <a:avLst/>
          </a:prstGeom>
          <a:solidFill>
            <a:srgbClr val="3E6DA8"/>
          </a:solidFill>
          <a:ln w="6350">
            <a:solidFill>
              <a:srgbClr val="3E6DA8"/>
            </a:solidFill>
            <a:prstDash val="solid"/>
          </a:ln>
        </p:spPr>
      </p:sp>
      <p:sp>
        <p:nvSpPr>
          <p:cNvPr id="25" name="Text 23"/>
          <p:cNvSpPr/>
          <p:nvPr/>
        </p:nvSpPr>
        <p:spPr>
          <a:xfrm>
            <a:off x="475488" y="2578608"/>
            <a:ext cx="7360920" cy="219456"/>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 · Database objects   Oracle 19c  →  Delta and Unity Catalog        feeds Databricks AI/BI</a:t>
            </a:r>
            <a:endParaRPr lang="en-US" sz="850" dirty="0"/>
          </a:p>
        </p:txBody>
      </p:sp>
      <p:sp>
        <p:nvSpPr>
          <p:cNvPr id="26" name="Text 24"/>
          <p:cNvSpPr/>
          <p:nvPr/>
        </p:nvSpPr>
        <p:spPr>
          <a:xfrm>
            <a:off x="7744968" y="2578608"/>
            <a:ext cx="2011680" cy="219456"/>
          </a:xfrm>
          <a:prstGeom prst="rect">
            <a:avLst/>
          </a:prstGeom>
          <a:noFill/>
          <a:ln/>
        </p:spPr>
        <p:txBody>
          <a:bodyPr wrap="square" lIns="0" tIns="0" rIns="0" bIns="0" rtlCol="0" anchor="ctr"/>
          <a:lstStyle/>
          <a:p>
            <a:pPr algn="r" indent="0" marL="0">
              <a:buNone/>
            </a:pPr>
            <a:r>
              <a:rPr lang="en-US" sz="700" i="1" dirty="0">
                <a:solidFill>
                  <a:srgbClr val="E3E9F5"/>
                </a:solidFill>
                <a:latin typeface="Arial" pitchFamily="34" charset="0"/>
                <a:ea typeface="Arial" pitchFamily="34" charset="-122"/>
                <a:cs typeface="Arial" pitchFamily="34" charset="-120"/>
              </a:rPr>
              <a:t>CATE Test Engine</a:t>
            </a:r>
            <a:endParaRPr lang="en-US" sz="700" dirty="0"/>
          </a:p>
        </p:txBody>
      </p:sp>
      <p:sp>
        <p:nvSpPr>
          <p:cNvPr id="27" name="Shape 25"/>
          <p:cNvSpPr/>
          <p:nvPr/>
        </p:nvSpPr>
        <p:spPr>
          <a:xfrm>
            <a:off x="384048" y="2798064"/>
            <a:ext cx="9464040" cy="1353312"/>
          </a:xfrm>
          <a:prstGeom prst="rect">
            <a:avLst/>
          </a:prstGeom>
          <a:solidFill>
            <a:srgbClr val="FCFDFE"/>
          </a:solidFill>
          <a:ln w="9525">
            <a:solidFill>
              <a:srgbClr val="DCE6F0"/>
            </a:solidFill>
            <a:prstDash val="solid"/>
          </a:ln>
        </p:spPr>
      </p:sp>
      <p:sp>
        <p:nvSpPr>
          <p:cNvPr id="28" name="Shape 26"/>
          <p:cNvSpPr/>
          <p:nvPr/>
        </p:nvSpPr>
        <p:spPr>
          <a:xfrm>
            <a:off x="530352" y="2871216"/>
            <a:ext cx="1207008" cy="420624"/>
          </a:xfrm>
          <a:prstGeom prst="roundRect">
            <a:avLst>
              <a:gd name="adj" fmla="val 21739"/>
            </a:avLst>
          </a:prstGeom>
          <a:solidFill>
            <a:srgbClr val="FFFFFF"/>
          </a:solidFill>
          <a:ln w="15875">
            <a:solidFill>
              <a:srgbClr val="3E6DA8"/>
            </a:solidFill>
            <a:prstDash val="solid"/>
          </a:ln>
        </p:spPr>
      </p:sp>
      <p:sp>
        <p:nvSpPr>
          <p:cNvPr id="29" name="Text 27"/>
          <p:cNvSpPr/>
          <p:nvPr/>
        </p:nvSpPr>
        <p:spPr>
          <a:xfrm>
            <a:off x="530352" y="2871216"/>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Oracle 19c custom schema</a:t>
            </a:r>
            <a:endParaRPr lang="en-US" sz="690" dirty="0"/>
          </a:p>
        </p:txBody>
      </p:sp>
      <p:sp>
        <p:nvSpPr>
          <p:cNvPr id="30" name="Shape 28"/>
          <p:cNvSpPr/>
          <p:nvPr/>
        </p:nvSpPr>
        <p:spPr>
          <a:xfrm>
            <a:off x="1755648" y="3008376"/>
            <a:ext cx="365760" cy="146304"/>
          </a:xfrm>
          <a:prstGeom prst="rightArrow">
            <a:avLst/>
          </a:prstGeom>
          <a:solidFill>
            <a:srgbClr val="3E6DA8"/>
          </a:solidFill>
          <a:ln w="6350">
            <a:solidFill>
              <a:srgbClr val="3E6DA8"/>
            </a:solidFill>
            <a:prstDash val="solid"/>
          </a:ln>
        </p:spPr>
      </p:sp>
      <p:sp>
        <p:nvSpPr>
          <p:cNvPr id="31" name="Shape 29"/>
          <p:cNvSpPr/>
          <p:nvPr/>
        </p:nvSpPr>
        <p:spPr>
          <a:xfrm>
            <a:off x="2176272" y="2871216"/>
            <a:ext cx="1207008" cy="420624"/>
          </a:xfrm>
          <a:prstGeom prst="roundRect">
            <a:avLst>
              <a:gd name="adj" fmla="val 21739"/>
            </a:avLst>
          </a:prstGeom>
          <a:solidFill>
            <a:srgbClr val="FFFFFF"/>
          </a:solidFill>
          <a:ln w="15875">
            <a:solidFill>
              <a:srgbClr val="3E6DA8"/>
            </a:solidFill>
            <a:prstDash val="solid"/>
          </a:ln>
        </p:spPr>
      </p:sp>
      <p:sp>
        <p:nvSpPr>
          <p:cNvPr id="32" name="Text 30"/>
          <p:cNvSpPr/>
          <p:nvPr/>
        </p:nvSpPr>
        <p:spPr>
          <a:xfrm>
            <a:off x="2176272" y="2871216"/>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Bronze — Delta</a:t>
            </a:r>
            <a:endParaRPr lang="en-US" sz="690" dirty="0"/>
          </a:p>
        </p:txBody>
      </p:sp>
      <p:sp>
        <p:nvSpPr>
          <p:cNvPr id="33" name="Shape 31"/>
          <p:cNvSpPr/>
          <p:nvPr/>
        </p:nvSpPr>
        <p:spPr>
          <a:xfrm>
            <a:off x="3401568" y="3008376"/>
            <a:ext cx="365760" cy="146304"/>
          </a:xfrm>
          <a:prstGeom prst="rightArrow">
            <a:avLst/>
          </a:prstGeom>
          <a:solidFill>
            <a:srgbClr val="3E6DA8"/>
          </a:solidFill>
          <a:ln w="6350">
            <a:solidFill>
              <a:srgbClr val="3E6DA8"/>
            </a:solidFill>
            <a:prstDash val="solid"/>
          </a:ln>
        </p:spPr>
      </p:sp>
      <p:sp>
        <p:nvSpPr>
          <p:cNvPr id="34" name="Shape 32"/>
          <p:cNvSpPr/>
          <p:nvPr/>
        </p:nvSpPr>
        <p:spPr>
          <a:xfrm>
            <a:off x="3822192" y="2871216"/>
            <a:ext cx="1207008" cy="420624"/>
          </a:xfrm>
          <a:prstGeom prst="roundRect">
            <a:avLst>
              <a:gd name="adj" fmla="val 21739"/>
            </a:avLst>
          </a:prstGeom>
          <a:solidFill>
            <a:srgbClr val="FFFFFF"/>
          </a:solidFill>
          <a:ln w="15875">
            <a:solidFill>
              <a:srgbClr val="3E6DA8"/>
            </a:solidFill>
            <a:prstDash val="solid"/>
          </a:ln>
        </p:spPr>
      </p:sp>
      <p:sp>
        <p:nvSpPr>
          <p:cNvPr id="35" name="Text 33"/>
          <p:cNvSpPr/>
          <p:nvPr/>
        </p:nvSpPr>
        <p:spPr>
          <a:xfrm>
            <a:off x="3822192" y="2871216"/>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Silver &amp; gold — Unity Catalog</a:t>
            </a:r>
            <a:endParaRPr lang="en-US" sz="690" dirty="0"/>
          </a:p>
        </p:txBody>
      </p:sp>
      <p:sp>
        <p:nvSpPr>
          <p:cNvPr id="36" name="Shape 34"/>
          <p:cNvSpPr/>
          <p:nvPr/>
        </p:nvSpPr>
        <p:spPr>
          <a:xfrm>
            <a:off x="5047488" y="3008376"/>
            <a:ext cx="365760" cy="146304"/>
          </a:xfrm>
          <a:prstGeom prst="rightArrow">
            <a:avLst/>
          </a:prstGeom>
          <a:solidFill>
            <a:srgbClr val="3E6DA8"/>
          </a:solidFill>
          <a:ln w="6350">
            <a:solidFill>
              <a:srgbClr val="3E6DA8"/>
            </a:solidFill>
            <a:prstDash val="solid"/>
          </a:ln>
        </p:spPr>
      </p:sp>
      <p:sp>
        <p:nvSpPr>
          <p:cNvPr id="37" name="Shape 35"/>
          <p:cNvSpPr/>
          <p:nvPr/>
        </p:nvSpPr>
        <p:spPr>
          <a:xfrm>
            <a:off x="5468112" y="2871216"/>
            <a:ext cx="1207008" cy="420624"/>
          </a:xfrm>
          <a:prstGeom prst="roundRect">
            <a:avLst>
              <a:gd name="adj" fmla="val 21739"/>
            </a:avLst>
          </a:prstGeom>
          <a:solidFill>
            <a:srgbClr val="FFFFFF"/>
          </a:solidFill>
          <a:ln w="15875">
            <a:solidFill>
              <a:srgbClr val="3E6DA8"/>
            </a:solidFill>
            <a:prstDash val="solid"/>
          </a:ln>
        </p:spPr>
      </p:sp>
      <p:sp>
        <p:nvSpPr>
          <p:cNvPr id="38" name="Text 36"/>
          <p:cNvSpPr/>
          <p:nvPr/>
        </p:nvSpPr>
        <p:spPr>
          <a:xfrm>
            <a:off x="5468112" y="2871216"/>
            <a:ext cx="1207008" cy="420624"/>
          </a:xfrm>
          <a:prstGeom prst="rect">
            <a:avLst/>
          </a:prstGeom>
          <a:noFill/>
          <a:ln/>
        </p:spPr>
        <p:txBody>
          <a:bodyPr wrap="square" lIns="254" tIns="508" rIns="508" bIns="254" rtlCol="0" anchor="ctr"/>
          <a:lstStyle/>
          <a:p>
            <a:pPr algn="ctr" indent="0" marL="0">
              <a:lnSpc>
                <a:spcPct val="92000"/>
              </a:lnSpc>
              <a:buNone/>
            </a:pPr>
            <a:r>
              <a:rPr lang="en-US" sz="690" b="1" dirty="0">
                <a:solidFill>
                  <a:srgbClr val="081F5C"/>
                </a:solidFill>
                <a:latin typeface="Arial" pitchFamily="34" charset="0"/>
                <a:ea typeface="Arial" pitchFamily="34" charset="-122"/>
                <a:cs typeface="Arial" pitchFamily="34" charset="-120"/>
              </a:rPr>
              <a:t>AI/BI dashboard &amp; Genie</a:t>
            </a:r>
            <a:endParaRPr lang="en-US" sz="690" dirty="0"/>
          </a:p>
        </p:txBody>
      </p:sp>
      <p:sp>
        <p:nvSpPr>
          <p:cNvPr id="39" name="Text 37"/>
          <p:cNvSpPr/>
          <p:nvPr/>
        </p:nvSpPr>
        <p:spPr>
          <a:xfrm>
            <a:off x="1188720" y="3346704"/>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Ingest completeness: row count, watermark, CDC continuity, late-arriving records</a:t>
            </a:r>
            <a:endParaRPr lang="en-US" sz="630" dirty="0"/>
          </a:p>
        </p:txBody>
      </p:sp>
      <p:sp>
        <p:nvSpPr>
          <p:cNvPr id="40" name="Text 38"/>
          <p:cNvSpPr/>
          <p:nvPr/>
        </p:nvSpPr>
        <p:spPr>
          <a:xfrm>
            <a:off x="2834640" y="3346704"/>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Delta DDL parity, type mapping, checksum, procedural logic re-run diff</a:t>
            </a:r>
            <a:endParaRPr lang="en-US" sz="630" dirty="0"/>
          </a:p>
        </p:txBody>
      </p:sp>
      <p:sp>
        <p:nvSpPr>
          <p:cNvPr id="41" name="Text 39"/>
          <p:cNvSpPr/>
          <p:nvPr/>
        </p:nvSpPr>
        <p:spPr>
          <a:xfrm>
            <a:off x="4480560" y="3346704"/>
            <a:ext cx="1536192" cy="457200"/>
          </a:xfrm>
          <a:prstGeom prst="rect">
            <a:avLst/>
          </a:prstGeom>
          <a:noFill/>
          <a:ln/>
        </p:spPr>
        <p:txBody>
          <a:bodyPr wrap="square" lIns="0" tIns="0" rIns="0" bIns="0" rtlCol="0" anchor="t"/>
          <a:lstStyle/>
          <a:p>
            <a:pPr algn="ctr" indent="0" marL="0">
              <a:lnSpc>
                <a:spcPct val="92000"/>
              </a:lnSpc>
              <a:buNone/>
            </a:pPr>
            <a:r>
              <a:rPr lang="en-US" sz="630" i="1" dirty="0">
                <a:solidFill>
                  <a:srgbClr val="2E4A85"/>
                </a:solidFill>
                <a:latin typeface="Arial" pitchFamily="34" charset="0"/>
                <a:ea typeface="Arial" pitchFamily="34" charset="-122"/>
                <a:cs typeface="Arial" pitchFamily="34" charset="-120"/>
              </a:rPr>
              <a:t>Metric view parity, UC row filter and mask enforcement, Genie known-answer set</a:t>
            </a:r>
            <a:endParaRPr lang="en-US" sz="630" dirty="0"/>
          </a:p>
        </p:txBody>
      </p:sp>
      <p:sp>
        <p:nvSpPr>
          <p:cNvPr id="42" name="Shape 40"/>
          <p:cNvSpPr/>
          <p:nvPr/>
        </p:nvSpPr>
        <p:spPr>
          <a:xfrm>
            <a:off x="6858000" y="2852928"/>
            <a:ext cx="2926080" cy="1243584"/>
          </a:xfrm>
          <a:prstGeom prst="rect">
            <a:avLst/>
          </a:prstGeom>
          <a:solidFill>
            <a:srgbClr val="ADDAFB"/>
          </a:solidFill>
          <a:ln w="6350">
            <a:solidFill>
              <a:srgbClr val="ADDAFB"/>
            </a:solidFill>
            <a:prstDash val="solid"/>
          </a:ln>
        </p:spPr>
      </p:sp>
      <p:sp>
        <p:nvSpPr>
          <p:cNvPr id="43" name="Text 41"/>
          <p:cNvSpPr/>
          <p:nvPr/>
        </p:nvSpPr>
        <p:spPr>
          <a:xfrm>
            <a:off x="6858000" y="2852928"/>
            <a:ext cx="2926080" cy="1243584"/>
          </a:xfrm>
          <a:prstGeom prst="rect">
            <a:avLst/>
          </a:prstGeom>
          <a:noFill/>
          <a:ln/>
        </p:spPr>
        <p:txBody>
          <a:bodyPr wrap="square" lIns="762" tIns="1143" rIns="1143" bIns="508" rtlCol="0" anchor="t"/>
          <a:lstStyle/>
          <a:p>
            <a:pPr indent="0" marL="0">
              <a:lnSpc>
                <a:spcPct val="92000"/>
              </a:lnSpc>
              <a:spcAft>
                <a:spcPts val="300"/>
              </a:spcAft>
              <a:buNone/>
            </a:pPr>
            <a:r>
              <a:rPr lang="en-US" sz="720" b="1" dirty="0">
                <a:solidFill>
                  <a:srgbClr val="081F5C"/>
                </a:solidFill>
                <a:latin typeface="Arial" pitchFamily="34" charset="0"/>
                <a:ea typeface="Arial" pitchFamily="34" charset="-122"/>
                <a:cs typeface="Arial" pitchFamily="34" charset="-120"/>
              </a:rPr>
              <a:t>Automated checks  ·  Oracle 19c → Delta and Unity Catalog</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DDL and type mapping: NUMBER(p,s) to DECIMAL, DATE to TIMESTAMP normalised to UTC, no informational-only constraint relied on</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Timezone and date-boundary check after the UTC shift — day-grain aggregates move if this is missed</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Row count, column checksum, business-key uniqueness, duplicate detection after MERGE, late-arriving CDC handling</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Converted SQL UDF, notebook or DLT logic re-run on pinned inputs and diffed against the Oracle package</a:t>
            </a:r>
            <a:endParaRPr lang="en-US" sz="720" dirty="0"/>
          </a:p>
          <a:p>
            <a:pPr marL="342900" indent="-342900">
              <a:lnSpc>
                <a:spcPct val="92000"/>
              </a:lnSpc>
              <a:spcAft>
                <a:spcPts val="200"/>
              </a:spcAft>
              <a:buSzPct val="100000"/>
              <a:buChar char="•"/>
            </a:pPr>
            <a:r>
              <a:rPr lang="en-US" sz="640" dirty="0">
                <a:solidFill>
                  <a:srgbClr val="1A1A1A"/>
                </a:solidFill>
                <a:latin typeface="Arial" pitchFamily="34" charset="0"/>
                <a:ea typeface="Arial" pitchFamily="34" charset="-122"/>
                <a:cs typeface="Arial" pitchFamily="34" charset="-120"/>
              </a:rPr>
              <a:t>NULL ordering: Oracle sorts NULLS LAST by default, which changes every TOP-N and ranked result</a:t>
            </a:r>
            <a:endParaRPr lang="en-US" sz="720" dirty="0"/>
          </a:p>
        </p:txBody>
      </p:sp>
      <p:sp>
        <p:nvSpPr>
          <p:cNvPr id="44" name="Shape 42"/>
          <p:cNvSpPr/>
          <p:nvPr/>
        </p:nvSpPr>
        <p:spPr>
          <a:xfrm>
            <a:off x="384048" y="4242816"/>
            <a:ext cx="9464040" cy="219456"/>
          </a:xfrm>
          <a:prstGeom prst="rect">
            <a:avLst/>
          </a:prstGeom>
          <a:solidFill>
            <a:srgbClr val="081F5C"/>
          </a:solidFill>
          <a:ln w="6350">
            <a:solidFill>
              <a:srgbClr val="081F5C"/>
            </a:solidFill>
            <a:prstDash val="solid"/>
          </a:ln>
        </p:spPr>
      </p:sp>
      <p:sp>
        <p:nvSpPr>
          <p:cNvPr id="45" name="Text 43"/>
          <p:cNvSpPr/>
          <p:nvPr/>
        </p:nvSpPr>
        <p:spPr>
          <a:xfrm>
            <a:off x="475488" y="4242816"/>
            <a:ext cx="7360920" cy="219456"/>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3 · Report validation by disposition        every rebuilt report is proved against its BOBJ baseline before release</a:t>
            </a:r>
            <a:endParaRPr lang="en-US" sz="850" dirty="0"/>
          </a:p>
        </p:txBody>
      </p:sp>
      <p:sp>
        <p:nvSpPr>
          <p:cNvPr id="46" name="Text 44"/>
          <p:cNvSpPr/>
          <p:nvPr/>
        </p:nvSpPr>
        <p:spPr>
          <a:xfrm>
            <a:off x="7744968" y="4242816"/>
            <a:ext cx="2011680" cy="219456"/>
          </a:xfrm>
          <a:prstGeom prst="rect">
            <a:avLst/>
          </a:prstGeom>
          <a:noFill/>
          <a:ln/>
        </p:spPr>
        <p:txBody>
          <a:bodyPr wrap="square" lIns="0" tIns="0" rIns="0" bIns="0" rtlCol="0" anchor="ctr"/>
          <a:lstStyle/>
          <a:p>
            <a:pPr algn="r" indent="0" marL="0">
              <a:buNone/>
            </a:pPr>
            <a:r>
              <a:rPr lang="en-US" sz="700" i="1" dirty="0">
                <a:solidFill>
                  <a:srgbClr val="E3E9F5"/>
                </a:solidFill>
                <a:latin typeface="Arial" pitchFamily="34" charset="0"/>
                <a:ea typeface="Arial" pitchFamily="34" charset="-122"/>
                <a:cs typeface="Arial" pitchFamily="34" charset="-120"/>
              </a:rPr>
              <a:t>Automated Report Tester</a:t>
            </a:r>
            <a:endParaRPr lang="en-US" sz="700" dirty="0"/>
          </a:p>
        </p:txBody>
      </p:sp>
      <p:sp>
        <p:nvSpPr>
          <p:cNvPr id="47" name="Shape 45"/>
          <p:cNvSpPr/>
          <p:nvPr/>
        </p:nvSpPr>
        <p:spPr>
          <a:xfrm>
            <a:off x="384048" y="4535424"/>
            <a:ext cx="2269998" cy="201168"/>
          </a:xfrm>
          <a:prstGeom prst="rect">
            <a:avLst/>
          </a:prstGeom>
          <a:solidFill>
            <a:srgbClr val="68349A"/>
          </a:solidFill>
          <a:ln w="6350">
            <a:solidFill>
              <a:srgbClr val="68349A"/>
            </a:solidFill>
            <a:prstDash val="solid"/>
          </a:ln>
        </p:spPr>
      </p:sp>
      <p:sp>
        <p:nvSpPr>
          <p:cNvPr id="48" name="Text 46"/>
          <p:cNvSpPr/>
          <p:nvPr/>
        </p:nvSpPr>
        <p:spPr>
          <a:xfrm>
            <a:off x="384048" y="4535424"/>
            <a:ext cx="226999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CogitoSQL</a:t>
            </a:r>
            <a:endParaRPr lang="en-US" sz="800" dirty="0"/>
          </a:p>
        </p:txBody>
      </p:sp>
      <p:sp>
        <p:nvSpPr>
          <p:cNvPr id="49" name="Shape 47"/>
          <p:cNvSpPr/>
          <p:nvPr/>
        </p:nvSpPr>
        <p:spPr>
          <a:xfrm>
            <a:off x="384048" y="4736592"/>
            <a:ext cx="2269998" cy="1371600"/>
          </a:xfrm>
          <a:prstGeom prst="rect">
            <a:avLst/>
          </a:prstGeom>
          <a:solidFill>
            <a:srgbClr val="F5F9FD"/>
          </a:solidFill>
          <a:ln w="9525">
            <a:solidFill>
              <a:srgbClr val="DCE6F0"/>
            </a:solidFill>
            <a:prstDash val="solid"/>
          </a:ln>
        </p:spPr>
      </p:sp>
      <p:sp>
        <p:nvSpPr>
          <p:cNvPr id="50" name="Text 48"/>
          <p:cNvSpPr/>
          <p:nvPr/>
        </p:nvSpPr>
        <p:spPr>
          <a:xfrm>
            <a:off x="384048" y="4736592"/>
            <a:ext cx="2269998" cy="1371600"/>
          </a:xfrm>
          <a:prstGeom prst="rect">
            <a:avLst/>
          </a:prstGeom>
          <a:noFill/>
          <a:ln/>
        </p:spPr>
        <p:txBody>
          <a:bodyPr wrap="square" lIns="762" tIns="1016" rIns="1016" bIns="508" rtlCol="0" anchor="t"/>
          <a:lstStyle/>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Column and row reconciliation to L2+ against the BOBJ baseline</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Prompt and filter equivalence — BOBJ prompts mapped to RW criteria</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Epic security class test run as a restricted clinician account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In-workflow launch: correct Hyperspace activity, patient context passes</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Chronicles latency inside the agreed window</a:t>
            </a:r>
            <a:endParaRPr lang="en-US" sz="660" dirty="0"/>
          </a:p>
        </p:txBody>
      </p:sp>
      <p:sp>
        <p:nvSpPr>
          <p:cNvPr id="51" name="Shape 49"/>
          <p:cNvSpPr/>
          <p:nvPr/>
        </p:nvSpPr>
        <p:spPr>
          <a:xfrm>
            <a:off x="2782062" y="4535424"/>
            <a:ext cx="2269998" cy="201168"/>
          </a:xfrm>
          <a:prstGeom prst="rect">
            <a:avLst/>
          </a:prstGeom>
          <a:solidFill>
            <a:srgbClr val="1596B0"/>
          </a:solidFill>
          <a:ln w="6350">
            <a:solidFill>
              <a:srgbClr val="1596B0"/>
            </a:solidFill>
            <a:prstDash val="solid"/>
          </a:ln>
        </p:spPr>
      </p:sp>
      <p:sp>
        <p:nvSpPr>
          <p:cNvPr id="52" name="Text 50"/>
          <p:cNvSpPr/>
          <p:nvPr/>
        </p:nvSpPr>
        <p:spPr>
          <a:xfrm>
            <a:off x="2782062" y="4535424"/>
            <a:ext cx="226999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Power BI</a:t>
            </a:r>
            <a:endParaRPr lang="en-US" sz="800" dirty="0"/>
          </a:p>
        </p:txBody>
      </p:sp>
      <p:sp>
        <p:nvSpPr>
          <p:cNvPr id="53" name="Shape 51"/>
          <p:cNvSpPr/>
          <p:nvPr/>
        </p:nvSpPr>
        <p:spPr>
          <a:xfrm>
            <a:off x="2782062" y="4736592"/>
            <a:ext cx="2269998" cy="1371600"/>
          </a:xfrm>
          <a:prstGeom prst="rect">
            <a:avLst/>
          </a:prstGeom>
          <a:solidFill>
            <a:srgbClr val="F5F9FD"/>
          </a:solidFill>
          <a:ln w="9525">
            <a:solidFill>
              <a:srgbClr val="DCE6F0"/>
            </a:solidFill>
            <a:prstDash val="solid"/>
          </a:ln>
        </p:spPr>
      </p:sp>
      <p:sp>
        <p:nvSpPr>
          <p:cNvPr id="54" name="Text 52"/>
          <p:cNvSpPr/>
          <p:nvPr/>
        </p:nvSpPr>
        <p:spPr>
          <a:xfrm>
            <a:off x="2782062" y="4736592"/>
            <a:ext cx="2269998" cy="1371600"/>
          </a:xfrm>
          <a:prstGeom prst="rect">
            <a:avLst/>
          </a:prstGeom>
          <a:noFill/>
          <a:ln/>
        </p:spPr>
        <p:txBody>
          <a:bodyPr wrap="square" lIns="762" tIns="1016" rIns="1016" bIns="508" rtlCol="0" anchor="t"/>
          <a:lstStyle/>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Measure-by-measure DAX parity under the same filter context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Paginated layout fidelity — page breaks, headers, totals, pagination</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Subscription burst tested against the BOBJ publication recipient list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Entra RLS proved with a non-privileged account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Export fidelity to Excel and PDF, values and formatting</a:t>
            </a:r>
            <a:endParaRPr lang="en-US" sz="660" dirty="0"/>
          </a:p>
        </p:txBody>
      </p:sp>
      <p:sp>
        <p:nvSpPr>
          <p:cNvPr id="55" name="Shape 53"/>
          <p:cNvSpPr/>
          <p:nvPr/>
        </p:nvSpPr>
        <p:spPr>
          <a:xfrm>
            <a:off x="5180076" y="4535424"/>
            <a:ext cx="2269998" cy="201168"/>
          </a:xfrm>
          <a:prstGeom prst="rect">
            <a:avLst/>
          </a:prstGeom>
          <a:solidFill>
            <a:srgbClr val="3E6DA8"/>
          </a:solidFill>
          <a:ln w="6350">
            <a:solidFill>
              <a:srgbClr val="3E6DA8"/>
            </a:solidFill>
            <a:prstDash val="solid"/>
          </a:ln>
        </p:spPr>
      </p:sp>
      <p:sp>
        <p:nvSpPr>
          <p:cNvPr id="56" name="Text 54"/>
          <p:cNvSpPr/>
          <p:nvPr/>
        </p:nvSpPr>
        <p:spPr>
          <a:xfrm>
            <a:off x="5180076" y="4535424"/>
            <a:ext cx="226999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Databricks AI/BI</a:t>
            </a:r>
            <a:endParaRPr lang="en-US" sz="800" dirty="0"/>
          </a:p>
        </p:txBody>
      </p:sp>
      <p:sp>
        <p:nvSpPr>
          <p:cNvPr id="57" name="Shape 55"/>
          <p:cNvSpPr/>
          <p:nvPr/>
        </p:nvSpPr>
        <p:spPr>
          <a:xfrm>
            <a:off x="5180076" y="4736592"/>
            <a:ext cx="2269998" cy="1371600"/>
          </a:xfrm>
          <a:prstGeom prst="rect">
            <a:avLst/>
          </a:prstGeom>
          <a:solidFill>
            <a:srgbClr val="F5F9FD"/>
          </a:solidFill>
          <a:ln w="9525">
            <a:solidFill>
              <a:srgbClr val="DCE6F0"/>
            </a:solidFill>
            <a:prstDash val="solid"/>
          </a:ln>
        </p:spPr>
      </p:sp>
      <p:sp>
        <p:nvSpPr>
          <p:cNvPr id="58" name="Text 56"/>
          <p:cNvSpPr/>
          <p:nvPr/>
        </p:nvSpPr>
        <p:spPr>
          <a:xfrm>
            <a:off x="5180076" y="4736592"/>
            <a:ext cx="2269998" cy="1371600"/>
          </a:xfrm>
          <a:prstGeom prst="rect">
            <a:avLst/>
          </a:prstGeom>
          <a:noFill/>
          <a:ln/>
        </p:spPr>
        <p:txBody>
          <a:bodyPr wrap="square" lIns="762" tIns="1016" rIns="1016" bIns="508" rtlCol="0" anchor="t"/>
          <a:lstStyle/>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Metric view and dashboard output parity against the BOBJ baseline</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Genie known-answer question set, plus refusal on out-of-scope asks</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Genie scope test: no reach beyond governed gold tables</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UC row filter and column mask enforcement, non-privileged principal</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Warehouse concurrency and response time at peak</a:t>
            </a:r>
            <a:endParaRPr lang="en-US" sz="660" dirty="0"/>
          </a:p>
        </p:txBody>
      </p:sp>
      <p:sp>
        <p:nvSpPr>
          <p:cNvPr id="59" name="Shape 57"/>
          <p:cNvSpPr/>
          <p:nvPr/>
        </p:nvSpPr>
        <p:spPr>
          <a:xfrm>
            <a:off x="7578090" y="4535424"/>
            <a:ext cx="2269998" cy="201168"/>
          </a:xfrm>
          <a:prstGeom prst="rect">
            <a:avLst/>
          </a:prstGeom>
          <a:solidFill>
            <a:srgbClr val="081F5C"/>
          </a:solidFill>
          <a:ln w="6350">
            <a:solidFill>
              <a:srgbClr val="081F5C"/>
            </a:solidFill>
            <a:prstDash val="solid"/>
          </a:ln>
        </p:spPr>
      </p:sp>
      <p:sp>
        <p:nvSpPr>
          <p:cNvPr id="60" name="Text 58"/>
          <p:cNvSpPr/>
          <p:nvPr/>
        </p:nvSpPr>
        <p:spPr>
          <a:xfrm>
            <a:off x="7578090" y="4535424"/>
            <a:ext cx="226999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Retain in BOBJ</a:t>
            </a:r>
            <a:endParaRPr lang="en-US" sz="800" dirty="0"/>
          </a:p>
        </p:txBody>
      </p:sp>
      <p:sp>
        <p:nvSpPr>
          <p:cNvPr id="61" name="Shape 59"/>
          <p:cNvSpPr/>
          <p:nvPr/>
        </p:nvSpPr>
        <p:spPr>
          <a:xfrm>
            <a:off x="7578090" y="4736592"/>
            <a:ext cx="2269998" cy="1371600"/>
          </a:xfrm>
          <a:prstGeom prst="rect">
            <a:avLst/>
          </a:prstGeom>
          <a:solidFill>
            <a:srgbClr val="FFFFFF"/>
          </a:solidFill>
          <a:ln w="9525">
            <a:solidFill>
              <a:srgbClr val="081F5C"/>
            </a:solidFill>
            <a:prstDash val="dash"/>
          </a:ln>
        </p:spPr>
      </p:sp>
      <p:sp>
        <p:nvSpPr>
          <p:cNvPr id="62" name="Text 60"/>
          <p:cNvSpPr/>
          <p:nvPr/>
        </p:nvSpPr>
        <p:spPr>
          <a:xfrm>
            <a:off x="7578090" y="4736592"/>
            <a:ext cx="2269998" cy="1371600"/>
          </a:xfrm>
          <a:prstGeom prst="rect">
            <a:avLst/>
          </a:prstGeom>
          <a:noFill/>
          <a:ln/>
        </p:spPr>
        <p:txBody>
          <a:bodyPr wrap="square" lIns="762" tIns="1016" rIns="1016" bIns="508" rtlCol="0" anchor="t"/>
          <a:lstStyle/>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Pre and post re-point output compared — identical, no logic drift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Universe restrictions re-tested after the connection change</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Scheduled publication still runs and delivers to the same list</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Query plan and runtime re-baselined on the new source</a:t>
            </a:r>
            <a:endParaRPr lang="en-US" sz="660" dirty="0"/>
          </a:p>
          <a:p>
            <a:pPr marL="342900" indent="-342900">
              <a:lnSpc>
                <a:spcPct val="92000"/>
              </a:lnSpc>
              <a:spcAft>
                <a:spcPts val="300"/>
              </a:spcAft>
              <a:buSzPct val="100000"/>
              <a:buChar char="•"/>
            </a:pPr>
            <a:r>
              <a:rPr lang="en-US" sz="660" dirty="0">
                <a:solidFill>
                  <a:srgbClr val="1A1A1A"/>
                </a:solidFill>
                <a:latin typeface="Arial" pitchFamily="34" charset="0"/>
                <a:ea typeface="Arial" pitchFamily="34" charset="-122"/>
                <a:cs typeface="Arial" pitchFamily="34" charset="-120"/>
              </a:rPr>
              <a:t>Sunset date checked at every wave gate</a:t>
            </a:r>
            <a:endParaRPr lang="en-US" sz="660" dirty="0"/>
          </a:p>
        </p:txBody>
      </p:sp>
      <p:sp>
        <p:nvSpPr>
          <p:cNvPr id="63" name="Shape 61"/>
          <p:cNvSpPr/>
          <p:nvPr/>
        </p:nvSpPr>
        <p:spPr>
          <a:xfrm>
            <a:off x="9966960" y="914400"/>
            <a:ext cx="1837944" cy="237744"/>
          </a:xfrm>
          <a:prstGeom prst="rect">
            <a:avLst/>
          </a:prstGeom>
          <a:solidFill>
            <a:srgbClr val="081F5C"/>
          </a:solidFill>
          <a:ln w="6350">
            <a:solidFill>
              <a:srgbClr val="081F5C"/>
            </a:solidFill>
            <a:prstDash val="solid"/>
          </a:ln>
        </p:spPr>
      </p:sp>
      <p:sp>
        <p:nvSpPr>
          <p:cNvPr id="64" name="Text 62"/>
          <p:cNvSpPr/>
          <p:nvPr/>
        </p:nvSpPr>
        <p:spPr>
          <a:xfrm>
            <a:off x="9966960" y="914400"/>
            <a:ext cx="1837944" cy="237744"/>
          </a:xfrm>
          <a:prstGeom prst="rect">
            <a:avLst/>
          </a:prstGeom>
          <a:noFill/>
          <a:ln/>
        </p:spPr>
        <p:txBody>
          <a:bodyPr wrap="square" lIns="0" tIns="0" rIns="0" bIns="0" rtlCol="0" anchor="ctr"/>
          <a:lstStyle/>
          <a:p>
            <a:pPr algn="ctr" indent="0" marL="0">
              <a:buNone/>
            </a:pPr>
            <a:r>
              <a:rPr lang="en-US" sz="760" b="1" spc="40" kern="0" dirty="0">
                <a:solidFill>
                  <a:srgbClr val="FFFFFF"/>
                </a:solidFill>
                <a:latin typeface="Arial" pitchFamily="34" charset="0"/>
                <a:ea typeface="Arial" pitchFamily="34" charset="-122"/>
                <a:cs typeface="Arial" pitchFamily="34" charset="-120"/>
              </a:rPr>
              <a:t>REGRESSION SUITE</a:t>
            </a:r>
            <a:endParaRPr lang="en-US" sz="760" dirty="0"/>
          </a:p>
        </p:txBody>
      </p:sp>
      <p:sp>
        <p:nvSpPr>
          <p:cNvPr id="65" name="Shape 63"/>
          <p:cNvSpPr/>
          <p:nvPr/>
        </p:nvSpPr>
        <p:spPr>
          <a:xfrm>
            <a:off x="9966960" y="1225296"/>
            <a:ext cx="1837944" cy="420624"/>
          </a:xfrm>
          <a:prstGeom prst="rect">
            <a:avLst/>
          </a:prstGeom>
          <a:solidFill>
            <a:srgbClr val="ADDAFB"/>
          </a:solidFill>
          <a:ln w="6350">
            <a:solidFill>
              <a:srgbClr val="ADDAFB"/>
            </a:solidFill>
            <a:prstDash val="solid"/>
          </a:ln>
        </p:spPr>
      </p:sp>
      <p:sp>
        <p:nvSpPr>
          <p:cNvPr id="66" name="Text 64"/>
          <p:cNvSpPr/>
          <p:nvPr/>
        </p:nvSpPr>
        <p:spPr>
          <a:xfrm>
            <a:off x="9966960" y="1225296"/>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DDL &amp; type-mapping parity</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precision, scale, nullability, collation</a:t>
            </a:r>
            <a:endParaRPr lang="en-US" sz="700" dirty="0"/>
          </a:p>
        </p:txBody>
      </p:sp>
      <p:sp>
        <p:nvSpPr>
          <p:cNvPr id="67" name="Shape 65"/>
          <p:cNvSpPr/>
          <p:nvPr/>
        </p:nvSpPr>
        <p:spPr>
          <a:xfrm>
            <a:off x="9966960" y="1723644"/>
            <a:ext cx="1837944" cy="420624"/>
          </a:xfrm>
          <a:prstGeom prst="rect">
            <a:avLst/>
          </a:prstGeom>
          <a:solidFill>
            <a:srgbClr val="ADDAFB"/>
          </a:solidFill>
          <a:ln w="6350">
            <a:solidFill>
              <a:srgbClr val="ADDAFB"/>
            </a:solidFill>
            <a:prstDash val="solid"/>
          </a:ln>
        </p:spPr>
      </p:sp>
      <p:sp>
        <p:nvSpPr>
          <p:cNvPr id="68" name="Text 66"/>
          <p:cNvSpPr/>
          <p:nvPr/>
        </p:nvSpPr>
        <p:spPr>
          <a:xfrm>
            <a:off x="9966960" y="1723644"/>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Row count &amp; watermark</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history load and every incremental run</a:t>
            </a:r>
            <a:endParaRPr lang="en-US" sz="700" dirty="0"/>
          </a:p>
        </p:txBody>
      </p:sp>
      <p:sp>
        <p:nvSpPr>
          <p:cNvPr id="69" name="Shape 67"/>
          <p:cNvSpPr/>
          <p:nvPr/>
        </p:nvSpPr>
        <p:spPr>
          <a:xfrm>
            <a:off x="9966960" y="2221992"/>
            <a:ext cx="1837944" cy="420624"/>
          </a:xfrm>
          <a:prstGeom prst="rect">
            <a:avLst/>
          </a:prstGeom>
          <a:solidFill>
            <a:srgbClr val="ADDAFB"/>
          </a:solidFill>
          <a:ln w="6350">
            <a:solidFill>
              <a:srgbClr val="ADDAFB"/>
            </a:solidFill>
            <a:prstDash val="solid"/>
          </a:ln>
        </p:spPr>
      </p:sp>
      <p:sp>
        <p:nvSpPr>
          <p:cNvPr id="70" name="Text 68"/>
          <p:cNvSpPr/>
          <p:nvPr/>
        </p:nvSpPr>
        <p:spPr>
          <a:xfrm>
            <a:off x="9966960" y="2221992"/>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Column checksum &amp; keys</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hash aggregate, uniqueness, orphan FK</a:t>
            </a:r>
            <a:endParaRPr lang="en-US" sz="700" dirty="0"/>
          </a:p>
        </p:txBody>
      </p:sp>
      <p:sp>
        <p:nvSpPr>
          <p:cNvPr id="71" name="Shape 69"/>
          <p:cNvSpPr/>
          <p:nvPr/>
        </p:nvSpPr>
        <p:spPr>
          <a:xfrm>
            <a:off x="9966960" y="2720340"/>
            <a:ext cx="1837944" cy="420624"/>
          </a:xfrm>
          <a:prstGeom prst="rect">
            <a:avLst/>
          </a:prstGeom>
          <a:solidFill>
            <a:srgbClr val="ADDAFB"/>
          </a:solidFill>
          <a:ln w="6350">
            <a:solidFill>
              <a:srgbClr val="ADDAFB"/>
            </a:solidFill>
            <a:prstDash val="solid"/>
          </a:ln>
        </p:spPr>
      </p:sp>
      <p:sp>
        <p:nvSpPr>
          <p:cNvPr id="72" name="Text 70"/>
          <p:cNvSpPr/>
          <p:nvPr/>
        </p:nvSpPr>
        <p:spPr>
          <a:xfrm>
            <a:off x="9966960" y="2720340"/>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Procedural re-run diff</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pinned inputs, output compared line by line</a:t>
            </a:r>
            <a:endParaRPr lang="en-US" sz="700" dirty="0"/>
          </a:p>
        </p:txBody>
      </p:sp>
      <p:sp>
        <p:nvSpPr>
          <p:cNvPr id="73" name="Shape 71"/>
          <p:cNvSpPr/>
          <p:nvPr/>
        </p:nvSpPr>
        <p:spPr>
          <a:xfrm>
            <a:off x="9966960" y="3218688"/>
            <a:ext cx="1837944" cy="420624"/>
          </a:xfrm>
          <a:prstGeom prst="rect">
            <a:avLst/>
          </a:prstGeom>
          <a:solidFill>
            <a:srgbClr val="ADDAFB"/>
          </a:solidFill>
          <a:ln w="6350">
            <a:solidFill>
              <a:srgbClr val="ADDAFB"/>
            </a:solidFill>
            <a:prstDash val="solid"/>
          </a:ln>
        </p:spPr>
      </p:sp>
      <p:sp>
        <p:nvSpPr>
          <p:cNvPr id="74" name="Text 72"/>
          <p:cNvSpPr/>
          <p:nvPr/>
        </p:nvSpPr>
        <p:spPr>
          <a:xfrm>
            <a:off x="9966960" y="3218688"/>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Domain control totals</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encounters, charges, member months</a:t>
            </a:r>
            <a:endParaRPr lang="en-US" sz="700" dirty="0"/>
          </a:p>
        </p:txBody>
      </p:sp>
      <p:sp>
        <p:nvSpPr>
          <p:cNvPr id="75" name="Shape 73"/>
          <p:cNvSpPr/>
          <p:nvPr/>
        </p:nvSpPr>
        <p:spPr>
          <a:xfrm>
            <a:off x="9966960" y="3717036"/>
            <a:ext cx="1837944" cy="420624"/>
          </a:xfrm>
          <a:prstGeom prst="rect">
            <a:avLst/>
          </a:prstGeom>
          <a:solidFill>
            <a:srgbClr val="ADDAFB"/>
          </a:solidFill>
          <a:ln w="6350">
            <a:solidFill>
              <a:srgbClr val="ADDAFB"/>
            </a:solidFill>
            <a:prstDash val="solid"/>
          </a:ln>
        </p:spPr>
      </p:sp>
      <p:sp>
        <p:nvSpPr>
          <p:cNvPr id="76" name="Text 74"/>
          <p:cNvSpPr/>
          <p:nvPr/>
        </p:nvSpPr>
        <p:spPr>
          <a:xfrm>
            <a:off x="9966960" y="3717036"/>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Report &amp; measure parity</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measure by measure, same filter context</a:t>
            </a:r>
            <a:endParaRPr lang="en-US" sz="700" dirty="0"/>
          </a:p>
        </p:txBody>
      </p:sp>
      <p:sp>
        <p:nvSpPr>
          <p:cNvPr id="77" name="Shape 75"/>
          <p:cNvSpPr/>
          <p:nvPr/>
        </p:nvSpPr>
        <p:spPr>
          <a:xfrm>
            <a:off x="9966960" y="4215384"/>
            <a:ext cx="1837944" cy="420624"/>
          </a:xfrm>
          <a:prstGeom prst="rect">
            <a:avLst/>
          </a:prstGeom>
          <a:solidFill>
            <a:srgbClr val="ADDAFB"/>
          </a:solidFill>
          <a:ln w="6350">
            <a:solidFill>
              <a:srgbClr val="ADDAFB"/>
            </a:solidFill>
            <a:prstDash val="solid"/>
          </a:ln>
        </p:spPr>
      </p:sp>
      <p:sp>
        <p:nvSpPr>
          <p:cNvPr id="78" name="Text 76"/>
          <p:cNvSpPr/>
          <p:nvPr/>
        </p:nvSpPr>
        <p:spPr>
          <a:xfrm>
            <a:off x="9966960" y="4215384"/>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Layout, burst &amp; export</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paginated, subscription, Excel and PDF</a:t>
            </a:r>
            <a:endParaRPr lang="en-US" sz="700" dirty="0"/>
          </a:p>
        </p:txBody>
      </p:sp>
      <p:sp>
        <p:nvSpPr>
          <p:cNvPr id="79" name="Shape 77"/>
          <p:cNvSpPr/>
          <p:nvPr/>
        </p:nvSpPr>
        <p:spPr>
          <a:xfrm>
            <a:off x="9966960" y="4713732"/>
            <a:ext cx="1837944" cy="420624"/>
          </a:xfrm>
          <a:prstGeom prst="rect">
            <a:avLst/>
          </a:prstGeom>
          <a:solidFill>
            <a:srgbClr val="ADDAFB"/>
          </a:solidFill>
          <a:ln w="6350">
            <a:solidFill>
              <a:srgbClr val="ADDAFB"/>
            </a:solidFill>
            <a:prstDash val="solid"/>
          </a:ln>
        </p:spPr>
      </p:sp>
      <p:sp>
        <p:nvSpPr>
          <p:cNvPr id="80" name="Text 78"/>
          <p:cNvSpPr/>
          <p:nvPr/>
        </p:nvSpPr>
        <p:spPr>
          <a:xfrm>
            <a:off x="9966960" y="4713732"/>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Genie answer accuracy</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known-answer set plus refusal cases</a:t>
            </a:r>
            <a:endParaRPr lang="en-US" sz="700" dirty="0"/>
          </a:p>
        </p:txBody>
      </p:sp>
      <p:sp>
        <p:nvSpPr>
          <p:cNvPr id="81" name="Shape 79"/>
          <p:cNvSpPr/>
          <p:nvPr/>
        </p:nvSpPr>
        <p:spPr>
          <a:xfrm>
            <a:off x="9966960" y="5212080"/>
            <a:ext cx="1837944" cy="420624"/>
          </a:xfrm>
          <a:prstGeom prst="rect">
            <a:avLst/>
          </a:prstGeom>
          <a:solidFill>
            <a:srgbClr val="ADDAFB"/>
          </a:solidFill>
          <a:ln w="6350">
            <a:solidFill>
              <a:srgbClr val="ADDAFB"/>
            </a:solidFill>
            <a:prstDash val="solid"/>
          </a:ln>
        </p:spPr>
      </p:sp>
      <p:sp>
        <p:nvSpPr>
          <p:cNvPr id="82" name="Text 80"/>
          <p:cNvSpPr/>
          <p:nvPr/>
        </p:nvSpPr>
        <p:spPr>
          <a:xfrm>
            <a:off x="9966960" y="5212080"/>
            <a:ext cx="1837944" cy="420624"/>
          </a:xfrm>
          <a:prstGeom prst="rect">
            <a:avLst/>
          </a:prstGeom>
          <a:noFill/>
          <a:ln/>
        </p:spPr>
        <p:txBody>
          <a:bodyPr wrap="square" lIns="381" tIns="889" rIns="889" bIns="381" rtlCol="0" anchor="ctr"/>
          <a:lstStyle/>
          <a:p>
            <a:pPr indent="0" marL="0">
              <a:lnSpc>
                <a:spcPct val="92000"/>
              </a:lnSpc>
              <a:spcAft>
                <a:spcPts val="200"/>
              </a:spcAft>
              <a:buNone/>
            </a:pPr>
            <a:r>
              <a:rPr lang="en-US" sz="700" b="1" dirty="0">
                <a:solidFill>
                  <a:srgbClr val="081F5C"/>
                </a:solidFill>
                <a:latin typeface="Arial" pitchFamily="34" charset="0"/>
                <a:ea typeface="Arial" pitchFamily="34" charset="-122"/>
                <a:cs typeface="Arial" pitchFamily="34" charset="-120"/>
              </a:rPr>
              <a:t>PHI masking &amp; row access</a:t>
            </a:r>
            <a:endParaRPr lang="en-US" sz="700" dirty="0"/>
          </a:p>
          <a:p>
            <a:pPr indent="0" marL="0">
              <a:lnSpc>
                <a:spcPct val="92000"/>
              </a:lnSpc>
              <a:buNone/>
            </a:pPr>
            <a:r>
              <a:rPr lang="en-US" sz="620" i="1" dirty="0">
                <a:solidFill>
                  <a:srgbClr val="1A1A1A"/>
                </a:solidFill>
                <a:latin typeface="Arial" pitchFamily="34" charset="0"/>
                <a:ea typeface="Arial" pitchFamily="34" charset="-122"/>
                <a:cs typeface="Arial" pitchFamily="34" charset="-120"/>
              </a:rPr>
              <a:t>non-privileged account, never an admin</a:t>
            </a:r>
            <a:endParaRPr lang="en-US" sz="700" dirty="0"/>
          </a:p>
        </p:txBody>
      </p:sp>
      <p:sp>
        <p:nvSpPr>
          <p:cNvPr id="83" name="Text 81"/>
          <p:cNvSpPr/>
          <p:nvPr/>
        </p:nvSpPr>
        <p:spPr>
          <a:xfrm>
            <a:off x="9966960" y="5760720"/>
            <a:ext cx="1837944" cy="365760"/>
          </a:xfrm>
          <a:prstGeom prst="rect">
            <a:avLst/>
          </a:prstGeom>
          <a:noFill/>
          <a:ln/>
        </p:spPr>
        <p:txBody>
          <a:bodyPr wrap="square" lIns="0" tIns="0" rIns="0" bIns="0" rtlCol="0" anchor="t"/>
          <a:lstStyle/>
          <a:p>
            <a:pPr indent="0" marL="0">
              <a:lnSpc>
                <a:spcPct val="92000"/>
              </a:lnSpc>
              <a:buNone/>
            </a:pPr>
            <a:r>
              <a:rPr lang="en-US" sz="640" i="1" dirty="0">
                <a:solidFill>
                  <a:srgbClr val="2E4A85"/>
                </a:solidFill>
                <a:latin typeface="Arial" pitchFamily="34" charset="0"/>
                <a:ea typeface="Arial" pitchFamily="34" charset="-122"/>
                <a:cs typeface="Arial" pitchFamily="34" charset="-120"/>
              </a:rPr>
              <a:t>Built once during unit test, then re-run at SIT, UAT, parallel run and every wave gate. A report is not released until its data track has cleared the suite.</a:t>
            </a:r>
            <a:endParaRPr lang="en-US" sz="640" dirty="0"/>
          </a:p>
        </p:txBody>
      </p:sp>
      <p:sp>
        <p:nvSpPr>
          <p:cNvPr id="84" name="Shape 82"/>
          <p:cNvSpPr/>
          <p:nvPr/>
        </p:nvSpPr>
        <p:spPr>
          <a:xfrm>
            <a:off x="384048" y="6199632"/>
            <a:ext cx="11420856" cy="329184"/>
          </a:xfrm>
          <a:prstGeom prst="rect">
            <a:avLst/>
          </a:prstGeom>
          <a:solidFill>
            <a:srgbClr val="EAF5FD"/>
          </a:solidFill>
          <a:ln w="9525">
            <a:solidFill>
              <a:srgbClr val="C9E3F7"/>
            </a:solidFill>
            <a:prstDash val="solid"/>
          </a:ln>
        </p:spPr>
      </p:sp>
      <p:sp>
        <p:nvSpPr>
          <p:cNvPr id="85" name="Text 83"/>
          <p:cNvSpPr/>
          <p:nvPr/>
        </p:nvSpPr>
        <p:spPr>
          <a:xfrm>
            <a:off x="384048" y="6199632"/>
            <a:ext cx="11420856" cy="329184"/>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HIPAA checkpoint — test data here is production data.  </a:t>
            </a:r>
            <a:pPr indent="0" marL="0">
              <a:lnSpc>
                <a:spcPct val="94000"/>
              </a:lnSpc>
              <a:buNone/>
            </a:pPr>
            <a:r>
              <a:rPr lang="en-US" sz="700" dirty="0">
                <a:solidFill>
                  <a:srgbClr val="1A1A1A"/>
                </a:solidFill>
                <a:latin typeface="Arial" pitchFamily="34" charset="0"/>
                <a:ea typeface="Arial" pitchFamily="34" charset="-122"/>
                <a:cs typeface="Arial" pitchFamily="34" charset="-120"/>
              </a:rPr>
              <a:t>Reconciliation samples, report extracts and Genie test transcripts all carry PHI and sit under the BAA. Run every comparison inside the secured environment, mask before any sample is pasted into a defect ticket, and prove row-level access with a non-privileged account rather than an admin. Keep the evidence pack — it is the audit trail behind each report's disposition.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189720" y="146304"/>
            <a:ext cx="2615184" cy="6345936"/>
          </a:xfrm>
          <a:prstGeom prst="roundRect">
            <a:avLst>
              <a:gd name="adj" fmla="val 1748"/>
            </a:avLst>
          </a:prstGeom>
          <a:solidFill>
            <a:srgbClr val="081F5C"/>
          </a:solidFill>
          <a:ln w="12700">
            <a:solidFill>
              <a:srgbClr val="081F5C"/>
            </a:solidFill>
            <a:prstDash val="solid"/>
          </a:ln>
        </p:spPr>
      </p:sp>
      <p:sp>
        <p:nvSpPr>
          <p:cNvPr id="3" name="Text 1"/>
          <p:cNvSpPr/>
          <p:nvPr/>
        </p:nvSpPr>
        <p:spPr>
          <a:xfrm>
            <a:off x="384048" y="146304"/>
            <a:ext cx="8668512" cy="310896"/>
          </a:xfrm>
          <a:prstGeom prst="rect">
            <a:avLst/>
          </a:prstGeom>
          <a:noFill/>
          <a:ln/>
        </p:spPr>
        <p:txBody>
          <a:bodyPr wrap="square" lIns="0" tIns="0" rIns="0" bIns="0" rtlCol="0" anchor="ctr"/>
          <a:lstStyle/>
          <a:p>
            <a:pPr indent="0" marL="0">
              <a:buNone/>
            </a:pPr>
            <a:r>
              <a:rPr lang="en-US" sz="2100" dirty="0">
                <a:solidFill>
                  <a:srgbClr val="1A1A1A"/>
                </a:solidFill>
                <a:latin typeface="Arial" pitchFamily="34" charset="0"/>
                <a:ea typeface="Arial" pitchFamily="34" charset="-122"/>
                <a:cs typeface="Arial" pitchFamily="34" charset="-120"/>
              </a:rPr>
              <a:t>Migration Delivery  —  Agile POD Structure</a:t>
            </a:r>
            <a:endParaRPr lang="en-US" sz="2100" dirty="0"/>
          </a:p>
        </p:txBody>
      </p:sp>
      <p:sp>
        <p:nvSpPr>
          <p:cNvPr id="4" name="Text 2"/>
          <p:cNvSpPr/>
          <p:nvPr/>
        </p:nvSpPr>
        <p:spPr>
          <a:xfrm>
            <a:off x="384048" y="475488"/>
            <a:ext cx="8668512" cy="365760"/>
          </a:xfrm>
          <a:prstGeom prst="rect">
            <a:avLst/>
          </a:prstGeom>
          <a:noFill/>
          <a:ln/>
        </p:spPr>
        <p:txBody>
          <a:bodyPr wrap="square" lIns="0" tIns="0" rIns="0" bIns="0" rtlCol="0" anchor="ctr"/>
          <a:lstStyle/>
          <a:p>
            <a:pPr indent="0" marL="0">
              <a:lnSpc>
                <a:spcPct val="95000"/>
              </a:lnSpc>
              <a:buNone/>
            </a:pPr>
            <a:r>
              <a:rPr lang="en-US" sz="860" dirty="0">
                <a:solidFill>
                  <a:srgbClr val="1A1A1A"/>
                </a:solidFill>
                <a:latin typeface="Arial" pitchFamily="34" charset="0"/>
                <a:ea typeface="Arial" pitchFamily="34" charset="-122"/>
                <a:cs typeface="Arial" pitchFamily="34" charset="-120"/>
              </a:rPr>
              <a:t>Cross-functional, self-organising PODs across US and India shores, each owning its own backlog. PODs are structured by target platform rather than by application, because the skills differ radically between an Epic-certified Cogito build, a T-SQL conversion, a Delta pipeline and a Power BI semantic model.</a:t>
            </a:r>
            <a:endParaRPr lang="en-US" sz="860" dirty="0"/>
          </a:p>
        </p:txBody>
      </p:sp>
      <p:sp>
        <p:nvSpPr>
          <p:cNvPr id="5" name="Shape 3"/>
          <p:cNvSpPr/>
          <p:nvPr/>
        </p:nvSpPr>
        <p:spPr>
          <a:xfrm>
            <a:off x="384048" y="896112"/>
            <a:ext cx="8668512" cy="201168"/>
          </a:xfrm>
          <a:prstGeom prst="rect">
            <a:avLst/>
          </a:prstGeom>
          <a:solidFill>
            <a:srgbClr val="081F5C"/>
          </a:solidFill>
          <a:ln w="6350">
            <a:solidFill>
              <a:srgbClr val="081F5C"/>
            </a:solidFill>
            <a:prstDash val="solid"/>
          </a:ln>
        </p:spPr>
      </p:sp>
      <p:sp>
        <p:nvSpPr>
          <p:cNvPr id="6" name="Text 4"/>
          <p:cNvSpPr/>
          <p:nvPr/>
        </p:nvSpPr>
        <p:spPr>
          <a:xfrm>
            <a:off x="475488" y="896112"/>
            <a:ext cx="4572000" cy="201168"/>
          </a:xfrm>
          <a:prstGeom prst="rect">
            <a:avLst/>
          </a:prstGeom>
          <a:noFill/>
          <a:ln/>
        </p:spPr>
        <p:txBody>
          <a:bodyPr wrap="square" lIns="0" tIns="0" rIns="0" bIns="0" rtlCol="0" anchor="ctr"/>
          <a:lstStyle/>
          <a:p>
            <a:pPr indent="0" marL="0">
              <a:buNone/>
            </a:pPr>
            <a:r>
              <a:rPr lang="en-US" sz="800" b="1" spc="40" kern="0" dirty="0">
                <a:solidFill>
                  <a:srgbClr val="FFFFFF"/>
                </a:solidFill>
                <a:latin typeface="Arial" pitchFamily="34" charset="0"/>
                <a:ea typeface="Arial" pitchFamily="34" charset="-122"/>
                <a:cs typeface="Arial" pitchFamily="34" charset="-120"/>
              </a:rPr>
              <a:t>PROGRAM DELIVERY</a:t>
            </a:r>
            <a:endParaRPr lang="en-US" sz="800" dirty="0"/>
          </a:p>
        </p:txBody>
      </p:sp>
      <p:sp>
        <p:nvSpPr>
          <p:cNvPr id="7" name="Text 5"/>
          <p:cNvSpPr/>
          <p:nvPr/>
        </p:nvSpPr>
        <p:spPr>
          <a:xfrm>
            <a:off x="4846320" y="896112"/>
            <a:ext cx="4114800" cy="201168"/>
          </a:xfrm>
          <a:prstGeom prst="rect">
            <a:avLst/>
          </a:prstGeom>
          <a:noFill/>
          <a:ln/>
        </p:spPr>
        <p:txBody>
          <a:bodyPr wrap="square" lIns="0" tIns="0" rIns="0" bIns="0" rtlCol="0" anchor="ctr"/>
          <a:lstStyle/>
          <a:p>
            <a:pPr algn="r" indent="0" marL="0">
              <a:buNone/>
            </a:pPr>
            <a:r>
              <a:rPr lang="en-US" sz="700" i="1" dirty="0">
                <a:solidFill>
                  <a:srgbClr val="D8E4F5"/>
                </a:solidFill>
                <a:latin typeface="Arial" pitchFamily="34" charset="0"/>
                <a:ea typeface="Arial" pitchFamily="34" charset="-122"/>
                <a:cs typeface="Arial" pitchFamily="34" charset="-120"/>
              </a:rPr>
              <a:t>cross-pod governance</a:t>
            </a:r>
            <a:endParaRPr lang="en-US" sz="700" dirty="0"/>
          </a:p>
        </p:txBody>
      </p:sp>
      <p:sp>
        <p:nvSpPr>
          <p:cNvPr id="8" name="Shape 6"/>
          <p:cNvSpPr/>
          <p:nvPr/>
        </p:nvSpPr>
        <p:spPr>
          <a:xfrm>
            <a:off x="384048" y="1133856"/>
            <a:ext cx="2804160" cy="201168"/>
          </a:xfrm>
          <a:prstGeom prst="rect">
            <a:avLst/>
          </a:prstGeom>
          <a:solidFill>
            <a:srgbClr val="081F5C"/>
          </a:solidFill>
          <a:ln w="6350">
            <a:solidFill>
              <a:srgbClr val="081F5C"/>
            </a:solidFill>
            <a:prstDash val="solid"/>
          </a:ln>
        </p:spPr>
      </p:sp>
      <p:sp>
        <p:nvSpPr>
          <p:cNvPr id="9" name="Text 7"/>
          <p:cNvSpPr/>
          <p:nvPr/>
        </p:nvSpPr>
        <p:spPr>
          <a:xfrm>
            <a:off x="384048" y="1133856"/>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Health System Leadership</a:t>
            </a:r>
            <a:endParaRPr lang="en-US" sz="760" dirty="0"/>
          </a:p>
        </p:txBody>
      </p:sp>
      <p:sp>
        <p:nvSpPr>
          <p:cNvPr id="10" name="Shape 8"/>
          <p:cNvSpPr/>
          <p:nvPr/>
        </p:nvSpPr>
        <p:spPr>
          <a:xfrm>
            <a:off x="384048" y="1335024"/>
            <a:ext cx="2804160" cy="548640"/>
          </a:xfrm>
          <a:prstGeom prst="rect">
            <a:avLst/>
          </a:prstGeom>
          <a:solidFill>
            <a:srgbClr val="F5F9FD"/>
          </a:solidFill>
          <a:ln w="9525">
            <a:solidFill>
              <a:srgbClr val="DCE6F0"/>
            </a:solidFill>
            <a:prstDash val="solid"/>
          </a:ln>
        </p:spPr>
      </p:sp>
      <p:sp>
        <p:nvSpPr>
          <p:cNvPr id="11" name="Text 9"/>
          <p:cNvSpPr/>
          <p:nvPr/>
        </p:nvSpPr>
        <p:spPr>
          <a:xfrm>
            <a:off x="384048" y="1335024"/>
            <a:ext cx="2804160" cy="548640"/>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Sponsor  ·  Steering Committee  ·  Program Oversight</a:t>
            </a:r>
            <a:endParaRPr lang="en-US" sz="680" dirty="0"/>
          </a:p>
        </p:txBody>
      </p:sp>
      <p:sp>
        <p:nvSpPr>
          <p:cNvPr id="12" name="Shape 10"/>
          <p:cNvSpPr/>
          <p:nvPr/>
        </p:nvSpPr>
        <p:spPr>
          <a:xfrm>
            <a:off x="3316224" y="1133856"/>
            <a:ext cx="2804160" cy="201168"/>
          </a:xfrm>
          <a:prstGeom prst="rect">
            <a:avLst/>
          </a:prstGeom>
          <a:solidFill>
            <a:srgbClr val="081F5C"/>
          </a:solidFill>
          <a:ln w="6350">
            <a:solidFill>
              <a:srgbClr val="081F5C"/>
            </a:solidFill>
            <a:prstDash val="solid"/>
          </a:ln>
        </p:spPr>
      </p:sp>
      <p:sp>
        <p:nvSpPr>
          <p:cNvPr id="13" name="Text 11"/>
          <p:cNvSpPr/>
          <p:nvPr/>
        </p:nvSpPr>
        <p:spPr>
          <a:xfrm>
            <a:off x="3316224" y="1133856"/>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Program Governance</a:t>
            </a:r>
            <a:endParaRPr lang="en-US" sz="760" dirty="0"/>
          </a:p>
        </p:txBody>
      </p:sp>
      <p:sp>
        <p:nvSpPr>
          <p:cNvPr id="14" name="Shape 12"/>
          <p:cNvSpPr/>
          <p:nvPr/>
        </p:nvSpPr>
        <p:spPr>
          <a:xfrm>
            <a:off x="3316224" y="1335024"/>
            <a:ext cx="2804160" cy="548640"/>
          </a:xfrm>
          <a:prstGeom prst="rect">
            <a:avLst/>
          </a:prstGeom>
          <a:solidFill>
            <a:srgbClr val="F5F9FD"/>
          </a:solidFill>
          <a:ln w="9525">
            <a:solidFill>
              <a:srgbClr val="DCE6F0"/>
            </a:solidFill>
            <a:prstDash val="solid"/>
          </a:ln>
        </p:spPr>
      </p:sp>
      <p:sp>
        <p:nvSpPr>
          <p:cNvPr id="15" name="Text 13"/>
          <p:cNvSpPr/>
          <p:nvPr/>
        </p:nvSpPr>
        <p:spPr>
          <a:xfrm>
            <a:off x="3316224" y="1335024"/>
            <a:ext cx="2804160" cy="548640"/>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Delivery Lead  ·  Tech Architect  ·  PMO Lead  ·  Quality Lead</a:t>
            </a:r>
            <a:endParaRPr lang="en-US" sz="680" dirty="0"/>
          </a:p>
        </p:txBody>
      </p:sp>
      <p:sp>
        <p:nvSpPr>
          <p:cNvPr id="16" name="Shape 14"/>
          <p:cNvSpPr/>
          <p:nvPr/>
        </p:nvSpPr>
        <p:spPr>
          <a:xfrm>
            <a:off x="6248400" y="1133856"/>
            <a:ext cx="2804160" cy="201168"/>
          </a:xfrm>
          <a:prstGeom prst="rect">
            <a:avLst/>
          </a:prstGeom>
          <a:solidFill>
            <a:srgbClr val="081F5C"/>
          </a:solidFill>
          <a:ln w="6350">
            <a:solidFill>
              <a:srgbClr val="081F5C"/>
            </a:solidFill>
            <a:prstDash val="solid"/>
          </a:ln>
        </p:spPr>
      </p:sp>
      <p:sp>
        <p:nvSpPr>
          <p:cNvPr id="17" name="Text 15"/>
          <p:cNvSpPr/>
          <p:nvPr/>
        </p:nvSpPr>
        <p:spPr>
          <a:xfrm>
            <a:off x="6248400" y="1133856"/>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Deloitte Engagement Leadership</a:t>
            </a:r>
            <a:endParaRPr lang="en-US" sz="760" dirty="0"/>
          </a:p>
        </p:txBody>
      </p:sp>
      <p:sp>
        <p:nvSpPr>
          <p:cNvPr id="18" name="Shape 16"/>
          <p:cNvSpPr/>
          <p:nvPr/>
        </p:nvSpPr>
        <p:spPr>
          <a:xfrm>
            <a:off x="6248400" y="1335024"/>
            <a:ext cx="2804160" cy="548640"/>
          </a:xfrm>
          <a:prstGeom prst="rect">
            <a:avLst/>
          </a:prstGeom>
          <a:solidFill>
            <a:srgbClr val="F5F9FD"/>
          </a:solidFill>
          <a:ln w="9525">
            <a:solidFill>
              <a:srgbClr val="DCE6F0"/>
            </a:solidFill>
            <a:prstDash val="solid"/>
          </a:ln>
        </p:spPr>
      </p:sp>
      <p:sp>
        <p:nvSpPr>
          <p:cNvPr id="19" name="Text 17"/>
          <p:cNvSpPr/>
          <p:nvPr/>
        </p:nvSpPr>
        <p:spPr>
          <a:xfrm>
            <a:off x="6248400" y="1335024"/>
            <a:ext cx="2804160" cy="548640"/>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Client Service Partner  ·  Program Engagement Lead</a:t>
            </a:r>
            <a:endParaRPr lang="en-US" sz="680" dirty="0"/>
          </a:p>
        </p:txBody>
      </p:sp>
      <p:sp>
        <p:nvSpPr>
          <p:cNvPr id="20" name="Shape 18"/>
          <p:cNvSpPr/>
          <p:nvPr/>
        </p:nvSpPr>
        <p:spPr>
          <a:xfrm>
            <a:off x="384048" y="1975104"/>
            <a:ext cx="2804160" cy="201168"/>
          </a:xfrm>
          <a:prstGeom prst="rect">
            <a:avLst/>
          </a:prstGeom>
          <a:solidFill>
            <a:srgbClr val="5A6B84"/>
          </a:solidFill>
          <a:ln w="6350">
            <a:solidFill>
              <a:srgbClr val="5A6B84"/>
            </a:solidFill>
            <a:prstDash val="solid"/>
          </a:ln>
        </p:spPr>
      </p:sp>
      <p:sp>
        <p:nvSpPr>
          <p:cNvPr id="21" name="Text 19"/>
          <p:cNvSpPr/>
          <p:nvPr/>
        </p:nvSpPr>
        <p:spPr>
          <a:xfrm>
            <a:off x="384048" y="1975104"/>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Project team  (client)</a:t>
            </a:r>
            <a:endParaRPr lang="en-US" sz="760" dirty="0"/>
          </a:p>
        </p:txBody>
      </p:sp>
      <p:sp>
        <p:nvSpPr>
          <p:cNvPr id="22" name="Shape 20"/>
          <p:cNvSpPr/>
          <p:nvPr/>
        </p:nvSpPr>
        <p:spPr>
          <a:xfrm>
            <a:off x="384048" y="2176272"/>
            <a:ext cx="2804160" cy="676656"/>
          </a:xfrm>
          <a:prstGeom prst="rect">
            <a:avLst/>
          </a:prstGeom>
          <a:solidFill>
            <a:srgbClr val="F5F9FD"/>
          </a:solidFill>
          <a:ln w="9525">
            <a:solidFill>
              <a:srgbClr val="DCE6F0"/>
            </a:solidFill>
            <a:prstDash val="solid"/>
          </a:ln>
        </p:spPr>
      </p:sp>
      <p:sp>
        <p:nvSpPr>
          <p:cNvPr id="23" name="Text 21"/>
          <p:cNvSpPr/>
          <p:nvPr/>
        </p:nvSpPr>
        <p:spPr>
          <a:xfrm>
            <a:off x="384048" y="2176272"/>
            <a:ext cx="2804160" cy="676656"/>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Product Owners by clinical domain  ·  Business &amp; Clinical Lead  ·  Technical Lead  ·  Infrastructure &amp; Security</a:t>
            </a:r>
            <a:endParaRPr lang="en-US" sz="680" dirty="0"/>
          </a:p>
        </p:txBody>
      </p:sp>
      <p:sp>
        <p:nvSpPr>
          <p:cNvPr id="24" name="Shape 22"/>
          <p:cNvSpPr/>
          <p:nvPr/>
        </p:nvSpPr>
        <p:spPr>
          <a:xfrm>
            <a:off x="3316224" y="1975104"/>
            <a:ext cx="2804160" cy="201168"/>
          </a:xfrm>
          <a:prstGeom prst="rect">
            <a:avLst/>
          </a:prstGeom>
          <a:solidFill>
            <a:srgbClr val="5A6B84"/>
          </a:solidFill>
          <a:ln w="6350">
            <a:solidFill>
              <a:srgbClr val="5A6B84"/>
            </a:solidFill>
            <a:prstDash val="solid"/>
          </a:ln>
        </p:spPr>
      </p:sp>
      <p:sp>
        <p:nvSpPr>
          <p:cNvPr id="25" name="Text 23"/>
          <p:cNvSpPr/>
          <p:nvPr/>
        </p:nvSpPr>
        <p:spPr>
          <a:xfrm>
            <a:off x="3316224" y="1975104"/>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SMEs  —  cross-pod</a:t>
            </a:r>
            <a:endParaRPr lang="en-US" sz="760" dirty="0"/>
          </a:p>
        </p:txBody>
      </p:sp>
      <p:sp>
        <p:nvSpPr>
          <p:cNvPr id="26" name="Shape 24"/>
          <p:cNvSpPr/>
          <p:nvPr/>
        </p:nvSpPr>
        <p:spPr>
          <a:xfrm>
            <a:off x="3316224" y="2176272"/>
            <a:ext cx="2804160" cy="676656"/>
          </a:xfrm>
          <a:prstGeom prst="rect">
            <a:avLst/>
          </a:prstGeom>
          <a:solidFill>
            <a:srgbClr val="F5F9FD"/>
          </a:solidFill>
          <a:ln w="9525">
            <a:solidFill>
              <a:srgbClr val="DCE6F0"/>
            </a:solidFill>
            <a:prstDash val="solid"/>
          </a:ln>
        </p:spPr>
      </p:sp>
      <p:sp>
        <p:nvSpPr>
          <p:cNvPr id="27" name="Text 25"/>
          <p:cNvSpPr/>
          <p:nvPr/>
        </p:nvSpPr>
        <p:spPr>
          <a:xfrm>
            <a:off x="3316224" y="2176272"/>
            <a:ext cx="2804160" cy="676656"/>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Epic Clarity &amp; Caboodle  ·  Oracle 19c and PL/SQL  ·  MS SQL Server  ·  Databricks &amp; Unity Catalog  ·  Power BI  ·  SAP BusinessObjects  ·  HIPAA &amp; Privacy</a:t>
            </a:r>
            <a:endParaRPr lang="en-US" sz="680" dirty="0"/>
          </a:p>
        </p:txBody>
      </p:sp>
      <p:sp>
        <p:nvSpPr>
          <p:cNvPr id="28" name="Shape 26"/>
          <p:cNvSpPr/>
          <p:nvPr/>
        </p:nvSpPr>
        <p:spPr>
          <a:xfrm>
            <a:off x="6248400" y="1975104"/>
            <a:ext cx="2804160" cy="201168"/>
          </a:xfrm>
          <a:prstGeom prst="rect">
            <a:avLst/>
          </a:prstGeom>
          <a:solidFill>
            <a:srgbClr val="68349A"/>
          </a:solidFill>
          <a:ln w="6350">
            <a:solidFill>
              <a:srgbClr val="68349A"/>
            </a:solidFill>
            <a:prstDash val="solid"/>
          </a:ln>
        </p:spPr>
      </p:sp>
      <p:sp>
        <p:nvSpPr>
          <p:cNvPr id="29" name="Text 27"/>
          <p:cNvSpPr/>
          <p:nvPr/>
        </p:nvSpPr>
        <p:spPr>
          <a:xfrm>
            <a:off x="6248400" y="1975104"/>
            <a:ext cx="2804160" cy="20116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AI Foundation POD</a:t>
            </a:r>
            <a:endParaRPr lang="en-US" sz="760" dirty="0"/>
          </a:p>
        </p:txBody>
      </p:sp>
      <p:sp>
        <p:nvSpPr>
          <p:cNvPr id="30" name="Shape 28"/>
          <p:cNvSpPr/>
          <p:nvPr/>
        </p:nvSpPr>
        <p:spPr>
          <a:xfrm>
            <a:off x="6248400" y="2176272"/>
            <a:ext cx="2804160" cy="676656"/>
          </a:xfrm>
          <a:prstGeom prst="rect">
            <a:avLst/>
          </a:prstGeom>
          <a:solidFill>
            <a:srgbClr val="F3EDF9"/>
          </a:solidFill>
          <a:ln w="9525">
            <a:solidFill>
              <a:srgbClr val="DCE6F0"/>
            </a:solidFill>
            <a:prstDash val="solid"/>
          </a:ln>
        </p:spPr>
      </p:sp>
      <p:sp>
        <p:nvSpPr>
          <p:cNvPr id="31" name="Text 29"/>
          <p:cNvSpPr/>
          <p:nvPr/>
        </p:nvSpPr>
        <p:spPr>
          <a:xfrm>
            <a:off x="6248400" y="2176272"/>
            <a:ext cx="2804160" cy="676656"/>
          </a:xfrm>
          <a:prstGeom prst="rect">
            <a:avLst/>
          </a:prstGeom>
          <a:noFill/>
          <a:ln/>
        </p:spPr>
        <p:txBody>
          <a:bodyPr wrap="square" lIns="508" tIns="1016" rIns="1016" bIns="508" rtlCol="0" anchor="ctr"/>
          <a:lstStyle/>
          <a:p>
            <a:pPr algn="ctr" indent="0" marL="0">
              <a:lnSpc>
                <a:spcPct val="94000"/>
              </a:lnSpc>
              <a:buNone/>
            </a:pPr>
            <a:r>
              <a:rPr lang="en-US" sz="680" dirty="0">
                <a:solidFill>
                  <a:srgbClr val="1A1A1A"/>
                </a:solidFill>
                <a:latin typeface="Arial" pitchFamily="34" charset="0"/>
                <a:ea typeface="Arial" pitchFamily="34" charset="-122"/>
                <a:cs typeface="Arial" pitchFamily="34" charset="-120"/>
              </a:rPr>
              <a:t>AI Lead  ·  Agent Builder  ·  AgentOps  ·  Eval Engineer</a:t>
            </a:r>
            <a:endParaRPr lang="en-US" sz="680" dirty="0"/>
          </a:p>
        </p:txBody>
      </p:sp>
      <p:sp>
        <p:nvSpPr>
          <p:cNvPr id="32" name="Shape 30"/>
          <p:cNvSpPr/>
          <p:nvPr/>
        </p:nvSpPr>
        <p:spPr>
          <a:xfrm>
            <a:off x="384048" y="2962656"/>
            <a:ext cx="8668512" cy="201168"/>
          </a:xfrm>
          <a:prstGeom prst="rect">
            <a:avLst/>
          </a:prstGeom>
          <a:solidFill>
            <a:srgbClr val="081F5C"/>
          </a:solidFill>
          <a:ln w="6350">
            <a:solidFill>
              <a:srgbClr val="081F5C"/>
            </a:solidFill>
            <a:prstDash val="solid"/>
          </a:ln>
        </p:spPr>
      </p:sp>
      <p:sp>
        <p:nvSpPr>
          <p:cNvPr id="33" name="Text 31"/>
          <p:cNvSpPr/>
          <p:nvPr/>
        </p:nvSpPr>
        <p:spPr>
          <a:xfrm>
            <a:off x="475488" y="2962656"/>
            <a:ext cx="4572000" cy="201168"/>
          </a:xfrm>
          <a:prstGeom prst="rect">
            <a:avLst/>
          </a:prstGeom>
          <a:noFill/>
          <a:ln/>
        </p:spPr>
        <p:txBody>
          <a:bodyPr wrap="square" lIns="0" tIns="0" rIns="0" bIns="0" rtlCol="0" anchor="ctr"/>
          <a:lstStyle/>
          <a:p>
            <a:pPr indent="0" marL="0">
              <a:buNone/>
            </a:pPr>
            <a:r>
              <a:rPr lang="en-US" sz="800" b="1" spc="40" kern="0" dirty="0">
                <a:solidFill>
                  <a:srgbClr val="FFFFFF"/>
                </a:solidFill>
                <a:latin typeface="Arial" pitchFamily="34" charset="0"/>
                <a:ea typeface="Arial" pitchFamily="34" charset="-122"/>
                <a:cs typeface="Arial" pitchFamily="34" charset="-120"/>
              </a:rPr>
              <a:t>DELIVERY PODS</a:t>
            </a:r>
            <a:endParaRPr lang="en-US" sz="800" dirty="0"/>
          </a:p>
        </p:txBody>
      </p:sp>
      <p:sp>
        <p:nvSpPr>
          <p:cNvPr id="34" name="Text 32"/>
          <p:cNvSpPr/>
          <p:nvPr/>
        </p:nvSpPr>
        <p:spPr>
          <a:xfrm>
            <a:off x="4846320" y="2962656"/>
            <a:ext cx="4114800" cy="201168"/>
          </a:xfrm>
          <a:prstGeom prst="rect">
            <a:avLst/>
          </a:prstGeom>
          <a:noFill/>
          <a:ln/>
        </p:spPr>
        <p:txBody>
          <a:bodyPr wrap="square" lIns="0" tIns="0" rIns="0" bIns="0" rtlCol="0" anchor="ctr"/>
          <a:lstStyle/>
          <a:p>
            <a:pPr algn="r" indent="0" marL="0">
              <a:buNone/>
            </a:pPr>
            <a:r>
              <a:rPr lang="en-US" sz="700" i="1" dirty="0">
                <a:solidFill>
                  <a:srgbClr val="D8E4F5"/>
                </a:solidFill>
                <a:latin typeface="Arial" pitchFamily="34" charset="0"/>
                <a:ea typeface="Arial" pitchFamily="34" charset="-122"/>
                <a:cs typeface="Arial" pitchFamily="34" charset="-120"/>
              </a:rPr>
              <a:t>shared colour = same target platform; the data POD feeds the report POD above it</a:t>
            </a:r>
            <a:endParaRPr lang="en-US" sz="700" dirty="0"/>
          </a:p>
        </p:txBody>
      </p:sp>
      <p:sp>
        <p:nvSpPr>
          <p:cNvPr id="35" name="Shape 33"/>
          <p:cNvSpPr/>
          <p:nvPr/>
        </p:nvSpPr>
        <p:spPr>
          <a:xfrm>
            <a:off x="384048" y="3218688"/>
            <a:ext cx="1159982" cy="310896"/>
          </a:xfrm>
          <a:prstGeom prst="rect">
            <a:avLst/>
          </a:prstGeom>
          <a:solidFill>
            <a:srgbClr val="081F5C"/>
          </a:solidFill>
          <a:ln w="6350">
            <a:solidFill>
              <a:srgbClr val="081F5C"/>
            </a:solidFill>
            <a:prstDash val="solid"/>
          </a:ln>
        </p:spPr>
      </p:sp>
      <p:sp>
        <p:nvSpPr>
          <p:cNvPr id="36" name="Text 34"/>
          <p:cNvSpPr/>
          <p:nvPr/>
        </p:nvSpPr>
        <p:spPr>
          <a:xfrm>
            <a:off x="384048"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Rationalization POD</a:t>
            </a:r>
            <a:endParaRPr lang="en-US" sz="700" dirty="0"/>
          </a:p>
        </p:txBody>
      </p:sp>
      <p:sp>
        <p:nvSpPr>
          <p:cNvPr id="37" name="Shape 35"/>
          <p:cNvSpPr/>
          <p:nvPr/>
        </p:nvSpPr>
        <p:spPr>
          <a:xfrm>
            <a:off x="384048" y="3529584"/>
            <a:ext cx="1159982" cy="1481328"/>
          </a:xfrm>
          <a:prstGeom prst="rect">
            <a:avLst/>
          </a:prstGeom>
          <a:solidFill>
            <a:srgbClr val="FCFDFE"/>
          </a:solidFill>
          <a:ln w="9525">
            <a:solidFill>
              <a:srgbClr val="DCE6F0"/>
            </a:solidFill>
            <a:prstDash val="solid"/>
          </a:ln>
        </p:spPr>
      </p:sp>
      <p:sp>
        <p:nvSpPr>
          <p:cNvPr id="38" name="Shape 36"/>
          <p:cNvSpPr/>
          <p:nvPr/>
        </p:nvSpPr>
        <p:spPr>
          <a:xfrm>
            <a:off x="438912" y="3602736"/>
            <a:ext cx="1050254" cy="228600"/>
          </a:xfrm>
          <a:prstGeom prst="roundRect">
            <a:avLst>
              <a:gd name="adj" fmla="val 120000"/>
            </a:avLst>
          </a:prstGeom>
          <a:solidFill>
            <a:srgbClr val="ADDAFB"/>
          </a:solidFill>
          <a:ln w="6350">
            <a:solidFill>
              <a:srgbClr val="ADDAFB"/>
            </a:solidFill>
            <a:prstDash val="solid"/>
          </a:ln>
        </p:spPr>
      </p:sp>
      <p:sp>
        <p:nvSpPr>
          <p:cNvPr id="39" name="Text 37"/>
          <p:cNvSpPr/>
          <p:nvPr/>
        </p:nvSpPr>
        <p:spPr>
          <a:xfrm>
            <a:off x="438912"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40" name="Shape 38"/>
          <p:cNvSpPr/>
          <p:nvPr/>
        </p:nvSpPr>
        <p:spPr>
          <a:xfrm>
            <a:off x="438912" y="3877056"/>
            <a:ext cx="1050254" cy="228600"/>
          </a:xfrm>
          <a:prstGeom prst="roundRect">
            <a:avLst>
              <a:gd name="adj" fmla="val 120000"/>
            </a:avLst>
          </a:prstGeom>
          <a:solidFill>
            <a:srgbClr val="ADDAFB"/>
          </a:solidFill>
          <a:ln w="6350">
            <a:solidFill>
              <a:srgbClr val="ADDAFB"/>
            </a:solidFill>
            <a:prstDash val="solid"/>
          </a:ln>
        </p:spPr>
      </p:sp>
      <p:sp>
        <p:nvSpPr>
          <p:cNvPr id="41" name="Text 39"/>
          <p:cNvSpPr/>
          <p:nvPr/>
        </p:nvSpPr>
        <p:spPr>
          <a:xfrm>
            <a:off x="438912"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BI Analyst(s)</a:t>
            </a:r>
            <a:endParaRPr lang="en-US" sz="610" dirty="0"/>
          </a:p>
        </p:txBody>
      </p:sp>
      <p:sp>
        <p:nvSpPr>
          <p:cNvPr id="42" name="Shape 40"/>
          <p:cNvSpPr/>
          <p:nvPr/>
        </p:nvSpPr>
        <p:spPr>
          <a:xfrm>
            <a:off x="438912" y="4151376"/>
            <a:ext cx="1050254" cy="228600"/>
          </a:xfrm>
          <a:prstGeom prst="roundRect">
            <a:avLst>
              <a:gd name="adj" fmla="val 120000"/>
            </a:avLst>
          </a:prstGeom>
          <a:solidFill>
            <a:srgbClr val="ADDAFB"/>
          </a:solidFill>
          <a:ln w="6350">
            <a:solidFill>
              <a:srgbClr val="ADDAFB"/>
            </a:solidFill>
            <a:prstDash val="solid"/>
          </a:ln>
        </p:spPr>
      </p:sp>
      <p:sp>
        <p:nvSpPr>
          <p:cNvPr id="43" name="Text 41"/>
          <p:cNvSpPr/>
          <p:nvPr/>
        </p:nvSpPr>
        <p:spPr>
          <a:xfrm>
            <a:off x="438912"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Data Analyst</a:t>
            </a:r>
            <a:endParaRPr lang="en-US" sz="610" dirty="0"/>
          </a:p>
        </p:txBody>
      </p:sp>
      <p:sp>
        <p:nvSpPr>
          <p:cNvPr id="44" name="Shape 42"/>
          <p:cNvSpPr/>
          <p:nvPr/>
        </p:nvSpPr>
        <p:spPr>
          <a:xfrm>
            <a:off x="438912" y="4425696"/>
            <a:ext cx="1050254" cy="228600"/>
          </a:xfrm>
          <a:prstGeom prst="roundRect">
            <a:avLst>
              <a:gd name="adj" fmla="val 120000"/>
            </a:avLst>
          </a:prstGeom>
          <a:solidFill>
            <a:srgbClr val="ADDAFB"/>
          </a:solidFill>
          <a:ln w="6350">
            <a:solidFill>
              <a:srgbClr val="ADDAFB"/>
            </a:solidFill>
            <a:prstDash val="solid"/>
          </a:ln>
        </p:spPr>
      </p:sp>
      <p:sp>
        <p:nvSpPr>
          <p:cNvPr id="45" name="Text 43"/>
          <p:cNvSpPr/>
          <p:nvPr/>
        </p:nvSpPr>
        <p:spPr>
          <a:xfrm>
            <a:off x="438912"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Business Analyst</a:t>
            </a:r>
            <a:endParaRPr lang="en-US" sz="610" dirty="0"/>
          </a:p>
        </p:txBody>
      </p:sp>
      <p:sp>
        <p:nvSpPr>
          <p:cNvPr id="46" name="Text 44"/>
          <p:cNvSpPr/>
          <p:nvPr/>
        </p:nvSpPr>
        <p:spPr>
          <a:xfrm>
            <a:off x="384048"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081F5C"/>
                </a:solidFill>
                <a:latin typeface="Arial" pitchFamily="34" charset="0"/>
                <a:ea typeface="Arial" pitchFamily="34" charset="-122"/>
                <a:cs typeface="Arial" pitchFamily="34" charset="-120"/>
              </a:rPr>
              <a:t>owns principles 1–6</a:t>
            </a:r>
            <a:endParaRPr lang="en-US" sz="600" dirty="0"/>
          </a:p>
        </p:txBody>
      </p:sp>
      <p:sp>
        <p:nvSpPr>
          <p:cNvPr id="47" name="Shape 45"/>
          <p:cNvSpPr/>
          <p:nvPr/>
        </p:nvSpPr>
        <p:spPr>
          <a:xfrm>
            <a:off x="1635470" y="3218688"/>
            <a:ext cx="1159982" cy="310896"/>
          </a:xfrm>
          <a:prstGeom prst="rect">
            <a:avLst/>
          </a:prstGeom>
          <a:solidFill>
            <a:srgbClr val="1596B0"/>
          </a:solidFill>
          <a:ln w="6350">
            <a:solidFill>
              <a:srgbClr val="1596B0"/>
            </a:solidFill>
            <a:prstDash val="solid"/>
          </a:ln>
        </p:spPr>
      </p:sp>
      <p:sp>
        <p:nvSpPr>
          <p:cNvPr id="48" name="Text 46"/>
          <p:cNvSpPr/>
          <p:nvPr/>
        </p:nvSpPr>
        <p:spPr>
          <a:xfrm>
            <a:off x="1635470"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Data POD — MS SQL Server</a:t>
            </a:r>
            <a:endParaRPr lang="en-US" sz="700" dirty="0"/>
          </a:p>
        </p:txBody>
      </p:sp>
      <p:sp>
        <p:nvSpPr>
          <p:cNvPr id="49" name="Shape 47"/>
          <p:cNvSpPr/>
          <p:nvPr/>
        </p:nvSpPr>
        <p:spPr>
          <a:xfrm>
            <a:off x="1635470" y="3529584"/>
            <a:ext cx="1159982" cy="1481328"/>
          </a:xfrm>
          <a:prstGeom prst="rect">
            <a:avLst/>
          </a:prstGeom>
          <a:solidFill>
            <a:srgbClr val="FCFDFE"/>
          </a:solidFill>
          <a:ln w="9525">
            <a:solidFill>
              <a:srgbClr val="DCE6F0"/>
            </a:solidFill>
            <a:prstDash val="solid"/>
          </a:ln>
        </p:spPr>
      </p:sp>
      <p:sp>
        <p:nvSpPr>
          <p:cNvPr id="50" name="Shape 48"/>
          <p:cNvSpPr/>
          <p:nvPr/>
        </p:nvSpPr>
        <p:spPr>
          <a:xfrm>
            <a:off x="1690334" y="3602736"/>
            <a:ext cx="1050254" cy="228600"/>
          </a:xfrm>
          <a:prstGeom prst="roundRect">
            <a:avLst>
              <a:gd name="adj" fmla="val 120000"/>
            </a:avLst>
          </a:prstGeom>
          <a:solidFill>
            <a:srgbClr val="ADDAFB"/>
          </a:solidFill>
          <a:ln w="6350">
            <a:solidFill>
              <a:srgbClr val="ADDAFB"/>
            </a:solidFill>
            <a:prstDash val="solid"/>
          </a:ln>
        </p:spPr>
      </p:sp>
      <p:sp>
        <p:nvSpPr>
          <p:cNvPr id="51" name="Text 49"/>
          <p:cNvSpPr/>
          <p:nvPr/>
        </p:nvSpPr>
        <p:spPr>
          <a:xfrm>
            <a:off x="1690334"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52" name="Shape 50"/>
          <p:cNvSpPr/>
          <p:nvPr/>
        </p:nvSpPr>
        <p:spPr>
          <a:xfrm>
            <a:off x="1690334" y="3877056"/>
            <a:ext cx="1050254" cy="228600"/>
          </a:xfrm>
          <a:prstGeom prst="roundRect">
            <a:avLst>
              <a:gd name="adj" fmla="val 120000"/>
            </a:avLst>
          </a:prstGeom>
          <a:solidFill>
            <a:srgbClr val="ADDAFB"/>
          </a:solidFill>
          <a:ln w="6350">
            <a:solidFill>
              <a:srgbClr val="ADDAFB"/>
            </a:solidFill>
            <a:prstDash val="solid"/>
          </a:ln>
        </p:spPr>
      </p:sp>
      <p:sp>
        <p:nvSpPr>
          <p:cNvPr id="53" name="Text 51"/>
          <p:cNvSpPr/>
          <p:nvPr/>
        </p:nvSpPr>
        <p:spPr>
          <a:xfrm>
            <a:off x="1690334"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Data Engineer(s)</a:t>
            </a:r>
            <a:endParaRPr lang="en-US" sz="610" dirty="0"/>
          </a:p>
        </p:txBody>
      </p:sp>
      <p:sp>
        <p:nvSpPr>
          <p:cNvPr id="54" name="Shape 52"/>
          <p:cNvSpPr/>
          <p:nvPr/>
        </p:nvSpPr>
        <p:spPr>
          <a:xfrm>
            <a:off x="1690334" y="4151376"/>
            <a:ext cx="1050254" cy="228600"/>
          </a:xfrm>
          <a:prstGeom prst="roundRect">
            <a:avLst>
              <a:gd name="adj" fmla="val 120000"/>
            </a:avLst>
          </a:prstGeom>
          <a:solidFill>
            <a:srgbClr val="ADDAFB"/>
          </a:solidFill>
          <a:ln w="6350">
            <a:solidFill>
              <a:srgbClr val="ADDAFB"/>
            </a:solidFill>
            <a:prstDash val="solid"/>
          </a:ln>
        </p:spPr>
      </p:sp>
      <p:sp>
        <p:nvSpPr>
          <p:cNvPr id="55" name="Text 53"/>
          <p:cNvSpPr/>
          <p:nvPr/>
        </p:nvSpPr>
        <p:spPr>
          <a:xfrm>
            <a:off x="1690334"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T-SQL Developer(s)</a:t>
            </a:r>
            <a:endParaRPr lang="en-US" sz="610" dirty="0"/>
          </a:p>
        </p:txBody>
      </p:sp>
      <p:sp>
        <p:nvSpPr>
          <p:cNvPr id="56" name="Shape 54"/>
          <p:cNvSpPr/>
          <p:nvPr/>
        </p:nvSpPr>
        <p:spPr>
          <a:xfrm>
            <a:off x="1690334" y="4425696"/>
            <a:ext cx="1050254" cy="228600"/>
          </a:xfrm>
          <a:prstGeom prst="roundRect">
            <a:avLst>
              <a:gd name="adj" fmla="val 120000"/>
            </a:avLst>
          </a:prstGeom>
          <a:solidFill>
            <a:srgbClr val="ADDAFB"/>
          </a:solidFill>
          <a:ln w="6350">
            <a:solidFill>
              <a:srgbClr val="ADDAFB"/>
            </a:solidFill>
            <a:prstDash val="solid"/>
          </a:ln>
        </p:spPr>
      </p:sp>
      <p:sp>
        <p:nvSpPr>
          <p:cNvPr id="57" name="Text 55"/>
          <p:cNvSpPr/>
          <p:nvPr/>
        </p:nvSpPr>
        <p:spPr>
          <a:xfrm>
            <a:off x="1690334"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58" name="Text 56"/>
          <p:cNvSpPr/>
          <p:nvPr/>
        </p:nvSpPr>
        <p:spPr>
          <a:xfrm>
            <a:off x="1635470"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1596B0"/>
                </a:solidFill>
                <a:latin typeface="Arial" pitchFamily="34" charset="0"/>
                <a:ea typeface="Arial" pitchFamily="34" charset="-122"/>
                <a:cs typeface="Arial" pitchFamily="34" charset="-120"/>
              </a:rPr>
              <a:t>owns 2A–2F</a:t>
            </a:r>
            <a:endParaRPr lang="en-US" sz="600" dirty="0"/>
          </a:p>
        </p:txBody>
      </p:sp>
      <p:sp>
        <p:nvSpPr>
          <p:cNvPr id="59" name="Shape 57"/>
          <p:cNvSpPr/>
          <p:nvPr/>
        </p:nvSpPr>
        <p:spPr>
          <a:xfrm>
            <a:off x="2886891" y="3218688"/>
            <a:ext cx="1159982" cy="310896"/>
          </a:xfrm>
          <a:prstGeom prst="rect">
            <a:avLst/>
          </a:prstGeom>
          <a:solidFill>
            <a:srgbClr val="3E6DA8"/>
          </a:solidFill>
          <a:ln w="6350">
            <a:solidFill>
              <a:srgbClr val="3E6DA8"/>
            </a:solidFill>
            <a:prstDash val="solid"/>
          </a:ln>
        </p:spPr>
      </p:sp>
      <p:sp>
        <p:nvSpPr>
          <p:cNvPr id="60" name="Text 58"/>
          <p:cNvSpPr/>
          <p:nvPr/>
        </p:nvSpPr>
        <p:spPr>
          <a:xfrm>
            <a:off x="2886891"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Data POD — Databricks</a:t>
            </a:r>
            <a:endParaRPr lang="en-US" sz="700" dirty="0"/>
          </a:p>
        </p:txBody>
      </p:sp>
      <p:sp>
        <p:nvSpPr>
          <p:cNvPr id="61" name="Shape 59"/>
          <p:cNvSpPr/>
          <p:nvPr/>
        </p:nvSpPr>
        <p:spPr>
          <a:xfrm>
            <a:off x="2886891" y="3529584"/>
            <a:ext cx="1159982" cy="1481328"/>
          </a:xfrm>
          <a:prstGeom prst="rect">
            <a:avLst/>
          </a:prstGeom>
          <a:solidFill>
            <a:srgbClr val="FCFDFE"/>
          </a:solidFill>
          <a:ln w="9525">
            <a:solidFill>
              <a:srgbClr val="DCE6F0"/>
            </a:solidFill>
            <a:prstDash val="solid"/>
          </a:ln>
        </p:spPr>
      </p:sp>
      <p:sp>
        <p:nvSpPr>
          <p:cNvPr id="62" name="Shape 60"/>
          <p:cNvSpPr/>
          <p:nvPr/>
        </p:nvSpPr>
        <p:spPr>
          <a:xfrm>
            <a:off x="2941755" y="3602736"/>
            <a:ext cx="1050254" cy="228600"/>
          </a:xfrm>
          <a:prstGeom prst="roundRect">
            <a:avLst>
              <a:gd name="adj" fmla="val 120000"/>
            </a:avLst>
          </a:prstGeom>
          <a:solidFill>
            <a:srgbClr val="ADDAFB"/>
          </a:solidFill>
          <a:ln w="6350">
            <a:solidFill>
              <a:srgbClr val="ADDAFB"/>
            </a:solidFill>
            <a:prstDash val="solid"/>
          </a:ln>
        </p:spPr>
      </p:sp>
      <p:sp>
        <p:nvSpPr>
          <p:cNvPr id="63" name="Text 61"/>
          <p:cNvSpPr/>
          <p:nvPr/>
        </p:nvSpPr>
        <p:spPr>
          <a:xfrm>
            <a:off x="2941755"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64" name="Shape 62"/>
          <p:cNvSpPr/>
          <p:nvPr/>
        </p:nvSpPr>
        <p:spPr>
          <a:xfrm>
            <a:off x="2941755" y="3877056"/>
            <a:ext cx="1050254" cy="228600"/>
          </a:xfrm>
          <a:prstGeom prst="roundRect">
            <a:avLst>
              <a:gd name="adj" fmla="val 120000"/>
            </a:avLst>
          </a:prstGeom>
          <a:solidFill>
            <a:srgbClr val="ADDAFB"/>
          </a:solidFill>
          <a:ln w="6350">
            <a:solidFill>
              <a:srgbClr val="ADDAFB"/>
            </a:solidFill>
            <a:prstDash val="solid"/>
          </a:ln>
        </p:spPr>
      </p:sp>
      <p:sp>
        <p:nvSpPr>
          <p:cNvPr id="65" name="Text 63"/>
          <p:cNvSpPr/>
          <p:nvPr/>
        </p:nvSpPr>
        <p:spPr>
          <a:xfrm>
            <a:off x="2941755"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Data Engineer(s)</a:t>
            </a:r>
            <a:endParaRPr lang="en-US" sz="610" dirty="0"/>
          </a:p>
        </p:txBody>
      </p:sp>
      <p:sp>
        <p:nvSpPr>
          <p:cNvPr id="66" name="Shape 64"/>
          <p:cNvSpPr/>
          <p:nvPr/>
        </p:nvSpPr>
        <p:spPr>
          <a:xfrm>
            <a:off x="2941755" y="4151376"/>
            <a:ext cx="1050254" cy="228600"/>
          </a:xfrm>
          <a:prstGeom prst="roundRect">
            <a:avLst>
              <a:gd name="adj" fmla="val 120000"/>
            </a:avLst>
          </a:prstGeom>
          <a:solidFill>
            <a:srgbClr val="ADDAFB"/>
          </a:solidFill>
          <a:ln w="6350">
            <a:solidFill>
              <a:srgbClr val="ADDAFB"/>
            </a:solidFill>
            <a:prstDash val="solid"/>
          </a:ln>
        </p:spPr>
      </p:sp>
      <p:sp>
        <p:nvSpPr>
          <p:cNvPr id="67" name="Text 65"/>
          <p:cNvSpPr/>
          <p:nvPr/>
        </p:nvSpPr>
        <p:spPr>
          <a:xfrm>
            <a:off x="2941755"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Platform Engineer</a:t>
            </a:r>
            <a:endParaRPr lang="en-US" sz="610" dirty="0"/>
          </a:p>
        </p:txBody>
      </p:sp>
      <p:sp>
        <p:nvSpPr>
          <p:cNvPr id="68" name="Shape 66"/>
          <p:cNvSpPr/>
          <p:nvPr/>
        </p:nvSpPr>
        <p:spPr>
          <a:xfrm>
            <a:off x="2941755" y="4425696"/>
            <a:ext cx="1050254" cy="228600"/>
          </a:xfrm>
          <a:prstGeom prst="roundRect">
            <a:avLst>
              <a:gd name="adj" fmla="val 120000"/>
            </a:avLst>
          </a:prstGeom>
          <a:solidFill>
            <a:srgbClr val="ADDAFB"/>
          </a:solidFill>
          <a:ln w="6350">
            <a:solidFill>
              <a:srgbClr val="ADDAFB"/>
            </a:solidFill>
            <a:prstDash val="solid"/>
          </a:ln>
        </p:spPr>
      </p:sp>
      <p:sp>
        <p:nvSpPr>
          <p:cNvPr id="69" name="Text 67"/>
          <p:cNvSpPr/>
          <p:nvPr/>
        </p:nvSpPr>
        <p:spPr>
          <a:xfrm>
            <a:off x="2941755"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70" name="Text 68"/>
          <p:cNvSpPr/>
          <p:nvPr/>
        </p:nvSpPr>
        <p:spPr>
          <a:xfrm>
            <a:off x="2886891"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3E6DA8"/>
                </a:solidFill>
                <a:latin typeface="Arial" pitchFamily="34" charset="0"/>
                <a:ea typeface="Arial" pitchFamily="34" charset="-122"/>
                <a:cs typeface="Arial" pitchFamily="34" charset="-120"/>
              </a:rPr>
              <a:t>owns 4A–4F</a:t>
            </a:r>
            <a:endParaRPr lang="en-US" sz="600" dirty="0"/>
          </a:p>
        </p:txBody>
      </p:sp>
      <p:sp>
        <p:nvSpPr>
          <p:cNvPr id="71" name="Shape 69"/>
          <p:cNvSpPr/>
          <p:nvPr/>
        </p:nvSpPr>
        <p:spPr>
          <a:xfrm>
            <a:off x="4138313" y="3218688"/>
            <a:ext cx="1159982" cy="310896"/>
          </a:xfrm>
          <a:prstGeom prst="rect">
            <a:avLst/>
          </a:prstGeom>
          <a:solidFill>
            <a:srgbClr val="68349A"/>
          </a:solidFill>
          <a:ln w="6350">
            <a:solidFill>
              <a:srgbClr val="68349A"/>
            </a:solidFill>
            <a:prstDash val="solid"/>
          </a:ln>
        </p:spPr>
      </p:sp>
      <p:sp>
        <p:nvSpPr>
          <p:cNvPr id="72" name="Text 70"/>
          <p:cNvSpPr/>
          <p:nvPr/>
        </p:nvSpPr>
        <p:spPr>
          <a:xfrm>
            <a:off x="4138313"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CogitoSQL POD</a:t>
            </a:r>
            <a:endParaRPr lang="en-US" sz="700" dirty="0"/>
          </a:p>
        </p:txBody>
      </p:sp>
      <p:sp>
        <p:nvSpPr>
          <p:cNvPr id="73" name="Shape 71"/>
          <p:cNvSpPr/>
          <p:nvPr/>
        </p:nvSpPr>
        <p:spPr>
          <a:xfrm>
            <a:off x="4138313" y="3529584"/>
            <a:ext cx="1159982" cy="1481328"/>
          </a:xfrm>
          <a:prstGeom prst="rect">
            <a:avLst/>
          </a:prstGeom>
          <a:solidFill>
            <a:srgbClr val="FCFDFE"/>
          </a:solidFill>
          <a:ln w="9525">
            <a:solidFill>
              <a:srgbClr val="DCE6F0"/>
            </a:solidFill>
            <a:prstDash val="solid"/>
          </a:ln>
        </p:spPr>
      </p:sp>
      <p:sp>
        <p:nvSpPr>
          <p:cNvPr id="74" name="Shape 72"/>
          <p:cNvSpPr/>
          <p:nvPr/>
        </p:nvSpPr>
        <p:spPr>
          <a:xfrm>
            <a:off x="4193177" y="3602736"/>
            <a:ext cx="1050254" cy="228600"/>
          </a:xfrm>
          <a:prstGeom prst="roundRect">
            <a:avLst>
              <a:gd name="adj" fmla="val 120000"/>
            </a:avLst>
          </a:prstGeom>
          <a:solidFill>
            <a:srgbClr val="ADDAFB"/>
          </a:solidFill>
          <a:ln w="6350">
            <a:solidFill>
              <a:srgbClr val="ADDAFB"/>
            </a:solidFill>
            <a:prstDash val="solid"/>
          </a:ln>
        </p:spPr>
      </p:sp>
      <p:sp>
        <p:nvSpPr>
          <p:cNvPr id="75" name="Text 73"/>
          <p:cNvSpPr/>
          <p:nvPr/>
        </p:nvSpPr>
        <p:spPr>
          <a:xfrm>
            <a:off x="4193177"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76" name="Shape 74"/>
          <p:cNvSpPr/>
          <p:nvPr/>
        </p:nvSpPr>
        <p:spPr>
          <a:xfrm>
            <a:off x="4193177" y="3877056"/>
            <a:ext cx="1050254" cy="228600"/>
          </a:xfrm>
          <a:prstGeom prst="roundRect">
            <a:avLst>
              <a:gd name="adj" fmla="val 120000"/>
            </a:avLst>
          </a:prstGeom>
          <a:solidFill>
            <a:srgbClr val="ADDAFB"/>
          </a:solidFill>
          <a:ln w="6350">
            <a:solidFill>
              <a:srgbClr val="ADDAFB"/>
            </a:solidFill>
            <a:prstDash val="solid"/>
          </a:ln>
        </p:spPr>
      </p:sp>
      <p:sp>
        <p:nvSpPr>
          <p:cNvPr id="77" name="Text 75"/>
          <p:cNvSpPr/>
          <p:nvPr/>
        </p:nvSpPr>
        <p:spPr>
          <a:xfrm>
            <a:off x="4193177"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Epic Cogito Analyst(s)</a:t>
            </a:r>
            <a:endParaRPr lang="en-US" sz="610" dirty="0"/>
          </a:p>
        </p:txBody>
      </p:sp>
      <p:sp>
        <p:nvSpPr>
          <p:cNvPr id="78" name="Shape 76"/>
          <p:cNvSpPr/>
          <p:nvPr/>
        </p:nvSpPr>
        <p:spPr>
          <a:xfrm>
            <a:off x="4193177" y="4151376"/>
            <a:ext cx="1050254" cy="228600"/>
          </a:xfrm>
          <a:prstGeom prst="roundRect">
            <a:avLst>
              <a:gd name="adj" fmla="val 120000"/>
            </a:avLst>
          </a:prstGeom>
          <a:solidFill>
            <a:srgbClr val="ADDAFB"/>
          </a:solidFill>
          <a:ln w="6350">
            <a:solidFill>
              <a:srgbClr val="ADDAFB"/>
            </a:solidFill>
            <a:prstDash val="solid"/>
          </a:ln>
        </p:spPr>
      </p:sp>
      <p:sp>
        <p:nvSpPr>
          <p:cNvPr id="79" name="Text 77"/>
          <p:cNvSpPr/>
          <p:nvPr/>
        </p:nvSpPr>
        <p:spPr>
          <a:xfrm>
            <a:off x="4193177"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Clinical Informaticist</a:t>
            </a:r>
            <a:endParaRPr lang="en-US" sz="610" dirty="0"/>
          </a:p>
        </p:txBody>
      </p:sp>
      <p:sp>
        <p:nvSpPr>
          <p:cNvPr id="80" name="Shape 78"/>
          <p:cNvSpPr/>
          <p:nvPr/>
        </p:nvSpPr>
        <p:spPr>
          <a:xfrm>
            <a:off x="4193177" y="4425696"/>
            <a:ext cx="1050254" cy="228600"/>
          </a:xfrm>
          <a:prstGeom prst="roundRect">
            <a:avLst>
              <a:gd name="adj" fmla="val 120000"/>
            </a:avLst>
          </a:prstGeom>
          <a:solidFill>
            <a:srgbClr val="ADDAFB"/>
          </a:solidFill>
          <a:ln w="6350">
            <a:solidFill>
              <a:srgbClr val="ADDAFB"/>
            </a:solidFill>
            <a:prstDash val="solid"/>
          </a:ln>
        </p:spPr>
      </p:sp>
      <p:sp>
        <p:nvSpPr>
          <p:cNvPr id="81" name="Text 79"/>
          <p:cNvSpPr/>
          <p:nvPr/>
        </p:nvSpPr>
        <p:spPr>
          <a:xfrm>
            <a:off x="4193177"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82" name="Text 80"/>
          <p:cNvSpPr/>
          <p:nvPr/>
        </p:nvSpPr>
        <p:spPr>
          <a:xfrm>
            <a:off x="4138313"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68349A"/>
                </a:solidFill>
                <a:latin typeface="Arial" pitchFamily="34" charset="0"/>
                <a:ea typeface="Arial" pitchFamily="34" charset="-122"/>
                <a:cs typeface="Arial" pitchFamily="34" charset="-120"/>
              </a:rPr>
              <a:t>owns 1A–1F</a:t>
            </a:r>
            <a:endParaRPr lang="en-US" sz="600" dirty="0"/>
          </a:p>
        </p:txBody>
      </p:sp>
      <p:sp>
        <p:nvSpPr>
          <p:cNvPr id="83" name="Shape 81"/>
          <p:cNvSpPr/>
          <p:nvPr/>
        </p:nvSpPr>
        <p:spPr>
          <a:xfrm>
            <a:off x="5389735" y="3218688"/>
            <a:ext cx="1159982" cy="310896"/>
          </a:xfrm>
          <a:prstGeom prst="rect">
            <a:avLst/>
          </a:prstGeom>
          <a:solidFill>
            <a:srgbClr val="1596B0"/>
          </a:solidFill>
          <a:ln w="6350">
            <a:solidFill>
              <a:srgbClr val="1596B0"/>
            </a:solidFill>
            <a:prstDash val="solid"/>
          </a:ln>
        </p:spPr>
      </p:sp>
      <p:sp>
        <p:nvSpPr>
          <p:cNvPr id="84" name="Text 82"/>
          <p:cNvSpPr/>
          <p:nvPr/>
        </p:nvSpPr>
        <p:spPr>
          <a:xfrm>
            <a:off x="5389735"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Power BI POD</a:t>
            </a:r>
            <a:endParaRPr lang="en-US" sz="700" dirty="0"/>
          </a:p>
        </p:txBody>
      </p:sp>
      <p:sp>
        <p:nvSpPr>
          <p:cNvPr id="85" name="Shape 83"/>
          <p:cNvSpPr/>
          <p:nvPr/>
        </p:nvSpPr>
        <p:spPr>
          <a:xfrm>
            <a:off x="5389735" y="3529584"/>
            <a:ext cx="1159982" cy="1481328"/>
          </a:xfrm>
          <a:prstGeom prst="rect">
            <a:avLst/>
          </a:prstGeom>
          <a:solidFill>
            <a:srgbClr val="FCFDFE"/>
          </a:solidFill>
          <a:ln w="9525">
            <a:solidFill>
              <a:srgbClr val="DCE6F0"/>
            </a:solidFill>
            <a:prstDash val="solid"/>
          </a:ln>
        </p:spPr>
      </p:sp>
      <p:sp>
        <p:nvSpPr>
          <p:cNvPr id="86" name="Shape 84"/>
          <p:cNvSpPr/>
          <p:nvPr/>
        </p:nvSpPr>
        <p:spPr>
          <a:xfrm>
            <a:off x="5444599" y="3602736"/>
            <a:ext cx="1050254" cy="228600"/>
          </a:xfrm>
          <a:prstGeom prst="roundRect">
            <a:avLst>
              <a:gd name="adj" fmla="val 120000"/>
            </a:avLst>
          </a:prstGeom>
          <a:solidFill>
            <a:srgbClr val="ADDAFB"/>
          </a:solidFill>
          <a:ln w="6350">
            <a:solidFill>
              <a:srgbClr val="ADDAFB"/>
            </a:solidFill>
            <a:prstDash val="solid"/>
          </a:ln>
        </p:spPr>
      </p:sp>
      <p:sp>
        <p:nvSpPr>
          <p:cNvPr id="87" name="Text 85"/>
          <p:cNvSpPr/>
          <p:nvPr/>
        </p:nvSpPr>
        <p:spPr>
          <a:xfrm>
            <a:off x="5444599"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88" name="Shape 86"/>
          <p:cNvSpPr/>
          <p:nvPr/>
        </p:nvSpPr>
        <p:spPr>
          <a:xfrm>
            <a:off x="5444599" y="3877056"/>
            <a:ext cx="1050254" cy="228600"/>
          </a:xfrm>
          <a:prstGeom prst="roundRect">
            <a:avLst>
              <a:gd name="adj" fmla="val 120000"/>
            </a:avLst>
          </a:prstGeom>
          <a:solidFill>
            <a:srgbClr val="ADDAFB"/>
          </a:solidFill>
          <a:ln w="6350">
            <a:solidFill>
              <a:srgbClr val="ADDAFB"/>
            </a:solidFill>
            <a:prstDash val="solid"/>
          </a:ln>
        </p:spPr>
      </p:sp>
      <p:sp>
        <p:nvSpPr>
          <p:cNvPr id="89" name="Text 87"/>
          <p:cNvSpPr/>
          <p:nvPr/>
        </p:nvSpPr>
        <p:spPr>
          <a:xfrm>
            <a:off x="5444599"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Power BI Developer(s)</a:t>
            </a:r>
            <a:endParaRPr lang="en-US" sz="610" dirty="0"/>
          </a:p>
        </p:txBody>
      </p:sp>
      <p:sp>
        <p:nvSpPr>
          <p:cNvPr id="90" name="Shape 88"/>
          <p:cNvSpPr/>
          <p:nvPr/>
        </p:nvSpPr>
        <p:spPr>
          <a:xfrm>
            <a:off x="5444599" y="4151376"/>
            <a:ext cx="1050254" cy="228600"/>
          </a:xfrm>
          <a:prstGeom prst="roundRect">
            <a:avLst>
              <a:gd name="adj" fmla="val 120000"/>
            </a:avLst>
          </a:prstGeom>
          <a:solidFill>
            <a:srgbClr val="ADDAFB"/>
          </a:solidFill>
          <a:ln w="6350">
            <a:solidFill>
              <a:srgbClr val="ADDAFB"/>
            </a:solidFill>
            <a:prstDash val="solid"/>
          </a:ln>
        </p:spPr>
      </p:sp>
      <p:sp>
        <p:nvSpPr>
          <p:cNvPr id="91" name="Text 89"/>
          <p:cNvSpPr/>
          <p:nvPr/>
        </p:nvSpPr>
        <p:spPr>
          <a:xfrm>
            <a:off x="5444599"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Semantic Model Engineer</a:t>
            </a:r>
            <a:endParaRPr lang="en-US" sz="610" dirty="0"/>
          </a:p>
        </p:txBody>
      </p:sp>
      <p:sp>
        <p:nvSpPr>
          <p:cNvPr id="92" name="Shape 90"/>
          <p:cNvSpPr/>
          <p:nvPr/>
        </p:nvSpPr>
        <p:spPr>
          <a:xfrm>
            <a:off x="5444599" y="4425696"/>
            <a:ext cx="1050254" cy="228600"/>
          </a:xfrm>
          <a:prstGeom prst="roundRect">
            <a:avLst>
              <a:gd name="adj" fmla="val 120000"/>
            </a:avLst>
          </a:prstGeom>
          <a:solidFill>
            <a:srgbClr val="ADDAFB"/>
          </a:solidFill>
          <a:ln w="6350">
            <a:solidFill>
              <a:srgbClr val="ADDAFB"/>
            </a:solidFill>
            <a:prstDash val="solid"/>
          </a:ln>
        </p:spPr>
      </p:sp>
      <p:sp>
        <p:nvSpPr>
          <p:cNvPr id="93" name="Text 91"/>
          <p:cNvSpPr/>
          <p:nvPr/>
        </p:nvSpPr>
        <p:spPr>
          <a:xfrm>
            <a:off x="5444599"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94" name="Text 92"/>
          <p:cNvSpPr/>
          <p:nvPr/>
        </p:nvSpPr>
        <p:spPr>
          <a:xfrm>
            <a:off x="5389735"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1596B0"/>
                </a:solidFill>
                <a:latin typeface="Arial" pitchFamily="34" charset="0"/>
                <a:ea typeface="Arial" pitchFamily="34" charset="-122"/>
                <a:cs typeface="Arial" pitchFamily="34" charset="-120"/>
              </a:rPr>
              <a:t>owns 3A–3F</a:t>
            </a:r>
            <a:endParaRPr lang="en-US" sz="600" dirty="0"/>
          </a:p>
        </p:txBody>
      </p:sp>
      <p:sp>
        <p:nvSpPr>
          <p:cNvPr id="95" name="Shape 93"/>
          <p:cNvSpPr/>
          <p:nvPr/>
        </p:nvSpPr>
        <p:spPr>
          <a:xfrm>
            <a:off x="6641157" y="3218688"/>
            <a:ext cx="1159982" cy="310896"/>
          </a:xfrm>
          <a:prstGeom prst="rect">
            <a:avLst/>
          </a:prstGeom>
          <a:solidFill>
            <a:srgbClr val="3E6DA8"/>
          </a:solidFill>
          <a:ln w="6350">
            <a:solidFill>
              <a:srgbClr val="3E6DA8"/>
            </a:solidFill>
            <a:prstDash val="solid"/>
          </a:ln>
        </p:spPr>
      </p:sp>
      <p:sp>
        <p:nvSpPr>
          <p:cNvPr id="96" name="Text 94"/>
          <p:cNvSpPr/>
          <p:nvPr/>
        </p:nvSpPr>
        <p:spPr>
          <a:xfrm>
            <a:off x="6641157"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Databricks AI/BI POD</a:t>
            </a:r>
            <a:endParaRPr lang="en-US" sz="700" dirty="0"/>
          </a:p>
        </p:txBody>
      </p:sp>
      <p:sp>
        <p:nvSpPr>
          <p:cNvPr id="97" name="Shape 95"/>
          <p:cNvSpPr/>
          <p:nvPr/>
        </p:nvSpPr>
        <p:spPr>
          <a:xfrm>
            <a:off x="6641157" y="3529584"/>
            <a:ext cx="1159982" cy="1481328"/>
          </a:xfrm>
          <a:prstGeom prst="rect">
            <a:avLst/>
          </a:prstGeom>
          <a:solidFill>
            <a:srgbClr val="FCFDFE"/>
          </a:solidFill>
          <a:ln w="9525">
            <a:solidFill>
              <a:srgbClr val="DCE6F0"/>
            </a:solidFill>
            <a:prstDash val="solid"/>
          </a:ln>
        </p:spPr>
      </p:sp>
      <p:sp>
        <p:nvSpPr>
          <p:cNvPr id="98" name="Shape 96"/>
          <p:cNvSpPr/>
          <p:nvPr/>
        </p:nvSpPr>
        <p:spPr>
          <a:xfrm>
            <a:off x="6696021" y="3602736"/>
            <a:ext cx="1050254" cy="228600"/>
          </a:xfrm>
          <a:prstGeom prst="roundRect">
            <a:avLst>
              <a:gd name="adj" fmla="val 120000"/>
            </a:avLst>
          </a:prstGeom>
          <a:solidFill>
            <a:srgbClr val="ADDAFB"/>
          </a:solidFill>
          <a:ln w="6350">
            <a:solidFill>
              <a:srgbClr val="ADDAFB"/>
            </a:solidFill>
            <a:prstDash val="solid"/>
          </a:ln>
        </p:spPr>
      </p:sp>
      <p:sp>
        <p:nvSpPr>
          <p:cNvPr id="99" name="Text 97"/>
          <p:cNvSpPr/>
          <p:nvPr/>
        </p:nvSpPr>
        <p:spPr>
          <a:xfrm>
            <a:off x="6696021"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100" name="Shape 98"/>
          <p:cNvSpPr/>
          <p:nvPr/>
        </p:nvSpPr>
        <p:spPr>
          <a:xfrm>
            <a:off x="6696021" y="3877056"/>
            <a:ext cx="1050254" cy="228600"/>
          </a:xfrm>
          <a:prstGeom prst="roundRect">
            <a:avLst>
              <a:gd name="adj" fmla="val 120000"/>
            </a:avLst>
          </a:prstGeom>
          <a:solidFill>
            <a:srgbClr val="ADDAFB"/>
          </a:solidFill>
          <a:ln w="6350">
            <a:solidFill>
              <a:srgbClr val="ADDAFB"/>
            </a:solidFill>
            <a:prstDash val="solid"/>
          </a:ln>
        </p:spPr>
      </p:sp>
      <p:sp>
        <p:nvSpPr>
          <p:cNvPr id="101" name="Text 99"/>
          <p:cNvSpPr/>
          <p:nvPr/>
        </p:nvSpPr>
        <p:spPr>
          <a:xfrm>
            <a:off x="6696021"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AI/BI Developer(s)</a:t>
            </a:r>
            <a:endParaRPr lang="en-US" sz="610" dirty="0"/>
          </a:p>
        </p:txBody>
      </p:sp>
      <p:sp>
        <p:nvSpPr>
          <p:cNvPr id="102" name="Shape 100"/>
          <p:cNvSpPr/>
          <p:nvPr/>
        </p:nvSpPr>
        <p:spPr>
          <a:xfrm>
            <a:off x="6696021" y="4151376"/>
            <a:ext cx="1050254" cy="228600"/>
          </a:xfrm>
          <a:prstGeom prst="roundRect">
            <a:avLst>
              <a:gd name="adj" fmla="val 120000"/>
            </a:avLst>
          </a:prstGeom>
          <a:solidFill>
            <a:srgbClr val="ADDAFB"/>
          </a:solidFill>
          <a:ln w="6350">
            <a:solidFill>
              <a:srgbClr val="ADDAFB"/>
            </a:solidFill>
            <a:prstDash val="solid"/>
          </a:ln>
        </p:spPr>
      </p:sp>
      <p:sp>
        <p:nvSpPr>
          <p:cNvPr id="103" name="Text 101"/>
          <p:cNvSpPr/>
          <p:nvPr/>
        </p:nvSpPr>
        <p:spPr>
          <a:xfrm>
            <a:off x="6696021"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Analytics Engineer</a:t>
            </a:r>
            <a:endParaRPr lang="en-US" sz="610" dirty="0"/>
          </a:p>
        </p:txBody>
      </p:sp>
      <p:sp>
        <p:nvSpPr>
          <p:cNvPr id="104" name="Shape 102"/>
          <p:cNvSpPr/>
          <p:nvPr/>
        </p:nvSpPr>
        <p:spPr>
          <a:xfrm>
            <a:off x="6696021" y="4425696"/>
            <a:ext cx="1050254" cy="228600"/>
          </a:xfrm>
          <a:prstGeom prst="roundRect">
            <a:avLst>
              <a:gd name="adj" fmla="val 120000"/>
            </a:avLst>
          </a:prstGeom>
          <a:solidFill>
            <a:srgbClr val="ADDAFB"/>
          </a:solidFill>
          <a:ln w="6350">
            <a:solidFill>
              <a:srgbClr val="ADDAFB"/>
            </a:solidFill>
            <a:prstDash val="solid"/>
          </a:ln>
        </p:spPr>
      </p:sp>
      <p:sp>
        <p:nvSpPr>
          <p:cNvPr id="105" name="Text 103"/>
          <p:cNvSpPr/>
          <p:nvPr/>
        </p:nvSpPr>
        <p:spPr>
          <a:xfrm>
            <a:off x="6696021"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106" name="Text 104"/>
          <p:cNvSpPr/>
          <p:nvPr/>
        </p:nvSpPr>
        <p:spPr>
          <a:xfrm>
            <a:off x="6641157"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3E6DA8"/>
                </a:solidFill>
                <a:latin typeface="Arial" pitchFamily="34" charset="0"/>
                <a:ea typeface="Arial" pitchFamily="34" charset="-122"/>
                <a:cs typeface="Arial" pitchFamily="34" charset="-120"/>
              </a:rPr>
              <a:t>owns 5A–5F</a:t>
            </a:r>
            <a:endParaRPr lang="en-US" sz="600" dirty="0"/>
          </a:p>
        </p:txBody>
      </p:sp>
      <p:sp>
        <p:nvSpPr>
          <p:cNvPr id="107" name="Shape 105"/>
          <p:cNvSpPr/>
          <p:nvPr/>
        </p:nvSpPr>
        <p:spPr>
          <a:xfrm>
            <a:off x="7892578" y="3218688"/>
            <a:ext cx="1159982" cy="310896"/>
          </a:xfrm>
          <a:prstGeom prst="rect">
            <a:avLst/>
          </a:prstGeom>
          <a:solidFill>
            <a:srgbClr val="707070"/>
          </a:solidFill>
          <a:ln w="6350">
            <a:solidFill>
              <a:srgbClr val="707070"/>
            </a:solidFill>
            <a:prstDash val="solid"/>
          </a:ln>
        </p:spPr>
      </p:sp>
      <p:sp>
        <p:nvSpPr>
          <p:cNvPr id="108" name="Text 106"/>
          <p:cNvSpPr/>
          <p:nvPr/>
        </p:nvSpPr>
        <p:spPr>
          <a:xfrm>
            <a:off x="7892578" y="3218688"/>
            <a:ext cx="1159982" cy="310896"/>
          </a:xfrm>
          <a:prstGeom prst="rect">
            <a:avLst/>
          </a:prstGeom>
          <a:noFill/>
          <a:ln/>
        </p:spPr>
        <p:txBody>
          <a:bodyPr wrap="square" lIns="254" tIns="508" rIns="508" bIns="254" rtlCol="0" anchor="ctr"/>
          <a:lstStyle/>
          <a:p>
            <a:pPr algn="ctr" indent="0" marL="0">
              <a:lnSpc>
                <a:spcPct val="90000"/>
              </a:lnSpc>
              <a:buNone/>
            </a:pPr>
            <a:r>
              <a:rPr lang="en-US" sz="700" b="1" dirty="0">
                <a:solidFill>
                  <a:srgbClr val="FFFFFF"/>
                </a:solidFill>
                <a:latin typeface="Arial" pitchFamily="34" charset="0"/>
                <a:ea typeface="Arial" pitchFamily="34" charset="-122"/>
                <a:cs typeface="Arial" pitchFamily="34" charset="-120"/>
              </a:rPr>
              <a:t>BOBJ Estate POD</a:t>
            </a:r>
            <a:endParaRPr lang="en-US" sz="700" dirty="0"/>
          </a:p>
        </p:txBody>
      </p:sp>
      <p:sp>
        <p:nvSpPr>
          <p:cNvPr id="109" name="Shape 107"/>
          <p:cNvSpPr/>
          <p:nvPr/>
        </p:nvSpPr>
        <p:spPr>
          <a:xfrm>
            <a:off x="7892578" y="3529584"/>
            <a:ext cx="1159982" cy="1481328"/>
          </a:xfrm>
          <a:prstGeom prst="rect">
            <a:avLst/>
          </a:prstGeom>
          <a:solidFill>
            <a:srgbClr val="FCFDFE"/>
          </a:solidFill>
          <a:ln w="9525">
            <a:solidFill>
              <a:srgbClr val="DCE6F0"/>
            </a:solidFill>
            <a:prstDash val="solid"/>
          </a:ln>
        </p:spPr>
      </p:sp>
      <p:sp>
        <p:nvSpPr>
          <p:cNvPr id="110" name="Shape 108"/>
          <p:cNvSpPr/>
          <p:nvPr/>
        </p:nvSpPr>
        <p:spPr>
          <a:xfrm>
            <a:off x="7947442" y="3602736"/>
            <a:ext cx="1050254" cy="228600"/>
          </a:xfrm>
          <a:prstGeom prst="roundRect">
            <a:avLst>
              <a:gd name="adj" fmla="val 120000"/>
            </a:avLst>
          </a:prstGeom>
          <a:solidFill>
            <a:srgbClr val="ADDAFB"/>
          </a:solidFill>
          <a:ln w="6350">
            <a:solidFill>
              <a:srgbClr val="ADDAFB"/>
            </a:solidFill>
            <a:prstDash val="solid"/>
          </a:ln>
        </p:spPr>
      </p:sp>
      <p:sp>
        <p:nvSpPr>
          <p:cNvPr id="111" name="Text 109"/>
          <p:cNvSpPr/>
          <p:nvPr/>
        </p:nvSpPr>
        <p:spPr>
          <a:xfrm>
            <a:off x="7947442" y="360273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Scrum Master (PT)</a:t>
            </a:r>
            <a:endParaRPr lang="en-US" sz="610" dirty="0"/>
          </a:p>
        </p:txBody>
      </p:sp>
      <p:sp>
        <p:nvSpPr>
          <p:cNvPr id="112" name="Shape 110"/>
          <p:cNvSpPr/>
          <p:nvPr/>
        </p:nvSpPr>
        <p:spPr>
          <a:xfrm>
            <a:off x="7947442" y="3877056"/>
            <a:ext cx="1050254" cy="228600"/>
          </a:xfrm>
          <a:prstGeom prst="roundRect">
            <a:avLst>
              <a:gd name="adj" fmla="val 120000"/>
            </a:avLst>
          </a:prstGeom>
          <a:solidFill>
            <a:srgbClr val="ADDAFB"/>
          </a:solidFill>
          <a:ln w="6350">
            <a:solidFill>
              <a:srgbClr val="ADDAFB"/>
            </a:solidFill>
            <a:prstDash val="solid"/>
          </a:ln>
        </p:spPr>
      </p:sp>
      <p:sp>
        <p:nvSpPr>
          <p:cNvPr id="113" name="Text 111"/>
          <p:cNvSpPr/>
          <p:nvPr/>
        </p:nvSpPr>
        <p:spPr>
          <a:xfrm>
            <a:off x="7947442" y="387705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BOBJ Administrator</a:t>
            </a:r>
            <a:endParaRPr lang="en-US" sz="610" dirty="0"/>
          </a:p>
        </p:txBody>
      </p:sp>
      <p:sp>
        <p:nvSpPr>
          <p:cNvPr id="114" name="Shape 112"/>
          <p:cNvSpPr/>
          <p:nvPr/>
        </p:nvSpPr>
        <p:spPr>
          <a:xfrm>
            <a:off x="7947442" y="4151376"/>
            <a:ext cx="1050254" cy="228600"/>
          </a:xfrm>
          <a:prstGeom prst="roundRect">
            <a:avLst>
              <a:gd name="adj" fmla="val 120000"/>
            </a:avLst>
          </a:prstGeom>
          <a:solidFill>
            <a:srgbClr val="ADDAFB"/>
          </a:solidFill>
          <a:ln w="6350">
            <a:solidFill>
              <a:srgbClr val="ADDAFB"/>
            </a:solidFill>
            <a:prstDash val="solid"/>
          </a:ln>
        </p:spPr>
      </p:sp>
      <p:sp>
        <p:nvSpPr>
          <p:cNvPr id="115" name="Text 113"/>
          <p:cNvSpPr/>
          <p:nvPr/>
        </p:nvSpPr>
        <p:spPr>
          <a:xfrm>
            <a:off x="7947442" y="415137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Universe Designer</a:t>
            </a:r>
            <a:endParaRPr lang="en-US" sz="610" dirty="0"/>
          </a:p>
        </p:txBody>
      </p:sp>
      <p:sp>
        <p:nvSpPr>
          <p:cNvPr id="116" name="Shape 114"/>
          <p:cNvSpPr/>
          <p:nvPr/>
        </p:nvSpPr>
        <p:spPr>
          <a:xfrm>
            <a:off x="7947442" y="4425696"/>
            <a:ext cx="1050254" cy="228600"/>
          </a:xfrm>
          <a:prstGeom prst="roundRect">
            <a:avLst>
              <a:gd name="adj" fmla="val 120000"/>
            </a:avLst>
          </a:prstGeom>
          <a:solidFill>
            <a:srgbClr val="ADDAFB"/>
          </a:solidFill>
          <a:ln w="6350">
            <a:solidFill>
              <a:srgbClr val="ADDAFB"/>
            </a:solidFill>
            <a:prstDash val="solid"/>
          </a:ln>
        </p:spPr>
      </p:sp>
      <p:sp>
        <p:nvSpPr>
          <p:cNvPr id="117" name="Text 115"/>
          <p:cNvSpPr/>
          <p:nvPr/>
        </p:nvSpPr>
        <p:spPr>
          <a:xfrm>
            <a:off x="7947442" y="4425696"/>
            <a:ext cx="1050254" cy="228600"/>
          </a:xfrm>
          <a:prstGeom prst="rect">
            <a:avLst/>
          </a:prstGeom>
          <a:noFill/>
          <a:ln/>
        </p:spPr>
        <p:txBody>
          <a:bodyPr wrap="square" lIns="127" tIns="381" rIns="381" bIns="127" rtlCol="0" anchor="ctr"/>
          <a:lstStyle/>
          <a:p>
            <a:pPr algn="ctr" indent="0" marL="0">
              <a:lnSpc>
                <a:spcPct val="88000"/>
              </a:lnSpc>
              <a:buNone/>
            </a:pPr>
            <a:r>
              <a:rPr lang="en-US" sz="610" dirty="0">
                <a:solidFill>
                  <a:srgbClr val="081F5C"/>
                </a:solidFill>
                <a:latin typeface="Arial" pitchFamily="34" charset="0"/>
                <a:ea typeface="Arial" pitchFamily="34" charset="-122"/>
                <a:cs typeface="Arial" pitchFamily="34" charset="-120"/>
              </a:rPr>
              <a:t>Tester(s)</a:t>
            </a:r>
            <a:endParaRPr lang="en-US" sz="610" dirty="0"/>
          </a:p>
        </p:txBody>
      </p:sp>
      <p:sp>
        <p:nvSpPr>
          <p:cNvPr id="118" name="Text 116"/>
          <p:cNvSpPr/>
          <p:nvPr/>
        </p:nvSpPr>
        <p:spPr>
          <a:xfrm>
            <a:off x="7892578" y="4718304"/>
            <a:ext cx="1159982" cy="256032"/>
          </a:xfrm>
          <a:prstGeom prst="rect">
            <a:avLst/>
          </a:prstGeom>
          <a:noFill/>
          <a:ln/>
        </p:spPr>
        <p:txBody>
          <a:bodyPr wrap="square" lIns="127" tIns="381" rIns="381" bIns="127" rtlCol="0" anchor="ctr"/>
          <a:lstStyle/>
          <a:p>
            <a:pPr algn="ctr" indent="0" marL="0">
              <a:lnSpc>
                <a:spcPct val="90000"/>
              </a:lnSpc>
              <a:buNone/>
            </a:pPr>
            <a:r>
              <a:rPr lang="en-US" sz="600" b="1" i="1" dirty="0">
                <a:solidFill>
                  <a:srgbClr val="5A5A5A"/>
                </a:solidFill>
                <a:latin typeface="Arial" pitchFamily="34" charset="0"/>
                <a:ea typeface="Arial" pitchFamily="34" charset="-122"/>
                <a:cs typeface="Arial" pitchFamily="34" charset="-120"/>
              </a:rPr>
              <a:t>owns 6A–6F, retire &amp; decommission</a:t>
            </a:r>
            <a:endParaRPr lang="en-US" sz="600" dirty="0"/>
          </a:p>
        </p:txBody>
      </p:sp>
      <p:sp>
        <p:nvSpPr>
          <p:cNvPr id="119" name="Shape 117"/>
          <p:cNvSpPr/>
          <p:nvPr/>
        </p:nvSpPr>
        <p:spPr>
          <a:xfrm>
            <a:off x="384048" y="5120640"/>
            <a:ext cx="8668512" cy="420624"/>
          </a:xfrm>
          <a:prstGeom prst="rect">
            <a:avLst/>
          </a:prstGeom>
          <a:solidFill>
            <a:srgbClr val="F2F2F2"/>
          </a:solidFill>
          <a:ln w="9525">
            <a:solidFill>
              <a:srgbClr val="E2E2E2"/>
            </a:solidFill>
            <a:prstDash val="solid"/>
          </a:ln>
        </p:spPr>
      </p:sp>
      <p:sp>
        <p:nvSpPr>
          <p:cNvPr id="120" name="Text 118"/>
          <p:cNvSpPr/>
          <p:nvPr/>
        </p:nvSpPr>
        <p:spPr>
          <a:xfrm>
            <a:off x="384048" y="5120640"/>
            <a:ext cx="8668512" cy="420624"/>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Why platform, not application.  </a:t>
            </a:r>
            <a:pPr indent="0" marL="0">
              <a:lnSpc>
                <a:spcPct val="94000"/>
              </a:lnSpc>
              <a:buNone/>
            </a:pPr>
            <a:r>
              <a:rPr lang="en-US" sz="700" dirty="0">
                <a:solidFill>
                  <a:srgbClr val="1A1A1A"/>
                </a:solidFill>
                <a:latin typeface="Arial" pitchFamily="34" charset="0"/>
                <a:ea typeface="Arial" pitchFamily="34" charset="-122"/>
                <a:cs typeface="Arial" pitchFamily="34" charset="-120"/>
              </a:rPr>
              <a:t>An application-aligned POD would need an Epic-certified analyst, a T-SQL developer, a Spark engineer, a Power BI modeller and a BOBJ universe designer all at once. Structuring by platform keeps each POD's skill set coherent; domain context is carried instead by client Product Owners who cut across every POD, and by the SME bench.</a:t>
            </a:r>
            <a:endParaRPr lang="en-US" sz="700" dirty="0"/>
          </a:p>
        </p:txBody>
      </p:sp>
      <p:sp>
        <p:nvSpPr>
          <p:cNvPr id="121" name="Shape 119"/>
          <p:cNvSpPr/>
          <p:nvPr/>
        </p:nvSpPr>
        <p:spPr>
          <a:xfrm>
            <a:off x="384048" y="5614416"/>
            <a:ext cx="8668512" cy="420624"/>
          </a:xfrm>
          <a:prstGeom prst="rect">
            <a:avLst/>
          </a:prstGeom>
          <a:solidFill>
            <a:srgbClr val="EAF5FD"/>
          </a:solidFill>
          <a:ln w="9525">
            <a:solidFill>
              <a:srgbClr val="C9E3F7"/>
            </a:solidFill>
            <a:prstDash val="solid"/>
          </a:ln>
        </p:spPr>
      </p:sp>
      <p:sp>
        <p:nvSpPr>
          <p:cNvPr id="122" name="Text 120"/>
          <p:cNvSpPr/>
          <p:nvPr/>
        </p:nvSpPr>
        <p:spPr>
          <a:xfrm>
            <a:off x="384048" y="5614416"/>
            <a:ext cx="8668512" cy="420624"/>
          </a:xfrm>
          <a:prstGeom prst="rect">
            <a:avLst/>
          </a:prstGeom>
          <a:noFill/>
          <a:ln/>
        </p:spPr>
        <p:txBody>
          <a:bodyPr wrap="square" lIns="254" tIns="1270" rIns="1270" bIns="254" rtlCol="0" anchor="ctr"/>
          <a:lstStyle/>
          <a:p>
            <a:pPr indent="0" marL="0">
              <a:lnSpc>
                <a:spcPct val="94000"/>
              </a:lnSpc>
              <a:buNone/>
            </a:pPr>
            <a:r>
              <a:rPr lang="en-US" sz="700" b="1" dirty="0">
                <a:solidFill>
                  <a:srgbClr val="081F5C"/>
                </a:solidFill>
                <a:latin typeface="Arial" pitchFamily="34" charset="0"/>
                <a:ea typeface="Arial" pitchFamily="34" charset="-122"/>
                <a:cs typeface="Arial" pitchFamily="34" charset="-120"/>
              </a:rPr>
              <a:t>HIPAA checkpoint.  </a:t>
            </a:r>
            <a:pPr indent="0" marL="0">
              <a:lnSpc>
                <a:spcPct val="94000"/>
              </a:lnSpc>
              <a:buNone/>
            </a:pPr>
            <a:r>
              <a:rPr lang="en-US" sz="700" dirty="0">
                <a:solidFill>
                  <a:srgbClr val="1A1A1A"/>
                </a:solidFill>
                <a:latin typeface="Arial" pitchFamily="34" charset="0"/>
                <a:ea typeface="Arial" pitchFamily="34" charset="-122"/>
                <a:cs typeface="Arial" pitchFamily="34" charset="-120"/>
              </a:rPr>
              <a:t>Every POD works inside the secured environment on the same PHI boundary; access is granted per POD by role rather than per person by request, and reviewed at each wave gate. The AI Foundation POD builds and evaluates agents but holds no data-owner approval on any asset — agents propose, the owning POD approves.</a:t>
            </a:r>
            <a:endParaRPr lang="en-US" sz="700" dirty="0"/>
          </a:p>
        </p:txBody>
      </p:sp>
      <p:sp>
        <p:nvSpPr>
          <p:cNvPr id="123" name="Text 121"/>
          <p:cNvSpPr/>
          <p:nvPr/>
        </p:nvSpPr>
        <p:spPr>
          <a:xfrm>
            <a:off x="384048" y="6108192"/>
            <a:ext cx="8668512" cy="274320"/>
          </a:xfrm>
          <a:prstGeom prst="rect">
            <a:avLst/>
          </a:prstGeom>
          <a:noFill/>
          <a:ln/>
        </p:spPr>
        <p:txBody>
          <a:bodyPr wrap="square" lIns="0" tIns="0" rIns="0" bIns="0" rtlCol="0" anchor="t"/>
          <a:lstStyle/>
          <a:p>
            <a:pPr indent="0" marL="0">
              <a:lnSpc>
                <a:spcPct val="94000"/>
              </a:lnSpc>
              <a:buNone/>
            </a:pPr>
            <a:r>
              <a:rPr lang="en-US" sz="650" i="1" dirty="0">
                <a:solidFill>
                  <a:srgbClr val="545454"/>
                </a:solidFill>
                <a:latin typeface="Arial" pitchFamily="34" charset="0"/>
                <a:ea typeface="Arial" pitchFamily="34" charset="-122"/>
                <a:cs typeface="Arial" pitchFamily="34" charset="-120"/>
              </a:rPr>
              <a:t>Illustrative. POD count and ramp are set once the Rationalization POD publishes the disposition register — the mix of Cogito, Power BI, Databricks and retire outcomes determines how many of each delivery POD is needed, not the raw report count.</a:t>
            </a:r>
            <a:endParaRPr lang="en-US" sz="650" dirty="0"/>
          </a:p>
        </p:txBody>
      </p:sp>
      <p:sp>
        <p:nvSpPr>
          <p:cNvPr id="124" name="Text 122"/>
          <p:cNvSpPr/>
          <p:nvPr/>
        </p:nvSpPr>
        <p:spPr>
          <a:xfrm>
            <a:off x="9336024" y="310896"/>
            <a:ext cx="2322576" cy="182880"/>
          </a:xfrm>
          <a:prstGeom prst="rect">
            <a:avLst/>
          </a:prstGeom>
          <a:noFill/>
          <a:ln/>
        </p:spPr>
        <p:txBody>
          <a:bodyPr wrap="square" lIns="0" tIns="0" rIns="0" bIns="0" rtlCol="0" anchor="ctr"/>
          <a:lstStyle/>
          <a:p>
            <a:pPr indent="0" marL="0">
              <a:buNone/>
            </a:pPr>
            <a:r>
              <a:rPr lang="en-US" sz="780" b="1" spc="40" kern="0" dirty="0">
                <a:solidFill>
                  <a:srgbClr val="9FD4EC"/>
                </a:solidFill>
                <a:latin typeface="Arial" pitchFamily="34" charset="0"/>
                <a:ea typeface="Arial" pitchFamily="34" charset="-122"/>
                <a:cs typeface="Arial" pitchFamily="34" charset="-120"/>
              </a:rPr>
              <a:t>AI FOUNDATION POD</a:t>
            </a:r>
            <a:endParaRPr lang="en-US" sz="780" dirty="0"/>
          </a:p>
        </p:txBody>
      </p:sp>
      <p:sp>
        <p:nvSpPr>
          <p:cNvPr id="125" name="Text 123"/>
          <p:cNvSpPr/>
          <p:nvPr/>
        </p:nvSpPr>
        <p:spPr>
          <a:xfrm>
            <a:off x="9336024" y="530352"/>
            <a:ext cx="2322576" cy="1371600"/>
          </a:xfrm>
          <a:prstGeom prst="rect">
            <a:avLst/>
          </a:prstGeom>
          <a:noFill/>
          <a:ln/>
        </p:spPr>
        <p:txBody>
          <a:bodyPr wrap="square" lIns="0" tIns="0" rIns="0" bIns="0" rtlCol="0" anchor="t"/>
          <a:lstStyle/>
          <a:p>
            <a:pPr indent="0" marL="0">
              <a:lnSpc>
                <a:spcPct val="93000"/>
              </a:lnSpc>
              <a:buNone/>
            </a:pPr>
            <a:r>
              <a:rPr lang="en-US" sz="700" dirty="0">
                <a:solidFill>
                  <a:srgbClr val="E3E9F5"/>
                </a:solidFill>
                <a:latin typeface="Arial" pitchFamily="34" charset="0"/>
                <a:ea typeface="Arial" pitchFamily="34" charset="-122"/>
                <a:cs typeface="Arial" pitchFamily="34" charset="-120"/>
              </a:rPr>
              <a:t>Drives incremental efficiency through automation across every POD. Builds, evaluates and operates the Data Assist accelerators — DRECT, Report Rationalizer, Platform Fit Scorer, Schema Mapper, Code Converter, Report Automator, Epic Oracle-to-SQL Transpiler, AI/BI Dashboard Generator, CATE and the Automated Report Tester — so each delivery POD runs discovery, conversion, testing and optimisation at machine speed rather than by hand. Agents also detect reconciliation anomalies after migration and notify the owning developer.</a:t>
            </a:r>
            <a:endParaRPr lang="en-US" sz="700" dirty="0"/>
          </a:p>
        </p:txBody>
      </p:sp>
      <p:sp>
        <p:nvSpPr>
          <p:cNvPr id="126" name="Text 124"/>
          <p:cNvSpPr/>
          <p:nvPr/>
        </p:nvSpPr>
        <p:spPr>
          <a:xfrm>
            <a:off x="9336024" y="1956816"/>
            <a:ext cx="2322576" cy="182880"/>
          </a:xfrm>
          <a:prstGeom prst="rect">
            <a:avLst/>
          </a:prstGeom>
          <a:noFill/>
          <a:ln/>
        </p:spPr>
        <p:txBody>
          <a:bodyPr wrap="square" lIns="0" tIns="0" rIns="0" bIns="0" rtlCol="0" anchor="ctr"/>
          <a:lstStyle/>
          <a:p>
            <a:pPr indent="0" marL="0">
              <a:buNone/>
            </a:pPr>
            <a:r>
              <a:rPr lang="en-US" sz="780" b="1" spc="40" kern="0" dirty="0">
                <a:solidFill>
                  <a:srgbClr val="9FD4EC"/>
                </a:solidFill>
                <a:latin typeface="Arial" pitchFamily="34" charset="0"/>
                <a:ea typeface="Arial" pitchFamily="34" charset="-122"/>
                <a:cs typeface="Arial" pitchFamily="34" charset="-120"/>
              </a:rPr>
              <a:t>POD STRUCTURE</a:t>
            </a:r>
            <a:endParaRPr lang="en-US" sz="780" dirty="0"/>
          </a:p>
        </p:txBody>
      </p:sp>
      <p:sp>
        <p:nvSpPr>
          <p:cNvPr id="127" name="Text 125"/>
          <p:cNvSpPr/>
          <p:nvPr/>
        </p:nvSpPr>
        <p:spPr>
          <a:xfrm>
            <a:off x="9336024" y="2157984"/>
            <a:ext cx="2322576" cy="146304"/>
          </a:xfrm>
          <a:prstGeom prst="rect">
            <a:avLst/>
          </a:prstGeom>
          <a:noFill/>
          <a:ln/>
        </p:spPr>
        <p:txBody>
          <a:bodyPr wrap="square" lIns="0" tIns="0" rIns="0" bIns="0" rtlCol="0" anchor="t"/>
          <a:lstStyle/>
          <a:p>
            <a:pPr indent="0" marL="0">
              <a:buNone/>
            </a:pPr>
            <a:r>
              <a:rPr lang="en-US" sz="700" i="1" dirty="0">
                <a:solidFill>
                  <a:srgbClr val="C6D3EA"/>
                </a:solidFill>
                <a:latin typeface="Arial" pitchFamily="34" charset="0"/>
                <a:ea typeface="Arial" pitchFamily="34" charset="-122"/>
                <a:cs typeface="Arial" pitchFamily="34" charset="-120"/>
              </a:rPr>
              <a:t>Approximately 12 to 18 PODs, sized after disposition, across:</a:t>
            </a:r>
            <a:endParaRPr lang="en-US" sz="700" dirty="0"/>
          </a:p>
        </p:txBody>
      </p:sp>
      <p:sp>
        <p:nvSpPr>
          <p:cNvPr id="128" name="Text 126"/>
          <p:cNvSpPr/>
          <p:nvPr/>
        </p:nvSpPr>
        <p:spPr>
          <a:xfrm>
            <a:off x="9336024" y="2340864"/>
            <a:ext cx="2322576" cy="1737360"/>
          </a:xfrm>
          <a:prstGeom prst="rect">
            <a:avLst/>
          </a:prstGeom>
          <a:noFill/>
          <a:ln/>
        </p:spPr>
        <p:txBody>
          <a:bodyPr wrap="square" lIns="0" tIns="0" rIns="0" bIns="0" rtlCol="0" anchor="t"/>
          <a:lstStyle/>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Rationalization &amp; disposition</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Data platform — Oracle 19c to MS SQL Server</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Data platform — Oracle 19c to Delta and Unity Catalog</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Report migration — CogitoSQL</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Report migration — Power BI</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Report migration — Databricks AI/BI</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BOBJ estate — retain, retire and decommission</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AI Foundation</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Quality &amp; validation — regression suite ownership</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Change management and training</a:t>
            </a:r>
            <a:endParaRPr lang="en-US" sz="700" dirty="0"/>
          </a:p>
          <a:p>
            <a:pPr marL="342900" indent="-342900">
              <a:lnSpc>
                <a:spcPct val="93000"/>
              </a:lnSpc>
              <a:spcAft>
                <a:spcPts val="200"/>
              </a:spcAft>
              <a:buSzPct val="100000"/>
              <a:buChar char="•"/>
            </a:pPr>
            <a:r>
              <a:rPr lang="en-US" sz="700" dirty="0">
                <a:solidFill>
                  <a:srgbClr val="E3E9F5"/>
                </a:solidFill>
                <a:latin typeface="Arial" pitchFamily="34" charset="0"/>
                <a:ea typeface="Arial" pitchFamily="34" charset="-122"/>
                <a:cs typeface="Arial" pitchFamily="34" charset="-120"/>
              </a:rPr>
              <a:t>Program management</a:t>
            </a:r>
            <a:endParaRPr lang="en-US" sz="700" dirty="0"/>
          </a:p>
        </p:txBody>
      </p:sp>
      <p:sp>
        <p:nvSpPr>
          <p:cNvPr id="129" name="Text 127"/>
          <p:cNvSpPr/>
          <p:nvPr/>
        </p:nvSpPr>
        <p:spPr>
          <a:xfrm>
            <a:off x="9336024" y="4133088"/>
            <a:ext cx="2322576" cy="182880"/>
          </a:xfrm>
          <a:prstGeom prst="rect">
            <a:avLst/>
          </a:prstGeom>
          <a:noFill/>
          <a:ln/>
        </p:spPr>
        <p:txBody>
          <a:bodyPr wrap="square" lIns="0" tIns="0" rIns="0" bIns="0" rtlCol="0" anchor="ctr"/>
          <a:lstStyle/>
          <a:p>
            <a:pPr indent="0" marL="0">
              <a:buNone/>
            </a:pPr>
            <a:r>
              <a:rPr lang="en-US" sz="780" b="1" spc="40" kern="0" dirty="0">
                <a:solidFill>
                  <a:srgbClr val="9FD4EC"/>
                </a:solidFill>
                <a:latin typeface="Arial" pitchFamily="34" charset="0"/>
                <a:ea typeface="Arial" pitchFamily="34" charset="-122"/>
                <a:cs typeface="Arial" pitchFamily="34" charset="-120"/>
              </a:rPr>
              <a:t>SHAPING NOTES</a:t>
            </a:r>
            <a:endParaRPr lang="en-US" sz="780" dirty="0"/>
          </a:p>
        </p:txBody>
      </p:sp>
      <p:sp>
        <p:nvSpPr>
          <p:cNvPr id="130" name="Text 128"/>
          <p:cNvSpPr/>
          <p:nvPr/>
        </p:nvSpPr>
        <p:spPr>
          <a:xfrm>
            <a:off x="9336024" y="4334256"/>
            <a:ext cx="2322576" cy="2048256"/>
          </a:xfrm>
          <a:prstGeom prst="rect">
            <a:avLst/>
          </a:prstGeom>
          <a:noFill/>
          <a:ln/>
        </p:spPr>
        <p:txBody>
          <a:bodyPr wrap="square" lIns="0" tIns="0" rIns="0" bIns="0" rtlCol="0" anchor="t"/>
          <a:lstStyle/>
          <a:p>
            <a:pPr marL="342900" indent="-342900">
              <a:lnSpc>
                <a:spcPct val="93000"/>
              </a:lnSpc>
              <a:spcAft>
                <a:spcPts val="400"/>
              </a:spcAft>
              <a:buSzPct val="100000"/>
              <a:buChar char="•"/>
            </a:pPr>
            <a:r>
              <a:rPr lang="en-US" sz="700" dirty="0">
                <a:solidFill>
                  <a:srgbClr val="E3E9F5"/>
                </a:solidFill>
                <a:latin typeface="Arial" pitchFamily="34" charset="0"/>
                <a:ea typeface="Arial" pitchFamily="34" charset="-122"/>
                <a:cs typeface="Arial" pitchFamily="34" charset="-120"/>
              </a:rPr>
              <a:t>Sizing waits on the disposition register. The mix of Cogito, Power BI, Databricks and retire outcomes sets how many of each delivery POD is needed, not the raw report count.</a:t>
            </a:r>
            <a:endParaRPr lang="en-US" sz="700" dirty="0"/>
          </a:p>
          <a:p>
            <a:pPr marL="342900" indent="-342900">
              <a:lnSpc>
                <a:spcPct val="93000"/>
              </a:lnSpc>
              <a:spcAft>
                <a:spcPts val="400"/>
              </a:spcAft>
              <a:buSzPct val="100000"/>
              <a:buChar char="•"/>
            </a:pPr>
            <a:r>
              <a:rPr lang="en-US" sz="700" dirty="0">
                <a:solidFill>
                  <a:srgbClr val="E3E9F5"/>
                </a:solidFill>
                <a:latin typeface="Arial" pitchFamily="34" charset="0"/>
                <a:ea typeface="Arial" pitchFamily="34" charset="-122"/>
                <a:cs typeface="Arial" pitchFamily="34" charset="-120"/>
              </a:rPr>
              <a:t>Epic-certified Cogito analysts are the scarcest role and are usually client-side. Secure them before the wave plan is committed.</a:t>
            </a:r>
            <a:endParaRPr lang="en-US" sz="700" dirty="0"/>
          </a:p>
          <a:p>
            <a:pPr marL="342900" indent="-342900">
              <a:lnSpc>
                <a:spcPct val="93000"/>
              </a:lnSpc>
              <a:spcAft>
                <a:spcPts val="400"/>
              </a:spcAft>
              <a:buSzPct val="100000"/>
              <a:buChar char="•"/>
            </a:pPr>
            <a:r>
              <a:rPr lang="en-US" sz="700" dirty="0">
                <a:solidFill>
                  <a:srgbClr val="E3E9F5"/>
                </a:solidFill>
                <a:latin typeface="Arial" pitchFamily="34" charset="0"/>
                <a:ea typeface="Arial" pitchFamily="34" charset="-122"/>
                <a:cs typeface="Arial" pitchFamily="34" charset="-120"/>
              </a:rPr>
              <a:t>PL/SQL-to-target conversion capacity, not report developers, is the usual constraint on the two data PODs.</a:t>
            </a:r>
            <a:endParaRPr lang="en-US" sz="700" dirty="0"/>
          </a:p>
          <a:p>
            <a:pPr marL="342900" indent="-342900">
              <a:lnSpc>
                <a:spcPct val="93000"/>
              </a:lnSpc>
              <a:spcAft>
                <a:spcPts val="400"/>
              </a:spcAft>
              <a:buSzPct val="100000"/>
              <a:buChar char="•"/>
            </a:pPr>
            <a:r>
              <a:rPr lang="en-US" sz="700" dirty="0">
                <a:solidFill>
                  <a:srgbClr val="E3E9F5"/>
                </a:solidFill>
                <a:latin typeface="Arial" pitchFamily="34" charset="0"/>
                <a:ea typeface="Arial" pitchFamily="34" charset="-122"/>
                <a:cs typeface="Arial" pitchFamily="34" charset="-120"/>
              </a:rPr>
              <a:t>PODs are balanced across US and India shores, with the Scrum Master role part-time across two PODs.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Disposition Rubric</dc:title>
  <dc:subject>PptxGenJS Presentation</dc:subject>
  <dc:creator>Amit</dc:creator>
  <cp:lastModifiedBy>Amit</cp:lastModifiedBy>
  <cp:revision>1</cp:revision>
  <dcterms:created xsi:type="dcterms:W3CDTF">2026-08-02T20:07:41Z</dcterms:created>
  <dcterms:modified xsi:type="dcterms:W3CDTF">2026-08-02T20:07:41Z</dcterms:modified>
</cp:coreProperties>
</file>