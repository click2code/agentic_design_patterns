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3832800" cy="749807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337560"/>
            <a:ext cx="1371600" cy="640080"/>
          </a:xfrm>
          <a:prstGeom prst="rect">
            <a:avLst/>
          </a:prstGeom>
          <a:solidFill>
            <a:srgbClr val="1C3D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Oracle DB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057400" y="3374136"/>
            <a:ext cx="1207008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9799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900" b="1">
                <a:solidFill>
                  <a:srgbClr val="282728"/>
                </a:solidFill>
                <a:latin typeface="Aptos"/>
              </a:rPr>
              <a:t>Run SSMA Assessment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538728" y="3374136"/>
            <a:ext cx="1207008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9799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900" b="1">
                <a:solidFill>
                  <a:srgbClr val="282728"/>
                </a:solidFill>
                <a:latin typeface="Aptos"/>
              </a:rPr>
              <a:t>Re-architect Packages to Schemas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0056" y="3374136"/>
            <a:ext cx="1207008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9799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900" b="1">
                <a:solidFill>
                  <a:srgbClr val="282728"/>
                </a:solidFill>
                <a:latin typeface="Aptos"/>
              </a:rPr>
              <a:t>Translate PL/SQL Logic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01384" y="3374136"/>
            <a:ext cx="1207008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9799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900" b="1">
                <a:solidFill>
                  <a:srgbClr val="282728"/>
                </a:solidFill>
                <a:latin typeface="Aptos"/>
              </a:rPr>
              <a:t>Replicate Materialized Views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82712" y="3374136"/>
            <a:ext cx="1207008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9799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900" b="1">
                <a:solidFill>
                  <a:srgbClr val="282728"/>
                </a:solidFill>
                <a:latin typeface="Aptos"/>
              </a:rPr>
              <a:t>Validate Objects</a:t>
            </a:r>
          </a:p>
        </p:txBody>
      </p:sp>
      <p:sp>
        <p:nvSpPr>
          <p:cNvPr id="8" name="Rectangle 7"/>
          <p:cNvSpPr/>
          <p:nvPr/>
        </p:nvSpPr>
        <p:spPr>
          <a:xfrm>
            <a:off x="9464040" y="3337560"/>
            <a:ext cx="1371600" cy="640080"/>
          </a:xfrm>
          <a:prstGeom prst="rect">
            <a:avLst/>
          </a:prstGeom>
          <a:solidFill>
            <a:srgbClr val="1C3D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SQL Server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783080" y="3657600"/>
            <a:ext cx="274320" cy="0"/>
          </a:xfrm>
          <a:prstGeom prst="line">
            <a:avLst/>
          </a:prstGeom>
          <a:ln w="13970">
            <a:solidFill>
              <a:srgbClr val="5356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264408" y="3657600"/>
            <a:ext cx="274320" cy="0"/>
          </a:xfrm>
          <a:prstGeom prst="line">
            <a:avLst/>
          </a:prstGeom>
          <a:ln w="13970">
            <a:solidFill>
              <a:srgbClr val="5356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745736" y="3657600"/>
            <a:ext cx="274320" cy="0"/>
          </a:xfrm>
          <a:prstGeom prst="line">
            <a:avLst/>
          </a:prstGeom>
          <a:ln w="13970">
            <a:solidFill>
              <a:srgbClr val="5356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227064" y="3657600"/>
            <a:ext cx="274320" cy="0"/>
          </a:xfrm>
          <a:prstGeom prst="line">
            <a:avLst/>
          </a:prstGeom>
          <a:ln w="13970">
            <a:solidFill>
              <a:srgbClr val="5356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08392" y="3657600"/>
            <a:ext cx="274320" cy="0"/>
          </a:xfrm>
          <a:prstGeom prst="line">
            <a:avLst/>
          </a:prstGeom>
          <a:ln w="13970">
            <a:solidFill>
              <a:srgbClr val="5356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189720" y="3657600"/>
            <a:ext cx="274320" cy="0"/>
          </a:xfrm>
          <a:prstGeom prst="line">
            <a:avLst/>
          </a:prstGeom>
          <a:ln w="13970">
            <a:solidFill>
              <a:srgbClr val="5356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9006840" y="4032503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53565A"/>
                </a:solidFill>
                <a:latin typeface="Aptos"/>
              </a:rPr>
              <a:t>Output: SQL Server DB Objects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1247120" y="1280160"/>
            <a:ext cx="0" cy="4754880"/>
          </a:xfrm>
          <a:prstGeom prst="line">
            <a:avLst/>
          </a:prstGeom>
          <a:ln w="13970">
            <a:solidFill>
              <a:srgbClr val="5356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835640" y="3657600"/>
            <a:ext cx="411480" cy="0"/>
          </a:xfrm>
          <a:prstGeom prst="line">
            <a:avLst/>
          </a:prstGeom>
          <a:ln w="13970">
            <a:solidFill>
              <a:srgbClr val="5356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1247120" y="1280160"/>
            <a:ext cx="292608" cy="0"/>
          </a:xfrm>
          <a:prstGeom prst="line">
            <a:avLst/>
          </a:prstGeom>
          <a:ln w="13970">
            <a:solidFill>
              <a:srgbClr val="5356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1247120" y="2468880"/>
            <a:ext cx="292608" cy="0"/>
          </a:xfrm>
          <a:prstGeom prst="line">
            <a:avLst/>
          </a:prstGeom>
          <a:ln w="13970">
            <a:solidFill>
              <a:srgbClr val="5356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1247120" y="4846320"/>
            <a:ext cx="292608" cy="0"/>
          </a:xfrm>
          <a:prstGeom prst="line">
            <a:avLst/>
          </a:prstGeom>
          <a:ln w="13970">
            <a:solidFill>
              <a:srgbClr val="5356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247120" y="6035040"/>
            <a:ext cx="292608" cy="0"/>
          </a:xfrm>
          <a:prstGeom prst="line">
            <a:avLst/>
          </a:prstGeom>
          <a:ln w="13970">
            <a:solidFill>
              <a:srgbClr val="5356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1539728" y="777239"/>
            <a:ext cx="3108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 i="1">
                <a:solidFill>
                  <a:srgbClr val="53565A"/>
                </a:solidFill>
                <a:latin typeface="Aptos"/>
              </a:rPr>
              <a:t>Path: Direct connection (no BO Universe)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539728" y="996695"/>
            <a:ext cx="1207008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9799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900" b="1">
                <a:solidFill>
                  <a:srgbClr val="282728"/>
                </a:solidFill>
                <a:latin typeface="Aptos"/>
              </a:rPr>
              <a:t>Extract Oracle SQL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3021056" y="996695"/>
            <a:ext cx="1207008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9799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900" b="1">
                <a:solidFill>
                  <a:srgbClr val="282728"/>
                </a:solidFill>
                <a:latin typeface="Aptos"/>
              </a:rPr>
              <a:t>Translate PL/SQL to T-SQL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502384" y="996695"/>
            <a:ext cx="1207008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9799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900" b="1">
                <a:solidFill>
                  <a:srgbClr val="282728"/>
                </a:solidFill>
                <a:latin typeface="Aptos"/>
              </a:rPr>
              <a:t>Remap Direct Connections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5983712" y="996695"/>
            <a:ext cx="1207008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9799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900" b="1">
                <a:solidFill>
                  <a:srgbClr val="282728"/>
                </a:solidFill>
                <a:latin typeface="Aptos"/>
              </a:rPr>
              <a:t>Purge Cache &amp; Re-run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7465040" y="996695"/>
            <a:ext cx="1207008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9799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900" b="1">
                <a:solidFill>
                  <a:srgbClr val="282728"/>
                </a:solidFill>
                <a:latin typeface="Aptos"/>
              </a:rPr>
              <a:t>Reconcile Report Totals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1539728" y="1280160"/>
            <a:ext cx="0" cy="0"/>
          </a:xfrm>
          <a:prstGeom prst="line">
            <a:avLst/>
          </a:prstGeom>
          <a:ln w="13970">
            <a:solidFill>
              <a:srgbClr val="5356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2746736" y="1280160"/>
            <a:ext cx="274320" cy="0"/>
          </a:xfrm>
          <a:prstGeom prst="line">
            <a:avLst/>
          </a:prstGeom>
          <a:ln w="13970">
            <a:solidFill>
              <a:srgbClr val="5356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4228064" y="1280160"/>
            <a:ext cx="274320" cy="0"/>
          </a:xfrm>
          <a:prstGeom prst="line">
            <a:avLst/>
          </a:prstGeom>
          <a:ln w="13970">
            <a:solidFill>
              <a:srgbClr val="5356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5709392" y="1280160"/>
            <a:ext cx="274320" cy="0"/>
          </a:xfrm>
          <a:prstGeom prst="line">
            <a:avLst/>
          </a:prstGeom>
          <a:ln w="13970">
            <a:solidFill>
              <a:srgbClr val="5356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7190720" y="1280160"/>
            <a:ext cx="274320" cy="0"/>
          </a:xfrm>
          <a:prstGeom prst="line">
            <a:avLst/>
          </a:prstGeom>
          <a:ln w="13970">
            <a:solidFill>
              <a:srgbClr val="5356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11539728" y="1965960"/>
            <a:ext cx="3108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 i="1">
                <a:solidFill>
                  <a:srgbClr val="53565A"/>
                </a:solidFill>
                <a:latin typeface="Aptos"/>
              </a:rPr>
              <a:t>Path: Via BO Universe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1539728" y="2185416"/>
            <a:ext cx="1207008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9799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900" b="1">
                <a:solidFill>
                  <a:srgbClr val="282728"/>
                </a:solidFill>
                <a:latin typeface="Aptos"/>
              </a:rPr>
              <a:t>Update Connection Drivers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3021056" y="2185416"/>
            <a:ext cx="1207008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9799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900" b="1">
                <a:solidFill>
                  <a:srgbClr val="282728"/>
                </a:solidFill>
                <a:latin typeface="Aptos"/>
              </a:rPr>
              <a:t>Relink Table Qualifiers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4502384" y="2185416"/>
            <a:ext cx="1207008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9799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900" b="1">
                <a:solidFill>
                  <a:srgbClr val="282728"/>
                </a:solidFill>
                <a:latin typeface="Aptos"/>
              </a:rPr>
              <a:t>Translate Oracle Syntax to T-SQL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5983712" y="2185416"/>
            <a:ext cx="1207008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9799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900" b="1">
                <a:solidFill>
                  <a:srgbClr val="282728"/>
                </a:solidFill>
                <a:latin typeface="Aptos"/>
              </a:rPr>
              <a:t>Run Validation Integrity Checks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1539728" y="2468880"/>
            <a:ext cx="0" cy="0"/>
          </a:xfrm>
          <a:prstGeom prst="line">
            <a:avLst/>
          </a:prstGeom>
          <a:ln w="13970">
            <a:solidFill>
              <a:srgbClr val="5356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12746736" y="2468880"/>
            <a:ext cx="274320" cy="0"/>
          </a:xfrm>
          <a:prstGeom prst="line">
            <a:avLst/>
          </a:prstGeom>
          <a:ln w="13970">
            <a:solidFill>
              <a:srgbClr val="5356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14228064" y="2468880"/>
            <a:ext cx="274320" cy="0"/>
          </a:xfrm>
          <a:prstGeom prst="line">
            <a:avLst/>
          </a:prstGeom>
          <a:ln w="13970">
            <a:solidFill>
              <a:srgbClr val="5356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15709392" y="2468880"/>
            <a:ext cx="274320" cy="0"/>
          </a:xfrm>
          <a:prstGeom prst="line">
            <a:avLst/>
          </a:prstGeom>
          <a:ln w="13970">
            <a:solidFill>
              <a:srgbClr val="5356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17465040" y="2148840"/>
            <a:ext cx="1371600" cy="640080"/>
          </a:xfrm>
          <a:prstGeom prst="rect">
            <a:avLst/>
          </a:prstGeom>
          <a:solidFill>
            <a:srgbClr val="1C3D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BO
Universe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7190720" y="2468880"/>
            <a:ext cx="274320" cy="0"/>
          </a:xfrm>
          <a:prstGeom prst="line">
            <a:avLst/>
          </a:prstGeom>
          <a:ln w="13970">
            <a:solidFill>
              <a:srgbClr val="5356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16962120" y="2834640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53565A"/>
                </a:solidFill>
                <a:latin typeface="Aptos"/>
              </a:rPr>
              <a:t>Output: Refreshed BO Universe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9110960" y="2185416"/>
            <a:ext cx="1207008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9799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900" b="1">
                <a:solidFill>
                  <a:srgbClr val="282728"/>
                </a:solidFill>
                <a:latin typeface="Aptos"/>
              </a:rPr>
              <a:t>Refresh Query Structures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0592288" y="2185416"/>
            <a:ext cx="1207008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9799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900" b="1">
                <a:solidFill>
                  <a:srgbClr val="282728"/>
                </a:solidFill>
                <a:latin typeface="Aptos"/>
              </a:rPr>
              <a:t>Translate Freehand SQL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2073616" y="2185416"/>
            <a:ext cx="1207008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9799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900" b="1">
                <a:solidFill>
                  <a:srgbClr val="282728"/>
                </a:solidFill>
                <a:latin typeface="Aptos"/>
              </a:rPr>
              <a:t>Purge Document Cache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3554944" y="2185416"/>
            <a:ext cx="1207008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9799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900" b="1">
                <a:solidFill>
                  <a:srgbClr val="282728"/>
                </a:solidFill>
                <a:latin typeface="Aptos"/>
              </a:rPr>
              <a:t>Reconcile Report Totals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18836640" y="2468880"/>
            <a:ext cx="274320" cy="0"/>
          </a:xfrm>
          <a:prstGeom prst="line">
            <a:avLst/>
          </a:prstGeom>
          <a:ln w="13970">
            <a:solidFill>
              <a:srgbClr val="5356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20317968" y="2468880"/>
            <a:ext cx="274320" cy="0"/>
          </a:xfrm>
          <a:prstGeom prst="line">
            <a:avLst/>
          </a:prstGeom>
          <a:ln w="13970">
            <a:solidFill>
              <a:srgbClr val="5356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21799296" y="2468880"/>
            <a:ext cx="274320" cy="0"/>
          </a:xfrm>
          <a:prstGeom prst="line">
            <a:avLst/>
          </a:prstGeom>
          <a:ln w="13970">
            <a:solidFill>
              <a:srgbClr val="5356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23280624" y="2468880"/>
            <a:ext cx="274320" cy="0"/>
          </a:xfrm>
          <a:prstGeom prst="line">
            <a:avLst/>
          </a:prstGeom>
          <a:ln w="13970">
            <a:solidFill>
              <a:srgbClr val="5356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25127712" y="1554479"/>
            <a:ext cx="1371600" cy="640080"/>
          </a:xfrm>
          <a:prstGeom prst="rect">
            <a:avLst/>
          </a:prstGeom>
          <a:solidFill>
            <a:srgbClr val="1C3D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BO Report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24926544" y="1280160"/>
            <a:ext cx="0" cy="1188720"/>
          </a:xfrm>
          <a:prstGeom prst="line">
            <a:avLst/>
          </a:prstGeom>
          <a:ln w="13970">
            <a:solidFill>
              <a:srgbClr val="5356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8672048" y="1280160"/>
            <a:ext cx="6254496" cy="0"/>
          </a:xfrm>
          <a:prstGeom prst="line">
            <a:avLst/>
          </a:prstGeom>
          <a:ln w="13970">
            <a:solidFill>
              <a:srgbClr val="5356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24761952" y="2468880"/>
            <a:ext cx="164592" cy="0"/>
          </a:xfrm>
          <a:prstGeom prst="line">
            <a:avLst/>
          </a:prstGeom>
          <a:ln w="13970">
            <a:solidFill>
              <a:srgbClr val="5356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24926544" y="1874519"/>
            <a:ext cx="201168" cy="0"/>
          </a:xfrm>
          <a:prstGeom prst="line">
            <a:avLst/>
          </a:prstGeom>
          <a:ln w="13970">
            <a:solidFill>
              <a:srgbClr val="5356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11539728" y="3154680"/>
            <a:ext cx="3108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 i="1">
                <a:solidFill>
                  <a:srgbClr val="53565A"/>
                </a:solidFill>
                <a:latin typeface="Aptos"/>
              </a:rPr>
              <a:t>Path: Cogito SQL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1539728" y="3374136"/>
            <a:ext cx="1207008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9799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900" b="1">
                <a:solidFill>
                  <a:srgbClr val="282728"/>
                </a:solidFill>
                <a:latin typeface="Aptos"/>
              </a:rPr>
              <a:t>Extract Report Metadata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3021056" y="3374136"/>
            <a:ext cx="1207008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9799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900" b="1">
                <a:solidFill>
                  <a:srgbClr val="282728"/>
                </a:solidFill>
                <a:latin typeface="Aptos"/>
              </a:rPr>
              <a:t>Translate PL/SQL to T-SQL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4502384" y="3374136"/>
            <a:ext cx="1207008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9799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900" b="1">
                <a:solidFill>
                  <a:srgbClr val="282728"/>
                </a:solidFill>
                <a:latin typeface="Aptos"/>
              </a:rPr>
              <a:t>Verify Custom Views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5983712" y="3374136"/>
            <a:ext cx="1207008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9799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900" b="1">
                <a:solidFill>
                  <a:srgbClr val="282728"/>
                </a:solidFill>
                <a:latin typeface="Aptos"/>
              </a:rPr>
              <a:t>Reconcile Report Totals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11539728" y="3657600"/>
            <a:ext cx="0" cy="0"/>
          </a:xfrm>
          <a:prstGeom prst="line">
            <a:avLst/>
          </a:prstGeom>
          <a:ln w="13970">
            <a:solidFill>
              <a:srgbClr val="5356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12746736" y="3657600"/>
            <a:ext cx="274320" cy="0"/>
          </a:xfrm>
          <a:prstGeom prst="line">
            <a:avLst/>
          </a:prstGeom>
          <a:ln w="13970">
            <a:solidFill>
              <a:srgbClr val="5356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14228064" y="3657600"/>
            <a:ext cx="274320" cy="0"/>
          </a:xfrm>
          <a:prstGeom prst="line">
            <a:avLst/>
          </a:prstGeom>
          <a:ln w="13970">
            <a:solidFill>
              <a:srgbClr val="5356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15709392" y="3657600"/>
            <a:ext cx="274320" cy="0"/>
          </a:xfrm>
          <a:prstGeom prst="line">
            <a:avLst/>
          </a:prstGeom>
          <a:ln w="13970">
            <a:solidFill>
              <a:srgbClr val="5356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Rectangle 66"/>
          <p:cNvSpPr/>
          <p:nvPr/>
        </p:nvSpPr>
        <p:spPr>
          <a:xfrm>
            <a:off x="17465040" y="3337560"/>
            <a:ext cx="1371600" cy="640080"/>
          </a:xfrm>
          <a:prstGeom prst="rect">
            <a:avLst/>
          </a:prstGeom>
          <a:solidFill>
            <a:srgbClr val="1C3D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Cogito SQL
Report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17190720" y="3657600"/>
            <a:ext cx="274320" cy="0"/>
          </a:xfrm>
          <a:prstGeom prst="line">
            <a:avLst/>
          </a:prstGeom>
          <a:ln w="13970">
            <a:solidFill>
              <a:srgbClr val="5356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16962120" y="4023359"/>
            <a:ext cx="2377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53565A"/>
                </a:solidFill>
                <a:latin typeface="Aptos"/>
              </a:rPr>
              <a:t>Output: Cogito Report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1539728" y="4343400"/>
            <a:ext cx="3108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 i="1">
                <a:solidFill>
                  <a:srgbClr val="53565A"/>
                </a:solidFill>
                <a:latin typeface="Aptos"/>
              </a:rPr>
              <a:t>Path: Power BI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11539728" y="4562856"/>
            <a:ext cx="1207008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9799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900" b="1">
                <a:solidFill>
                  <a:srgbClr val="282728"/>
                </a:solidFill>
                <a:latin typeface="Aptos"/>
              </a:rPr>
              <a:t>Extract BO Report Metadata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13021056" y="4562856"/>
            <a:ext cx="1207008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9799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900" b="1">
                <a:solidFill>
                  <a:srgbClr val="282728"/>
                </a:solidFill>
                <a:latin typeface="Aptos"/>
              </a:rPr>
              <a:t>Translate SQL to T-SQL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14502384" y="4562856"/>
            <a:ext cx="1207008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9799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900" b="1">
                <a:solidFill>
                  <a:srgbClr val="282728"/>
                </a:solidFill>
                <a:latin typeface="Aptos"/>
              </a:rPr>
              <a:t>Rebuild Visuals &amp; DAX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15983712" y="4562856"/>
            <a:ext cx="1207008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9799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900" b="1">
                <a:solidFill>
                  <a:srgbClr val="282728"/>
                </a:solidFill>
                <a:latin typeface="Aptos"/>
              </a:rPr>
              <a:t>Reconcile Data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11539728" y="4846320"/>
            <a:ext cx="0" cy="0"/>
          </a:xfrm>
          <a:prstGeom prst="line">
            <a:avLst/>
          </a:prstGeom>
          <a:ln w="13970">
            <a:solidFill>
              <a:srgbClr val="5356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12746736" y="4846320"/>
            <a:ext cx="274320" cy="0"/>
          </a:xfrm>
          <a:prstGeom prst="line">
            <a:avLst/>
          </a:prstGeom>
          <a:ln w="13970">
            <a:solidFill>
              <a:srgbClr val="5356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14228064" y="4846320"/>
            <a:ext cx="274320" cy="0"/>
          </a:xfrm>
          <a:prstGeom prst="line">
            <a:avLst/>
          </a:prstGeom>
          <a:ln w="13970">
            <a:solidFill>
              <a:srgbClr val="5356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15709392" y="4846320"/>
            <a:ext cx="274320" cy="0"/>
          </a:xfrm>
          <a:prstGeom prst="line">
            <a:avLst/>
          </a:prstGeom>
          <a:ln w="13970">
            <a:solidFill>
              <a:srgbClr val="5356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Rectangle 78"/>
          <p:cNvSpPr/>
          <p:nvPr/>
        </p:nvSpPr>
        <p:spPr>
          <a:xfrm>
            <a:off x="17465040" y="4526280"/>
            <a:ext cx="1371600" cy="640080"/>
          </a:xfrm>
          <a:prstGeom prst="rect">
            <a:avLst/>
          </a:prstGeom>
          <a:solidFill>
            <a:srgbClr val="1C3D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Power BI
Report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17190720" y="4846320"/>
            <a:ext cx="274320" cy="0"/>
          </a:xfrm>
          <a:prstGeom prst="line">
            <a:avLst/>
          </a:prstGeom>
          <a:ln w="13970">
            <a:solidFill>
              <a:srgbClr val="5356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16962120" y="5212079"/>
            <a:ext cx="2377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53565A"/>
                </a:solidFill>
                <a:latin typeface="Aptos"/>
              </a:rPr>
              <a:t>Output: Power BI Report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1539728" y="5532120"/>
            <a:ext cx="3108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 i="1">
                <a:solidFill>
                  <a:srgbClr val="53565A"/>
                </a:solidFill>
                <a:latin typeface="Aptos"/>
              </a:rPr>
              <a:t>Path: Databricks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11539728" y="5751576"/>
            <a:ext cx="1207008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9799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900" b="1">
                <a:solidFill>
                  <a:srgbClr val="282728"/>
                </a:solidFill>
                <a:latin typeface="Aptos"/>
              </a:rPr>
              <a:t>Extract Universe Metadata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13021056" y="5751576"/>
            <a:ext cx="1207008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9799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900" b="1">
                <a:solidFill>
                  <a:srgbClr val="282728"/>
                </a:solidFill>
                <a:latin typeface="Aptos"/>
              </a:rPr>
              <a:t>Migrate Relational Structures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14502384" y="5751576"/>
            <a:ext cx="1207008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9799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900" b="1">
                <a:solidFill>
                  <a:srgbClr val="282728"/>
                </a:solidFill>
                <a:latin typeface="Aptos"/>
              </a:rPr>
              <a:t>Translate Metadata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15983712" y="5751576"/>
            <a:ext cx="1207008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9799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900" b="1">
                <a:solidFill>
                  <a:srgbClr val="282728"/>
                </a:solidFill>
                <a:latin typeface="Aptos"/>
              </a:rPr>
              <a:t>Flatten Data Contexts</a:t>
            </a:r>
          </a:p>
        </p:txBody>
      </p:sp>
      <p:cxnSp>
        <p:nvCxnSpPr>
          <p:cNvPr id="87" name="Connector 86"/>
          <p:cNvCxnSpPr/>
          <p:nvPr/>
        </p:nvCxnSpPr>
        <p:spPr>
          <a:xfrm>
            <a:off x="11539728" y="6035040"/>
            <a:ext cx="0" cy="0"/>
          </a:xfrm>
          <a:prstGeom prst="line">
            <a:avLst/>
          </a:prstGeom>
          <a:ln w="13970">
            <a:solidFill>
              <a:srgbClr val="5356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12746736" y="6035040"/>
            <a:ext cx="274320" cy="0"/>
          </a:xfrm>
          <a:prstGeom prst="line">
            <a:avLst/>
          </a:prstGeom>
          <a:ln w="13970">
            <a:solidFill>
              <a:srgbClr val="5356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14228064" y="6035040"/>
            <a:ext cx="274320" cy="0"/>
          </a:xfrm>
          <a:prstGeom prst="line">
            <a:avLst/>
          </a:prstGeom>
          <a:ln w="13970">
            <a:solidFill>
              <a:srgbClr val="5356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15709392" y="6035040"/>
            <a:ext cx="274320" cy="0"/>
          </a:xfrm>
          <a:prstGeom prst="line">
            <a:avLst/>
          </a:prstGeom>
          <a:ln w="13970">
            <a:solidFill>
              <a:srgbClr val="5356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Rectangle 90"/>
          <p:cNvSpPr/>
          <p:nvPr/>
        </p:nvSpPr>
        <p:spPr>
          <a:xfrm>
            <a:off x="17465040" y="5715000"/>
            <a:ext cx="1371600" cy="640080"/>
          </a:xfrm>
          <a:prstGeom prst="rect">
            <a:avLst/>
          </a:prstGeom>
          <a:solidFill>
            <a:srgbClr val="1C3D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DBX Semantic
Layer</a:t>
            </a:r>
          </a:p>
        </p:txBody>
      </p:sp>
      <p:cxnSp>
        <p:nvCxnSpPr>
          <p:cNvPr id="92" name="Connector 91"/>
          <p:cNvCxnSpPr/>
          <p:nvPr/>
        </p:nvCxnSpPr>
        <p:spPr>
          <a:xfrm>
            <a:off x="17190720" y="6035040"/>
            <a:ext cx="274320" cy="0"/>
          </a:xfrm>
          <a:prstGeom prst="line">
            <a:avLst/>
          </a:prstGeom>
          <a:ln w="13970">
            <a:solidFill>
              <a:srgbClr val="5356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TextBox 92"/>
          <p:cNvSpPr txBox="1"/>
          <p:nvPr/>
        </p:nvSpPr>
        <p:spPr>
          <a:xfrm>
            <a:off x="16779240" y="6400799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53565A"/>
                </a:solidFill>
                <a:latin typeface="Aptos"/>
              </a:rPr>
              <a:t>Output: Governed Delta Lake tables, enterprise silver/gold
semantic views, and data catalogs.</a:t>
            </a:r>
          </a:p>
          <a:p>
            <a:pPr algn="ctr"/>
            <a:r>
              <a:rPr sz="800" b="1" i="0">
                <a:solidFill>
                  <a:srgbClr val="26890D"/>
                </a:solidFill>
                <a:latin typeface="Aptos"/>
              </a:rPr>
              <a:t>AI: D-Rect, Opus 4.8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19110960" y="5751576"/>
            <a:ext cx="1207008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9799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900" b="1">
                <a:solidFill>
                  <a:srgbClr val="282728"/>
                </a:solidFill>
                <a:latin typeface="Aptos"/>
              </a:rPr>
              <a:t>Extract Metadata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20592288" y="5751576"/>
            <a:ext cx="1207008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9799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900" b="1">
                <a:solidFill>
                  <a:srgbClr val="282728"/>
                </a:solidFill>
                <a:latin typeface="Aptos"/>
              </a:rPr>
              <a:t>Copy SQL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22073616" y="5751576"/>
            <a:ext cx="1207008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9799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900" b="1">
                <a:solidFill>
                  <a:srgbClr val="282728"/>
                </a:solidFill>
                <a:latin typeface="Aptos"/>
              </a:rPr>
              <a:t>Map to Semantic Layer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23554944" y="5751576"/>
            <a:ext cx="1207008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9799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900" b="1">
                <a:solidFill>
                  <a:srgbClr val="282728"/>
                </a:solidFill>
                <a:latin typeface="Aptos"/>
              </a:rPr>
              <a:t>Rebuild Visuals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25036272" y="5751576"/>
            <a:ext cx="1207008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9799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900" b="1">
                <a:solidFill>
                  <a:srgbClr val="282728"/>
                </a:solidFill>
                <a:latin typeface="Aptos"/>
              </a:rPr>
              <a:t>Reconcile Data</a:t>
            </a:r>
          </a:p>
        </p:txBody>
      </p:sp>
      <p:cxnSp>
        <p:nvCxnSpPr>
          <p:cNvPr id="99" name="Connector 98"/>
          <p:cNvCxnSpPr/>
          <p:nvPr/>
        </p:nvCxnSpPr>
        <p:spPr>
          <a:xfrm>
            <a:off x="18836640" y="6035040"/>
            <a:ext cx="274320" cy="0"/>
          </a:xfrm>
          <a:prstGeom prst="line">
            <a:avLst/>
          </a:prstGeom>
          <a:ln w="13970">
            <a:solidFill>
              <a:srgbClr val="5356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20317968" y="6035040"/>
            <a:ext cx="274320" cy="0"/>
          </a:xfrm>
          <a:prstGeom prst="line">
            <a:avLst/>
          </a:prstGeom>
          <a:ln w="13970">
            <a:solidFill>
              <a:srgbClr val="5356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21799296" y="6035040"/>
            <a:ext cx="274320" cy="0"/>
          </a:xfrm>
          <a:prstGeom prst="line">
            <a:avLst/>
          </a:prstGeom>
          <a:ln w="13970">
            <a:solidFill>
              <a:srgbClr val="5356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23280624" y="6035040"/>
            <a:ext cx="274320" cy="0"/>
          </a:xfrm>
          <a:prstGeom prst="line">
            <a:avLst/>
          </a:prstGeom>
          <a:ln w="13970">
            <a:solidFill>
              <a:srgbClr val="5356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24761952" y="6035040"/>
            <a:ext cx="274320" cy="0"/>
          </a:xfrm>
          <a:prstGeom prst="line">
            <a:avLst/>
          </a:prstGeom>
          <a:ln w="13970">
            <a:solidFill>
              <a:srgbClr val="5356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Rectangle 103"/>
          <p:cNvSpPr/>
          <p:nvPr/>
        </p:nvSpPr>
        <p:spPr>
          <a:xfrm>
            <a:off x="26517600" y="5715000"/>
            <a:ext cx="1371600" cy="640080"/>
          </a:xfrm>
          <a:prstGeom prst="rect">
            <a:avLst/>
          </a:prstGeom>
          <a:solidFill>
            <a:srgbClr val="1C3D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DBX Report</a:t>
            </a:r>
          </a:p>
        </p:txBody>
      </p:sp>
      <p:cxnSp>
        <p:nvCxnSpPr>
          <p:cNvPr id="105" name="Connector 104"/>
          <p:cNvCxnSpPr/>
          <p:nvPr/>
        </p:nvCxnSpPr>
        <p:spPr>
          <a:xfrm>
            <a:off x="26243280" y="6035040"/>
            <a:ext cx="274320" cy="0"/>
          </a:xfrm>
          <a:prstGeom prst="line">
            <a:avLst/>
          </a:prstGeom>
          <a:ln w="13970">
            <a:solidFill>
              <a:srgbClr val="5356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TextBox 105"/>
          <p:cNvSpPr txBox="1"/>
          <p:nvPr/>
        </p:nvSpPr>
        <p:spPr>
          <a:xfrm>
            <a:off x="26014680" y="6400799"/>
            <a:ext cx="2377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53565A"/>
                </a:solidFill>
                <a:latin typeface="Aptos"/>
              </a:rPr>
              <a:t>Output: Databricks Report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28620720" y="3337560"/>
            <a:ext cx="1371600" cy="640080"/>
          </a:xfrm>
          <a:prstGeom prst="rect">
            <a:avLst/>
          </a:prstGeom>
          <a:solidFill>
            <a:srgbClr val="1C3D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~5,348
Reports</a:t>
            </a:r>
          </a:p>
        </p:txBody>
      </p:sp>
      <p:cxnSp>
        <p:nvCxnSpPr>
          <p:cNvPr id="108" name="Connector 107"/>
          <p:cNvCxnSpPr/>
          <p:nvPr/>
        </p:nvCxnSpPr>
        <p:spPr>
          <a:xfrm>
            <a:off x="28300680" y="1874519"/>
            <a:ext cx="0" cy="4160521"/>
          </a:xfrm>
          <a:prstGeom prst="line">
            <a:avLst/>
          </a:prstGeom>
          <a:ln w="13970">
            <a:solidFill>
              <a:srgbClr val="5356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26499312" y="1874519"/>
            <a:ext cx="1801368" cy="0"/>
          </a:xfrm>
          <a:prstGeom prst="line">
            <a:avLst/>
          </a:prstGeom>
          <a:ln w="13970">
            <a:solidFill>
              <a:srgbClr val="5356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18836640" y="3657600"/>
            <a:ext cx="9464040" cy="0"/>
          </a:xfrm>
          <a:prstGeom prst="line">
            <a:avLst/>
          </a:prstGeom>
          <a:ln w="13970">
            <a:solidFill>
              <a:srgbClr val="5356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18836640" y="4846320"/>
            <a:ext cx="9464040" cy="0"/>
          </a:xfrm>
          <a:prstGeom prst="line">
            <a:avLst/>
          </a:prstGeom>
          <a:ln w="13970">
            <a:solidFill>
              <a:srgbClr val="5356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27889200" y="6035040"/>
            <a:ext cx="411480" cy="0"/>
          </a:xfrm>
          <a:prstGeom prst="line">
            <a:avLst/>
          </a:prstGeom>
          <a:ln w="13970">
            <a:solidFill>
              <a:srgbClr val="5356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28300680" y="3657600"/>
            <a:ext cx="320040" cy="0"/>
          </a:xfrm>
          <a:prstGeom prst="line">
            <a:avLst/>
          </a:prstGeom>
          <a:ln w="13970">
            <a:solidFill>
              <a:srgbClr val="5356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Chevron 113"/>
          <p:cNvSpPr/>
          <p:nvPr/>
        </p:nvSpPr>
        <p:spPr>
          <a:xfrm>
            <a:off x="30495240" y="800100"/>
            <a:ext cx="1051560" cy="5714999"/>
          </a:xfrm>
          <a:prstGeom prst="chevron">
            <a:avLst/>
          </a:prstGeom>
          <a:solidFill>
            <a:srgbClr val="1C3D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vert="vert270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Report Rationalization</a:t>
            </a:r>
          </a:p>
        </p:txBody>
      </p:sp>
      <p:cxnSp>
        <p:nvCxnSpPr>
          <p:cNvPr id="115" name="Connector 114"/>
          <p:cNvCxnSpPr/>
          <p:nvPr/>
        </p:nvCxnSpPr>
        <p:spPr>
          <a:xfrm>
            <a:off x="29992320" y="3657600"/>
            <a:ext cx="502920" cy="0"/>
          </a:xfrm>
          <a:prstGeom prst="line">
            <a:avLst/>
          </a:prstGeom>
          <a:ln w="13970">
            <a:solidFill>
              <a:srgbClr val="5356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Rectangle 115"/>
          <p:cNvSpPr/>
          <p:nvPr/>
        </p:nvSpPr>
        <p:spPr>
          <a:xfrm>
            <a:off x="32049720" y="3337560"/>
            <a:ext cx="1371600" cy="640080"/>
          </a:xfrm>
          <a:prstGeom prst="rect">
            <a:avLst/>
          </a:prstGeom>
          <a:solidFill>
            <a:srgbClr val="1C3D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~8,913
Reports</a:t>
            </a:r>
          </a:p>
        </p:txBody>
      </p:sp>
      <p:cxnSp>
        <p:nvCxnSpPr>
          <p:cNvPr id="117" name="Connector 116"/>
          <p:cNvCxnSpPr/>
          <p:nvPr/>
        </p:nvCxnSpPr>
        <p:spPr>
          <a:xfrm>
            <a:off x="31546800" y="3657600"/>
            <a:ext cx="502920" cy="0"/>
          </a:xfrm>
          <a:prstGeom prst="line">
            <a:avLst/>
          </a:prstGeom>
          <a:ln w="13970">
            <a:solidFill>
              <a:srgbClr val="5356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TextBox 117"/>
          <p:cNvSpPr txBox="1"/>
          <p:nvPr/>
        </p:nvSpPr>
        <p:spPr>
          <a:xfrm>
            <a:off x="411480" y="164592"/>
            <a:ext cx="33009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C3D26"/>
                </a:solidFill>
                <a:latin typeface="Aptos"/>
              </a:rPr>
              <a:t>Report Migration Process Flow — Activity Detail by Target Platform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411480" y="566928"/>
            <a:ext cx="33009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i="1">
                <a:solidFill>
                  <a:srgbClr val="53565A"/>
                </a:solidFill>
                <a:latin typeface="Aptos"/>
              </a:rPr>
              <a:t>Oracle DB → SQL Server → BO Universe / Cogito / Power BI / Databricks — one box per activity, left to right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411480" y="868680"/>
            <a:ext cx="4206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1">
                <a:solidFill>
                  <a:srgbClr val="DA291C"/>
                </a:solidFill>
                <a:latin typeface="Aptos"/>
              </a:rPr>
              <a:t>• Need to check if it exists — no reason to keep BO Report; converts to Power BI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411480" y="7114031"/>
            <a:ext cx="201168" cy="164592"/>
          </a:xfrm>
          <a:prstGeom prst="rect">
            <a:avLst/>
          </a:prstGeom>
          <a:solidFill>
            <a:srgbClr val="1C3D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685800" y="7086599"/>
            <a:ext cx="2377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282728"/>
                </a:solidFill>
                <a:latin typeface="Aptos"/>
              </a:rPr>
              <a:t>Platform / report node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2788920" y="7114031"/>
            <a:ext cx="201168" cy="1645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9799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3063240" y="7086599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282728"/>
                </a:solidFill>
                <a:latin typeface="Aptos"/>
              </a:rPr>
              <a:t>Individual migration activity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