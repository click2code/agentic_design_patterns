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410" r:id="rId4"/>
  </p:sldMasterIdLst>
  <p:notesMasterIdLst>
    <p:notesMasterId r:id="rId9"/>
  </p:notesMasterIdLst>
  <p:handoutMasterIdLst>
    <p:handoutMasterId r:id="rId10"/>
  </p:handoutMasterIdLst>
  <p:sldIdLst>
    <p:sldId id="257" r:id="rId5"/>
    <p:sldId id="275" r:id="rId6"/>
    <p:sldId id="276" r:id="rId7"/>
    <p:sldId id="274" r:id="rId8"/>
  </p:sldIdLst>
  <p:sldSz cx="12192000" cy="6858000"/>
  <p:notesSz cx="7315200" cy="96012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BAC1763D-52FA-4D99-B74A-09978868D1DF}">
          <p14:sldIdLst>
            <p14:sldId id="257"/>
            <p14:sldId id="275"/>
            <p14:sldId id="276"/>
            <p14:sldId id="274"/>
          </p14:sldIdLst>
        </p14:section>
        <p14:section name="Brand basics" id="{8EE32D32-E91A-427D-B680-3FF11AABE0B8}">
          <p14:sldIdLst/>
        </p14:section>
        <p14:section name="Content slides" id="{49CC7682-57B2-4455-BD9B-709563297FEE}">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6E4"/>
    <a:srgbClr val="F2F5E3"/>
    <a:srgbClr val="63666A"/>
    <a:srgbClr val="75787B"/>
    <a:srgbClr val="97999B"/>
    <a:srgbClr val="A7A8AA"/>
    <a:srgbClr val="BBBCBC"/>
    <a:srgbClr val="D0D0CE"/>
    <a:srgbClr val="007CB0"/>
    <a:srgbClr val="041E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92603" autoAdjust="0"/>
  </p:normalViewPr>
  <p:slideViewPr>
    <p:cSldViewPr snapToGrid="0" showGuides="1">
      <p:cViewPr varScale="1">
        <p:scale>
          <a:sx n="117" d="100"/>
          <a:sy n="117" d="100"/>
        </p:scale>
        <p:origin x="800" y="184"/>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8/2/26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8/2/26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51EF-26A5-FD5B-41CA-56A8531EC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38CD1-C723-57B2-C306-5705EE197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6E467-C6EB-55AB-038D-F275C800B919}"/>
              </a:ext>
            </a:extLst>
          </p:cNvPr>
          <p:cNvSpPr>
            <a:spLocks noGrp="1"/>
          </p:cNvSpPr>
          <p:nvPr>
            <p:ph type="body" idx="1"/>
          </p:nvPr>
        </p:nvSpPr>
        <p:spPr/>
        <p:txBody>
          <a:bodyPr/>
          <a:lstStyle/>
          <a:p>
            <a:pPr defTabSz="966612">
              <a:defRPr/>
            </a:pPr>
            <a:r>
              <a:rPr lang="en-US" sz="1300"/>
              <a:t>IDMC</a:t>
            </a:r>
            <a:r>
              <a:rPr lang="en-US" sz="1300">
                <a:sym typeface="Wingdings" panose="05000000000000000000" pitchFamily="2" charset="2"/>
              </a:rPr>
              <a:t> impact</a:t>
            </a:r>
            <a:endParaRPr lang="en-US" sz="1300"/>
          </a:p>
        </p:txBody>
      </p:sp>
      <p:sp>
        <p:nvSpPr>
          <p:cNvPr id="4" name="Slide Number Placeholder 3">
            <a:extLst>
              <a:ext uri="{FF2B5EF4-FFF2-40B4-BE49-F238E27FC236}">
                <a16:creationId xmlns:a16="http://schemas.microsoft.com/office/drawing/2014/main" id="{D25027AE-324C-000A-39D6-58DF908AC4D0}"/>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54A952C4-54D6-4ABB-B0F7-5F539E5A06C7}" type="slidenum">
              <a:rPr kumimoji="0" lang="en-US" sz="13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08238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7.emf"/><Relationship Id="rId4" Type="http://schemas.openxmlformats.org/officeDocument/2006/relationships/oleObject" Target="../embeddings/oleObject2.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7.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7.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7.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7.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7.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7.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7.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7.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7.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7.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7.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7.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7.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7.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7.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7.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7.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7.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7.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7.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13172048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031414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8789876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7263823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87420248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403831031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5104225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93947885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10554347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32688006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4877561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755133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2125570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576142479"/>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124349390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9597775"/>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843714164"/>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626210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910415647"/>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47179590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476295170"/>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7098377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37422589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11191353"/>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30367046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1782479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12974177"/>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46551886"/>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092734165"/>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5404673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18828178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325295754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78140349"/>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65149632"/>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81158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89427996"/>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16093857"/>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063055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3259165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96914466"/>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63339171"/>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3256828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13672707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35402337"/>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25764851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02867221"/>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07086694"/>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59264808"/>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825139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758844420"/>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3762140600"/>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55469370"/>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88649007"/>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086482776"/>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831862531"/>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979340831"/>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165235614"/>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USE THIS_Title and subtitle">
    <p:spTree>
      <p:nvGrpSpPr>
        <p:cNvPr id="1" name=""/>
        <p:cNvGrpSpPr/>
        <p:nvPr/>
      </p:nvGrpSpPr>
      <p:grpSpPr>
        <a:xfrm>
          <a:off x="0" y="0"/>
          <a:ext cx="0" cy="0"/>
          <a:chOff x="0" y="0"/>
          <a:chExt cx="0" cy="0"/>
        </a:xfrm>
      </p:grpSpPr>
      <p:sp>
        <p:nvSpPr>
          <p:cNvPr id="6" name="Text Placeholder 8"/>
          <p:cNvSpPr>
            <a:spLocks noGrp="1"/>
          </p:cNvSpPr>
          <p:nvPr>
            <p:ph type="body" sz="quarter" idx="22"/>
          </p:nvPr>
        </p:nvSpPr>
        <p:spPr>
          <a:xfrm>
            <a:off x="463295" y="652460"/>
            <a:ext cx="11277600" cy="192360"/>
          </a:xfrm>
          <a:prstGeom prst="rect">
            <a:avLst/>
          </a:prstGeom>
        </p:spPr>
        <p:txBody>
          <a:bodyPr vert="horz" wrap="square" lIns="0" tIns="0" rIns="0" bIns="0" rtlCol="0">
            <a:spAutoFit/>
          </a:bodyPr>
          <a:lstStyle>
            <a:lvl1pPr>
              <a:defRPr lang="en-US" sz="1250" b="0">
                <a:solidFill>
                  <a:schemeClr val="bg1">
                    <a:lumMod val="50000"/>
                  </a:schemeClr>
                </a:solidFill>
                <a:latin typeface="+mn-lt"/>
                <a:ea typeface="Open Sans" panose="020B0606030504020204" pitchFamily="34" charset="0"/>
                <a:cs typeface="Open Sans" panose="020B0606030504020204" pitchFamily="34" charset="0"/>
              </a:defRPr>
            </a:lvl1pPr>
          </a:lstStyle>
          <a:p>
            <a:pPr lvl="0">
              <a:spcAft>
                <a:spcPts val="0"/>
              </a:spcAft>
            </a:pPr>
            <a:r>
              <a:rPr lang="en-US"/>
              <a:t>Click to edit Master text styles</a:t>
            </a:r>
          </a:p>
        </p:txBody>
      </p:sp>
      <p:sp>
        <p:nvSpPr>
          <p:cNvPr id="7" name="Title Placeholder 1"/>
          <p:cNvSpPr>
            <a:spLocks noGrp="1"/>
          </p:cNvSpPr>
          <p:nvPr>
            <p:ph type="title"/>
          </p:nvPr>
        </p:nvSpPr>
        <p:spPr>
          <a:xfrm>
            <a:off x="463550" y="346075"/>
            <a:ext cx="11277600" cy="276999"/>
          </a:xfrm>
          <a:prstGeom prst="rect">
            <a:avLst/>
          </a:prstGeom>
        </p:spPr>
        <p:txBody>
          <a:bodyPr vert="horz" wrap="square" lIns="0" tIns="0" rIns="0" bIns="0" rtlCol="0" anchor="t" anchorCtr="0">
            <a:noAutofit/>
          </a:bodyPr>
          <a:lstStyle>
            <a:lvl1pPr>
              <a:defRPr lang="en-US" sz="2000" b="1"/>
            </a:lvl1pPr>
          </a:lstStyle>
          <a:p>
            <a:pPr lvl="0"/>
            <a:r>
              <a:rPr lang="en-US"/>
              <a:t>Click to edit Master title style</a:t>
            </a:r>
          </a:p>
        </p:txBody>
      </p:sp>
      <p:sp>
        <p:nvSpPr>
          <p:cNvPr id="83" name="Oval 82">
            <a:extLst>
              <a:ext uri="{FF2B5EF4-FFF2-40B4-BE49-F238E27FC236}">
                <a16:creationId xmlns:a16="http://schemas.microsoft.com/office/drawing/2014/main" id="{18E69C9B-B7B1-E448-56C4-0DAB74C78AE9}"/>
              </a:ext>
            </a:extLst>
          </p:cNvPr>
          <p:cNvSpPr/>
          <p:nvPr userDrawn="1"/>
        </p:nvSpPr>
        <p:spPr>
          <a:xfrm>
            <a:off x="-602984" y="1330960"/>
            <a:ext cx="267704" cy="267704"/>
          </a:xfrm>
          <a:prstGeom prst="ellipse">
            <a:avLst/>
          </a:prstGeom>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4" name="Oval 83">
            <a:extLst>
              <a:ext uri="{FF2B5EF4-FFF2-40B4-BE49-F238E27FC236}">
                <a16:creationId xmlns:a16="http://schemas.microsoft.com/office/drawing/2014/main" id="{B36D86E4-73B5-E0B0-5DE3-E5C0C01B7AA9}"/>
              </a:ext>
            </a:extLst>
          </p:cNvPr>
          <p:cNvSpPr/>
          <p:nvPr userDrawn="1"/>
        </p:nvSpPr>
        <p:spPr>
          <a:xfrm>
            <a:off x="-602984" y="1635169"/>
            <a:ext cx="267704" cy="267704"/>
          </a:xfrm>
          <a:prstGeom prst="ellipse">
            <a:avLst/>
          </a:prstGeom>
          <a:solidFill>
            <a:schemeClr val="accent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6" name="Oval 85">
            <a:extLst>
              <a:ext uri="{FF2B5EF4-FFF2-40B4-BE49-F238E27FC236}">
                <a16:creationId xmlns:a16="http://schemas.microsoft.com/office/drawing/2014/main" id="{8155BB41-F21B-B406-F55D-93807EBE38B3}"/>
              </a:ext>
            </a:extLst>
          </p:cNvPr>
          <p:cNvSpPr/>
          <p:nvPr userDrawn="1"/>
        </p:nvSpPr>
        <p:spPr>
          <a:xfrm>
            <a:off x="-602984" y="1939379"/>
            <a:ext cx="267704" cy="267704"/>
          </a:xfrm>
          <a:prstGeom prst="ellipse">
            <a:avLst/>
          </a:prstGeom>
          <a:solidFill>
            <a:schemeClr val="accent4"/>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7" name="Oval 86">
            <a:extLst>
              <a:ext uri="{FF2B5EF4-FFF2-40B4-BE49-F238E27FC236}">
                <a16:creationId xmlns:a16="http://schemas.microsoft.com/office/drawing/2014/main" id="{867A0774-2F81-11E6-A1E2-2D790E546286}"/>
              </a:ext>
            </a:extLst>
          </p:cNvPr>
          <p:cNvSpPr/>
          <p:nvPr userDrawn="1"/>
        </p:nvSpPr>
        <p:spPr>
          <a:xfrm>
            <a:off x="-602984" y="2243588"/>
            <a:ext cx="267704" cy="267704"/>
          </a:xfrm>
          <a:prstGeom prst="ellipse">
            <a:avLst/>
          </a:prstGeom>
          <a:solidFill>
            <a:schemeClr val="accent5"/>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9" name="Oval 88">
            <a:extLst>
              <a:ext uri="{FF2B5EF4-FFF2-40B4-BE49-F238E27FC236}">
                <a16:creationId xmlns:a16="http://schemas.microsoft.com/office/drawing/2014/main" id="{C94E68A2-0BF6-BE1D-C046-3073AD9123A2}"/>
              </a:ext>
            </a:extLst>
          </p:cNvPr>
          <p:cNvSpPr/>
          <p:nvPr userDrawn="1"/>
        </p:nvSpPr>
        <p:spPr>
          <a:xfrm>
            <a:off x="-602984" y="2547797"/>
            <a:ext cx="267704" cy="267704"/>
          </a:xfrm>
          <a:prstGeom prst="ellipse">
            <a:avLst/>
          </a:prstGeom>
          <a:solidFill>
            <a:schemeClr val="accent6"/>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3" name="Oval 92">
            <a:extLst>
              <a:ext uri="{FF2B5EF4-FFF2-40B4-BE49-F238E27FC236}">
                <a16:creationId xmlns:a16="http://schemas.microsoft.com/office/drawing/2014/main" id="{0FD02C4E-5E08-00B3-3E64-4CFD4FDCBD66}"/>
              </a:ext>
            </a:extLst>
          </p:cNvPr>
          <p:cNvSpPr/>
          <p:nvPr userDrawn="1"/>
        </p:nvSpPr>
        <p:spPr>
          <a:xfrm>
            <a:off x="-602984" y="2852007"/>
            <a:ext cx="267704" cy="267704"/>
          </a:xfrm>
          <a:prstGeom prst="ellipse">
            <a:avLst/>
          </a:prstGeom>
          <a:solidFill>
            <a:srgbClr val="C7EAFB"/>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5" name="Oval 94">
            <a:extLst>
              <a:ext uri="{FF2B5EF4-FFF2-40B4-BE49-F238E27FC236}">
                <a16:creationId xmlns:a16="http://schemas.microsoft.com/office/drawing/2014/main" id="{BD4C64D9-489D-1531-3F08-EBB1D8B2B6E4}"/>
              </a:ext>
            </a:extLst>
          </p:cNvPr>
          <p:cNvSpPr/>
          <p:nvPr userDrawn="1"/>
        </p:nvSpPr>
        <p:spPr>
          <a:xfrm>
            <a:off x="-602984" y="3156216"/>
            <a:ext cx="267704" cy="267704"/>
          </a:xfrm>
          <a:prstGeom prst="ellipse">
            <a:avLst/>
          </a:prstGeom>
          <a:solidFill>
            <a:srgbClr val="D9D9D9"/>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81209491"/>
      </p:ext>
    </p:extLst>
  </p:cSld>
  <p:clrMapOvr>
    <a:masterClrMapping/>
  </p:clrMapOvr>
  <p:transition>
    <p:fade/>
  </p:transition>
  <p:extLst>
    <p:ext uri="{DCECCB84-F9BA-43D5-87BE-67443E8EF086}">
      <p15:sldGuideLst xmlns:p15="http://schemas.microsoft.com/office/powerpoint/2012/main">
        <p15:guide id="1" pos="11832">
          <p15:clr>
            <a:srgbClr val="FBAE40"/>
          </p15:clr>
        </p15:guide>
        <p15:guide id="2" pos="40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4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lvl1pPr marL="514350" indent="-514350">
              <a:buClr>
                <a:schemeClr val="bg1">
                  <a:lumMod val="10000"/>
                </a:schemeClr>
              </a:buClr>
              <a:buFont typeface="+mj-lt"/>
              <a:buAutoNum type="arabicParenR"/>
              <a:defRPr sz="1200">
                <a:solidFill>
                  <a:schemeClr val="bg1">
                    <a:lumMod val="10000"/>
                  </a:schemeClr>
                </a:solidFill>
              </a:defRPr>
            </a:lvl1pPr>
            <a:lvl2pPr marL="723900" indent="-457200">
              <a:buClr>
                <a:schemeClr val="bg1">
                  <a:lumMod val="10000"/>
                </a:schemeClr>
              </a:buClr>
              <a:buFont typeface="+mj-lt"/>
              <a:buAutoNum type="arabicParenR"/>
              <a:defRPr sz="1200">
                <a:solidFill>
                  <a:schemeClr val="bg1">
                    <a:lumMod val="10000"/>
                  </a:schemeClr>
                </a:solidFill>
              </a:defRPr>
            </a:lvl2pPr>
            <a:lvl3pPr>
              <a:defRPr>
                <a:solidFill>
                  <a:schemeClr val="bg1">
                    <a:lumMod val="10000"/>
                  </a:schemeClr>
                </a:solidFill>
              </a:defRPr>
            </a:lvl3pPr>
            <a:lvl4pPr>
              <a:defRPr>
                <a:solidFill>
                  <a:schemeClr val="bg1">
                    <a:lumMod val="10000"/>
                  </a:schemeClr>
                </a:solidFill>
              </a:defRPr>
            </a:lvl4pPr>
            <a:lvl5pPr>
              <a:defRPr>
                <a:solidFill>
                  <a:schemeClr val="bg1">
                    <a:lumMod val="10000"/>
                  </a:schemeClr>
                </a:solidFill>
              </a:defRPr>
            </a:lvl5pPr>
          </a:lstStyle>
          <a:p>
            <a:pPr marL="266700" marR="0" lvl="0" indent="-266700" algn="l" defTabSz="914400" rtl="0" eaLnBrk="1" fontAlgn="auto" latinLnBrk="0" hangingPunct="1">
              <a:lnSpc>
                <a:spcPct val="90000"/>
              </a:lnSpc>
              <a:spcBef>
                <a:spcPts val="1200"/>
              </a:spcBef>
              <a:spcAft>
                <a:spcPts val="0"/>
              </a:spcAft>
              <a:buClr>
                <a:srgbClr val="B0B0B0"/>
              </a:buClr>
              <a:buSzTx/>
              <a:buFont typeface="Wingdings 2" panose="05020102010507070707" pitchFamily="18" charset="2"/>
              <a:buChar char=""/>
              <a:tabLst/>
              <a:defRPr/>
            </a:pPr>
            <a:r>
              <a:rPr kumimoji="0" lang="en-US" sz="2800" b="0" i="0" u="none" strike="noStrike" kern="1200" cap="none" spc="0" normalizeH="0" baseline="0" noProof="0">
                <a:ln>
                  <a:noFill/>
                </a:ln>
                <a:solidFill>
                  <a:srgbClr val="F5F5F5">
                    <a:lumMod val="10000"/>
                  </a:srgbClr>
                </a:solidFill>
                <a:effectLst/>
                <a:uLnTx/>
                <a:uFillTx/>
                <a:latin typeface="Arial"/>
                <a:ea typeface="+mn-ea"/>
                <a:cs typeface="+mn-cs"/>
              </a:rPr>
              <a:t>Click to edit Master text styles</a:t>
            </a:r>
          </a:p>
          <a:p>
            <a:pPr marL="266700" marR="0" lvl="1" indent="-266700" algn="l" defTabSz="914400" rtl="0" eaLnBrk="1" fontAlgn="auto" latinLnBrk="0" hangingPunct="1">
              <a:lnSpc>
                <a:spcPct val="90000"/>
              </a:lnSpc>
              <a:spcBef>
                <a:spcPts val="1200"/>
              </a:spcBef>
              <a:spcAft>
                <a:spcPts val="0"/>
              </a:spcAft>
              <a:buClr>
                <a:srgbClr val="B0B0B0"/>
              </a:buClr>
              <a:buSzTx/>
              <a:buFont typeface="Wingdings 2" panose="05020102010507070707" pitchFamily="18" charset="2"/>
              <a:buChar char=""/>
              <a:tabLst/>
              <a:defRPr/>
            </a:pPr>
            <a:r>
              <a:rPr kumimoji="0" lang="en-US" sz="2800" b="0" i="0" u="none" strike="noStrike" kern="1200" cap="none" spc="0" normalizeH="0" baseline="0" noProof="0">
                <a:ln>
                  <a:noFill/>
                </a:ln>
                <a:solidFill>
                  <a:srgbClr val="F5F5F5">
                    <a:lumMod val="10000"/>
                  </a:srgbClr>
                </a:solidFill>
                <a:effectLst/>
                <a:uLnTx/>
                <a:uFillTx/>
                <a:latin typeface="Arial"/>
                <a:ea typeface="+mn-ea"/>
                <a:cs typeface="+mn-cs"/>
              </a:rPr>
              <a:t>Second level</a:t>
            </a:r>
          </a:p>
        </p:txBody>
      </p:sp>
      <p:sp>
        <p:nvSpPr>
          <p:cNvPr id="4" name="Text Placeholder 8"/>
          <p:cNvSpPr>
            <a:spLocks noGrp="1"/>
          </p:cNvSpPr>
          <p:nvPr>
            <p:ph type="body" sz="quarter" idx="13" hasCustomPrompt="1"/>
          </p:nvPr>
        </p:nvSpPr>
        <p:spPr>
          <a:xfrm>
            <a:off x="502920" y="649224"/>
            <a:ext cx="11252200" cy="757255"/>
          </a:xfrm>
          <a:prstGeom prst="rect">
            <a:avLst/>
          </a:prstGeom>
        </p:spPr>
        <p:txBody>
          <a:bodyPr lIns="0" tIns="0" rIns="0" bIns="0">
            <a:noAutofit/>
          </a:bodyPr>
          <a:lstStyle>
            <a:lvl1pPr marL="0" indent="0">
              <a:buNone/>
              <a:defRPr sz="1600" b="0">
                <a:solidFill>
                  <a:schemeClr val="bg1">
                    <a:lumMod val="10000"/>
                  </a:schemeClr>
                </a:solidFill>
              </a:defRPr>
            </a:lvl1pPr>
          </a:lstStyle>
          <a:p>
            <a:pPr lvl="0"/>
            <a:r>
              <a:rPr lang="en-GB" noProof="0"/>
              <a:t>Click to add subtitle</a:t>
            </a:r>
            <a:endParaRPr lang="en-GB"/>
          </a:p>
        </p:txBody>
      </p:sp>
      <p:sp>
        <p:nvSpPr>
          <p:cNvPr id="5" name="Title Placeholder 1"/>
          <p:cNvSpPr>
            <a:spLocks noGrp="1"/>
          </p:cNvSpPr>
          <p:nvPr>
            <p:ph type="title"/>
          </p:nvPr>
        </p:nvSpPr>
        <p:spPr>
          <a:xfrm>
            <a:off x="502920" y="315122"/>
            <a:ext cx="11252200" cy="334102"/>
          </a:xfrm>
          <a:prstGeom prst="rect">
            <a:avLst/>
          </a:prstGeom>
        </p:spPr>
        <p:txBody>
          <a:bodyPr vert="horz" lIns="0" tIns="0" rIns="0" bIns="0" rtlCol="0" anchor="t" anchorCtr="0">
            <a:noAutofit/>
          </a:bodyPr>
          <a:lstStyle>
            <a:lvl1pPr>
              <a:defRPr sz="2000">
                <a:solidFill>
                  <a:schemeClr val="bg1">
                    <a:lumMod val="10000"/>
                  </a:schemeClr>
                </a:solidFill>
              </a:defRPr>
            </a:lvl1pPr>
          </a:lstStyle>
          <a:p>
            <a:r>
              <a:rPr lang="en-US" noProof="0"/>
              <a:t>Click to edit Master title style</a:t>
            </a:r>
            <a:endParaRPr lang="en-GB" noProof="0"/>
          </a:p>
        </p:txBody>
      </p:sp>
      <p:sp>
        <p:nvSpPr>
          <p:cNvPr id="2" name="Footer Placeholder 1">
            <a:extLst>
              <a:ext uri="{FF2B5EF4-FFF2-40B4-BE49-F238E27FC236}">
                <a16:creationId xmlns:a16="http://schemas.microsoft.com/office/drawing/2014/main" id="{6FF8D1E6-182F-E7C6-30BE-98DCE34527E7}"/>
              </a:ext>
            </a:extLst>
          </p:cNvPr>
          <p:cNvSpPr>
            <a:spLocks noGrp="1"/>
          </p:cNvSpPr>
          <p:nvPr>
            <p:ph type="ftr" sz="quarter" idx="14"/>
          </p:nvPr>
        </p:nvSpPr>
        <p:spPr/>
        <p:txBody>
          <a:bodyPr/>
          <a:lstStyle/>
          <a:p>
            <a:endParaRPr lang="en-US"/>
          </a:p>
        </p:txBody>
      </p:sp>
      <p:sp>
        <p:nvSpPr>
          <p:cNvPr id="3" name="Slide Number Placeholder 4">
            <a:extLst>
              <a:ext uri="{FF2B5EF4-FFF2-40B4-BE49-F238E27FC236}">
                <a16:creationId xmlns:a16="http://schemas.microsoft.com/office/drawing/2014/main" id="{24898E91-5E6C-B9FF-7897-8DEE52D275D7}"/>
              </a:ext>
            </a:extLst>
          </p:cNvPr>
          <p:cNvSpPr txBox="1">
            <a:spLocks/>
          </p:cNvSpPr>
          <p:nvPr userDrawn="1"/>
        </p:nvSpPr>
        <p:spPr>
          <a:xfrm>
            <a:off x="10858501" y="6484939"/>
            <a:ext cx="628656" cy="276999"/>
          </a:xfrm>
          <a:prstGeom prst="rect">
            <a:avLst/>
          </a:prstGeom>
          <a:noFill/>
        </p:spPr>
        <p:txBody>
          <a:bodyPr wrap="square" rtlCol="0">
            <a:spAutoFit/>
          </a:bodyPr>
          <a:lstStyle>
            <a:defPPr>
              <a:defRPr lang="en-US"/>
            </a:defPPr>
            <a:lvl1pPr marL="0" algn="r" defTabSz="914400" rtl="0" eaLnBrk="1" latinLnBrk="0" hangingPunct="1">
              <a:defRPr lang="en-US" sz="1200" kern="1200" smtClean="0">
                <a:solidFill>
                  <a:schemeClr val="accent5">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08C7C74-4731-4319-8F3B-1BBB12C4DBE4}" type="slidenum">
              <a:rPr kumimoji="0" lang="en-US" sz="1200" b="0" i="0" u="none" strike="noStrike" kern="1200" cap="none" spc="0" normalizeH="0" baseline="0" noProof="0" smtClean="0">
                <a:ln>
                  <a:noFill/>
                </a:ln>
                <a:solidFill>
                  <a:srgbClr val="B0B0B0">
                    <a:lumMod val="75000"/>
                  </a:srgb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B0B0B0">
                  <a:lumMod val="75000"/>
                </a:srgbClr>
              </a:solidFill>
              <a:effectLst/>
              <a:uLnTx/>
              <a:uFillTx/>
              <a:latin typeface="Arial"/>
              <a:ea typeface="+mn-ea"/>
              <a:cs typeface="+mn-cs"/>
            </a:endParaRPr>
          </a:p>
        </p:txBody>
      </p:sp>
    </p:spTree>
    <p:extLst>
      <p:ext uri="{BB962C8B-B14F-4D97-AF65-F5344CB8AC3E}">
        <p14:creationId xmlns:p14="http://schemas.microsoft.com/office/powerpoint/2010/main" val="109743350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ags" Target="../tags/tag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1"/>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2" imgW="270" imgH="270" progId="TCLayout.ActiveDocument.1">
                  <p:embed/>
                </p:oleObj>
              </mc:Choice>
              <mc:Fallback>
                <p:oleObj name="think-cell Slide" r:id="rId62" imgW="270" imgH="270" progId="TCLayout.ActiveDocument.1">
                  <p:embed/>
                  <p:pic>
                    <p:nvPicPr>
                      <p:cNvPr id="4" name="Object 3" hidden="1"/>
                      <p:cNvPicPr/>
                      <p:nvPr/>
                    </p:nvPicPr>
                    <p:blipFill>
                      <a:blip r:embed="rId63"/>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Member firms and DTTL: Insert appropriate copyright</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3617170"/>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 id="2147484422" r:id="rId12"/>
    <p:sldLayoutId id="2147484423" r:id="rId13"/>
    <p:sldLayoutId id="2147484424" r:id="rId14"/>
    <p:sldLayoutId id="2147484425" r:id="rId15"/>
    <p:sldLayoutId id="2147484426" r:id="rId16"/>
    <p:sldLayoutId id="2147484427" r:id="rId17"/>
    <p:sldLayoutId id="2147484428" r:id="rId18"/>
    <p:sldLayoutId id="2147484429" r:id="rId19"/>
    <p:sldLayoutId id="2147484430" r:id="rId20"/>
    <p:sldLayoutId id="2147484431" r:id="rId21"/>
    <p:sldLayoutId id="2147484432" r:id="rId22"/>
    <p:sldLayoutId id="2147484433" r:id="rId23"/>
    <p:sldLayoutId id="2147484434" r:id="rId24"/>
    <p:sldLayoutId id="2147484435" r:id="rId25"/>
    <p:sldLayoutId id="2147484436" r:id="rId26"/>
    <p:sldLayoutId id="2147484437" r:id="rId27"/>
    <p:sldLayoutId id="2147484438" r:id="rId28"/>
    <p:sldLayoutId id="2147484439" r:id="rId29"/>
    <p:sldLayoutId id="2147484440" r:id="rId30"/>
    <p:sldLayoutId id="2147484441" r:id="rId31"/>
    <p:sldLayoutId id="2147484442" r:id="rId32"/>
    <p:sldLayoutId id="2147484443" r:id="rId33"/>
    <p:sldLayoutId id="2147484444" r:id="rId34"/>
    <p:sldLayoutId id="2147484445" r:id="rId35"/>
    <p:sldLayoutId id="2147484446" r:id="rId36"/>
    <p:sldLayoutId id="2147484447" r:id="rId37"/>
    <p:sldLayoutId id="2147484448" r:id="rId38"/>
    <p:sldLayoutId id="2147484449" r:id="rId39"/>
    <p:sldLayoutId id="2147484450" r:id="rId40"/>
    <p:sldLayoutId id="2147484460" r:id="rId41"/>
    <p:sldLayoutId id="2147484461" r:id="rId42"/>
    <p:sldLayoutId id="2147484462" r:id="rId43"/>
    <p:sldLayoutId id="2147484463" r:id="rId44"/>
    <p:sldLayoutId id="2147484464" r:id="rId45"/>
    <p:sldLayoutId id="2147484465" r:id="rId46"/>
    <p:sldLayoutId id="2147484466" r:id="rId47"/>
    <p:sldLayoutId id="2147484467" r:id="rId48"/>
    <p:sldLayoutId id="2147484451" r:id="rId49"/>
    <p:sldLayoutId id="2147484452" r:id="rId50"/>
    <p:sldLayoutId id="2147484453" r:id="rId51"/>
    <p:sldLayoutId id="2147484454" r:id="rId52"/>
    <p:sldLayoutId id="2147484455" r:id="rId53"/>
    <p:sldLayoutId id="2147484456" r:id="rId54"/>
    <p:sldLayoutId id="2147484457" r:id="rId55"/>
    <p:sldLayoutId id="2147484458" r:id="rId56"/>
    <p:sldLayoutId id="2147484459" r:id="rId57"/>
    <p:sldLayoutId id="2147484468" r:id="rId58"/>
    <p:sldLayoutId id="2147484469" r:id="rId59"/>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userDrawn="1">
          <p15:clr>
            <a:srgbClr val="F26B43"/>
          </p15:clr>
        </p15:guide>
        <p15:guide id="96" orient="horz" pos="4008" userDrawn="1">
          <p15:clr>
            <a:srgbClr val="F26B43"/>
          </p15:clr>
        </p15:guide>
        <p15:guide id="97" orient="horz" pos="4104" userDrawn="1">
          <p15:clr>
            <a:srgbClr val="F26B43"/>
          </p15:clr>
        </p15:guide>
        <p15:guide id="98" orient="horz" pos="1056" userDrawn="1">
          <p15:clr>
            <a:srgbClr val="F26B43"/>
          </p15:clr>
        </p15:guide>
        <p15:guide id="99" pos="3840" userDrawn="1">
          <p15:clr>
            <a:srgbClr val="F26B43"/>
          </p15:clr>
        </p15:guide>
        <p15:guide id="100" pos="7392" userDrawn="1">
          <p15:clr>
            <a:srgbClr val="F26B43"/>
          </p15:clr>
        </p15:guide>
        <p15:guide id="101" orient="horz" pos="216" userDrawn="1">
          <p15:clr>
            <a:srgbClr val="F26B43"/>
          </p15:clr>
        </p15:guide>
        <p15:guide id="102" orient="horz" pos="432" userDrawn="1">
          <p15:clr>
            <a:srgbClr val="F26B43"/>
          </p15:clr>
        </p15:guide>
        <p15:guide id="103" pos="288" userDrawn="1">
          <p15:clr>
            <a:srgbClr val="F26B43"/>
          </p15:clr>
        </p15:guide>
        <p15:guide id="104"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58.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jp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88E2-00DF-544B-BCBD-23239DEAE6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D0458AF-4716-3613-EEC0-3EFE62FC234C}"/>
              </a:ext>
            </a:extLst>
          </p:cNvPr>
          <p:cNvSpPr>
            <a:spLocks noGrp="1"/>
          </p:cNvSpPr>
          <p:nvPr>
            <p:ph type="body" sz="quarter" idx="13"/>
          </p:nvPr>
        </p:nvSpPr>
        <p:spPr/>
        <p:txBody>
          <a:bodyPr wrap="square"/>
          <a:lstStyle/>
          <a:p>
            <a:r>
              <a:rPr sz="1300" b="0" dirty="0">
                <a:solidFill>
                  <a:srgbClr val="31435B"/>
                </a:solidFill>
                <a:latin typeface="Aptos"/>
              </a:rPr>
              <a:t>We recommend a </a:t>
            </a:r>
            <a:r>
              <a:rPr lang="en-US" sz="1300" b="0" dirty="0">
                <a:solidFill>
                  <a:srgbClr val="31435B"/>
                </a:solidFill>
                <a:latin typeface="Aptos"/>
              </a:rPr>
              <a:t>phased</a:t>
            </a:r>
            <a:r>
              <a:rPr sz="1300" b="0" dirty="0">
                <a:solidFill>
                  <a:srgbClr val="31435B"/>
                </a:solidFill>
                <a:latin typeface="Aptos"/>
              </a:rPr>
              <a:t> approach</a:t>
            </a:r>
            <a:r>
              <a:rPr lang="en-US" sz="1300" dirty="0">
                <a:solidFill>
                  <a:srgbClr val="31435B"/>
                </a:solidFill>
                <a:latin typeface="Aptos"/>
              </a:rPr>
              <a:t> to</a:t>
            </a:r>
            <a:r>
              <a:rPr sz="1300" b="0" dirty="0">
                <a:solidFill>
                  <a:srgbClr val="31435B"/>
                </a:solidFill>
                <a:latin typeface="Aptos"/>
              </a:rPr>
              <a:t> reduce uncertainty and maximize the likelihood of a successful migration.</a:t>
            </a:r>
          </a:p>
        </p:txBody>
      </p:sp>
      <p:sp>
        <p:nvSpPr>
          <p:cNvPr id="3" name="Title 2">
            <a:extLst>
              <a:ext uri="{FF2B5EF4-FFF2-40B4-BE49-F238E27FC236}">
                <a16:creationId xmlns:a16="http://schemas.microsoft.com/office/drawing/2014/main" id="{A0599187-CEA0-8BE5-AB94-B7BE6535C0CC}"/>
              </a:ext>
            </a:extLst>
          </p:cNvPr>
          <p:cNvSpPr>
            <a:spLocks noGrp="1"/>
          </p:cNvSpPr>
          <p:nvPr>
            <p:ph type="title"/>
          </p:nvPr>
        </p:nvSpPr>
        <p:spPr>
          <a:xfrm>
            <a:off x="457200" y="287136"/>
            <a:ext cx="11274552" cy="342000"/>
          </a:xfrm>
        </p:spPr>
        <p:txBody>
          <a:bodyPr/>
          <a:lstStyle/>
          <a:p>
            <a:r>
              <a:rPr sz="2800" b="1" dirty="0">
                <a:solidFill>
                  <a:srgbClr val="002060"/>
                </a:solidFill>
                <a:latin typeface="Aptos"/>
              </a:rPr>
              <a:t>Our approach</a:t>
            </a:r>
          </a:p>
        </p:txBody>
      </p:sp>
      <p:sp>
        <p:nvSpPr>
          <p:cNvPr id="4" name="Rectangle 3">
            <a:extLst>
              <a:ext uri="{FF2B5EF4-FFF2-40B4-BE49-F238E27FC236}">
                <a16:creationId xmlns:a16="http://schemas.microsoft.com/office/drawing/2014/main" id="{2EE4DC40-DA45-2C3D-0C7A-D275DAF33F86}"/>
              </a:ext>
            </a:extLst>
          </p:cNvPr>
          <p:cNvSpPr/>
          <p:nvPr/>
        </p:nvSpPr>
        <p:spPr>
          <a:xfrm>
            <a:off x="457200"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702EFDBA-EAD5-69DA-A3CE-C3F2114F0BB1}"/>
              </a:ext>
            </a:extLst>
          </p:cNvPr>
          <p:cNvSpPr/>
          <p:nvPr/>
        </p:nvSpPr>
        <p:spPr>
          <a:xfrm>
            <a:off x="841247"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F1D587C-DF1D-C847-EC2A-24035CD67CCF}"/>
              </a:ext>
            </a:extLst>
          </p:cNvPr>
          <p:cNvSpPr txBox="1"/>
          <p:nvPr/>
        </p:nvSpPr>
        <p:spPr>
          <a:xfrm>
            <a:off x="457200"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1</a:t>
            </a:r>
          </a:p>
        </p:txBody>
      </p:sp>
      <p:sp>
        <p:nvSpPr>
          <p:cNvPr id="7" name="TextBox 6">
            <a:extLst>
              <a:ext uri="{FF2B5EF4-FFF2-40B4-BE49-F238E27FC236}">
                <a16:creationId xmlns:a16="http://schemas.microsoft.com/office/drawing/2014/main" id="{C87ADFE4-9CF4-B94C-FFCA-473431FC5F2C}"/>
              </a:ext>
            </a:extLst>
          </p:cNvPr>
          <p:cNvSpPr txBox="1"/>
          <p:nvPr/>
        </p:nvSpPr>
        <p:spPr>
          <a:xfrm>
            <a:off x="969264" y="1051560"/>
            <a:ext cx="3063239" cy="365760"/>
          </a:xfrm>
          <a:prstGeom prst="rect">
            <a:avLst/>
          </a:prstGeom>
          <a:noFill/>
        </p:spPr>
        <p:txBody>
          <a:bodyPr wrap="square" lIns="0" tIns="0" rIns="0" bIns="0" anchor="ctr">
            <a:spAutoFit/>
          </a:bodyPr>
          <a:lstStyle/>
          <a:p>
            <a:pPr algn="l"/>
            <a:r>
              <a:rPr sz="1250" b="1" i="0">
                <a:solidFill>
                  <a:srgbClr val="FFFFFF"/>
                </a:solidFill>
                <a:latin typeface="Aptos"/>
              </a:rPr>
              <a:t>Report Rationalization &amp; Pilot</a:t>
            </a:r>
          </a:p>
        </p:txBody>
      </p:sp>
      <p:sp>
        <p:nvSpPr>
          <p:cNvPr id="8" name="Rectangle 7">
            <a:extLst>
              <a:ext uri="{FF2B5EF4-FFF2-40B4-BE49-F238E27FC236}">
                <a16:creationId xmlns:a16="http://schemas.microsoft.com/office/drawing/2014/main" id="{F98B6893-F0BD-1E52-9177-5F27138F12EA}"/>
              </a:ext>
            </a:extLst>
          </p:cNvPr>
          <p:cNvSpPr/>
          <p:nvPr/>
        </p:nvSpPr>
        <p:spPr>
          <a:xfrm>
            <a:off x="457200"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9B84958-2075-B4A9-A435-0F62AE7448D3}"/>
              </a:ext>
            </a:extLst>
          </p:cNvPr>
          <p:cNvSpPr txBox="1"/>
          <p:nvPr/>
        </p:nvSpPr>
        <p:spPr>
          <a:xfrm>
            <a:off x="585216" y="1508760"/>
            <a:ext cx="3410711" cy="1380250"/>
          </a:xfrm>
          <a:prstGeom prst="rect">
            <a:avLst/>
          </a:prstGeom>
          <a:noFill/>
        </p:spPr>
        <p:txBody>
          <a:bodyPr wrap="square" lIns="0" tIns="0" rIns="0" bIns="0" anchor="t">
            <a:spAutoFit/>
          </a:bodyPr>
          <a:lstStyle/>
          <a:p>
            <a:pPr>
              <a:lnSpc>
                <a:spcPct val="102000"/>
              </a:lnSpc>
              <a:spcAft>
                <a:spcPts val="500"/>
              </a:spcAft>
            </a:pPr>
            <a:r>
              <a:rPr lang="en-US" sz="1000" b="1" dirty="0">
                <a:solidFill>
                  <a:srgbClr val="000000"/>
                </a:solidFill>
              </a:rPr>
              <a:t>• Report </a:t>
            </a:r>
            <a:r>
              <a:rPr lang="en-US" sz="1000" b="1" i="0" dirty="0">
                <a:solidFill>
                  <a:srgbClr val="000000"/>
                </a:solidFill>
                <a:latin typeface="Aptos"/>
              </a:rPr>
              <a:t>Rationalization </a:t>
            </a:r>
            <a:r>
              <a:rPr lang="en-US" sz="1000" dirty="0">
                <a:solidFill>
                  <a:srgbClr val="000000"/>
                </a:solidFill>
                <a:latin typeface="Aptos"/>
              </a:rPr>
              <a:t>: Execute AI accelerated report rationalization of existing BOBJ reports </a:t>
            </a:r>
            <a:endParaRPr sz="1000" b="0" i="0" dirty="0">
              <a:solidFill>
                <a:srgbClr val="000000"/>
              </a:solidFill>
              <a:latin typeface="Aptos"/>
            </a:endParaRPr>
          </a:p>
          <a:p>
            <a:pPr>
              <a:lnSpc>
                <a:spcPct val="102000"/>
              </a:lnSpc>
              <a:spcAft>
                <a:spcPts val="500"/>
              </a:spcAft>
            </a:pPr>
            <a:r>
              <a:rPr lang="en-US" sz="1000" b="1" dirty="0">
                <a:solidFill>
                  <a:srgbClr val="000000"/>
                </a:solidFill>
              </a:rPr>
              <a:t>• Harden </a:t>
            </a:r>
            <a:r>
              <a:rPr lang="en-US" sz="1000" b="1" dirty="0">
                <a:solidFill>
                  <a:srgbClr val="000000"/>
                </a:solidFill>
                <a:latin typeface="Aptos"/>
              </a:rPr>
              <a:t>Platform Disposition Rubric Through Pilot: </a:t>
            </a:r>
            <a:r>
              <a:rPr lang="en-US" sz="1000" dirty="0">
                <a:solidFill>
                  <a:srgbClr val="000000"/>
                </a:solidFill>
              </a:rPr>
              <a:t>Harden the platform disposition rubric informed by findings from report rationalization and execution of a pilot</a:t>
            </a:r>
            <a:endParaRPr lang="en-US" sz="1000" b="1" i="0" dirty="0">
              <a:solidFill>
                <a:srgbClr val="000000"/>
              </a:solidFill>
              <a:latin typeface="Aptos"/>
            </a:endParaRPr>
          </a:p>
          <a:p>
            <a:pPr>
              <a:lnSpc>
                <a:spcPct val="102000"/>
              </a:lnSpc>
              <a:spcAft>
                <a:spcPts val="500"/>
              </a:spcAft>
            </a:pPr>
            <a:r>
              <a:rPr lang="en-US" sz="1000" b="1" dirty="0">
                <a:solidFill>
                  <a:srgbClr val="000000"/>
                </a:solidFill>
              </a:rPr>
              <a:t>• </a:t>
            </a:r>
            <a:r>
              <a:rPr sz="1000" b="1" i="0" dirty="0">
                <a:solidFill>
                  <a:srgbClr val="000000"/>
                </a:solidFill>
                <a:latin typeface="Aptos"/>
              </a:rPr>
              <a:t>Validate </a:t>
            </a:r>
            <a:r>
              <a:rPr lang="en-US" sz="1000" b="1" i="0" dirty="0">
                <a:solidFill>
                  <a:srgbClr val="000000"/>
                </a:solidFill>
                <a:latin typeface="Aptos"/>
              </a:rPr>
              <a:t>Report </a:t>
            </a:r>
            <a:r>
              <a:rPr lang="en-US" sz="1000" b="1" dirty="0">
                <a:solidFill>
                  <a:srgbClr val="000000"/>
                </a:solidFill>
                <a:latin typeface="Aptos"/>
              </a:rPr>
              <a:t>Rationalization and Platform Disposition </a:t>
            </a:r>
            <a:r>
              <a:rPr sz="1000" b="0" i="0" dirty="0">
                <a:solidFill>
                  <a:srgbClr val="000000"/>
                </a:solidFill>
                <a:latin typeface="Aptos"/>
              </a:rPr>
              <a:t>with business owners to freeze the BO report inventory scope for migration</a:t>
            </a:r>
          </a:p>
        </p:txBody>
      </p:sp>
      <p:sp>
        <p:nvSpPr>
          <p:cNvPr id="10" name="Rectangle 9">
            <a:extLst>
              <a:ext uri="{FF2B5EF4-FFF2-40B4-BE49-F238E27FC236}">
                <a16:creationId xmlns:a16="http://schemas.microsoft.com/office/drawing/2014/main" id="{CC6EEBBF-49AD-5EAF-E22B-87BC188E79AB}"/>
              </a:ext>
            </a:extLst>
          </p:cNvPr>
          <p:cNvSpPr/>
          <p:nvPr/>
        </p:nvSpPr>
        <p:spPr>
          <a:xfrm>
            <a:off x="585216" y="3685032"/>
            <a:ext cx="3410711"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6C6B4A2B-72CD-DA62-8791-3461FD3B5847}"/>
              </a:ext>
            </a:extLst>
          </p:cNvPr>
          <p:cNvSpPr txBox="1"/>
          <p:nvPr/>
        </p:nvSpPr>
        <p:spPr>
          <a:xfrm>
            <a:off x="585216" y="3712464"/>
            <a:ext cx="3410711" cy="941831"/>
          </a:xfrm>
          <a:prstGeom prst="rect">
            <a:avLst/>
          </a:prstGeom>
          <a:noFill/>
        </p:spPr>
        <p:txBody>
          <a:bodyPr wrap="square" lIns="0" tIns="0" rIns="0" bIns="0" anchor="t">
            <a:spAutoFit/>
          </a:bodyPr>
          <a:lstStyle/>
          <a:p>
            <a:pPr algn="l">
              <a:lnSpc>
                <a:spcPct val="102000"/>
              </a:lnSpc>
              <a:spcAft>
                <a:spcPts val="300"/>
              </a:spcAft>
            </a:pPr>
            <a:r>
              <a:rPr sz="1000" b="1" i="0" dirty="0">
                <a:solidFill>
                  <a:srgbClr val="7030A0"/>
                </a:solidFill>
                <a:latin typeface="Aptos"/>
              </a:rPr>
              <a:t>Deliverable: </a:t>
            </a:r>
            <a:r>
              <a:rPr sz="1000" b="0" i="0" dirty="0">
                <a:solidFill>
                  <a:srgbClr val="000000"/>
                </a:solidFill>
                <a:latin typeface="Aptos"/>
              </a:rPr>
              <a:t>Rationalization (deduplication, code modularization)</a:t>
            </a:r>
          </a:p>
          <a:p>
            <a:pPr algn="l">
              <a:lnSpc>
                <a:spcPct val="102000"/>
              </a:lnSpc>
              <a:spcAft>
                <a:spcPts val="300"/>
              </a:spcAft>
            </a:pPr>
            <a:r>
              <a:rPr sz="1000" b="1" i="0" dirty="0">
                <a:solidFill>
                  <a:srgbClr val="7030A0"/>
                </a:solidFill>
                <a:latin typeface="Aptos"/>
              </a:rPr>
              <a:t>Tools: </a:t>
            </a:r>
            <a:r>
              <a:rPr sz="1000" b="0" i="1" dirty="0">
                <a:solidFill>
                  <a:srgbClr val="0B351C"/>
                </a:solidFill>
                <a:latin typeface="Aptos"/>
              </a:rPr>
              <a:t>Data Assist - D-RECT, Report Rationalizer</a:t>
            </a:r>
          </a:p>
        </p:txBody>
      </p:sp>
      <p:sp>
        <p:nvSpPr>
          <p:cNvPr id="12" name="Rectangle 11">
            <a:extLst>
              <a:ext uri="{FF2B5EF4-FFF2-40B4-BE49-F238E27FC236}">
                <a16:creationId xmlns:a16="http://schemas.microsoft.com/office/drawing/2014/main" id="{7969DB6B-E0EE-4411-BEB1-7ECC2FCDD372}"/>
              </a:ext>
            </a:extLst>
          </p:cNvPr>
          <p:cNvSpPr/>
          <p:nvPr/>
        </p:nvSpPr>
        <p:spPr>
          <a:xfrm>
            <a:off x="4261104"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10D8F28-ACF3-217B-D174-3D5676F4B3F0}"/>
              </a:ext>
            </a:extLst>
          </p:cNvPr>
          <p:cNvSpPr/>
          <p:nvPr/>
        </p:nvSpPr>
        <p:spPr>
          <a:xfrm>
            <a:off x="4645152"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F5A21C5-E054-3E42-E921-57A9F679DC1B}"/>
              </a:ext>
            </a:extLst>
          </p:cNvPr>
          <p:cNvSpPr txBox="1"/>
          <p:nvPr/>
        </p:nvSpPr>
        <p:spPr>
          <a:xfrm>
            <a:off x="4261104"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2</a:t>
            </a:r>
          </a:p>
        </p:txBody>
      </p:sp>
      <p:sp>
        <p:nvSpPr>
          <p:cNvPr id="15" name="TextBox 14">
            <a:extLst>
              <a:ext uri="{FF2B5EF4-FFF2-40B4-BE49-F238E27FC236}">
                <a16:creationId xmlns:a16="http://schemas.microsoft.com/office/drawing/2014/main" id="{09E8BF37-BC52-07A9-3C04-1BF77C39FFAB}"/>
              </a:ext>
            </a:extLst>
          </p:cNvPr>
          <p:cNvSpPr txBox="1"/>
          <p:nvPr/>
        </p:nvSpPr>
        <p:spPr>
          <a:xfrm>
            <a:off x="4773168" y="1138260"/>
            <a:ext cx="3063239" cy="192360"/>
          </a:xfrm>
          <a:prstGeom prst="rect">
            <a:avLst/>
          </a:prstGeom>
          <a:noFill/>
        </p:spPr>
        <p:txBody>
          <a:bodyPr wrap="square" lIns="0" tIns="0" rIns="0" bIns="0" anchor="ctr">
            <a:spAutoFit/>
          </a:bodyPr>
          <a:lstStyle/>
          <a:p>
            <a:pPr algn="l"/>
            <a:r>
              <a:rPr lang="en-US" sz="1250" b="1" dirty="0">
                <a:solidFill>
                  <a:srgbClr val="FFFFFF"/>
                </a:solidFill>
                <a:latin typeface="Aptos"/>
              </a:rPr>
              <a:t>Report Migration</a:t>
            </a:r>
            <a:endParaRPr sz="1250" b="1" i="0" dirty="0">
              <a:solidFill>
                <a:srgbClr val="FFFFFF"/>
              </a:solidFill>
              <a:latin typeface="Aptos"/>
            </a:endParaRPr>
          </a:p>
        </p:txBody>
      </p:sp>
      <p:sp>
        <p:nvSpPr>
          <p:cNvPr id="16" name="Rectangle 15">
            <a:extLst>
              <a:ext uri="{FF2B5EF4-FFF2-40B4-BE49-F238E27FC236}">
                <a16:creationId xmlns:a16="http://schemas.microsoft.com/office/drawing/2014/main" id="{03545494-FF6A-1F05-523E-223316DDDFE8}"/>
              </a:ext>
            </a:extLst>
          </p:cNvPr>
          <p:cNvSpPr/>
          <p:nvPr/>
        </p:nvSpPr>
        <p:spPr>
          <a:xfrm>
            <a:off x="4261104"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A950B9B9-F421-5CED-A9AF-9AAAF8A2A4E8}"/>
              </a:ext>
            </a:extLst>
          </p:cNvPr>
          <p:cNvSpPr txBox="1"/>
          <p:nvPr/>
        </p:nvSpPr>
        <p:spPr>
          <a:xfrm>
            <a:off x="4389120" y="1508760"/>
            <a:ext cx="3410711" cy="2043508"/>
          </a:xfrm>
          <a:prstGeom prst="rect">
            <a:avLst/>
          </a:prstGeom>
          <a:noFill/>
        </p:spPr>
        <p:txBody>
          <a:bodyPr wrap="square" lIns="0" tIns="0" rIns="0" bIns="0" anchor="t">
            <a:spAutoFit/>
          </a:bodyPr>
          <a:lstStyle/>
          <a:p>
            <a:pPr>
              <a:lnSpc>
                <a:spcPct val="102000"/>
              </a:lnSpc>
              <a:spcAft>
                <a:spcPts val="500"/>
              </a:spcAft>
            </a:pPr>
            <a:r>
              <a:rPr lang="en-US" sz="1000" b="1" dirty="0">
                <a:solidFill>
                  <a:srgbClr val="000000"/>
                </a:solidFill>
              </a:rPr>
              <a:t>• </a:t>
            </a:r>
            <a:r>
              <a:rPr sz="1000" b="1" i="0" dirty="0">
                <a:solidFill>
                  <a:srgbClr val="000000"/>
                </a:solidFill>
                <a:latin typeface="Aptos"/>
              </a:rPr>
              <a:t>Utilize rationalization findings</a:t>
            </a:r>
            <a:r>
              <a:rPr lang="en-US" sz="1000" b="1" i="0" dirty="0">
                <a:solidFill>
                  <a:srgbClr val="000000"/>
                </a:solidFill>
                <a:latin typeface="Aptos"/>
              </a:rPr>
              <a:t> and Platform Disposition</a:t>
            </a:r>
            <a:r>
              <a:rPr sz="1000" b="1" i="0" dirty="0">
                <a:solidFill>
                  <a:srgbClr val="000000"/>
                </a:solidFill>
                <a:latin typeface="Aptos"/>
              </a:rPr>
              <a:t> </a:t>
            </a:r>
            <a:r>
              <a:rPr sz="1000" b="0" i="0" dirty="0">
                <a:solidFill>
                  <a:srgbClr val="000000"/>
                </a:solidFill>
                <a:latin typeface="Aptos"/>
              </a:rPr>
              <a:t>to shape an optimal migration strategy and release plan</a:t>
            </a:r>
            <a:endParaRPr lang="en-US" sz="1000" b="0" i="0" dirty="0">
              <a:solidFill>
                <a:srgbClr val="000000"/>
              </a:solidFill>
              <a:latin typeface="Aptos"/>
            </a:endParaRPr>
          </a:p>
          <a:p>
            <a:pPr>
              <a:lnSpc>
                <a:spcPct val="102000"/>
              </a:lnSpc>
              <a:spcAft>
                <a:spcPts val="500"/>
              </a:spcAft>
            </a:pPr>
            <a:r>
              <a:rPr lang="en-US" sz="1000" b="1" dirty="0">
                <a:solidFill>
                  <a:srgbClr val="000000"/>
                </a:solidFill>
              </a:rPr>
              <a:t>• Accelerate conversion, development and migration of </a:t>
            </a:r>
            <a:r>
              <a:rPr lang="en-US" sz="1000" dirty="0">
                <a:solidFill>
                  <a:srgbClr val="000000"/>
                </a:solidFill>
              </a:rPr>
              <a:t>Data Objects Tables, Views, Materialized View and metrics logic using  </a:t>
            </a:r>
            <a:r>
              <a:rPr lang="en-US" sz="1000" b="1" dirty="0">
                <a:solidFill>
                  <a:srgbClr val="000000"/>
                </a:solidFill>
              </a:rPr>
              <a:t>Data Assist </a:t>
            </a:r>
          </a:p>
          <a:p>
            <a:pPr>
              <a:lnSpc>
                <a:spcPct val="102000"/>
              </a:lnSpc>
              <a:spcAft>
                <a:spcPts val="500"/>
              </a:spcAft>
            </a:pPr>
            <a:r>
              <a:rPr lang="en-US" sz="1000" b="1" dirty="0">
                <a:solidFill>
                  <a:srgbClr val="000000"/>
                </a:solidFill>
              </a:rPr>
              <a:t>• Leverage Data Asist – CATE to expedite data validation, reconciliation, regression </a:t>
            </a:r>
            <a:r>
              <a:rPr lang="en-US" sz="1000" dirty="0">
                <a:solidFill>
                  <a:srgbClr val="000000"/>
                </a:solidFill>
              </a:rPr>
              <a:t>testing of converted, newly developed reports</a:t>
            </a:r>
          </a:p>
          <a:p>
            <a:pPr>
              <a:lnSpc>
                <a:spcPct val="102000"/>
              </a:lnSpc>
              <a:spcAft>
                <a:spcPts val="500"/>
              </a:spcAft>
            </a:pPr>
            <a:endParaRPr lang="en-US" sz="1000" dirty="0">
              <a:solidFill>
                <a:srgbClr val="000000"/>
              </a:solidFill>
            </a:endParaRPr>
          </a:p>
          <a:p>
            <a:pPr>
              <a:lnSpc>
                <a:spcPct val="102000"/>
              </a:lnSpc>
              <a:spcAft>
                <a:spcPts val="500"/>
              </a:spcAft>
            </a:pPr>
            <a:endParaRPr lang="en-US" sz="1000" dirty="0">
              <a:solidFill>
                <a:srgbClr val="000000"/>
              </a:solidFill>
            </a:endParaRPr>
          </a:p>
          <a:p>
            <a:pPr algn="l">
              <a:lnSpc>
                <a:spcPct val="102000"/>
              </a:lnSpc>
              <a:spcAft>
                <a:spcPts val="500"/>
              </a:spcAft>
            </a:pPr>
            <a:endParaRPr sz="1000" b="0" i="0" dirty="0">
              <a:solidFill>
                <a:srgbClr val="000000"/>
              </a:solidFill>
              <a:latin typeface="Aptos"/>
            </a:endParaRPr>
          </a:p>
        </p:txBody>
      </p:sp>
      <p:sp>
        <p:nvSpPr>
          <p:cNvPr id="18" name="Rectangle 17">
            <a:extLst>
              <a:ext uri="{FF2B5EF4-FFF2-40B4-BE49-F238E27FC236}">
                <a16:creationId xmlns:a16="http://schemas.microsoft.com/office/drawing/2014/main" id="{8B6A59D6-B12B-B582-CA02-47C78A05E70D}"/>
              </a:ext>
            </a:extLst>
          </p:cNvPr>
          <p:cNvSpPr/>
          <p:nvPr/>
        </p:nvSpPr>
        <p:spPr>
          <a:xfrm>
            <a:off x="4389120" y="3685032"/>
            <a:ext cx="3410711"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93F18EE6-5BEE-EFEE-8A87-52D3C58B62AB}"/>
              </a:ext>
            </a:extLst>
          </p:cNvPr>
          <p:cNvSpPr txBox="1"/>
          <p:nvPr/>
        </p:nvSpPr>
        <p:spPr>
          <a:xfrm>
            <a:off x="4389120" y="3712464"/>
            <a:ext cx="3410711" cy="819583"/>
          </a:xfrm>
          <a:prstGeom prst="rect">
            <a:avLst/>
          </a:prstGeom>
          <a:noFill/>
        </p:spPr>
        <p:txBody>
          <a:bodyPr wrap="square" lIns="0" tIns="0" rIns="0" bIns="0" anchor="t">
            <a:spAutoFit/>
          </a:bodyPr>
          <a:lstStyle/>
          <a:p>
            <a:pPr algn="l">
              <a:lnSpc>
                <a:spcPct val="102000"/>
              </a:lnSpc>
              <a:spcAft>
                <a:spcPts val="300"/>
              </a:spcAft>
            </a:pPr>
            <a:r>
              <a:rPr sz="1000" b="1" i="0" dirty="0">
                <a:solidFill>
                  <a:srgbClr val="7030A0"/>
                </a:solidFill>
                <a:latin typeface="Aptos"/>
              </a:rPr>
              <a:t>Deliverable: </a:t>
            </a:r>
            <a:r>
              <a:rPr sz="1000" b="0" i="0" dirty="0">
                <a:solidFill>
                  <a:srgbClr val="000000"/>
                </a:solidFill>
                <a:latin typeface="Aptos"/>
              </a:rPr>
              <a:t>Optimization &amp; performance tuning; code dev/conversion in Cogito SQL/Databricks (rebuild BO query objects); data validation (counts, reconciliation, totals)</a:t>
            </a:r>
          </a:p>
          <a:p>
            <a:pPr algn="l">
              <a:lnSpc>
                <a:spcPct val="102000"/>
              </a:lnSpc>
              <a:spcAft>
                <a:spcPts val="300"/>
              </a:spcAft>
            </a:pPr>
            <a:r>
              <a:rPr sz="1000" b="1" i="0" dirty="0">
                <a:solidFill>
                  <a:srgbClr val="7030A0"/>
                </a:solidFill>
                <a:latin typeface="Aptos"/>
              </a:rPr>
              <a:t>Tools: </a:t>
            </a:r>
            <a:r>
              <a:rPr sz="1000" b="0" i="1" dirty="0">
                <a:solidFill>
                  <a:srgbClr val="0B351C"/>
                </a:solidFill>
                <a:latin typeface="Aptos"/>
              </a:rPr>
              <a:t>Data Assist – Deloitte Code converter, Report Automator, CATE</a:t>
            </a:r>
            <a:r>
              <a:rPr lang="en-US" sz="1000" b="0" i="1" dirty="0">
                <a:solidFill>
                  <a:srgbClr val="0B351C"/>
                </a:solidFill>
                <a:latin typeface="Aptos"/>
              </a:rPr>
              <a:t> – Validation Engine</a:t>
            </a:r>
            <a:endParaRPr sz="1000" b="0" i="1" dirty="0">
              <a:solidFill>
                <a:srgbClr val="0B351C"/>
              </a:solidFill>
              <a:latin typeface="Aptos"/>
            </a:endParaRPr>
          </a:p>
        </p:txBody>
      </p:sp>
      <p:sp>
        <p:nvSpPr>
          <p:cNvPr id="20" name="Rectangle 19">
            <a:extLst>
              <a:ext uri="{FF2B5EF4-FFF2-40B4-BE49-F238E27FC236}">
                <a16:creationId xmlns:a16="http://schemas.microsoft.com/office/drawing/2014/main" id="{D5C57F6B-122B-1AD3-229D-183A41CE52B4}"/>
              </a:ext>
            </a:extLst>
          </p:cNvPr>
          <p:cNvSpPr/>
          <p:nvPr/>
        </p:nvSpPr>
        <p:spPr>
          <a:xfrm>
            <a:off x="8065008"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F2EE3BE2-F14D-2970-BEEE-148EF77B9693}"/>
              </a:ext>
            </a:extLst>
          </p:cNvPr>
          <p:cNvSpPr/>
          <p:nvPr/>
        </p:nvSpPr>
        <p:spPr>
          <a:xfrm>
            <a:off x="8449056"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20D8EC6C-4316-7CD6-C620-B0086106A07C}"/>
              </a:ext>
            </a:extLst>
          </p:cNvPr>
          <p:cNvSpPr txBox="1"/>
          <p:nvPr/>
        </p:nvSpPr>
        <p:spPr>
          <a:xfrm>
            <a:off x="8065008"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3</a:t>
            </a:r>
          </a:p>
        </p:txBody>
      </p:sp>
      <p:sp>
        <p:nvSpPr>
          <p:cNvPr id="23" name="TextBox 22">
            <a:extLst>
              <a:ext uri="{FF2B5EF4-FFF2-40B4-BE49-F238E27FC236}">
                <a16:creationId xmlns:a16="http://schemas.microsoft.com/office/drawing/2014/main" id="{08483705-C1BA-4EFC-5079-D0076EB5C6D6}"/>
              </a:ext>
            </a:extLst>
          </p:cNvPr>
          <p:cNvSpPr txBox="1"/>
          <p:nvPr/>
        </p:nvSpPr>
        <p:spPr>
          <a:xfrm>
            <a:off x="8577072" y="1138260"/>
            <a:ext cx="3063239" cy="192360"/>
          </a:xfrm>
          <a:prstGeom prst="rect">
            <a:avLst/>
          </a:prstGeom>
          <a:noFill/>
        </p:spPr>
        <p:txBody>
          <a:bodyPr wrap="square" lIns="0" tIns="0" rIns="0" bIns="0" anchor="ctr">
            <a:spAutoFit/>
          </a:bodyPr>
          <a:lstStyle/>
          <a:p>
            <a:pPr algn="l"/>
            <a:r>
              <a:rPr lang="en-US" sz="1250" b="1" i="0" dirty="0">
                <a:solidFill>
                  <a:srgbClr val="FFFFFF"/>
                </a:solidFill>
                <a:latin typeface="Aptos"/>
              </a:rPr>
              <a:t>Hypercare</a:t>
            </a:r>
            <a:endParaRPr sz="1250" b="1" i="0" dirty="0">
              <a:solidFill>
                <a:srgbClr val="FFFFFF"/>
              </a:solidFill>
              <a:latin typeface="Aptos"/>
            </a:endParaRPr>
          </a:p>
        </p:txBody>
      </p:sp>
      <p:sp>
        <p:nvSpPr>
          <p:cNvPr id="24" name="Rectangle 23">
            <a:extLst>
              <a:ext uri="{FF2B5EF4-FFF2-40B4-BE49-F238E27FC236}">
                <a16:creationId xmlns:a16="http://schemas.microsoft.com/office/drawing/2014/main" id="{BA7D8692-0347-93E1-AE65-1C0A814FC3FD}"/>
              </a:ext>
            </a:extLst>
          </p:cNvPr>
          <p:cNvSpPr/>
          <p:nvPr/>
        </p:nvSpPr>
        <p:spPr>
          <a:xfrm>
            <a:off x="8065008"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a:extLst>
              <a:ext uri="{FF2B5EF4-FFF2-40B4-BE49-F238E27FC236}">
                <a16:creationId xmlns:a16="http://schemas.microsoft.com/office/drawing/2014/main" id="{5B13C7B4-75F7-D073-7F67-6A52F0A76583}"/>
              </a:ext>
            </a:extLst>
          </p:cNvPr>
          <p:cNvSpPr txBox="1"/>
          <p:nvPr/>
        </p:nvSpPr>
        <p:spPr>
          <a:xfrm>
            <a:off x="457200" y="4818888"/>
            <a:ext cx="11274552" cy="201168"/>
          </a:xfrm>
          <a:prstGeom prst="rect">
            <a:avLst/>
          </a:prstGeom>
          <a:noFill/>
        </p:spPr>
        <p:txBody>
          <a:bodyPr wrap="square" lIns="0" tIns="0" rIns="0" bIns="0" anchor="t">
            <a:spAutoFit/>
          </a:bodyPr>
          <a:lstStyle/>
          <a:p>
            <a:pPr algn="l"/>
            <a:r>
              <a:rPr sz="1150" b="1" i="0">
                <a:solidFill>
                  <a:srgbClr val="7030A0"/>
                </a:solidFill>
                <a:latin typeface="Aptos"/>
              </a:rPr>
              <a:t>Representative efficiency gains (directional – to validate)</a:t>
            </a:r>
          </a:p>
        </p:txBody>
      </p:sp>
      <p:sp>
        <p:nvSpPr>
          <p:cNvPr id="29" name="Rectangle 28">
            <a:extLst>
              <a:ext uri="{FF2B5EF4-FFF2-40B4-BE49-F238E27FC236}">
                <a16:creationId xmlns:a16="http://schemas.microsoft.com/office/drawing/2014/main" id="{7A1DB22C-3C3D-3D26-0B36-7FC21D05FC03}"/>
              </a:ext>
            </a:extLst>
          </p:cNvPr>
          <p:cNvSpPr/>
          <p:nvPr/>
        </p:nvSpPr>
        <p:spPr>
          <a:xfrm>
            <a:off x="457200"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CF95A833-9C17-2ABE-A9A8-3B81F23695B1}"/>
              </a:ext>
            </a:extLst>
          </p:cNvPr>
          <p:cNvSpPr txBox="1"/>
          <p:nvPr/>
        </p:nvSpPr>
        <p:spPr>
          <a:xfrm>
            <a:off x="457200"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Inventory Reduction: 50-60%</a:t>
            </a:r>
          </a:p>
        </p:txBody>
      </p:sp>
      <p:sp>
        <p:nvSpPr>
          <p:cNvPr id="31" name="Rectangle 30">
            <a:extLst>
              <a:ext uri="{FF2B5EF4-FFF2-40B4-BE49-F238E27FC236}">
                <a16:creationId xmlns:a16="http://schemas.microsoft.com/office/drawing/2014/main" id="{DEBFCFBD-EE9F-D434-5443-79705C884CE8}"/>
              </a:ext>
            </a:extLst>
          </p:cNvPr>
          <p:cNvSpPr/>
          <p:nvPr/>
        </p:nvSpPr>
        <p:spPr>
          <a:xfrm>
            <a:off x="4261104"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9A27837-AE0D-94A1-8696-B6C370D552C5}"/>
              </a:ext>
            </a:extLst>
          </p:cNvPr>
          <p:cNvSpPr txBox="1"/>
          <p:nvPr/>
        </p:nvSpPr>
        <p:spPr>
          <a:xfrm>
            <a:off x="4261104"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Conversion Productivity: 30%</a:t>
            </a:r>
          </a:p>
        </p:txBody>
      </p:sp>
      <p:sp>
        <p:nvSpPr>
          <p:cNvPr id="33" name="Rectangle 32">
            <a:extLst>
              <a:ext uri="{FF2B5EF4-FFF2-40B4-BE49-F238E27FC236}">
                <a16:creationId xmlns:a16="http://schemas.microsoft.com/office/drawing/2014/main" id="{5601BAC3-C6EE-854F-C173-FE48ADC026AB}"/>
              </a:ext>
            </a:extLst>
          </p:cNvPr>
          <p:cNvSpPr/>
          <p:nvPr/>
        </p:nvSpPr>
        <p:spPr>
          <a:xfrm>
            <a:off x="8065008"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DEC1451F-AEDA-2319-ED73-C47BDFDFB1AF}"/>
              </a:ext>
            </a:extLst>
          </p:cNvPr>
          <p:cNvSpPr txBox="1"/>
          <p:nvPr/>
        </p:nvSpPr>
        <p:spPr>
          <a:xfrm>
            <a:off x="8065008"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Adoption Ramp-Up: 20–30%</a:t>
            </a:r>
          </a:p>
        </p:txBody>
      </p:sp>
      <p:sp>
        <p:nvSpPr>
          <p:cNvPr id="35" name="Rectangle 34">
            <a:extLst>
              <a:ext uri="{FF2B5EF4-FFF2-40B4-BE49-F238E27FC236}">
                <a16:creationId xmlns:a16="http://schemas.microsoft.com/office/drawing/2014/main" id="{9F432FDE-5570-D21F-5B8B-7C86405D9D5C}"/>
              </a:ext>
            </a:extLst>
          </p:cNvPr>
          <p:cNvSpPr/>
          <p:nvPr/>
        </p:nvSpPr>
        <p:spPr>
          <a:xfrm>
            <a:off x="457200" y="5559552"/>
            <a:ext cx="11274552" cy="62179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7A0FEC24-E70B-86EA-88D5-16B123CC88EA}"/>
              </a:ext>
            </a:extLst>
          </p:cNvPr>
          <p:cNvSpPr/>
          <p:nvPr/>
        </p:nvSpPr>
        <p:spPr>
          <a:xfrm>
            <a:off x="841247" y="5632704"/>
            <a:ext cx="13970" cy="475488"/>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CBA4C1E2-7501-A914-2D65-88D1A8E71BB5}"/>
              </a:ext>
            </a:extLst>
          </p:cNvPr>
          <p:cNvSpPr txBox="1"/>
          <p:nvPr/>
        </p:nvSpPr>
        <p:spPr>
          <a:xfrm>
            <a:off x="457200" y="5559552"/>
            <a:ext cx="384048" cy="621792"/>
          </a:xfrm>
          <a:prstGeom prst="rect">
            <a:avLst/>
          </a:prstGeom>
          <a:noFill/>
        </p:spPr>
        <p:txBody>
          <a:bodyPr wrap="square" lIns="0" tIns="0" rIns="0" bIns="0" anchor="ctr">
            <a:spAutoFit/>
          </a:bodyPr>
          <a:lstStyle/>
          <a:p>
            <a:pPr algn="ctr"/>
            <a:r>
              <a:rPr sz="1700" b="1" i="0">
                <a:solidFill>
                  <a:srgbClr val="FFFFFF"/>
                </a:solidFill>
                <a:latin typeface="Aptos"/>
              </a:rPr>
              <a:t>4</a:t>
            </a:r>
          </a:p>
        </p:txBody>
      </p:sp>
      <p:sp>
        <p:nvSpPr>
          <p:cNvPr id="38" name="TextBox 37">
            <a:extLst>
              <a:ext uri="{FF2B5EF4-FFF2-40B4-BE49-F238E27FC236}">
                <a16:creationId xmlns:a16="http://schemas.microsoft.com/office/drawing/2014/main" id="{C0E80E29-EE12-2483-4161-671E2E344536}"/>
              </a:ext>
            </a:extLst>
          </p:cNvPr>
          <p:cNvSpPr txBox="1"/>
          <p:nvPr/>
        </p:nvSpPr>
        <p:spPr>
          <a:xfrm>
            <a:off x="987551" y="5680652"/>
            <a:ext cx="10616184" cy="379591"/>
          </a:xfrm>
          <a:prstGeom prst="rect">
            <a:avLst/>
          </a:prstGeom>
          <a:noFill/>
        </p:spPr>
        <p:txBody>
          <a:bodyPr wrap="square" lIns="0" tIns="0" rIns="0" bIns="0" anchor="ctr">
            <a:spAutoFit/>
          </a:bodyPr>
          <a:lstStyle/>
          <a:p>
            <a:pPr algn="l">
              <a:lnSpc>
                <a:spcPct val="100000"/>
              </a:lnSpc>
            </a:pPr>
            <a:r>
              <a:rPr sz="1300" b="1" i="0" dirty="0">
                <a:solidFill>
                  <a:srgbClr val="FFFFFF"/>
                </a:solidFill>
                <a:latin typeface="Aptos"/>
              </a:rPr>
              <a:t>Program Management</a:t>
            </a:r>
            <a:r>
              <a:rPr lang="en-US" sz="1300" b="1" i="0" dirty="0">
                <a:solidFill>
                  <a:srgbClr val="FFFFFF"/>
                </a:solidFill>
                <a:latin typeface="Aptos"/>
              </a:rPr>
              <a:t>, Change Management &amp; Adoption</a:t>
            </a:r>
            <a:endParaRPr sz="1300" b="1" i="0" dirty="0">
              <a:solidFill>
                <a:srgbClr val="FFFFFF"/>
              </a:solidFill>
              <a:latin typeface="Aptos"/>
            </a:endParaRPr>
          </a:p>
          <a:p>
            <a:pPr algn="l">
              <a:lnSpc>
                <a:spcPct val="100000"/>
              </a:lnSpc>
              <a:spcBef>
                <a:spcPts val="200"/>
              </a:spcBef>
            </a:pPr>
            <a:r>
              <a:rPr sz="1000" b="0" i="0" dirty="0">
                <a:solidFill>
                  <a:srgbClr val="C9D6EA"/>
                </a:solidFill>
                <a:latin typeface="Aptos"/>
              </a:rPr>
              <a:t>Establishes the steering-committee cadence, RAID/risk management, staffing oversight, and status reporting that keep rationalization, migration, and adoption moving as one governed program.</a:t>
            </a:r>
          </a:p>
        </p:txBody>
      </p:sp>
      <p:sp>
        <p:nvSpPr>
          <p:cNvPr id="39" name="Rectangle 38">
            <a:extLst>
              <a:ext uri="{FF2B5EF4-FFF2-40B4-BE49-F238E27FC236}">
                <a16:creationId xmlns:a16="http://schemas.microsoft.com/office/drawing/2014/main" id="{1CF56141-2637-BFB0-391B-85CDB689E57F}"/>
              </a:ext>
            </a:extLst>
          </p:cNvPr>
          <p:cNvSpPr/>
          <p:nvPr/>
        </p:nvSpPr>
        <p:spPr>
          <a:xfrm>
            <a:off x="457200" y="6291072"/>
            <a:ext cx="11274552" cy="384048"/>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A2EBA3BD-BE03-3B3B-60B9-6944240CF4DB}"/>
              </a:ext>
            </a:extLst>
          </p:cNvPr>
          <p:cNvSpPr txBox="1"/>
          <p:nvPr/>
        </p:nvSpPr>
        <p:spPr>
          <a:xfrm>
            <a:off x="640080" y="6291072"/>
            <a:ext cx="10908792" cy="384048"/>
          </a:xfrm>
          <a:prstGeom prst="rect">
            <a:avLst/>
          </a:prstGeom>
          <a:noFill/>
        </p:spPr>
        <p:txBody>
          <a:bodyPr wrap="square" lIns="0" tIns="0" rIns="0" bIns="0" anchor="ctr">
            <a:spAutoFit/>
          </a:bodyPr>
          <a:lstStyle/>
          <a:p>
            <a:pPr algn="ctr"/>
            <a:r>
              <a:rPr sz="1200" b="1" i="1">
                <a:solidFill>
                  <a:srgbClr val="FFFFFF"/>
                </a:solidFill>
                <a:latin typeface="Aptos"/>
              </a:rPr>
              <a:t>Rationalizing before we migrate turns a platform change into a lasting, sustainable reporting foundation.</a:t>
            </a:r>
          </a:p>
        </p:txBody>
      </p:sp>
      <p:sp>
        <p:nvSpPr>
          <p:cNvPr id="41" name="object 48">
            <a:extLst>
              <a:ext uri="{FF2B5EF4-FFF2-40B4-BE49-F238E27FC236}">
                <a16:creationId xmlns:a16="http://schemas.microsoft.com/office/drawing/2014/main" id="{2D29F26E-193C-B16B-B9F0-EBCC7962300C}"/>
              </a:ext>
            </a:extLst>
          </p:cNvPr>
          <p:cNvSpPr txBox="1"/>
          <p:nvPr/>
        </p:nvSpPr>
        <p:spPr>
          <a:xfrm>
            <a:off x="8577072" y="1742977"/>
            <a:ext cx="2640235" cy="742950"/>
          </a:xfrm>
          <a:prstGeom prst="rect">
            <a:avLst/>
          </a:prstGeom>
          <a:solidFill>
            <a:srgbClr val="E1EDFF"/>
          </a:solidFill>
        </p:spPr>
        <p:txBody>
          <a:bodyPr vert="horz" wrap="square" lIns="57150" tIns="28575" rIns="57150" bIns="28575" rtlCol="0">
            <a:noAutofit/>
          </a:bodyPr>
          <a:lstStyle/>
          <a:p>
            <a:pPr marL="397" algn="ctr">
              <a:spcBef>
                <a:spcPts val="197"/>
              </a:spcBef>
            </a:pPr>
            <a:r>
              <a:rPr lang="en-US" sz="1000" b="1" spc="-3" dirty="0">
                <a:solidFill>
                  <a:schemeClr val="tx2"/>
                </a:solidFill>
                <a:ea typeface="Open Sans Light" panose="020B0306030504020204" pitchFamily="34" charset="0"/>
                <a:cs typeface="Open Sans Light" panose="020B0306030504020204" pitchFamily="34" charset="0"/>
              </a:rPr>
              <a:t>Parallel Runs</a:t>
            </a:r>
            <a:endParaRPr lang="en-US" sz="1000" dirty="0">
              <a:solidFill>
                <a:schemeClr val="tx2"/>
              </a:solidFill>
              <a:ea typeface="Open Sans Light" panose="020B0306030504020204" pitchFamily="34" charset="0"/>
              <a:cs typeface="Open Sans Light" panose="020B0306030504020204" pitchFamily="34" charset="0"/>
            </a:endParaRPr>
          </a:p>
          <a:p>
            <a:pPr marL="76200" marR="71040" algn="ctr"/>
            <a:r>
              <a:rPr lang="en-US" sz="1000" spc="-3" dirty="0">
                <a:solidFill>
                  <a:schemeClr val="tx2"/>
                </a:solidFill>
                <a:ea typeface="Open Sans Light" panose="020B0306030504020204" pitchFamily="34" charset="0"/>
                <a:cs typeface="Open Sans Light" panose="020B0306030504020204" pitchFamily="34" charset="0"/>
              </a:rPr>
              <a:t>Support production parallel runs and facilitate business validation in Production to obtain business-signs off for Cutover</a:t>
            </a:r>
            <a:endParaRPr lang="en-US" sz="1000" dirty="0">
              <a:solidFill>
                <a:schemeClr val="tx2"/>
              </a:solidFill>
              <a:ea typeface="Open Sans Light" panose="020B0306030504020204" pitchFamily="34" charset="0"/>
              <a:cs typeface="Open Sans Light" panose="020B0306030504020204" pitchFamily="34" charset="0"/>
            </a:endParaRPr>
          </a:p>
        </p:txBody>
      </p:sp>
      <p:sp>
        <p:nvSpPr>
          <p:cNvPr id="42" name="object 52">
            <a:extLst>
              <a:ext uri="{FF2B5EF4-FFF2-40B4-BE49-F238E27FC236}">
                <a16:creationId xmlns:a16="http://schemas.microsoft.com/office/drawing/2014/main" id="{F3435B1A-2649-C84F-0A21-B25FDB6DF696}"/>
              </a:ext>
            </a:extLst>
          </p:cNvPr>
          <p:cNvSpPr txBox="1"/>
          <p:nvPr/>
        </p:nvSpPr>
        <p:spPr>
          <a:xfrm>
            <a:off x="8577071" y="2801395"/>
            <a:ext cx="2640235" cy="857250"/>
          </a:xfrm>
          <a:prstGeom prst="rect">
            <a:avLst/>
          </a:prstGeom>
          <a:solidFill>
            <a:srgbClr val="E1EDFF"/>
          </a:solidFill>
        </p:spPr>
        <p:txBody>
          <a:bodyPr vert="horz" wrap="square" lIns="57150" tIns="28575" rIns="57150" bIns="28575" rtlCol="0">
            <a:noAutofit/>
          </a:bodyPr>
          <a:lstStyle/>
          <a:p>
            <a:pPr algn="ctr">
              <a:spcBef>
                <a:spcPts val="200"/>
              </a:spcBef>
            </a:pPr>
            <a:r>
              <a:rPr lang="en-US" sz="1000" b="1" spc="-3" dirty="0">
                <a:solidFill>
                  <a:schemeClr val="tx2"/>
                </a:solidFill>
                <a:ea typeface="Open Sans Light" panose="020B0306030504020204" pitchFamily="34" charset="0"/>
                <a:cs typeface="Open Sans Light" panose="020B0306030504020204" pitchFamily="34" charset="0"/>
              </a:rPr>
              <a:t>Transition</a:t>
            </a:r>
            <a:endParaRPr lang="en-US" sz="1000" dirty="0">
              <a:solidFill>
                <a:schemeClr val="tx2"/>
              </a:solidFill>
              <a:ea typeface="Open Sans Light" panose="020B0306030504020204" pitchFamily="34" charset="0"/>
              <a:cs typeface="Open Sans Light" panose="020B0306030504020204" pitchFamily="34" charset="0"/>
            </a:endParaRPr>
          </a:p>
          <a:p>
            <a:pPr marL="71438" marR="67071" algn="ctr"/>
            <a:r>
              <a:rPr lang="en-US" sz="1000" spc="-3" dirty="0">
                <a:solidFill>
                  <a:schemeClr val="tx2"/>
                </a:solidFill>
                <a:cs typeface="Open Sans"/>
              </a:rPr>
              <a:t>Upon </a:t>
            </a:r>
            <a:r>
              <a:rPr lang="en-US" sz="1000" dirty="0">
                <a:solidFill>
                  <a:schemeClr val="tx2"/>
                </a:solidFill>
                <a:cs typeface="Open Sans"/>
              </a:rPr>
              <a:t>successful </a:t>
            </a:r>
            <a:r>
              <a:rPr lang="en-US" sz="1000" spc="-3" dirty="0">
                <a:solidFill>
                  <a:schemeClr val="tx2"/>
                </a:solidFill>
                <a:cs typeface="Open Sans"/>
              </a:rPr>
              <a:t>completion of parallel runs, transition the application to Lights-On team to enable decommissioning of the legacy application</a:t>
            </a:r>
            <a:endParaRPr lang="en-US" sz="1000" dirty="0">
              <a:solidFill>
                <a:schemeClr val="tx2"/>
              </a:solidFill>
              <a:ea typeface="Open Sans Light" panose="020B0306030504020204" pitchFamily="34" charset="0"/>
              <a:cs typeface="Open Sans Light" panose="020B0306030504020204" pitchFamily="34" charset="0"/>
            </a:endParaRPr>
          </a:p>
        </p:txBody>
      </p:sp>
      <p:sp>
        <p:nvSpPr>
          <p:cNvPr id="43" name="object 23">
            <a:extLst>
              <a:ext uri="{FF2B5EF4-FFF2-40B4-BE49-F238E27FC236}">
                <a16:creationId xmlns:a16="http://schemas.microsoft.com/office/drawing/2014/main" id="{4318BA00-0988-5674-4E84-0F934B9A501F}"/>
              </a:ext>
            </a:extLst>
          </p:cNvPr>
          <p:cNvSpPr/>
          <p:nvPr/>
        </p:nvSpPr>
        <p:spPr>
          <a:xfrm>
            <a:off x="9623742" y="2538187"/>
            <a:ext cx="546894" cy="217488"/>
          </a:xfrm>
          <a:custGeom>
            <a:avLst/>
            <a:gdLst/>
            <a:ahLst/>
            <a:cxnLst/>
            <a:rect l="l" t="t" r="r" b="b"/>
            <a:pathLst>
              <a:path w="875029" h="347979">
                <a:moveTo>
                  <a:pt x="0" y="0"/>
                </a:moveTo>
                <a:lnTo>
                  <a:pt x="10414" y="138493"/>
                </a:lnTo>
                <a:lnTo>
                  <a:pt x="442595" y="347472"/>
                </a:lnTo>
                <a:lnTo>
                  <a:pt x="874776" y="138493"/>
                </a:lnTo>
                <a:lnTo>
                  <a:pt x="848741" y="15112"/>
                </a:lnTo>
                <a:lnTo>
                  <a:pt x="453009" y="224104"/>
                </a:lnTo>
                <a:lnTo>
                  <a:pt x="0" y="0"/>
                </a:lnTo>
                <a:close/>
              </a:path>
            </a:pathLst>
          </a:custGeom>
          <a:solidFill>
            <a:srgbClr val="002060"/>
          </a:solidFill>
        </p:spPr>
        <p:txBody>
          <a:bodyPr wrap="square" lIns="0" tIns="0" rIns="0" bIns="0" rtlCol="0"/>
          <a:lstStyle/>
          <a:p>
            <a:endParaRPr sz="1125"/>
          </a:p>
        </p:txBody>
      </p:sp>
      <p:sp>
        <p:nvSpPr>
          <p:cNvPr id="48" name="TextBox 47">
            <a:extLst>
              <a:ext uri="{FF2B5EF4-FFF2-40B4-BE49-F238E27FC236}">
                <a16:creationId xmlns:a16="http://schemas.microsoft.com/office/drawing/2014/main" id="{21986FBF-FDE8-94CB-2DD9-764C379E2970}"/>
              </a:ext>
            </a:extLst>
          </p:cNvPr>
          <p:cNvSpPr txBox="1"/>
          <p:nvPr/>
        </p:nvSpPr>
        <p:spPr>
          <a:xfrm>
            <a:off x="8065008" y="1523113"/>
            <a:ext cx="3410711" cy="153888"/>
          </a:xfrm>
          <a:prstGeom prst="rect">
            <a:avLst/>
          </a:prstGeom>
          <a:noFill/>
        </p:spPr>
        <p:txBody>
          <a:bodyPr wrap="square" lIns="0" tIns="0" rIns="0" bIns="0" anchor="t">
            <a:spAutoFit/>
          </a:bodyPr>
          <a:lstStyle/>
          <a:p>
            <a:pPr algn="ctr" defTabSz="740805">
              <a:defRPr/>
            </a:pPr>
            <a:r>
              <a:rPr sz="1000" b="1" i="0" dirty="0">
                <a:solidFill>
                  <a:srgbClr val="000000"/>
                </a:solidFill>
                <a:latin typeface="Aptos"/>
              </a:rPr>
              <a:t>•  </a:t>
            </a:r>
            <a:r>
              <a:rPr lang="en-US" sz="1000" b="1" dirty="0">
                <a:ea typeface="Open Sans Light" panose="020B0306030504020204" pitchFamily="34" charset="0"/>
                <a:cs typeface="Open Sans Light" panose="020B0306030504020204" pitchFamily="34" charset="0"/>
              </a:rPr>
              <a:t>Execute </a:t>
            </a:r>
            <a:r>
              <a:rPr lang="en-US" sz="1000" dirty="0">
                <a:ea typeface="Open Sans Light" panose="020B0306030504020204" pitchFamily="34" charset="0"/>
                <a:cs typeface="Open Sans Light" panose="020B0306030504020204" pitchFamily="34" charset="0"/>
              </a:rPr>
              <a:t>Prod parallel, complete cutover and transition</a:t>
            </a:r>
            <a:endParaRPr lang="en-US" sz="1000" dirty="0">
              <a:solidFill>
                <a:srgbClr val="000000"/>
              </a:solidFill>
            </a:endParaRPr>
          </a:p>
        </p:txBody>
      </p:sp>
      <p:sp>
        <p:nvSpPr>
          <p:cNvPr id="25" name="TextBox 24">
            <a:extLst>
              <a:ext uri="{FF2B5EF4-FFF2-40B4-BE49-F238E27FC236}">
                <a16:creationId xmlns:a16="http://schemas.microsoft.com/office/drawing/2014/main" id="{997BC568-3C2E-56C2-94E5-309B74FB58B6}"/>
              </a:ext>
            </a:extLst>
          </p:cNvPr>
          <p:cNvSpPr txBox="1"/>
          <p:nvPr/>
        </p:nvSpPr>
        <p:spPr>
          <a:xfrm>
            <a:off x="8193024" y="3768373"/>
            <a:ext cx="3410711" cy="819583"/>
          </a:xfrm>
          <a:prstGeom prst="rect">
            <a:avLst/>
          </a:prstGeom>
          <a:noFill/>
        </p:spPr>
        <p:txBody>
          <a:bodyPr wrap="square" lIns="0" tIns="0" rIns="0" bIns="0" anchor="t">
            <a:spAutoFit/>
          </a:bodyPr>
          <a:lstStyle/>
          <a:p>
            <a:pPr algn="l">
              <a:lnSpc>
                <a:spcPct val="102000"/>
              </a:lnSpc>
              <a:spcAft>
                <a:spcPts val="300"/>
              </a:spcAft>
            </a:pPr>
            <a:r>
              <a:rPr sz="1000" b="1" i="0" dirty="0">
                <a:solidFill>
                  <a:srgbClr val="7030A0"/>
                </a:solidFill>
                <a:latin typeface="Aptos"/>
              </a:rPr>
              <a:t>Deliverable: </a:t>
            </a:r>
            <a:r>
              <a:rPr sz="1000" b="0" i="0" dirty="0">
                <a:solidFill>
                  <a:srgbClr val="000000"/>
                </a:solidFill>
                <a:latin typeface="Aptos"/>
              </a:rPr>
              <a:t>Optimization &amp; performance tuning; code dev/conversion in Cogito SQL/Databricks (rebuild BO query objects); data validation (counts, reconciliation, totals)</a:t>
            </a:r>
          </a:p>
          <a:p>
            <a:pPr algn="l">
              <a:lnSpc>
                <a:spcPct val="102000"/>
              </a:lnSpc>
              <a:spcAft>
                <a:spcPts val="300"/>
              </a:spcAft>
            </a:pPr>
            <a:r>
              <a:rPr sz="1000" b="1" i="0" dirty="0">
                <a:solidFill>
                  <a:srgbClr val="7030A0"/>
                </a:solidFill>
                <a:latin typeface="Aptos"/>
              </a:rPr>
              <a:t>Tools: </a:t>
            </a:r>
            <a:r>
              <a:rPr sz="1000" b="0" i="1" dirty="0">
                <a:solidFill>
                  <a:srgbClr val="0B351C"/>
                </a:solidFill>
                <a:latin typeface="Aptos"/>
              </a:rPr>
              <a:t>Data Assist – Deloitte Code converter, Report Automator, CATE</a:t>
            </a:r>
            <a:r>
              <a:rPr lang="en-US" sz="1000" b="0" i="1" dirty="0">
                <a:solidFill>
                  <a:srgbClr val="0B351C"/>
                </a:solidFill>
                <a:latin typeface="Aptos"/>
              </a:rPr>
              <a:t> – Validation Engine</a:t>
            </a:r>
            <a:endParaRPr sz="1000" b="0" i="1" dirty="0">
              <a:solidFill>
                <a:srgbClr val="0B351C"/>
              </a:solidFill>
              <a:latin typeface="Aptos"/>
            </a:endParaRPr>
          </a:p>
        </p:txBody>
      </p:sp>
      <p:sp>
        <p:nvSpPr>
          <p:cNvPr id="26" name="Rectangle 25">
            <a:extLst>
              <a:ext uri="{FF2B5EF4-FFF2-40B4-BE49-F238E27FC236}">
                <a16:creationId xmlns:a16="http://schemas.microsoft.com/office/drawing/2014/main" id="{70081579-7322-4CD0-E906-5834466DB5EC}"/>
              </a:ext>
            </a:extLst>
          </p:cNvPr>
          <p:cNvSpPr/>
          <p:nvPr/>
        </p:nvSpPr>
        <p:spPr>
          <a:xfrm>
            <a:off x="8191832" y="3685032"/>
            <a:ext cx="3410711"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71658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3E912-DEEF-DAF2-AF49-4CA2B123A76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CCD7D6-8E17-3B47-5885-7D2486135F6F}"/>
              </a:ext>
            </a:extLst>
          </p:cNvPr>
          <p:cNvSpPr>
            <a:spLocks noGrp="1"/>
          </p:cNvSpPr>
          <p:nvPr>
            <p:ph type="body" sz="quarter" idx="13"/>
          </p:nvPr>
        </p:nvSpPr>
        <p:spPr/>
        <p:txBody>
          <a:bodyPr wrap="square"/>
          <a:lstStyle/>
          <a:p>
            <a:r>
              <a:rPr sz="1300" b="0" dirty="0">
                <a:solidFill>
                  <a:srgbClr val="31435B"/>
                </a:solidFill>
                <a:latin typeface="Aptos"/>
              </a:rPr>
              <a:t>We recommend a </a:t>
            </a:r>
            <a:r>
              <a:rPr lang="en-US" sz="1300" b="0" dirty="0">
                <a:solidFill>
                  <a:srgbClr val="31435B"/>
                </a:solidFill>
                <a:latin typeface="Aptos"/>
              </a:rPr>
              <a:t>phased</a:t>
            </a:r>
            <a:r>
              <a:rPr sz="1300" b="0" dirty="0">
                <a:solidFill>
                  <a:srgbClr val="31435B"/>
                </a:solidFill>
                <a:latin typeface="Aptos"/>
              </a:rPr>
              <a:t> approach</a:t>
            </a:r>
            <a:r>
              <a:rPr lang="en-US" sz="1300" dirty="0">
                <a:solidFill>
                  <a:srgbClr val="31435B"/>
                </a:solidFill>
                <a:latin typeface="Aptos"/>
              </a:rPr>
              <a:t> to</a:t>
            </a:r>
            <a:r>
              <a:rPr sz="1300" b="0" dirty="0">
                <a:solidFill>
                  <a:srgbClr val="31435B"/>
                </a:solidFill>
                <a:latin typeface="Aptos"/>
              </a:rPr>
              <a:t> reduce uncertainty and maximize the likelihood of a successful migration.</a:t>
            </a:r>
          </a:p>
        </p:txBody>
      </p:sp>
      <p:sp>
        <p:nvSpPr>
          <p:cNvPr id="3" name="Title 2">
            <a:extLst>
              <a:ext uri="{FF2B5EF4-FFF2-40B4-BE49-F238E27FC236}">
                <a16:creationId xmlns:a16="http://schemas.microsoft.com/office/drawing/2014/main" id="{370B3E95-8BC8-E11A-4654-46E6292C50FD}"/>
              </a:ext>
            </a:extLst>
          </p:cNvPr>
          <p:cNvSpPr>
            <a:spLocks noGrp="1"/>
          </p:cNvSpPr>
          <p:nvPr>
            <p:ph type="title"/>
          </p:nvPr>
        </p:nvSpPr>
        <p:spPr>
          <a:xfrm>
            <a:off x="457200" y="287136"/>
            <a:ext cx="11274552" cy="342000"/>
          </a:xfrm>
        </p:spPr>
        <p:txBody>
          <a:bodyPr/>
          <a:lstStyle/>
          <a:p>
            <a:r>
              <a:rPr sz="2800" b="1" dirty="0">
                <a:solidFill>
                  <a:srgbClr val="002060"/>
                </a:solidFill>
                <a:latin typeface="Aptos"/>
              </a:rPr>
              <a:t>Our approach</a:t>
            </a:r>
          </a:p>
        </p:txBody>
      </p:sp>
      <p:sp>
        <p:nvSpPr>
          <p:cNvPr id="4" name="Rectangle 3">
            <a:extLst>
              <a:ext uri="{FF2B5EF4-FFF2-40B4-BE49-F238E27FC236}">
                <a16:creationId xmlns:a16="http://schemas.microsoft.com/office/drawing/2014/main" id="{F771A40D-1A02-501C-683F-B81E66FCF338}"/>
              </a:ext>
            </a:extLst>
          </p:cNvPr>
          <p:cNvSpPr/>
          <p:nvPr/>
        </p:nvSpPr>
        <p:spPr>
          <a:xfrm>
            <a:off x="457200"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D3FFAAE2-CD64-3646-C753-6EEBA606472F}"/>
              </a:ext>
            </a:extLst>
          </p:cNvPr>
          <p:cNvSpPr/>
          <p:nvPr/>
        </p:nvSpPr>
        <p:spPr>
          <a:xfrm>
            <a:off x="841247"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1B3E673-8963-97B6-C917-C84EB3F801AC}"/>
              </a:ext>
            </a:extLst>
          </p:cNvPr>
          <p:cNvSpPr txBox="1"/>
          <p:nvPr/>
        </p:nvSpPr>
        <p:spPr>
          <a:xfrm>
            <a:off x="457200"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1</a:t>
            </a:r>
          </a:p>
        </p:txBody>
      </p:sp>
      <p:sp>
        <p:nvSpPr>
          <p:cNvPr id="7" name="TextBox 6">
            <a:extLst>
              <a:ext uri="{FF2B5EF4-FFF2-40B4-BE49-F238E27FC236}">
                <a16:creationId xmlns:a16="http://schemas.microsoft.com/office/drawing/2014/main" id="{4A338E69-F5BC-36E0-5589-096C0AB6A191}"/>
              </a:ext>
            </a:extLst>
          </p:cNvPr>
          <p:cNvSpPr txBox="1"/>
          <p:nvPr/>
        </p:nvSpPr>
        <p:spPr>
          <a:xfrm>
            <a:off x="969264" y="1051560"/>
            <a:ext cx="3063239" cy="365760"/>
          </a:xfrm>
          <a:prstGeom prst="rect">
            <a:avLst/>
          </a:prstGeom>
          <a:noFill/>
        </p:spPr>
        <p:txBody>
          <a:bodyPr wrap="square" lIns="0" tIns="0" rIns="0" bIns="0" anchor="ctr">
            <a:spAutoFit/>
          </a:bodyPr>
          <a:lstStyle/>
          <a:p>
            <a:pPr algn="l"/>
            <a:r>
              <a:rPr sz="1250" b="1" i="0">
                <a:solidFill>
                  <a:srgbClr val="FFFFFF"/>
                </a:solidFill>
                <a:latin typeface="Aptos"/>
              </a:rPr>
              <a:t>Report Rationalization &amp; Pilot</a:t>
            </a:r>
          </a:p>
        </p:txBody>
      </p:sp>
      <p:sp>
        <p:nvSpPr>
          <p:cNvPr id="8" name="Rectangle 7">
            <a:extLst>
              <a:ext uri="{FF2B5EF4-FFF2-40B4-BE49-F238E27FC236}">
                <a16:creationId xmlns:a16="http://schemas.microsoft.com/office/drawing/2014/main" id="{DDF72E79-5541-E864-06D1-E3057CC82332}"/>
              </a:ext>
            </a:extLst>
          </p:cNvPr>
          <p:cNvSpPr/>
          <p:nvPr/>
        </p:nvSpPr>
        <p:spPr>
          <a:xfrm>
            <a:off x="457200"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D80EB925-EEE1-3B36-A229-282EA7D1316C}"/>
              </a:ext>
            </a:extLst>
          </p:cNvPr>
          <p:cNvSpPr txBox="1"/>
          <p:nvPr/>
        </p:nvSpPr>
        <p:spPr>
          <a:xfrm>
            <a:off x="585216" y="1508760"/>
            <a:ext cx="3410711" cy="2148840"/>
          </a:xfrm>
          <a:prstGeom prst="rect">
            <a:avLst/>
          </a:prstGeom>
          <a:noFill/>
        </p:spPr>
        <p:txBody>
          <a:bodyPr wrap="square" lIns="0" tIns="0" rIns="0" bIns="0" anchor="t">
            <a:spAutoFit/>
          </a:bodyPr>
          <a:lstStyle/>
          <a:p>
            <a:pPr algn="l">
              <a:lnSpc>
                <a:spcPct val="102000"/>
              </a:lnSpc>
              <a:spcAft>
                <a:spcPts val="500"/>
              </a:spcAft>
            </a:pPr>
            <a:r>
              <a:rPr sz="1000" b="1" i="0" dirty="0">
                <a:solidFill>
                  <a:srgbClr val="000000"/>
                </a:solidFill>
                <a:latin typeface="Aptos"/>
              </a:rPr>
              <a:t>•  Extract BO repository metadata </a:t>
            </a:r>
            <a:r>
              <a:rPr sz="1000" b="0" i="0" dirty="0">
                <a:solidFill>
                  <a:srgbClr val="000000"/>
                </a:solidFill>
                <a:latin typeface="Aptos"/>
              </a:rPr>
              <a:t>(CMS, universes, </a:t>
            </a:r>
            <a:r>
              <a:rPr sz="1000" b="0" i="0" dirty="0" err="1">
                <a:solidFill>
                  <a:srgbClr val="000000"/>
                </a:solidFill>
                <a:latin typeface="Aptos"/>
              </a:rPr>
              <a:t>Webi</a:t>
            </a:r>
            <a:r>
              <a:rPr sz="1000" b="0" i="0" dirty="0">
                <a:solidFill>
                  <a:srgbClr val="000000"/>
                </a:solidFill>
                <a:latin typeface="Aptos"/>
              </a:rPr>
              <a:t>/Crystal reports) via the BI Platform SDK, Query Builder, or BIAR export</a:t>
            </a:r>
          </a:p>
          <a:p>
            <a:pPr algn="l">
              <a:lnSpc>
                <a:spcPct val="102000"/>
              </a:lnSpc>
              <a:spcAft>
                <a:spcPts val="500"/>
              </a:spcAft>
            </a:pPr>
            <a:r>
              <a:rPr sz="1000" b="1" i="0" dirty="0">
                <a:solidFill>
                  <a:srgbClr val="000000"/>
                </a:solidFill>
                <a:latin typeface="Aptos"/>
              </a:rPr>
              <a:t>•  Decode the BO Universe semantic layer </a:t>
            </a:r>
            <a:r>
              <a:rPr sz="1000" b="0" i="0" dirty="0">
                <a:solidFill>
                  <a:srgbClr val="000000"/>
                </a:solidFill>
                <a:latin typeface="Aptos"/>
              </a:rPr>
              <a:t>to trace object lineage from report to source database</a:t>
            </a:r>
          </a:p>
          <a:p>
            <a:pPr algn="l">
              <a:lnSpc>
                <a:spcPct val="102000"/>
              </a:lnSpc>
              <a:spcAft>
                <a:spcPts val="500"/>
              </a:spcAft>
            </a:pPr>
            <a:r>
              <a:rPr sz="1000" b="1" i="0" dirty="0">
                <a:solidFill>
                  <a:srgbClr val="000000"/>
                </a:solidFill>
                <a:latin typeface="Aptos"/>
              </a:rPr>
              <a:t>•  Assess complexity and cluster similar reports </a:t>
            </a:r>
            <a:r>
              <a:rPr sz="1000" b="0" i="0" dirty="0">
                <a:solidFill>
                  <a:srgbClr val="000000"/>
                </a:solidFill>
                <a:latin typeface="Aptos"/>
              </a:rPr>
              <a:t>using </a:t>
            </a:r>
            <a:r>
              <a:rPr sz="1000" b="0" i="0" dirty="0" err="1">
                <a:solidFill>
                  <a:srgbClr val="000000"/>
                </a:solidFill>
                <a:latin typeface="Aptos"/>
              </a:rPr>
              <a:t>NxN</a:t>
            </a:r>
            <a:r>
              <a:rPr sz="1000" b="0" i="0" dirty="0">
                <a:solidFill>
                  <a:srgbClr val="000000"/>
                </a:solidFill>
                <a:latin typeface="Aptos"/>
              </a:rPr>
              <a:t>/hierarchical clustering on BO metadata extracts to flag duplicates</a:t>
            </a:r>
          </a:p>
          <a:p>
            <a:pPr algn="l">
              <a:lnSpc>
                <a:spcPct val="102000"/>
              </a:lnSpc>
              <a:spcAft>
                <a:spcPts val="500"/>
              </a:spcAft>
            </a:pPr>
            <a:r>
              <a:rPr sz="1000" b="1" i="0" dirty="0">
                <a:solidFill>
                  <a:srgbClr val="000000"/>
                </a:solidFill>
                <a:latin typeface="Aptos"/>
              </a:rPr>
              <a:t>•  Validate rationalization recommendations </a:t>
            </a:r>
            <a:r>
              <a:rPr sz="1000" b="0" i="0" dirty="0">
                <a:solidFill>
                  <a:srgbClr val="000000"/>
                </a:solidFill>
                <a:latin typeface="Aptos"/>
              </a:rPr>
              <a:t>with business owners to freeze the BO report inventory scope for migration</a:t>
            </a:r>
          </a:p>
        </p:txBody>
      </p:sp>
      <p:sp>
        <p:nvSpPr>
          <p:cNvPr id="10" name="Rectangle 9">
            <a:extLst>
              <a:ext uri="{FF2B5EF4-FFF2-40B4-BE49-F238E27FC236}">
                <a16:creationId xmlns:a16="http://schemas.microsoft.com/office/drawing/2014/main" id="{EC4846F0-7D78-814C-DEB7-5D81A5398193}"/>
              </a:ext>
            </a:extLst>
          </p:cNvPr>
          <p:cNvSpPr/>
          <p:nvPr/>
        </p:nvSpPr>
        <p:spPr>
          <a:xfrm>
            <a:off x="585216" y="3685032"/>
            <a:ext cx="3410711"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55A8C75-CD3B-C862-8F5C-37964D7771D5}"/>
              </a:ext>
            </a:extLst>
          </p:cNvPr>
          <p:cNvSpPr txBox="1"/>
          <p:nvPr/>
        </p:nvSpPr>
        <p:spPr>
          <a:xfrm>
            <a:off x="585216" y="3712464"/>
            <a:ext cx="3410711" cy="941831"/>
          </a:xfrm>
          <a:prstGeom prst="rect">
            <a:avLst/>
          </a:prstGeom>
          <a:noFill/>
        </p:spPr>
        <p:txBody>
          <a:bodyPr wrap="square" lIns="0" tIns="0" rIns="0" bIns="0" anchor="t">
            <a:spAutoFit/>
          </a:bodyPr>
          <a:lstStyle/>
          <a:p>
            <a:pPr algn="l">
              <a:lnSpc>
                <a:spcPct val="102000"/>
              </a:lnSpc>
              <a:spcAft>
                <a:spcPts val="300"/>
              </a:spcAft>
            </a:pPr>
            <a:r>
              <a:rPr sz="1000" b="1" i="0">
                <a:solidFill>
                  <a:srgbClr val="7030A0"/>
                </a:solidFill>
                <a:latin typeface="Aptos"/>
              </a:rPr>
              <a:t>Deliverable: </a:t>
            </a:r>
            <a:r>
              <a:rPr sz="1000" b="0" i="0">
                <a:solidFill>
                  <a:srgbClr val="000000"/>
                </a:solidFill>
                <a:latin typeface="Aptos"/>
              </a:rPr>
              <a:t>Rationalization (deduplication, code modularization)</a:t>
            </a:r>
          </a:p>
          <a:p>
            <a:pPr algn="l">
              <a:lnSpc>
                <a:spcPct val="102000"/>
              </a:lnSpc>
              <a:spcAft>
                <a:spcPts val="300"/>
              </a:spcAft>
            </a:pPr>
            <a:r>
              <a:rPr sz="1000" b="1" i="0">
                <a:solidFill>
                  <a:srgbClr val="7030A0"/>
                </a:solidFill>
                <a:latin typeface="Aptos"/>
              </a:rPr>
              <a:t>Tools: </a:t>
            </a:r>
            <a:r>
              <a:rPr sz="1000" b="0" i="1">
                <a:solidFill>
                  <a:srgbClr val="0B351C"/>
                </a:solidFill>
                <a:latin typeface="Aptos"/>
              </a:rPr>
              <a:t>Data Assist - D-RECT, Report Rationalizer</a:t>
            </a:r>
          </a:p>
        </p:txBody>
      </p:sp>
      <p:sp>
        <p:nvSpPr>
          <p:cNvPr id="12" name="Rectangle 11">
            <a:extLst>
              <a:ext uri="{FF2B5EF4-FFF2-40B4-BE49-F238E27FC236}">
                <a16:creationId xmlns:a16="http://schemas.microsoft.com/office/drawing/2014/main" id="{3066AB83-81F3-1E3B-D642-8D79E4BD9FB8}"/>
              </a:ext>
            </a:extLst>
          </p:cNvPr>
          <p:cNvSpPr/>
          <p:nvPr/>
        </p:nvSpPr>
        <p:spPr>
          <a:xfrm>
            <a:off x="4261104"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9E01CBE-FF22-3F66-022A-EDA91003AB4D}"/>
              </a:ext>
            </a:extLst>
          </p:cNvPr>
          <p:cNvSpPr/>
          <p:nvPr/>
        </p:nvSpPr>
        <p:spPr>
          <a:xfrm>
            <a:off x="4645152"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772AE4A-43D3-B206-3C23-D0C4BBD9F15D}"/>
              </a:ext>
            </a:extLst>
          </p:cNvPr>
          <p:cNvSpPr txBox="1"/>
          <p:nvPr/>
        </p:nvSpPr>
        <p:spPr>
          <a:xfrm>
            <a:off x="4261104"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2</a:t>
            </a:r>
          </a:p>
        </p:txBody>
      </p:sp>
      <p:sp>
        <p:nvSpPr>
          <p:cNvPr id="15" name="TextBox 14">
            <a:extLst>
              <a:ext uri="{FF2B5EF4-FFF2-40B4-BE49-F238E27FC236}">
                <a16:creationId xmlns:a16="http://schemas.microsoft.com/office/drawing/2014/main" id="{B614A662-E025-12A6-21EC-DDB72A2ADAD6}"/>
              </a:ext>
            </a:extLst>
          </p:cNvPr>
          <p:cNvSpPr txBox="1"/>
          <p:nvPr/>
        </p:nvSpPr>
        <p:spPr>
          <a:xfrm>
            <a:off x="4773168" y="1138260"/>
            <a:ext cx="3063239" cy="192360"/>
          </a:xfrm>
          <a:prstGeom prst="rect">
            <a:avLst/>
          </a:prstGeom>
          <a:noFill/>
        </p:spPr>
        <p:txBody>
          <a:bodyPr wrap="square" lIns="0" tIns="0" rIns="0" bIns="0" anchor="ctr">
            <a:spAutoFit/>
          </a:bodyPr>
          <a:lstStyle/>
          <a:p>
            <a:pPr algn="l"/>
            <a:r>
              <a:rPr lang="en-US" sz="1250" b="1" dirty="0">
                <a:solidFill>
                  <a:srgbClr val="FFFFFF"/>
                </a:solidFill>
                <a:latin typeface="Aptos"/>
              </a:rPr>
              <a:t>Report Migration</a:t>
            </a:r>
            <a:endParaRPr sz="1250" b="1" i="0" dirty="0">
              <a:solidFill>
                <a:srgbClr val="FFFFFF"/>
              </a:solidFill>
              <a:latin typeface="Aptos"/>
            </a:endParaRPr>
          </a:p>
        </p:txBody>
      </p:sp>
      <p:sp>
        <p:nvSpPr>
          <p:cNvPr id="16" name="Rectangle 15">
            <a:extLst>
              <a:ext uri="{FF2B5EF4-FFF2-40B4-BE49-F238E27FC236}">
                <a16:creationId xmlns:a16="http://schemas.microsoft.com/office/drawing/2014/main" id="{433FDF77-A5A5-DF47-8A69-A5B9FD81B1ED}"/>
              </a:ext>
            </a:extLst>
          </p:cNvPr>
          <p:cNvSpPr/>
          <p:nvPr/>
        </p:nvSpPr>
        <p:spPr>
          <a:xfrm>
            <a:off x="4261104"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FBBB516-1F7F-EB10-1B3A-9E229DCDE64A}"/>
              </a:ext>
            </a:extLst>
          </p:cNvPr>
          <p:cNvSpPr txBox="1"/>
          <p:nvPr/>
        </p:nvSpPr>
        <p:spPr>
          <a:xfrm>
            <a:off x="4389120" y="1508760"/>
            <a:ext cx="3410711" cy="2485680"/>
          </a:xfrm>
          <a:prstGeom prst="rect">
            <a:avLst/>
          </a:prstGeom>
          <a:noFill/>
        </p:spPr>
        <p:txBody>
          <a:bodyPr wrap="square" lIns="0" tIns="0" rIns="0" bIns="0" anchor="t">
            <a:spAutoFit/>
          </a:bodyPr>
          <a:lstStyle/>
          <a:p>
            <a:pPr algn="l">
              <a:lnSpc>
                <a:spcPct val="102000"/>
              </a:lnSpc>
              <a:spcAft>
                <a:spcPts val="500"/>
              </a:spcAft>
            </a:pPr>
            <a:r>
              <a:rPr sz="1000" b="1" i="0" dirty="0">
                <a:solidFill>
                  <a:srgbClr val="000000"/>
                </a:solidFill>
                <a:latin typeface="Aptos"/>
              </a:rPr>
              <a:t>•  Utilize rationalization findings </a:t>
            </a:r>
            <a:r>
              <a:rPr sz="1000" b="0" i="0" dirty="0">
                <a:solidFill>
                  <a:srgbClr val="000000"/>
                </a:solidFill>
                <a:latin typeface="Aptos"/>
              </a:rPr>
              <a:t>to shape an optimal migration strategy and release plan</a:t>
            </a:r>
          </a:p>
          <a:p>
            <a:pPr algn="l">
              <a:lnSpc>
                <a:spcPct val="102000"/>
              </a:lnSpc>
              <a:spcAft>
                <a:spcPts val="500"/>
              </a:spcAft>
            </a:pPr>
            <a:r>
              <a:rPr sz="1000" b="1" i="0" dirty="0">
                <a:solidFill>
                  <a:srgbClr val="000000"/>
                </a:solidFill>
                <a:latin typeface="Aptos"/>
              </a:rPr>
              <a:t>•    </a:t>
            </a:r>
            <a:r>
              <a:rPr lang="en-US" sz="1000" b="1" i="0" dirty="0">
                <a:solidFill>
                  <a:srgbClr val="000000"/>
                </a:solidFill>
                <a:latin typeface="Aptos"/>
              </a:rPr>
              <a:t>Convert </a:t>
            </a:r>
            <a:r>
              <a:rPr lang="en-US" sz="1000" i="0" dirty="0">
                <a:solidFill>
                  <a:srgbClr val="000000"/>
                </a:solidFill>
                <a:latin typeface="Aptos"/>
              </a:rPr>
              <a:t>and </a:t>
            </a:r>
            <a:r>
              <a:rPr lang="en-US" sz="1000" b="1" i="0" dirty="0">
                <a:solidFill>
                  <a:srgbClr val="000000"/>
                </a:solidFill>
                <a:latin typeface="Aptos"/>
              </a:rPr>
              <a:t>migrate </a:t>
            </a:r>
            <a:r>
              <a:rPr lang="en-US" sz="1000" b="1" dirty="0">
                <a:solidFill>
                  <a:srgbClr val="000000"/>
                </a:solidFill>
                <a:latin typeface="Aptos"/>
              </a:rPr>
              <a:t>Data Objects Tables, Views, Materialized View and metrics logic </a:t>
            </a:r>
            <a:r>
              <a:rPr sz="1000" b="0" i="0" dirty="0">
                <a:solidFill>
                  <a:srgbClr val="000000"/>
                </a:solidFill>
                <a:latin typeface="Aptos"/>
              </a:rPr>
              <a:t>in existing Business Objects reports</a:t>
            </a:r>
            <a:r>
              <a:rPr lang="en-US" sz="1000" b="0" i="0" dirty="0">
                <a:solidFill>
                  <a:srgbClr val="000000"/>
                </a:solidFill>
                <a:latin typeface="Aptos"/>
              </a:rPr>
              <a:t> to finalized target system</a:t>
            </a:r>
            <a:endParaRPr sz="1000" b="0" i="0" dirty="0">
              <a:solidFill>
                <a:srgbClr val="000000"/>
              </a:solidFill>
              <a:latin typeface="Aptos"/>
            </a:endParaRPr>
          </a:p>
          <a:p>
            <a:pPr>
              <a:lnSpc>
                <a:spcPct val="102000"/>
              </a:lnSpc>
              <a:spcAft>
                <a:spcPts val="500"/>
              </a:spcAft>
            </a:pPr>
            <a:r>
              <a:rPr sz="1000" b="1" i="0" dirty="0">
                <a:solidFill>
                  <a:srgbClr val="000000"/>
                </a:solidFill>
                <a:latin typeface="Aptos"/>
              </a:rPr>
              <a:t>•  </a:t>
            </a:r>
            <a:r>
              <a:rPr lang="en-US" sz="1000" b="1" dirty="0">
                <a:solidFill>
                  <a:srgbClr val="000000"/>
                </a:solidFill>
              </a:rPr>
              <a:t>Develop code and conversion </a:t>
            </a:r>
            <a:r>
              <a:rPr lang="en-US" sz="1000" dirty="0">
                <a:solidFill>
                  <a:srgbClr val="000000"/>
                </a:solidFill>
              </a:rPr>
              <a:t>in BO universe query objects to Cogito SQL, Databricks or Power BI</a:t>
            </a:r>
          </a:p>
          <a:p>
            <a:pPr>
              <a:lnSpc>
                <a:spcPct val="102000"/>
              </a:lnSpc>
              <a:spcAft>
                <a:spcPts val="500"/>
              </a:spcAft>
            </a:pPr>
            <a:r>
              <a:rPr lang="en-US" sz="1000" b="1" dirty="0">
                <a:solidFill>
                  <a:srgbClr val="000000"/>
                </a:solidFill>
              </a:rPr>
              <a:t>•  Develop code and conversion </a:t>
            </a:r>
            <a:r>
              <a:rPr lang="en-US" sz="1000" dirty="0">
                <a:solidFill>
                  <a:srgbClr val="000000"/>
                </a:solidFill>
              </a:rPr>
              <a:t>in BO universe query objects to Cogito SQL, Databricks or Power</a:t>
            </a:r>
            <a:r>
              <a:rPr lang="en-US" sz="1000" b="1" dirty="0">
                <a:solidFill>
                  <a:srgbClr val="000000"/>
                </a:solidFill>
              </a:rPr>
              <a:t> BI</a:t>
            </a:r>
          </a:p>
          <a:p>
            <a:pPr>
              <a:lnSpc>
                <a:spcPct val="102000"/>
              </a:lnSpc>
              <a:spcAft>
                <a:spcPts val="500"/>
              </a:spcAft>
            </a:pPr>
            <a:endParaRPr lang="en-US" sz="1000" dirty="0">
              <a:solidFill>
                <a:srgbClr val="000000"/>
              </a:solidFill>
            </a:endParaRPr>
          </a:p>
          <a:p>
            <a:pPr>
              <a:lnSpc>
                <a:spcPct val="102000"/>
              </a:lnSpc>
              <a:spcAft>
                <a:spcPts val="500"/>
              </a:spcAft>
            </a:pPr>
            <a:endParaRPr lang="en-US" sz="1000" dirty="0">
              <a:solidFill>
                <a:srgbClr val="000000"/>
              </a:solidFill>
            </a:endParaRPr>
          </a:p>
          <a:p>
            <a:pPr>
              <a:lnSpc>
                <a:spcPct val="102000"/>
              </a:lnSpc>
              <a:spcAft>
                <a:spcPts val="500"/>
              </a:spcAft>
            </a:pPr>
            <a:endParaRPr lang="en-US" sz="1000" dirty="0">
              <a:solidFill>
                <a:srgbClr val="000000"/>
              </a:solidFill>
            </a:endParaRPr>
          </a:p>
          <a:p>
            <a:pPr algn="l">
              <a:lnSpc>
                <a:spcPct val="102000"/>
              </a:lnSpc>
              <a:spcAft>
                <a:spcPts val="500"/>
              </a:spcAft>
            </a:pPr>
            <a:endParaRPr sz="1000" b="0" i="0" dirty="0">
              <a:solidFill>
                <a:srgbClr val="000000"/>
              </a:solidFill>
              <a:latin typeface="Aptos"/>
            </a:endParaRPr>
          </a:p>
        </p:txBody>
      </p:sp>
      <p:sp>
        <p:nvSpPr>
          <p:cNvPr id="18" name="Rectangle 17">
            <a:extLst>
              <a:ext uri="{FF2B5EF4-FFF2-40B4-BE49-F238E27FC236}">
                <a16:creationId xmlns:a16="http://schemas.microsoft.com/office/drawing/2014/main" id="{E5292C22-25BD-199E-A1DC-91C30FE9AF6E}"/>
              </a:ext>
            </a:extLst>
          </p:cNvPr>
          <p:cNvSpPr/>
          <p:nvPr/>
        </p:nvSpPr>
        <p:spPr>
          <a:xfrm>
            <a:off x="4389120" y="3685032"/>
            <a:ext cx="3410711"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AFCBD8C3-7BA3-A788-913F-4F21320A699E}"/>
              </a:ext>
            </a:extLst>
          </p:cNvPr>
          <p:cNvSpPr txBox="1"/>
          <p:nvPr/>
        </p:nvSpPr>
        <p:spPr>
          <a:xfrm>
            <a:off x="4389120" y="3712464"/>
            <a:ext cx="3410711" cy="819583"/>
          </a:xfrm>
          <a:prstGeom prst="rect">
            <a:avLst/>
          </a:prstGeom>
          <a:noFill/>
        </p:spPr>
        <p:txBody>
          <a:bodyPr wrap="square" lIns="0" tIns="0" rIns="0" bIns="0" anchor="t">
            <a:spAutoFit/>
          </a:bodyPr>
          <a:lstStyle/>
          <a:p>
            <a:pPr algn="l">
              <a:lnSpc>
                <a:spcPct val="102000"/>
              </a:lnSpc>
              <a:spcAft>
                <a:spcPts val="300"/>
              </a:spcAft>
            </a:pPr>
            <a:r>
              <a:rPr sz="1000" b="1" i="0" dirty="0">
                <a:solidFill>
                  <a:srgbClr val="7030A0"/>
                </a:solidFill>
                <a:latin typeface="Aptos"/>
              </a:rPr>
              <a:t>Deliverable: </a:t>
            </a:r>
            <a:r>
              <a:rPr sz="1000" b="0" i="0" dirty="0">
                <a:solidFill>
                  <a:srgbClr val="000000"/>
                </a:solidFill>
                <a:latin typeface="Aptos"/>
              </a:rPr>
              <a:t>Optimization &amp; performance tuning; code dev/conversion in Cogito SQL/Databricks (rebuild BO query objects); data validation (counts, reconciliation, totals)</a:t>
            </a:r>
          </a:p>
          <a:p>
            <a:pPr algn="l">
              <a:lnSpc>
                <a:spcPct val="102000"/>
              </a:lnSpc>
              <a:spcAft>
                <a:spcPts val="300"/>
              </a:spcAft>
            </a:pPr>
            <a:r>
              <a:rPr sz="1000" b="1" i="0" dirty="0">
                <a:solidFill>
                  <a:srgbClr val="7030A0"/>
                </a:solidFill>
                <a:latin typeface="Aptos"/>
              </a:rPr>
              <a:t>Tools: </a:t>
            </a:r>
            <a:r>
              <a:rPr sz="1000" b="0" i="1" dirty="0">
                <a:solidFill>
                  <a:srgbClr val="0B351C"/>
                </a:solidFill>
                <a:latin typeface="Aptos"/>
              </a:rPr>
              <a:t>Data Assist – Deloitte Code converter, Report Automator, CATE</a:t>
            </a:r>
            <a:r>
              <a:rPr lang="en-US" sz="1000" b="0" i="1" dirty="0">
                <a:solidFill>
                  <a:srgbClr val="0B351C"/>
                </a:solidFill>
                <a:latin typeface="Aptos"/>
              </a:rPr>
              <a:t> – Validation Engine</a:t>
            </a:r>
            <a:endParaRPr sz="1000" b="0" i="1" dirty="0">
              <a:solidFill>
                <a:srgbClr val="0B351C"/>
              </a:solidFill>
              <a:latin typeface="Aptos"/>
            </a:endParaRPr>
          </a:p>
        </p:txBody>
      </p:sp>
      <p:sp>
        <p:nvSpPr>
          <p:cNvPr id="20" name="Rectangle 19">
            <a:extLst>
              <a:ext uri="{FF2B5EF4-FFF2-40B4-BE49-F238E27FC236}">
                <a16:creationId xmlns:a16="http://schemas.microsoft.com/office/drawing/2014/main" id="{BAD3EC6F-E305-40BE-A0BB-0C6E40F679F5}"/>
              </a:ext>
            </a:extLst>
          </p:cNvPr>
          <p:cNvSpPr/>
          <p:nvPr/>
        </p:nvSpPr>
        <p:spPr>
          <a:xfrm>
            <a:off x="8065008" y="1051560"/>
            <a:ext cx="3666744"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5D1FAE9E-8692-0098-DA01-DBC36546C136}"/>
              </a:ext>
            </a:extLst>
          </p:cNvPr>
          <p:cNvSpPr/>
          <p:nvPr/>
        </p:nvSpPr>
        <p:spPr>
          <a:xfrm>
            <a:off x="8449056" y="1106424"/>
            <a:ext cx="13970" cy="256032"/>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EC726B3-103B-6BC8-253F-871054A7E94E}"/>
              </a:ext>
            </a:extLst>
          </p:cNvPr>
          <p:cNvSpPr txBox="1"/>
          <p:nvPr/>
        </p:nvSpPr>
        <p:spPr>
          <a:xfrm>
            <a:off x="8065008" y="1051560"/>
            <a:ext cx="384048" cy="365760"/>
          </a:xfrm>
          <a:prstGeom prst="rect">
            <a:avLst/>
          </a:prstGeom>
          <a:noFill/>
        </p:spPr>
        <p:txBody>
          <a:bodyPr wrap="square" lIns="0" tIns="0" rIns="0" bIns="0" anchor="ctr">
            <a:spAutoFit/>
          </a:bodyPr>
          <a:lstStyle/>
          <a:p>
            <a:pPr algn="ctr"/>
            <a:r>
              <a:rPr sz="1700" b="1" i="0">
                <a:solidFill>
                  <a:srgbClr val="FFFFFF"/>
                </a:solidFill>
                <a:latin typeface="Aptos"/>
              </a:rPr>
              <a:t>3</a:t>
            </a:r>
          </a:p>
        </p:txBody>
      </p:sp>
      <p:sp>
        <p:nvSpPr>
          <p:cNvPr id="23" name="TextBox 22">
            <a:extLst>
              <a:ext uri="{FF2B5EF4-FFF2-40B4-BE49-F238E27FC236}">
                <a16:creationId xmlns:a16="http://schemas.microsoft.com/office/drawing/2014/main" id="{18162220-F2B0-B369-B29E-741156E6C3C3}"/>
              </a:ext>
            </a:extLst>
          </p:cNvPr>
          <p:cNvSpPr txBox="1"/>
          <p:nvPr/>
        </p:nvSpPr>
        <p:spPr>
          <a:xfrm>
            <a:off x="8577072" y="1138260"/>
            <a:ext cx="3063239" cy="192360"/>
          </a:xfrm>
          <a:prstGeom prst="rect">
            <a:avLst/>
          </a:prstGeom>
          <a:noFill/>
        </p:spPr>
        <p:txBody>
          <a:bodyPr wrap="square" lIns="0" tIns="0" rIns="0" bIns="0" anchor="ctr">
            <a:spAutoFit/>
          </a:bodyPr>
          <a:lstStyle/>
          <a:p>
            <a:pPr algn="l"/>
            <a:r>
              <a:rPr lang="en-US" sz="1250" b="1" i="0" dirty="0">
                <a:solidFill>
                  <a:srgbClr val="FFFFFF"/>
                </a:solidFill>
                <a:latin typeface="Aptos"/>
              </a:rPr>
              <a:t>Hypercare</a:t>
            </a:r>
            <a:endParaRPr sz="1250" b="1" i="0" dirty="0">
              <a:solidFill>
                <a:srgbClr val="FFFFFF"/>
              </a:solidFill>
              <a:latin typeface="Aptos"/>
            </a:endParaRPr>
          </a:p>
        </p:txBody>
      </p:sp>
      <p:sp>
        <p:nvSpPr>
          <p:cNvPr id="24" name="Rectangle 23">
            <a:extLst>
              <a:ext uri="{FF2B5EF4-FFF2-40B4-BE49-F238E27FC236}">
                <a16:creationId xmlns:a16="http://schemas.microsoft.com/office/drawing/2014/main" id="{68072FBF-5CF4-EFB0-D4E7-460E34DBAFE4}"/>
              </a:ext>
            </a:extLst>
          </p:cNvPr>
          <p:cNvSpPr/>
          <p:nvPr/>
        </p:nvSpPr>
        <p:spPr>
          <a:xfrm>
            <a:off x="8065008" y="1417319"/>
            <a:ext cx="3666744" cy="3291840"/>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a:extLst>
              <a:ext uri="{FF2B5EF4-FFF2-40B4-BE49-F238E27FC236}">
                <a16:creationId xmlns:a16="http://schemas.microsoft.com/office/drawing/2014/main" id="{444E09EE-BD45-3E80-FDE6-B688B46E044E}"/>
              </a:ext>
            </a:extLst>
          </p:cNvPr>
          <p:cNvSpPr txBox="1"/>
          <p:nvPr/>
        </p:nvSpPr>
        <p:spPr>
          <a:xfrm>
            <a:off x="457200" y="4818888"/>
            <a:ext cx="11274552" cy="201168"/>
          </a:xfrm>
          <a:prstGeom prst="rect">
            <a:avLst/>
          </a:prstGeom>
          <a:noFill/>
        </p:spPr>
        <p:txBody>
          <a:bodyPr wrap="square" lIns="0" tIns="0" rIns="0" bIns="0" anchor="t">
            <a:spAutoFit/>
          </a:bodyPr>
          <a:lstStyle/>
          <a:p>
            <a:pPr algn="l"/>
            <a:r>
              <a:rPr sz="1150" b="1" i="0">
                <a:solidFill>
                  <a:srgbClr val="7030A0"/>
                </a:solidFill>
                <a:latin typeface="Aptos"/>
              </a:rPr>
              <a:t>Representative efficiency gains (directional – to validate)</a:t>
            </a:r>
          </a:p>
        </p:txBody>
      </p:sp>
      <p:sp>
        <p:nvSpPr>
          <p:cNvPr id="29" name="Rectangle 28">
            <a:extLst>
              <a:ext uri="{FF2B5EF4-FFF2-40B4-BE49-F238E27FC236}">
                <a16:creationId xmlns:a16="http://schemas.microsoft.com/office/drawing/2014/main" id="{AFE402F2-C102-2D23-C8AC-3B6FA00EB347}"/>
              </a:ext>
            </a:extLst>
          </p:cNvPr>
          <p:cNvSpPr/>
          <p:nvPr/>
        </p:nvSpPr>
        <p:spPr>
          <a:xfrm>
            <a:off x="457200"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4250E847-ACBB-D2BC-9A64-902F21FD89BA}"/>
              </a:ext>
            </a:extLst>
          </p:cNvPr>
          <p:cNvSpPr txBox="1"/>
          <p:nvPr/>
        </p:nvSpPr>
        <p:spPr>
          <a:xfrm>
            <a:off x="457200"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Inventory Reduction: 50-60%</a:t>
            </a:r>
          </a:p>
        </p:txBody>
      </p:sp>
      <p:sp>
        <p:nvSpPr>
          <p:cNvPr id="31" name="Rectangle 30">
            <a:extLst>
              <a:ext uri="{FF2B5EF4-FFF2-40B4-BE49-F238E27FC236}">
                <a16:creationId xmlns:a16="http://schemas.microsoft.com/office/drawing/2014/main" id="{2105204A-DA0C-A29B-62A2-033494E323FF}"/>
              </a:ext>
            </a:extLst>
          </p:cNvPr>
          <p:cNvSpPr/>
          <p:nvPr/>
        </p:nvSpPr>
        <p:spPr>
          <a:xfrm>
            <a:off x="4261104"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94B4B60E-0009-D184-4432-B91BE27843D1}"/>
              </a:ext>
            </a:extLst>
          </p:cNvPr>
          <p:cNvSpPr txBox="1"/>
          <p:nvPr/>
        </p:nvSpPr>
        <p:spPr>
          <a:xfrm>
            <a:off x="4261104"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Conversion Productivity: 30%</a:t>
            </a:r>
          </a:p>
        </p:txBody>
      </p:sp>
      <p:sp>
        <p:nvSpPr>
          <p:cNvPr id="33" name="Rectangle 32">
            <a:extLst>
              <a:ext uri="{FF2B5EF4-FFF2-40B4-BE49-F238E27FC236}">
                <a16:creationId xmlns:a16="http://schemas.microsoft.com/office/drawing/2014/main" id="{2A30F1D0-795D-D01C-A5E8-3A6202563A90}"/>
              </a:ext>
            </a:extLst>
          </p:cNvPr>
          <p:cNvSpPr/>
          <p:nvPr/>
        </p:nvSpPr>
        <p:spPr>
          <a:xfrm>
            <a:off x="8065008" y="5065776"/>
            <a:ext cx="3666744" cy="365760"/>
          </a:xfrm>
          <a:prstGeom prst="rect">
            <a:avLst/>
          </a:prstGeom>
          <a:solidFill>
            <a:srgbClr val="D6D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190FF74D-46D0-CF63-A2DC-78DBD621339E}"/>
              </a:ext>
            </a:extLst>
          </p:cNvPr>
          <p:cNvSpPr txBox="1"/>
          <p:nvPr/>
        </p:nvSpPr>
        <p:spPr>
          <a:xfrm>
            <a:off x="8065008" y="5065776"/>
            <a:ext cx="3666744" cy="365760"/>
          </a:xfrm>
          <a:prstGeom prst="rect">
            <a:avLst/>
          </a:prstGeom>
          <a:noFill/>
        </p:spPr>
        <p:txBody>
          <a:bodyPr wrap="square" lIns="0" tIns="0" rIns="0" bIns="0" anchor="ctr">
            <a:spAutoFit/>
          </a:bodyPr>
          <a:lstStyle/>
          <a:p>
            <a:pPr algn="ctr"/>
            <a:r>
              <a:rPr sz="1050" b="1" i="0">
                <a:solidFill>
                  <a:srgbClr val="000000"/>
                </a:solidFill>
                <a:latin typeface="Aptos"/>
              </a:rPr>
              <a:t>Adoption Ramp-Up: 20–30%</a:t>
            </a:r>
          </a:p>
        </p:txBody>
      </p:sp>
      <p:sp>
        <p:nvSpPr>
          <p:cNvPr id="35" name="Rectangle 34">
            <a:extLst>
              <a:ext uri="{FF2B5EF4-FFF2-40B4-BE49-F238E27FC236}">
                <a16:creationId xmlns:a16="http://schemas.microsoft.com/office/drawing/2014/main" id="{AF3720DF-5479-28AC-F3A4-1A73FFFAEF6A}"/>
              </a:ext>
            </a:extLst>
          </p:cNvPr>
          <p:cNvSpPr/>
          <p:nvPr/>
        </p:nvSpPr>
        <p:spPr>
          <a:xfrm>
            <a:off x="457200" y="5559552"/>
            <a:ext cx="11274552" cy="62179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F32CC0AB-5069-1A76-4F65-2DE36C7F9104}"/>
              </a:ext>
            </a:extLst>
          </p:cNvPr>
          <p:cNvSpPr/>
          <p:nvPr/>
        </p:nvSpPr>
        <p:spPr>
          <a:xfrm>
            <a:off x="841247" y="5632704"/>
            <a:ext cx="13970" cy="475488"/>
          </a:xfrm>
          <a:prstGeom prst="rect">
            <a:avLst/>
          </a:prstGeom>
          <a:solidFill>
            <a:srgbClr val="3A5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416A8335-5D1F-5455-36B3-7F3A468D7238}"/>
              </a:ext>
            </a:extLst>
          </p:cNvPr>
          <p:cNvSpPr txBox="1"/>
          <p:nvPr/>
        </p:nvSpPr>
        <p:spPr>
          <a:xfrm>
            <a:off x="457200" y="5559552"/>
            <a:ext cx="384048" cy="621792"/>
          </a:xfrm>
          <a:prstGeom prst="rect">
            <a:avLst/>
          </a:prstGeom>
          <a:noFill/>
        </p:spPr>
        <p:txBody>
          <a:bodyPr wrap="square" lIns="0" tIns="0" rIns="0" bIns="0" anchor="ctr">
            <a:spAutoFit/>
          </a:bodyPr>
          <a:lstStyle/>
          <a:p>
            <a:pPr algn="ctr"/>
            <a:r>
              <a:rPr sz="1700" b="1" i="0">
                <a:solidFill>
                  <a:srgbClr val="FFFFFF"/>
                </a:solidFill>
                <a:latin typeface="Aptos"/>
              </a:rPr>
              <a:t>4</a:t>
            </a:r>
          </a:p>
        </p:txBody>
      </p:sp>
      <p:sp>
        <p:nvSpPr>
          <p:cNvPr id="38" name="TextBox 37">
            <a:extLst>
              <a:ext uri="{FF2B5EF4-FFF2-40B4-BE49-F238E27FC236}">
                <a16:creationId xmlns:a16="http://schemas.microsoft.com/office/drawing/2014/main" id="{9A4A22D1-C6ED-9259-14CE-464BEB97FD9E}"/>
              </a:ext>
            </a:extLst>
          </p:cNvPr>
          <p:cNvSpPr txBox="1"/>
          <p:nvPr/>
        </p:nvSpPr>
        <p:spPr>
          <a:xfrm>
            <a:off x="987551" y="5680652"/>
            <a:ext cx="10616184" cy="379591"/>
          </a:xfrm>
          <a:prstGeom prst="rect">
            <a:avLst/>
          </a:prstGeom>
          <a:noFill/>
        </p:spPr>
        <p:txBody>
          <a:bodyPr wrap="square" lIns="0" tIns="0" rIns="0" bIns="0" anchor="ctr">
            <a:spAutoFit/>
          </a:bodyPr>
          <a:lstStyle/>
          <a:p>
            <a:pPr algn="l">
              <a:lnSpc>
                <a:spcPct val="100000"/>
              </a:lnSpc>
            </a:pPr>
            <a:r>
              <a:rPr sz="1300" b="1" i="0" dirty="0">
                <a:solidFill>
                  <a:srgbClr val="FFFFFF"/>
                </a:solidFill>
                <a:latin typeface="Aptos"/>
              </a:rPr>
              <a:t>Program Management</a:t>
            </a:r>
            <a:r>
              <a:rPr lang="en-US" sz="1300" b="1" i="0" dirty="0">
                <a:solidFill>
                  <a:srgbClr val="FFFFFF"/>
                </a:solidFill>
                <a:latin typeface="Aptos"/>
              </a:rPr>
              <a:t>, Change Management &amp; Adoption</a:t>
            </a:r>
            <a:endParaRPr sz="1300" b="1" i="0" dirty="0">
              <a:solidFill>
                <a:srgbClr val="FFFFFF"/>
              </a:solidFill>
              <a:latin typeface="Aptos"/>
            </a:endParaRPr>
          </a:p>
          <a:p>
            <a:pPr algn="l">
              <a:lnSpc>
                <a:spcPct val="100000"/>
              </a:lnSpc>
              <a:spcBef>
                <a:spcPts val="200"/>
              </a:spcBef>
            </a:pPr>
            <a:r>
              <a:rPr sz="1000" b="0" i="0" dirty="0">
                <a:solidFill>
                  <a:srgbClr val="C9D6EA"/>
                </a:solidFill>
                <a:latin typeface="Aptos"/>
              </a:rPr>
              <a:t>Establishes the steering-committee cadence, RAID/risk management, staffing oversight, and status reporting that keep rationalization, migration, and adoption moving as one governed program.</a:t>
            </a:r>
          </a:p>
        </p:txBody>
      </p:sp>
      <p:sp>
        <p:nvSpPr>
          <p:cNvPr id="39" name="Rectangle 38">
            <a:extLst>
              <a:ext uri="{FF2B5EF4-FFF2-40B4-BE49-F238E27FC236}">
                <a16:creationId xmlns:a16="http://schemas.microsoft.com/office/drawing/2014/main" id="{6A1EF719-C05E-ED6A-CC88-C3437A69A98A}"/>
              </a:ext>
            </a:extLst>
          </p:cNvPr>
          <p:cNvSpPr/>
          <p:nvPr/>
        </p:nvSpPr>
        <p:spPr>
          <a:xfrm>
            <a:off x="457200" y="6291072"/>
            <a:ext cx="11274552" cy="384048"/>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4207E5DA-8E18-6CDA-7DD0-B388AA76AE60}"/>
              </a:ext>
            </a:extLst>
          </p:cNvPr>
          <p:cNvSpPr txBox="1"/>
          <p:nvPr/>
        </p:nvSpPr>
        <p:spPr>
          <a:xfrm>
            <a:off x="640080" y="6291072"/>
            <a:ext cx="10908792" cy="384048"/>
          </a:xfrm>
          <a:prstGeom prst="rect">
            <a:avLst/>
          </a:prstGeom>
          <a:noFill/>
        </p:spPr>
        <p:txBody>
          <a:bodyPr wrap="square" lIns="0" tIns="0" rIns="0" bIns="0" anchor="ctr">
            <a:spAutoFit/>
          </a:bodyPr>
          <a:lstStyle/>
          <a:p>
            <a:pPr algn="ctr"/>
            <a:r>
              <a:rPr sz="1200" b="1" i="1">
                <a:solidFill>
                  <a:srgbClr val="FFFFFF"/>
                </a:solidFill>
                <a:latin typeface="Aptos"/>
              </a:rPr>
              <a:t>Rationalizing before we migrate turns a platform change into a lasting, sustainable reporting foundation.</a:t>
            </a:r>
          </a:p>
        </p:txBody>
      </p:sp>
      <p:sp>
        <p:nvSpPr>
          <p:cNvPr id="41" name="object 48">
            <a:extLst>
              <a:ext uri="{FF2B5EF4-FFF2-40B4-BE49-F238E27FC236}">
                <a16:creationId xmlns:a16="http://schemas.microsoft.com/office/drawing/2014/main" id="{8B027484-1979-9F81-7B24-CD3721BE103E}"/>
              </a:ext>
            </a:extLst>
          </p:cNvPr>
          <p:cNvSpPr txBox="1"/>
          <p:nvPr/>
        </p:nvSpPr>
        <p:spPr>
          <a:xfrm>
            <a:off x="8577072" y="2139553"/>
            <a:ext cx="2640235" cy="742950"/>
          </a:xfrm>
          <a:prstGeom prst="rect">
            <a:avLst/>
          </a:prstGeom>
          <a:solidFill>
            <a:srgbClr val="E1EDFF"/>
          </a:solidFill>
        </p:spPr>
        <p:txBody>
          <a:bodyPr vert="horz" wrap="square" lIns="57150" tIns="28575" rIns="57150" bIns="28575" rtlCol="0">
            <a:noAutofit/>
          </a:bodyPr>
          <a:lstStyle/>
          <a:p>
            <a:pPr marL="397" algn="ctr">
              <a:spcBef>
                <a:spcPts val="197"/>
              </a:spcBef>
            </a:pPr>
            <a:r>
              <a:rPr lang="en-US" sz="1000" b="1" spc="-3">
                <a:solidFill>
                  <a:schemeClr val="tx2"/>
                </a:solidFill>
                <a:ea typeface="Open Sans Light" panose="020B0306030504020204" pitchFamily="34" charset="0"/>
                <a:cs typeface="Open Sans Light" panose="020B0306030504020204" pitchFamily="34" charset="0"/>
              </a:rPr>
              <a:t>Parallel Runs</a:t>
            </a:r>
            <a:endParaRPr lang="en-US" sz="1000">
              <a:solidFill>
                <a:schemeClr val="tx2"/>
              </a:solidFill>
              <a:ea typeface="Open Sans Light" panose="020B0306030504020204" pitchFamily="34" charset="0"/>
              <a:cs typeface="Open Sans Light" panose="020B0306030504020204" pitchFamily="34" charset="0"/>
            </a:endParaRPr>
          </a:p>
          <a:p>
            <a:pPr marL="76200" marR="71040" algn="ctr"/>
            <a:r>
              <a:rPr lang="en-US" sz="1000" spc="-3">
                <a:solidFill>
                  <a:schemeClr val="tx2"/>
                </a:solidFill>
                <a:ea typeface="Open Sans Light" panose="020B0306030504020204" pitchFamily="34" charset="0"/>
                <a:cs typeface="Open Sans Light" panose="020B0306030504020204" pitchFamily="34" charset="0"/>
              </a:rPr>
              <a:t>Support production parallel runs and facilitate business validation in Production to obtain business-signs off for Cutover</a:t>
            </a:r>
            <a:endParaRPr lang="en-US" sz="1000">
              <a:solidFill>
                <a:schemeClr val="tx2"/>
              </a:solidFill>
              <a:ea typeface="Open Sans Light" panose="020B0306030504020204" pitchFamily="34" charset="0"/>
              <a:cs typeface="Open Sans Light" panose="020B0306030504020204" pitchFamily="34" charset="0"/>
            </a:endParaRPr>
          </a:p>
        </p:txBody>
      </p:sp>
      <p:sp>
        <p:nvSpPr>
          <p:cNvPr id="42" name="object 52">
            <a:extLst>
              <a:ext uri="{FF2B5EF4-FFF2-40B4-BE49-F238E27FC236}">
                <a16:creationId xmlns:a16="http://schemas.microsoft.com/office/drawing/2014/main" id="{1843989E-CF74-7725-F5AC-FFF07D0DCB24}"/>
              </a:ext>
            </a:extLst>
          </p:cNvPr>
          <p:cNvSpPr txBox="1"/>
          <p:nvPr/>
        </p:nvSpPr>
        <p:spPr>
          <a:xfrm>
            <a:off x="8577072" y="3439559"/>
            <a:ext cx="2640235" cy="857250"/>
          </a:xfrm>
          <a:prstGeom prst="rect">
            <a:avLst/>
          </a:prstGeom>
          <a:solidFill>
            <a:srgbClr val="E1EDFF"/>
          </a:solidFill>
        </p:spPr>
        <p:txBody>
          <a:bodyPr vert="horz" wrap="square" lIns="57150" tIns="28575" rIns="57150" bIns="28575" rtlCol="0">
            <a:noAutofit/>
          </a:bodyPr>
          <a:lstStyle/>
          <a:p>
            <a:pPr algn="ctr">
              <a:spcBef>
                <a:spcPts val="200"/>
              </a:spcBef>
            </a:pPr>
            <a:r>
              <a:rPr lang="en-US" sz="1000" b="1" spc="-3">
                <a:solidFill>
                  <a:schemeClr val="tx2"/>
                </a:solidFill>
                <a:ea typeface="Open Sans Light" panose="020B0306030504020204" pitchFamily="34" charset="0"/>
                <a:cs typeface="Open Sans Light" panose="020B0306030504020204" pitchFamily="34" charset="0"/>
              </a:rPr>
              <a:t>Transition</a:t>
            </a:r>
            <a:endParaRPr lang="en-US" sz="1000">
              <a:solidFill>
                <a:schemeClr val="tx2"/>
              </a:solidFill>
              <a:ea typeface="Open Sans Light" panose="020B0306030504020204" pitchFamily="34" charset="0"/>
              <a:cs typeface="Open Sans Light" panose="020B0306030504020204" pitchFamily="34" charset="0"/>
            </a:endParaRPr>
          </a:p>
          <a:p>
            <a:pPr marL="71438" marR="67071" algn="ctr"/>
            <a:r>
              <a:rPr lang="en-US" sz="1000" spc="-3">
                <a:solidFill>
                  <a:schemeClr val="tx2"/>
                </a:solidFill>
                <a:cs typeface="Open Sans"/>
              </a:rPr>
              <a:t>Upon </a:t>
            </a:r>
            <a:r>
              <a:rPr lang="en-US" sz="1000">
                <a:solidFill>
                  <a:schemeClr val="tx2"/>
                </a:solidFill>
                <a:cs typeface="Open Sans"/>
              </a:rPr>
              <a:t>successful </a:t>
            </a:r>
            <a:r>
              <a:rPr lang="en-US" sz="1000" spc="-3">
                <a:solidFill>
                  <a:schemeClr val="tx2"/>
                </a:solidFill>
                <a:cs typeface="Open Sans"/>
              </a:rPr>
              <a:t>completion of parallel runs, transition the application to Lights-On team to enable decommissioning of the legacy application</a:t>
            </a:r>
            <a:endParaRPr lang="en-US" sz="1000">
              <a:solidFill>
                <a:schemeClr val="tx2"/>
              </a:solidFill>
              <a:ea typeface="Open Sans Light" panose="020B0306030504020204" pitchFamily="34" charset="0"/>
              <a:cs typeface="Open Sans Light" panose="020B0306030504020204" pitchFamily="34" charset="0"/>
            </a:endParaRPr>
          </a:p>
        </p:txBody>
      </p:sp>
      <p:sp>
        <p:nvSpPr>
          <p:cNvPr id="43" name="object 23">
            <a:extLst>
              <a:ext uri="{FF2B5EF4-FFF2-40B4-BE49-F238E27FC236}">
                <a16:creationId xmlns:a16="http://schemas.microsoft.com/office/drawing/2014/main" id="{6A51CBBC-03EA-AF67-72AA-6CA17E1D63A1}"/>
              </a:ext>
            </a:extLst>
          </p:cNvPr>
          <p:cNvSpPr/>
          <p:nvPr/>
        </p:nvSpPr>
        <p:spPr>
          <a:xfrm>
            <a:off x="9623742" y="3052287"/>
            <a:ext cx="546894" cy="217488"/>
          </a:xfrm>
          <a:custGeom>
            <a:avLst/>
            <a:gdLst/>
            <a:ahLst/>
            <a:cxnLst/>
            <a:rect l="l" t="t" r="r" b="b"/>
            <a:pathLst>
              <a:path w="875029" h="347979">
                <a:moveTo>
                  <a:pt x="0" y="0"/>
                </a:moveTo>
                <a:lnTo>
                  <a:pt x="10414" y="138493"/>
                </a:lnTo>
                <a:lnTo>
                  <a:pt x="442595" y="347472"/>
                </a:lnTo>
                <a:lnTo>
                  <a:pt x="874776" y="138493"/>
                </a:lnTo>
                <a:lnTo>
                  <a:pt x="848741" y="15112"/>
                </a:lnTo>
                <a:lnTo>
                  <a:pt x="453009" y="224104"/>
                </a:lnTo>
                <a:lnTo>
                  <a:pt x="0" y="0"/>
                </a:lnTo>
                <a:close/>
              </a:path>
            </a:pathLst>
          </a:custGeom>
          <a:solidFill>
            <a:srgbClr val="002060"/>
          </a:solidFill>
        </p:spPr>
        <p:txBody>
          <a:bodyPr wrap="square" lIns="0" tIns="0" rIns="0" bIns="0" rtlCol="0"/>
          <a:lstStyle/>
          <a:p>
            <a:endParaRPr sz="1125"/>
          </a:p>
        </p:txBody>
      </p:sp>
      <p:sp>
        <p:nvSpPr>
          <p:cNvPr id="48" name="TextBox 47">
            <a:extLst>
              <a:ext uri="{FF2B5EF4-FFF2-40B4-BE49-F238E27FC236}">
                <a16:creationId xmlns:a16="http://schemas.microsoft.com/office/drawing/2014/main" id="{FB834598-A673-EACD-77C7-FF3B26A6A248}"/>
              </a:ext>
            </a:extLst>
          </p:cNvPr>
          <p:cNvSpPr txBox="1"/>
          <p:nvPr/>
        </p:nvSpPr>
        <p:spPr>
          <a:xfrm>
            <a:off x="8065008" y="1523113"/>
            <a:ext cx="3410711" cy="153888"/>
          </a:xfrm>
          <a:prstGeom prst="rect">
            <a:avLst/>
          </a:prstGeom>
          <a:noFill/>
        </p:spPr>
        <p:txBody>
          <a:bodyPr wrap="square" lIns="0" tIns="0" rIns="0" bIns="0" anchor="t">
            <a:spAutoFit/>
          </a:bodyPr>
          <a:lstStyle/>
          <a:p>
            <a:pPr algn="ctr" defTabSz="740805">
              <a:defRPr/>
            </a:pPr>
            <a:r>
              <a:rPr sz="1000" b="1" i="0" dirty="0">
                <a:solidFill>
                  <a:srgbClr val="000000"/>
                </a:solidFill>
                <a:latin typeface="Aptos"/>
              </a:rPr>
              <a:t>•  </a:t>
            </a:r>
            <a:r>
              <a:rPr lang="en-US" sz="1000" b="1" dirty="0">
                <a:ea typeface="Open Sans Light" panose="020B0306030504020204" pitchFamily="34" charset="0"/>
                <a:cs typeface="Open Sans Light" panose="020B0306030504020204" pitchFamily="34" charset="0"/>
              </a:rPr>
              <a:t>Execute </a:t>
            </a:r>
            <a:r>
              <a:rPr lang="en-US" sz="1000" dirty="0">
                <a:ea typeface="Open Sans Light" panose="020B0306030504020204" pitchFamily="34" charset="0"/>
                <a:cs typeface="Open Sans Light" panose="020B0306030504020204" pitchFamily="34" charset="0"/>
              </a:rPr>
              <a:t>Prod parallel, complete cutover and transition</a:t>
            </a:r>
            <a:endParaRPr lang="en-US" sz="1000" dirty="0">
              <a:solidFill>
                <a:srgbClr val="000000"/>
              </a:solidFill>
            </a:endParaRPr>
          </a:p>
        </p:txBody>
      </p:sp>
    </p:spTree>
    <p:extLst>
      <p:ext uri="{BB962C8B-B14F-4D97-AF65-F5344CB8AC3E}">
        <p14:creationId xmlns:p14="http://schemas.microsoft.com/office/powerpoint/2010/main" val="2818213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D4946-9944-BA00-95E7-29B636394B01}"/>
            </a:ext>
          </a:extLst>
        </p:cNvPr>
        <p:cNvGrpSpPr/>
        <p:nvPr/>
      </p:nvGrpSpPr>
      <p:grpSpPr>
        <a:xfrm>
          <a:off x="0" y="0"/>
          <a:ext cx="0" cy="0"/>
          <a:chOff x="0" y="0"/>
          <a:chExt cx="0" cy="0"/>
        </a:xfrm>
      </p:grpSpPr>
      <p:sp>
        <p:nvSpPr>
          <p:cNvPr id="50" name="Text Placeholder 5">
            <a:extLst>
              <a:ext uri="{FF2B5EF4-FFF2-40B4-BE49-F238E27FC236}">
                <a16:creationId xmlns:a16="http://schemas.microsoft.com/office/drawing/2014/main" id="{156A9C3B-F23E-6A4F-88E7-9E6837FCF075}"/>
              </a:ext>
            </a:extLst>
          </p:cNvPr>
          <p:cNvSpPr>
            <a:spLocks noGrp="1"/>
          </p:cNvSpPr>
          <p:nvPr>
            <p:ph type="body" sz="quarter" idx="13"/>
          </p:nvPr>
        </p:nvSpPr>
        <p:spPr>
          <a:xfrm>
            <a:off x="602615" y="749611"/>
            <a:ext cx="11252200" cy="292976"/>
          </a:xfrm>
        </p:spPr>
        <p:txBody>
          <a:bodyPr/>
          <a:lstStyle/>
          <a:p>
            <a:r>
              <a:rPr lang="en-US" sz="1400" noProof="0" dirty="0">
                <a:latin typeface="+mj-lt"/>
                <a:cs typeface="Arial" panose="020B0604020202020204" pitchFamily="34" charset="0"/>
              </a:rPr>
              <a:t>A combination of art and science is leveraged to recommend the next best action for each </a:t>
            </a:r>
            <a:r>
              <a:rPr lang="en-US" sz="1400" dirty="0">
                <a:latin typeface="+mj-lt"/>
                <a:cs typeface="Arial" panose="020B0604020202020204" pitchFamily="34" charset="0"/>
              </a:rPr>
              <a:t>BOBJ report</a:t>
            </a:r>
            <a:r>
              <a:rPr lang="en-US" sz="1400" noProof="0" dirty="0">
                <a:latin typeface="+mj-lt"/>
                <a:cs typeface="Arial" panose="020B0604020202020204" pitchFamily="34" charset="0"/>
              </a:rPr>
              <a:t>.</a:t>
            </a:r>
          </a:p>
        </p:txBody>
      </p:sp>
      <p:sp>
        <p:nvSpPr>
          <p:cNvPr id="4" name="Title 3">
            <a:extLst>
              <a:ext uri="{FF2B5EF4-FFF2-40B4-BE49-F238E27FC236}">
                <a16:creationId xmlns:a16="http://schemas.microsoft.com/office/drawing/2014/main" id="{48C36FB3-9119-D746-F74D-AA4650E0A452}"/>
              </a:ext>
            </a:extLst>
          </p:cNvPr>
          <p:cNvSpPr>
            <a:spLocks noGrp="1"/>
          </p:cNvSpPr>
          <p:nvPr>
            <p:ph type="title"/>
          </p:nvPr>
        </p:nvSpPr>
        <p:spPr>
          <a:xfrm>
            <a:off x="602615" y="360344"/>
            <a:ext cx="11252200" cy="334102"/>
          </a:xfrm>
        </p:spPr>
        <p:txBody>
          <a:bodyPr vert="horz" lIns="0" tIns="0" rIns="0" bIns="0" rtlCol="0" anchor="t" anchorCtr="0">
            <a:noAutofit/>
          </a:bodyPr>
          <a:lstStyle/>
          <a:p>
            <a:pPr defTabSz="914400">
              <a:lnSpc>
                <a:spcPct val="90000"/>
              </a:lnSpc>
            </a:pPr>
            <a:r>
              <a:rPr lang="en-US" sz="2400" noProof="0" dirty="0">
                <a:latin typeface="Arial" panose="020B0604020202020204" pitchFamily="34" charset="0"/>
                <a:ea typeface="+mj-ea"/>
                <a:cs typeface="Arial" panose="020B0604020202020204" pitchFamily="34" charset="0"/>
              </a:rPr>
              <a:t>Guiding Framework for Platform Disposition </a:t>
            </a:r>
          </a:p>
        </p:txBody>
      </p:sp>
      <p:sp>
        <p:nvSpPr>
          <p:cNvPr id="8" name="Rectangle 7">
            <a:extLst>
              <a:ext uri="{FF2B5EF4-FFF2-40B4-BE49-F238E27FC236}">
                <a16:creationId xmlns:a16="http://schemas.microsoft.com/office/drawing/2014/main" id="{D43D5030-996C-B411-9579-6C211EDF1A98}"/>
              </a:ext>
            </a:extLst>
          </p:cNvPr>
          <p:cNvSpPr>
            <a:spLocks noChangeAspect="1"/>
          </p:cNvSpPr>
          <p:nvPr/>
        </p:nvSpPr>
        <p:spPr bwMode="gray">
          <a:xfrm>
            <a:off x="699644" y="1951446"/>
            <a:ext cx="365760" cy="278736"/>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1</a:t>
            </a:r>
          </a:p>
        </p:txBody>
      </p:sp>
      <p:sp>
        <p:nvSpPr>
          <p:cNvPr id="12" name="Rectangle 11">
            <a:extLst>
              <a:ext uri="{FF2B5EF4-FFF2-40B4-BE49-F238E27FC236}">
                <a16:creationId xmlns:a16="http://schemas.microsoft.com/office/drawing/2014/main" id="{0CBE40DD-88C0-316B-B675-30E057A898F7}"/>
              </a:ext>
            </a:extLst>
          </p:cNvPr>
          <p:cNvSpPr/>
          <p:nvPr/>
        </p:nvSpPr>
        <p:spPr bwMode="gray">
          <a:xfrm>
            <a:off x="1065404" y="1951447"/>
            <a:ext cx="1698273" cy="27873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lvl="0">
              <a:lnSpc>
                <a:spcPct val="106000"/>
              </a:lnSpc>
              <a:defRPr/>
            </a:pPr>
            <a:r>
              <a:rPr lang="en-US" sz="1000" dirty="0">
                <a:solidFill>
                  <a:prstClr val="black"/>
                </a:solidFill>
                <a:latin typeface="Open Sans"/>
                <a:cs typeface="Arial" panose="020B0604020202020204" pitchFamily="34" charset="0"/>
              </a:rPr>
              <a:t>Usage Information from BOBJ metadata</a:t>
            </a:r>
            <a:endParaRPr lang="en-US" sz="1000" b="1" dirty="0">
              <a:solidFill>
                <a:prstClr val="black"/>
              </a:solidFill>
              <a:latin typeface="Open Sans"/>
              <a:cs typeface="Arial" panose="020B0604020202020204" pitchFamily="34" charset="0"/>
            </a:endParaRPr>
          </a:p>
        </p:txBody>
      </p:sp>
      <p:sp>
        <p:nvSpPr>
          <p:cNvPr id="13" name="Rectangle 12">
            <a:extLst>
              <a:ext uri="{FF2B5EF4-FFF2-40B4-BE49-F238E27FC236}">
                <a16:creationId xmlns:a16="http://schemas.microsoft.com/office/drawing/2014/main" id="{8C7FF73D-CE4A-C30C-E7C4-1573FB52183B}"/>
              </a:ext>
            </a:extLst>
          </p:cNvPr>
          <p:cNvSpPr>
            <a:spLocks noChangeAspect="1"/>
          </p:cNvSpPr>
          <p:nvPr/>
        </p:nvSpPr>
        <p:spPr bwMode="gray">
          <a:xfrm>
            <a:off x="699644" y="2358167"/>
            <a:ext cx="365760" cy="681817"/>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2</a:t>
            </a:r>
          </a:p>
        </p:txBody>
      </p:sp>
      <p:sp>
        <p:nvSpPr>
          <p:cNvPr id="16" name="Rectangle 15">
            <a:extLst>
              <a:ext uri="{FF2B5EF4-FFF2-40B4-BE49-F238E27FC236}">
                <a16:creationId xmlns:a16="http://schemas.microsoft.com/office/drawing/2014/main" id="{5F3A3A5F-38BF-BB08-3740-334943468147}"/>
              </a:ext>
            </a:extLst>
          </p:cNvPr>
          <p:cNvSpPr/>
          <p:nvPr/>
        </p:nvSpPr>
        <p:spPr bwMode="gray">
          <a:xfrm>
            <a:off x="1065404" y="2358168"/>
            <a:ext cx="1698273" cy="685021"/>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R="0" indent="0" fontAlgn="auto">
              <a:lnSpc>
                <a:spcPct val="106000"/>
              </a:lnSpc>
              <a:spcBef>
                <a:spcPts val="0"/>
              </a:spcBef>
              <a:spcAft>
                <a:spcPts val="0"/>
              </a:spcAft>
              <a:buClrTx/>
              <a:buSzTx/>
              <a:buFont typeface="Wingdings 2" pitchFamily="18" charset="2"/>
              <a:buNone/>
              <a:tabLst/>
              <a:defRPr/>
            </a:pPr>
            <a:r>
              <a:rPr lang="en-US" sz="1000" dirty="0">
                <a:solidFill>
                  <a:prstClr val="black"/>
                </a:solidFill>
                <a:latin typeface="Open Sans"/>
                <a:cs typeface="Arial" panose="020B0604020202020204" pitchFamily="34" charset="0"/>
              </a:rPr>
              <a:t>Source Data, Report visualization, Interaction mode, Audience, Latency</a:t>
            </a:r>
          </a:p>
        </p:txBody>
      </p:sp>
      <p:sp>
        <p:nvSpPr>
          <p:cNvPr id="20" name="Rectangle 19">
            <a:extLst>
              <a:ext uri="{FF2B5EF4-FFF2-40B4-BE49-F238E27FC236}">
                <a16:creationId xmlns:a16="http://schemas.microsoft.com/office/drawing/2014/main" id="{F1505E7E-2343-6B49-D65F-7B74F89DC161}"/>
              </a:ext>
            </a:extLst>
          </p:cNvPr>
          <p:cNvSpPr>
            <a:spLocks noChangeAspect="1"/>
          </p:cNvSpPr>
          <p:nvPr/>
        </p:nvSpPr>
        <p:spPr bwMode="gray">
          <a:xfrm>
            <a:off x="671440" y="3219201"/>
            <a:ext cx="365760" cy="685022"/>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3</a:t>
            </a:r>
          </a:p>
        </p:txBody>
      </p:sp>
      <p:sp>
        <p:nvSpPr>
          <p:cNvPr id="21" name="Rectangle 20">
            <a:extLst>
              <a:ext uri="{FF2B5EF4-FFF2-40B4-BE49-F238E27FC236}">
                <a16:creationId xmlns:a16="http://schemas.microsoft.com/office/drawing/2014/main" id="{9467A88E-1392-C7D2-E533-0AEA320A65B0}"/>
              </a:ext>
            </a:extLst>
          </p:cNvPr>
          <p:cNvSpPr/>
          <p:nvPr/>
        </p:nvSpPr>
        <p:spPr bwMode="gray">
          <a:xfrm>
            <a:off x="1037200" y="3219201"/>
            <a:ext cx="1698273" cy="685021"/>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R="0" indent="0" fontAlgn="auto">
              <a:lnSpc>
                <a:spcPct val="106000"/>
              </a:lnSpc>
              <a:spcBef>
                <a:spcPts val="0"/>
              </a:spcBef>
              <a:spcAft>
                <a:spcPts val="0"/>
              </a:spcAft>
              <a:buClrTx/>
              <a:buSzTx/>
              <a:buFont typeface="Wingdings 2" pitchFamily="18" charset="2"/>
              <a:buNone/>
              <a:tabLst/>
              <a:defRPr/>
            </a:pPr>
            <a:r>
              <a:rPr lang="en-US" sz="1000" dirty="0">
                <a:solidFill>
                  <a:prstClr val="black"/>
                </a:solidFill>
                <a:latin typeface="Open Sans"/>
                <a:cs typeface="Arial" panose="020B0604020202020204" pitchFamily="34" charset="0"/>
              </a:rPr>
              <a:t>Semantic Complexity Report query complexity based on number of joins, metrics</a:t>
            </a:r>
          </a:p>
        </p:txBody>
      </p:sp>
      <p:sp>
        <p:nvSpPr>
          <p:cNvPr id="22" name="Rectangle 21">
            <a:extLst>
              <a:ext uri="{FF2B5EF4-FFF2-40B4-BE49-F238E27FC236}">
                <a16:creationId xmlns:a16="http://schemas.microsoft.com/office/drawing/2014/main" id="{6EC8A76C-9184-429E-E4D6-2C0508E9EA13}"/>
              </a:ext>
            </a:extLst>
          </p:cNvPr>
          <p:cNvSpPr>
            <a:spLocks noChangeAspect="1"/>
          </p:cNvSpPr>
          <p:nvPr/>
        </p:nvSpPr>
        <p:spPr bwMode="gray">
          <a:xfrm>
            <a:off x="671440" y="4026135"/>
            <a:ext cx="365760" cy="537080"/>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4</a:t>
            </a:r>
          </a:p>
        </p:txBody>
      </p:sp>
      <p:sp>
        <p:nvSpPr>
          <p:cNvPr id="24" name="Rectangle 23">
            <a:extLst>
              <a:ext uri="{FF2B5EF4-FFF2-40B4-BE49-F238E27FC236}">
                <a16:creationId xmlns:a16="http://schemas.microsoft.com/office/drawing/2014/main" id="{38C51DDC-8052-AD8F-34BA-54475D319A0C}"/>
              </a:ext>
            </a:extLst>
          </p:cNvPr>
          <p:cNvSpPr>
            <a:spLocks noChangeAspect="1"/>
          </p:cNvSpPr>
          <p:nvPr/>
        </p:nvSpPr>
        <p:spPr bwMode="gray">
          <a:xfrm>
            <a:off x="671440" y="4742431"/>
            <a:ext cx="365760" cy="362735"/>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5</a:t>
            </a:r>
          </a:p>
        </p:txBody>
      </p:sp>
      <p:sp>
        <p:nvSpPr>
          <p:cNvPr id="27" name="Rectangle 26">
            <a:extLst>
              <a:ext uri="{FF2B5EF4-FFF2-40B4-BE49-F238E27FC236}">
                <a16:creationId xmlns:a16="http://schemas.microsoft.com/office/drawing/2014/main" id="{3189EA52-CC89-4AE6-DD15-1E972DEBF716}"/>
              </a:ext>
            </a:extLst>
          </p:cNvPr>
          <p:cNvSpPr/>
          <p:nvPr/>
        </p:nvSpPr>
        <p:spPr bwMode="gray">
          <a:xfrm>
            <a:off x="1037200" y="4043554"/>
            <a:ext cx="1698273" cy="53708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lang="en-US" sz="1000" dirty="0">
                <a:solidFill>
                  <a:prstClr val="black"/>
                </a:solidFill>
                <a:latin typeface="Open Sans"/>
                <a:cs typeface="Arial" panose="020B0604020202020204" pitchFamily="34" charset="0"/>
              </a:rPr>
              <a:t>Code Repository- Table, View DDLs, Stored procedures, packages</a:t>
            </a:r>
            <a:endParaRPr kumimoji="0" lang="en-US" sz="1000" b="1" i="0" u="none" strike="noStrike" kern="1200" cap="none" spc="0" normalizeH="0" baseline="0" noProof="0" dirty="0">
              <a:ln>
                <a:noFill/>
              </a:ln>
              <a:solidFill>
                <a:prstClr val="black"/>
              </a:solidFill>
              <a:effectLst/>
              <a:uLnTx/>
              <a:uFillTx/>
              <a:latin typeface="Open Sans"/>
              <a:ea typeface="+mn-ea"/>
              <a:cs typeface="Arial" panose="020B0604020202020204" pitchFamily="34" charset="0"/>
            </a:endParaRPr>
          </a:p>
        </p:txBody>
      </p:sp>
      <p:sp>
        <p:nvSpPr>
          <p:cNvPr id="29" name="Rectangle 28">
            <a:extLst>
              <a:ext uri="{FF2B5EF4-FFF2-40B4-BE49-F238E27FC236}">
                <a16:creationId xmlns:a16="http://schemas.microsoft.com/office/drawing/2014/main" id="{42AD8041-36E4-B9C7-27C3-3CA9A0A57A76}"/>
              </a:ext>
            </a:extLst>
          </p:cNvPr>
          <p:cNvSpPr>
            <a:spLocks noChangeAspect="1"/>
          </p:cNvSpPr>
          <p:nvPr/>
        </p:nvSpPr>
        <p:spPr bwMode="gray">
          <a:xfrm>
            <a:off x="671440" y="5263471"/>
            <a:ext cx="365760" cy="358352"/>
          </a:xfrm>
          <a:prstGeom prst="rect">
            <a:avLst/>
          </a:prstGeom>
          <a:solidFill>
            <a:srgbClr val="00206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6</a:t>
            </a:r>
          </a:p>
        </p:txBody>
      </p:sp>
      <p:sp>
        <p:nvSpPr>
          <p:cNvPr id="30" name="Rectangle 29">
            <a:extLst>
              <a:ext uri="{FF2B5EF4-FFF2-40B4-BE49-F238E27FC236}">
                <a16:creationId xmlns:a16="http://schemas.microsoft.com/office/drawing/2014/main" id="{8E8372D7-09A7-1EE9-5F78-0643EAE2EF17}"/>
              </a:ext>
            </a:extLst>
          </p:cNvPr>
          <p:cNvSpPr/>
          <p:nvPr/>
        </p:nvSpPr>
        <p:spPr bwMode="gray">
          <a:xfrm>
            <a:off x="1037200" y="4748231"/>
            <a:ext cx="1698273" cy="358352"/>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a:ln>
                  <a:noFill/>
                </a:ln>
                <a:solidFill>
                  <a:prstClr val="black"/>
                </a:solidFill>
                <a:effectLst/>
                <a:uLnTx/>
                <a:uFillTx/>
                <a:latin typeface="Open Sans"/>
                <a:ea typeface="+mn-ea"/>
                <a:cs typeface="Arial" panose="020B0604020202020204" pitchFamily="34" charset="0"/>
              </a:rPr>
              <a:t>Latest Architecture &amp; Data Flow Diagrams</a:t>
            </a:r>
          </a:p>
        </p:txBody>
      </p:sp>
      <p:sp>
        <p:nvSpPr>
          <p:cNvPr id="38" name="Rectangle 37">
            <a:extLst>
              <a:ext uri="{FF2B5EF4-FFF2-40B4-BE49-F238E27FC236}">
                <a16:creationId xmlns:a16="http://schemas.microsoft.com/office/drawing/2014/main" id="{0899FD45-4EE4-E5CC-80EB-BBB8E3F3F112}"/>
              </a:ext>
            </a:extLst>
          </p:cNvPr>
          <p:cNvSpPr/>
          <p:nvPr/>
        </p:nvSpPr>
        <p:spPr bwMode="gray">
          <a:xfrm>
            <a:off x="3239997" y="1672680"/>
            <a:ext cx="5475164" cy="4275144"/>
          </a:xfrm>
          <a:prstGeom prst="rect">
            <a:avLst/>
          </a:prstGeom>
          <a:noFill/>
          <a:ln w="19050" algn="ctr">
            <a:solidFill>
              <a:schemeClr val="accent1">
                <a:lumMod val="50000"/>
              </a:schemeClr>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Arial" panose="020B0604020202020204" pitchFamily="34" charset="0"/>
            </a:endParaRPr>
          </a:p>
        </p:txBody>
      </p:sp>
      <p:sp>
        <p:nvSpPr>
          <p:cNvPr id="62" name="Chevron 14">
            <a:extLst>
              <a:ext uri="{FF2B5EF4-FFF2-40B4-BE49-F238E27FC236}">
                <a16:creationId xmlns:a16="http://schemas.microsoft.com/office/drawing/2014/main" id="{50519720-AF57-82C0-474E-5ED4C10F3F50}"/>
              </a:ext>
            </a:extLst>
          </p:cNvPr>
          <p:cNvSpPr/>
          <p:nvPr/>
        </p:nvSpPr>
        <p:spPr bwMode="gray">
          <a:xfrm>
            <a:off x="2809155" y="3427949"/>
            <a:ext cx="424249" cy="815546"/>
          </a:xfrm>
          <a:prstGeom prst="chevron">
            <a:avLst/>
          </a:prstGeom>
          <a:solidFill>
            <a:schemeClr val="bg1">
              <a:lumMod val="85000"/>
              <a:alpha val="46000"/>
            </a:schemeClr>
          </a:solidFill>
          <a:ln>
            <a:noFill/>
            <a:headEnd/>
            <a:tailEnd/>
          </a:ln>
          <a:effectLst/>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Arial" panose="020B0604020202020204" pitchFamily="34" charset="0"/>
            </a:endParaRPr>
          </a:p>
        </p:txBody>
      </p:sp>
      <p:grpSp>
        <p:nvGrpSpPr>
          <p:cNvPr id="111" name="Group 110">
            <a:extLst>
              <a:ext uri="{FF2B5EF4-FFF2-40B4-BE49-F238E27FC236}">
                <a16:creationId xmlns:a16="http://schemas.microsoft.com/office/drawing/2014/main" id="{8109AC15-8F4A-1962-2DCA-70EAD324406C}"/>
              </a:ext>
            </a:extLst>
          </p:cNvPr>
          <p:cNvGrpSpPr/>
          <p:nvPr/>
        </p:nvGrpSpPr>
        <p:grpSpPr>
          <a:xfrm>
            <a:off x="9714059" y="4534358"/>
            <a:ext cx="1675521" cy="600371"/>
            <a:chOff x="12731541" y="4151643"/>
            <a:chExt cx="1675521" cy="600371"/>
          </a:xfrm>
        </p:grpSpPr>
        <p:sp>
          <p:nvSpPr>
            <p:cNvPr id="6" name="Rectangle 5">
              <a:extLst>
                <a:ext uri="{FF2B5EF4-FFF2-40B4-BE49-F238E27FC236}">
                  <a16:creationId xmlns:a16="http://schemas.microsoft.com/office/drawing/2014/main" id="{33E149D3-67F5-CA12-ADB4-24D2B72EBB70}"/>
                </a:ext>
              </a:extLst>
            </p:cNvPr>
            <p:cNvSpPr/>
            <p:nvPr/>
          </p:nvSpPr>
          <p:spPr>
            <a:xfrm>
              <a:off x="12731541" y="4350272"/>
              <a:ext cx="1675521" cy="401742"/>
            </a:xfrm>
            <a:prstGeom prst="rect">
              <a:avLst/>
            </a:prstGeom>
            <a:pattFill prst="ltDnDiag">
              <a:fgClr>
                <a:schemeClr val="bg1">
                  <a:lumMod val="85000"/>
                </a:schemeClr>
              </a:fgClr>
              <a:bgClr>
                <a:schemeClr val="bg1"/>
              </a:bgClr>
            </a:pattFill>
            <a:ln w="25400" cap="flat" cmpd="sng" algn="ctr">
              <a:noFill/>
              <a:prstDash val="solid"/>
            </a:ln>
            <a:effectLst/>
          </p:spPr>
          <p:txBody>
            <a:bodyPr lIns="45720" tIns="91440" rIns="45720" bIns="91440" rtlCol="0" anchor="ctr"/>
            <a:lstStyle/>
            <a:p>
              <a:pPr marL="0" marR="0" lvl="0" indent="0" algn="ctr" defTabSz="1219170" rtl="0" eaLnBrk="1" fontAlgn="auto" latinLnBrk="0" hangingPunct="1">
                <a:lnSpc>
                  <a:spcPct val="100000"/>
                </a:lnSpc>
                <a:spcBef>
                  <a:spcPts val="0"/>
                </a:spcBef>
                <a:spcAft>
                  <a:spcPts val="300"/>
                </a:spcAft>
                <a:buClrTx/>
                <a:buSzPct val="75000"/>
                <a:buFontTx/>
                <a:buNone/>
                <a:tabLst/>
                <a:defRPr/>
              </a:pPr>
              <a:r>
                <a:rPr kumimoji="0" lang="en-US" sz="1000" b="1" i="0" u="none" strike="noStrike" kern="0" cap="none" spc="0" normalizeH="0" baseline="0" noProof="0">
                  <a:ln>
                    <a:noFill/>
                  </a:ln>
                  <a:solidFill>
                    <a:prstClr val="black"/>
                  </a:solidFill>
                  <a:effectLst/>
                  <a:uLnTx/>
                  <a:uFillTx/>
                  <a:latin typeface="Open Sans"/>
                  <a:ea typeface="Open Sans" panose="020B0606030504020204" pitchFamily="34" charset="0"/>
                  <a:cs typeface="Arial" panose="020B0604020202020204" pitchFamily="34" charset="0"/>
                </a:rPr>
                <a:t>Continue to run as-is until retirement date</a:t>
              </a:r>
            </a:p>
          </p:txBody>
        </p:sp>
        <p:sp>
          <p:nvSpPr>
            <p:cNvPr id="7" name="Rectangle 6">
              <a:extLst>
                <a:ext uri="{FF2B5EF4-FFF2-40B4-BE49-F238E27FC236}">
                  <a16:creationId xmlns:a16="http://schemas.microsoft.com/office/drawing/2014/main" id="{632092EE-BA90-80D2-720E-BD2EF2DA6CAD}"/>
                </a:ext>
              </a:extLst>
            </p:cNvPr>
            <p:cNvSpPr>
              <a:spLocks/>
            </p:cNvSpPr>
            <p:nvPr/>
          </p:nvSpPr>
          <p:spPr>
            <a:xfrm>
              <a:off x="12731542" y="4151643"/>
              <a:ext cx="1675520" cy="192024"/>
            </a:xfrm>
            <a:prstGeom prst="rect">
              <a:avLst/>
            </a:prstGeom>
            <a:solidFill>
              <a:srgbClr val="9F9F9F"/>
            </a:solidFill>
            <a:ln w="25400" cap="flat" cmpd="sng" algn="ctr">
              <a:noFill/>
              <a:prstDash val="solid"/>
            </a:ln>
            <a:effectLst/>
          </p:spPr>
          <p:txBody>
            <a:bodyPr vert="horz"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Open Sans"/>
                  <a:ea typeface="Open Sans" panose="020B0606030504020204" pitchFamily="34" charset="0"/>
                  <a:cs typeface="Arial" panose="020B0604020202020204" pitchFamily="34" charset="0"/>
                </a:rPr>
                <a:t>Retire</a:t>
              </a:r>
            </a:p>
          </p:txBody>
        </p:sp>
      </p:grpSp>
      <p:grpSp>
        <p:nvGrpSpPr>
          <p:cNvPr id="108" name="Group 107">
            <a:extLst>
              <a:ext uri="{FF2B5EF4-FFF2-40B4-BE49-F238E27FC236}">
                <a16:creationId xmlns:a16="http://schemas.microsoft.com/office/drawing/2014/main" id="{612C25E0-74F4-D49A-0315-B5713E00420B}"/>
              </a:ext>
            </a:extLst>
          </p:cNvPr>
          <p:cNvGrpSpPr/>
          <p:nvPr/>
        </p:nvGrpSpPr>
        <p:grpSpPr>
          <a:xfrm>
            <a:off x="9714059" y="3370310"/>
            <a:ext cx="1675521" cy="501552"/>
            <a:chOff x="9696241" y="4353404"/>
            <a:chExt cx="1675521" cy="501552"/>
          </a:xfrm>
        </p:grpSpPr>
        <p:sp>
          <p:nvSpPr>
            <p:cNvPr id="19" name="Rectangle 18">
              <a:extLst>
                <a:ext uri="{FF2B5EF4-FFF2-40B4-BE49-F238E27FC236}">
                  <a16:creationId xmlns:a16="http://schemas.microsoft.com/office/drawing/2014/main" id="{6C077D34-D7D0-5873-DB68-B164F4165BAD}"/>
                </a:ext>
              </a:extLst>
            </p:cNvPr>
            <p:cNvSpPr/>
            <p:nvPr/>
          </p:nvSpPr>
          <p:spPr>
            <a:xfrm>
              <a:off x="9696241" y="4552033"/>
              <a:ext cx="1675521" cy="302923"/>
            </a:xfrm>
            <a:prstGeom prst="rect">
              <a:avLst/>
            </a:prstGeom>
            <a:pattFill prst="ltDnDiag">
              <a:fgClr>
                <a:schemeClr val="bg1">
                  <a:lumMod val="85000"/>
                </a:schemeClr>
              </a:fgClr>
              <a:bgClr>
                <a:schemeClr val="bg1"/>
              </a:bgClr>
            </a:pattFill>
            <a:ln w="25400" cap="flat" cmpd="sng" algn="ctr">
              <a:noFill/>
              <a:prstDash val="solid"/>
            </a:ln>
            <a:effectLst/>
          </p:spPr>
          <p:txBody>
            <a:bodyPr lIns="45720" tIns="91440" rIns="45720" bIns="91440" rtlCol="0" anchor="ctr"/>
            <a:lstStyle/>
            <a:p>
              <a:pPr marL="0" marR="0" lvl="0" indent="0" algn="ctr" defTabSz="1219170" rtl="0" eaLnBrk="1" fontAlgn="auto" latinLnBrk="0" hangingPunct="1">
                <a:lnSpc>
                  <a:spcPct val="100000"/>
                </a:lnSpc>
                <a:spcBef>
                  <a:spcPts val="0"/>
                </a:spcBef>
                <a:spcAft>
                  <a:spcPts val="300"/>
                </a:spcAft>
                <a:buClrTx/>
                <a:buSzPct val="75000"/>
                <a:buFontTx/>
                <a:buNone/>
                <a:tabLst/>
                <a:defRPr/>
              </a:pPr>
              <a:r>
                <a:rPr kumimoji="0" lang="en-US" sz="1000" b="1" i="0" u="none" strike="noStrike" kern="0" cap="none" spc="0" normalizeH="0" baseline="0" noProof="0">
                  <a:ln>
                    <a:noFill/>
                  </a:ln>
                  <a:solidFill>
                    <a:prstClr val="black"/>
                  </a:solidFill>
                  <a:effectLst/>
                  <a:uLnTx/>
                  <a:uFillTx/>
                  <a:latin typeface="Open Sans"/>
                  <a:ea typeface="Open Sans" panose="020B0606030504020204" pitchFamily="34" charset="0"/>
                  <a:cs typeface="Arial" panose="020B0604020202020204" pitchFamily="34" charset="0"/>
                </a:rPr>
                <a:t>Lift and shift with optimizations</a:t>
              </a:r>
            </a:p>
          </p:txBody>
        </p:sp>
        <p:sp>
          <p:nvSpPr>
            <p:cNvPr id="25" name="Rectangle 24">
              <a:extLst>
                <a:ext uri="{FF2B5EF4-FFF2-40B4-BE49-F238E27FC236}">
                  <a16:creationId xmlns:a16="http://schemas.microsoft.com/office/drawing/2014/main" id="{F9E2415D-D563-552F-6F34-AFCB44D60EDB}"/>
                </a:ext>
              </a:extLst>
            </p:cNvPr>
            <p:cNvSpPr>
              <a:spLocks/>
            </p:cNvSpPr>
            <p:nvPr/>
          </p:nvSpPr>
          <p:spPr>
            <a:xfrm>
              <a:off x="9696242" y="4353404"/>
              <a:ext cx="1675520" cy="192024"/>
            </a:xfrm>
            <a:prstGeom prst="rect">
              <a:avLst/>
            </a:prstGeom>
            <a:solidFill>
              <a:srgbClr val="C3FAFD"/>
            </a:solidFill>
            <a:ln w="25400" cap="flat" cmpd="sng" algn="ctr">
              <a:noFill/>
              <a:prstDash val="solid"/>
            </a:ln>
            <a:effectLst/>
          </p:spPr>
          <p:txBody>
            <a:bodyPr vert="horz"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black"/>
                  </a:solidFill>
                  <a:effectLst/>
                  <a:uLnTx/>
                  <a:uFillTx/>
                  <a:latin typeface="Open Sans"/>
                  <a:ea typeface="Open Sans" panose="020B0606030504020204" pitchFamily="34" charset="0"/>
                  <a:cs typeface="Arial" panose="020B0604020202020204" pitchFamily="34" charset="0"/>
                </a:rPr>
                <a:t>Replatform</a:t>
              </a:r>
              <a:endParaRPr kumimoji="0" lang="en-US" sz="1000" b="1" i="0" u="none" strike="noStrike" kern="0" cap="none" spc="0" normalizeH="0" baseline="30000" noProof="0">
                <a:ln>
                  <a:noFill/>
                </a:ln>
                <a:solidFill>
                  <a:prstClr val="black"/>
                </a:solidFill>
                <a:effectLst/>
                <a:uLnTx/>
                <a:uFillTx/>
                <a:latin typeface="Open Sans"/>
                <a:ea typeface="Open Sans" panose="020B0606030504020204" pitchFamily="34" charset="0"/>
                <a:cs typeface="Arial" panose="020B0604020202020204" pitchFamily="34" charset="0"/>
              </a:endParaRPr>
            </a:p>
          </p:txBody>
        </p:sp>
      </p:grpSp>
      <p:sp>
        <p:nvSpPr>
          <p:cNvPr id="26" name="Rectangle 25">
            <a:extLst>
              <a:ext uri="{FF2B5EF4-FFF2-40B4-BE49-F238E27FC236}">
                <a16:creationId xmlns:a16="http://schemas.microsoft.com/office/drawing/2014/main" id="{193CD271-D6EE-0D8C-7F49-8EA2335BA355}"/>
              </a:ext>
            </a:extLst>
          </p:cNvPr>
          <p:cNvSpPr/>
          <p:nvPr/>
        </p:nvSpPr>
        <p:spPr>
          <a:xfrm>
            <a:off x="9714059" y="2273167"/>
            <a:ext cx="1675521" cy="573072"/>
          </a:xfrm>
          <a:prstGeom prst="rect">
            <a:avLst/>
          </a:prstGeom>
          <a:pattFill prst="ltDnDiag">
            <a:fgClr>
              <a:schemeClr val="bg1">
                <a:lumMod val="85000"/>
              </a:schemeClr>
            </a:fgClr>
            <a:bgClr>
              <a:schemeClr val="bg1"/>
            </a:bgClr>
          </a:pattFill>
          <a:ln w="25400" cap="flat" cmpd="sng" algn="ctr">
            <a:noFill/>
            <a:prstDash val="solid"/>
          </a:ln>
          <a:effectLst/>
        </p:spPr>
        <p:txBody>
          <a:bodyPr lIns="45720" tIns="91440" rIns="45720" bIns="91440" rtlCol="0" anchor="ctr"/>
          <a:lstStyle/>
          <a:p>
            <a:pPr marL="0" marR="0" lvl="0" indent="0" algn="ctr" defTabSz="1219170" rtl="0" eaLnBrk="1" fontAlgn="auto" latinLnBrk="0" hangingPunct="1">
              <a:lnSpc>
                <a:spcPct val="100000"/>
              </a:lnSpc>
              <a:spcBef>
                <a:spcPts val="0"/>
              </a:spcBef>
              <a:spcAft>
                <a:spcPts val="300"/>
              </a:spcAft>
              <a:buClrTx/>
              <a:buSzPct val="75000"/>
              <a:buFontTx/>
              <a:buNone/>
              <a:tabLst/>
              <a:defRPr/>
            </a:pPr>
            <a:r>
              <a:rPr kumimoji="0" lang="en-US" sz="1000" b="1" i="0" u="none" strike="noStrike" kern="0" cap="none" spc="0" normalizeH="0" baseline="0" noProof="0">
                <a:ln>
                  <a:noFill/>
                </a:ln>
                <a:solidFill>
                  <a:prstClr val="black"/>
                </a:solidFill>
                <a:effectLst/>
                <a:uLnTx/>
                <a:uFillTx/>
                <a:latin typeface="Open Sans"/>
                <a:ea typeface="Open Sans" panose="020B0606030504020204" pitchFamily="34" charset="0"/>
                <a:cs typeface="Arial" panose="020B0604020202020204" pitchFamily="34" charset="0"/>
              </a:rPr>
              <a:t>Redesign the asset to address the required changes</a:t>
            </a:r>
          </a:p>
        </p:txBody>
      </p:sp>
      <p:sp>
        <p:nvSpPr>
          <p:cNvPr id="28" name="Rectangle 27">
            <a:extLst>
              <a:ext uri="{FF2B5EF4-FFF2-40B4-BE49-F238E27FC236}">
                <a16:creationId xmlns:a16="http://schemas.microsoft.com/office/drawing/2014/main" id="{AB94C84A-9729-DCC6-97E2-D743F130ABC6}"/>
              </a:ext>
            </a:extLst>
          </p:cNvPr>
          <p:cNvSpPr>
            <a:spLocks/>
          </p:cNvSpPr>
          <p:nvPr/>
        </p:nvSpPr>
        <p:spPr>
          <a:xfrm>
            <a:off x="9714060" y="2074538"/>
            <a:ext cx="1675520" cy="192024"/>
          </a:xfrm>
          <a:prstGeom prst="rect">
            <a:avLst/>
          </a:prstGeom>
          <a:solidFill>
            <a:srgbClr val="7030A0"/>
          </a:solidFill>
          <a:ln w="25400" cap="flat" cmpd="sng" algn="ctr">
            <a:noFill/>
            <a:prstDash val="solid"/>
          </a:ln>
          <a:effectLst/>
        </p:spPr>
        <p:txBody>
          <a:bodyPr vert="horz"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chemeClr val="bg1"/>
                </a:solidFill>
                <a:effectLst/>
                <a:uLnTx/>
                <a:uFillTx/>
                <a:latin typeface="Open Sans"/>
                <a:ea typeface="Open Sans" panose="020B0606030504020204" pitchFamily="34" charset="0"/>
                <a:cs typeface="Arial" panose="020B0604020202020204" pitchFamily="34" charset="0"/>
              </a:rPr>
              <a:t>Rearchitect</a:t>
            </a:r>
          </a:p>
        </p:txBody>
      </p:sp>
      <p:sp>
        <p:nvSpPr>
          <p:cNvPr id="64" name="Trapezoid 63">
            <a:extLst>
              <a:ext uri="{FF2B5EF4-FFF2-40B4-BE49-F238E27FC236}">
                <a16:creationId xmlns:a16="http://schemas.microsoft.com/office/drawing/2014/main" id="{22201B34-A7DC-B9C0-3325-FE98E0F4A0E3}"/>
              </a:ext>
            </a:extLst>
          </p:cNvPr>
          <p:cNvSpPr/>
          <p:nvPr/>
        </p:nvSpPr>
        <p:spPr bwMode="gray">
          <a:xfrm rot="16200000">
            <a:off x="7041825" y="3448302"/>
            <a:ext cx="4275143" cy="723900"/>
          </a:xfrm>
          <a:prstGeom prst="trapezoid">
            <a:avLst>
              <a:gd name="adj" fmla="val 115682"/>
            </a:avLst>
          </a:prstGeom>
          <a:solidFill>
            <a:schemeClr val="bg1">
              <a:lumMod val="85000"/>
              <a:alpha val="46000"/>
            </a:schemeClr>
          </a:solidFill>
          <a:ln>
            <a:noFill/>
            <a:headEnd/>
            <a:tailEnd/>
          </a:ln>
          <a:effectLst/>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Arial" panose="020B0604020202020204" pitchFamily="34" charset="0"/>
            </a:endParaRPr>
          </a:p>
        </p:txBody>
      </p:sp>
      <p:sp>
        <p:nvSpPr>
          <p:cNvPr id="43" name="Rectangle 42">
            <a:extLst>
              <a:ext uri="{FF2B5EF4-FFF2-40B4-BE49-F238E27FC236}">
                <a16:creationId xmlns:a16="http://schemas.microsoft.com/office/drawing/2014/main" id="{001217F7-8CF0-0F55-13EC-95989C080145}"/>
              </a:ext>
            </a:extLst>
          </p:cNvPr>
          <p:cNvSpPr/>
          <p:nvPr/>
        </p:nvSpPr>
        <p:spPr bwMode="gray">
          <a:xfrm>
            <a:off x="3447625" y="1745700"/>
            <a:ext cx="2468880" cy="1100539"/>
          </a:xfrm>
          <a:prstGeom prst="rect">
            <a:avLst/>
          </a:prstGeom>
          <a:solidFill>
            <a:srgbClr val="A0DCFF"/>
          </a:solidFill>
          <a:effectLst>
            <a:outerShdw blurRad="50800" dist="38100" dir="2700000" algn="tl" rotWithShape="0">
              <a:prstClr val="black">
                <a:alpha val="40000"/>
              </a:prstClr>
            </a:outerShdw>
          </a:effectLst>
        </p:spPr>
        <p:txBody>
          <a:bodyPr wrap="square" lIns="91440" tIns="91440" rIns="91440" bIns="91440" rtlCol="0" anchor="ctr"/>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000" b="1" i="0"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Existence of Similar Data/Functionality in Other Assets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Is consolidation feasible ?</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Is the consolidation towards net new asset or an existing asset ?</a:t>
            </a:r>
          </a:p>
        </p:txBody>
      </p:sp>
      <p:sp>
        <p:nvSpPr>
          <p:cNvPr id="44" name="Rectangle 43">
            <a:extLst>
              <a:ext uri="{FF2B5EF4-FFF2-40B4-BE49-F238E27FC236}">
                <a16:creationId xmlns:a16="http://schemas.microsoft.com/office/drawing/2014/main" id="{5502405D-F605-B58E-93C8-326B5C187C8F}"/>
              </a:ext>
            </a:extLst>
          </p:cNvPr>
          <p:cNvSpPr/>
          <p:nvPr/>
        </p:nvSpPr>
        <p:spPr bwMode="gray">
          <a:xfrm>
            <a:off x="6172599" y="3194275"/>
            <a:ext cx="2468880" cy="1392881"/>
          </a:xfrm>
          <a:prstGeom prst="rect">
            <a:avLst/>
          </a:prstGeom>
          <a:solidFill>
            <a:srgbClr val="A0DCFF"/>
          </a:solidFill>
          <a:effectLst>
            <a:outerShdw blurRad="50800" dist="38100" dir="2700000" algn="tl" rotWithShape="0">
              <a:prstClr val="black">
                <a:alpha val="40000"/>
              </a:prstClr>
            </a:outerShdw>
          </a:effectLst>
        </p:spPr>
        <p:txBody>
          <a:bodyPr wrap="square" lIns="91440" tIns="91440" rIns="91440" bIns="91440" rtlCol="0" anchor="t"/>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050" b="1" i="0"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Stability of the Asset</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Any performance issues in the asset?</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Assets have frequent defects?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endParaRPr>
          </a:p>
        </p:txBody>
      </p:sp>
      <p:sp>
        <p:nvSpPr>
          <p:cNvPr id="47" name="Rectangle 46">
            <a:extLst>
              <a:ext uri="{FF2B5EF4-FFF2-40B4-BE49-F238E27FC236}">
                <a16:creationId xmlns:a16="http://schemas.microsoft.com/office/drawing/2014/main" id="{8A63E13F-0CD3-B576-F146-CFCC35CDAC85}"/>
              </a:ext>
            </a:extLst>
          </p:cNvPr>
          <p:cNvSpPr/>
          <p:nvPr/>
        </p:nvSpPr>
        <p:spPr bwMode="gray">
          <a:xfrm>
            <a:off x="3482794" y="3148598"/>
            <a:ext cx="2433711" cy="1446529"/>
          </a:xfrm>
          <a:prstGeom prst="rect">
            <a:avLst/>
          </a:prstGeom>
          <a:solidFill>
            <a:srgbClr val="A0DCFF"/>
          </a:solidFill>
          <a:effectLst>
            <a:outerShdw blurRad="50800" dist="38100" dir="2700000" algn="tl" rotWithShape="0">
              <a:prstClr val="black">
                <a:alpha val="40000"/>
              </a:prstClr>
            </a:outerShdw>
          </a:effectLst>
        </p:spPr>
        <p:txBody>
          <a:bodyPr wrap="square" lIns="91440" tIns="91440" rIns="91440" bIns="91440" rtlCol="0" anchor="t"/>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000" b="1" i="0"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Evaluate Internal and External Dependencies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Analysis of identified data and functional dependencies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Upstream and downstream dependencies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lang="en-US" sz="1000" i="1">
                <a:solidFill>
                  <a:schemeClr val="tx1">
                    <a:lumMod val="10000"/>
                  </a:schemeClr>
                </a:solidFill>
                <a:latin typeface="Open Sans"/>
                <a:cs typeface="Arial" panose="020B0604020202020204" pitchFamily="34" charset="0"/>
              </a:rPr>
              <a:t>Feedback from Business stakeholders</a:t>
            </a:r>
            <a:endPar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endParaRPr>
          </a:p>
        </p:txBody>
      </p:sp>
      <p:sp>
        <p:nvSpPr>
          <p:cNvPr id="3" name="Rectangle 2">
            <a:extLst>
              <a:ext uri="{FF2B5EF4-FFF2-40B4-BE49-F238E27FC236}">
                <a16:creationId xmlns:a16="http://schemas.microsoft.com/office/drawing/2014/main" id="{DC5A4775-BD45-9E3B-E07F-B1B482EFC334}"/>
              </a:ext>
            </a:extLst>
          </p:cNvPr>
          <p:cNvSpPr/>
          <p:nvPr/>
        </p:nvSpPr>
        <p:spPr bwMode="gray">
          <a:xfrm>
            <a:off x="1037200" y="5232215"/>
            <a:ext cx="1698273" cy="421991"/>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Open Sans"/>
                <a:ea typeface="+mn-ea"/>
                <a:cs typeface="Arial" panose="020B0604020202020204" pitchFamily="34" charset="0"/>
              </a:rPr>
              <a:t>Inputs from Asset Owners &amp; Support Teams</a:t>
            </a:r>
          </a:p>
        </p:txBody>
      </p:sp>
      <p:sp>
        <p:nvSpPr>
          <p:cNvPr id="5" name="Arrow: Pentagon 4">
            <a:extLst>
              <a:ext uri="{FF2B5EF4-FFF2-40B4-BE49-F238E27FC236}">
                <a16:creationId xmlns:a16="http://schemas.microsoft.com/office/drawing/2014/main" id="{F057ED60-D5DD-CDCC-ECB2-F0A63442DA2B}"/>
              </a:ext>
            </a:extLst>
          </p:cNvPr>
          <p:cNvSpPr/>
          <p:nvPr/>
        </p:nvSpPr>
        <p:spPr bwMode="gray">
          <a:xfrm>
            <a:off x="679353" y="1140935"/>
            <a:ext cx="2255285" cy="367207"/>
          </a:xfrm>
          <a:prstGeom prst="homePlate">
            <a:avLst/>
          </a:prstGeom>
          <a:solidFill>
            <a:srgbClr val="002060"/>
          </a:solidFill>
          <a:ln w="9525"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Inputs</a:t>
            </a:r>
          </a:p>
        </p:txBody>
      </p:sp>
      <p:sp>
        <p:nvSpPr>
          <p:cNvPr id="32" name="Arrow: Chevron 31">
            <a:extLst>
              <a:ext uri="{FF2B5EF4-FFF2-40B4-BE49-F238E27FC236}">
                <a16:creationId xmlns:a16="http://schemas.microsoft.com/office/drawing/2014/main" id="{69E5C462-D500-FF6D-1032-856636C17D8C}"/>
              </a:ext>
            </a:extLst>
          </p:cNvPr>
          <p:cNvSpPr/>
          <p:nvPr/>
        </p:nvSpPr>
        <p:spPr bwMode="gray">
          <a:xfrm>
            <a:off x="2848287" y="1140935"/>
            <a:ext cx="6215901" cy="367207"/>
          </a:xfrm>
          <a:prstGeom prst="chevron">
            <a:avLst/>
          </a:prstGeom>
          <a:solidFill>
            <a:srgbClr val="002060"/>
          </a:solidFill>
          <a:ln w="9525"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Considerations Used</a:t>
            </a:r>
          </a:p>
        </p:txBody>
      </p:sp>
      <p:sp>
        <p:nvSpPr>
          <p:cNvPr id="33" name="Arrow: Chevron 32">
            <a:extLst>
              <a:ext uri="{FF2B5EF4-FFF2-40B4-BE49-F238E27FC236}">
                <a16:creationId xmlns:a16="http://schemas.microsoft.com/office/drawing/2014/main" id="{8DE77ADB-C708-BE0D-8F4F-FEF5C83D9E02}"/>
              </a:ext>
            </a:extLst>
          </p:cNvPr>
          <p:cNvSpPr/>
          <p:nvPr/>
        </p:nvSpPr>
        <p:spPr bwMode="gray">
          <a:xfrm>
            <a:off x="8977836" y="1140935"/>
            <a:ext cx="2511198" cy="367207"/>
          </a:xfrm>
          <a:prstGeom prst="chevron">
            <a:avLst/>
          </a:prstGeom>
          <a:solidFill>
            <a:srgbClr val="002060"/>
          </a:solidFill>
          <a:ln w="9525"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Open Sans"/>
                <a:ea typeface="+mn-ea"/>
                <a:cs typeface="Arial" panose="020B0604020202020204" pitchFamily="34" charset="0"/>
              </a:rPr>
              <a:t>Disposition</a:t>
            </a:r>
          </a:p>
        </p:txBody>
      </p:sp>
      <p:sp>
        <p:nvSpPr>
          <p:cNvPr id="53" name="Rectangle 52">
            <a:extLst>
              <a:ext uri="{FF2B5EF4-FFF2-40B4-BE49-F238E27FC236}">
                <a16:creationId xmlns:a16="http://schemas.microsoft.com/office/drawing/2014/main" id="{DDAC184E-0B4F-09AB-1E5E-685FEA1891EF}"/>
              </a:ext>
            </a:extLst>
          </p:cNvPr>
          <p:cNvSpPr/>
          <p:nvPr/>
        </p:nvSpPr>
        <p:spPr bwMode="gray">
          <a:xfrm>
            <a:off x="4583151" y="4829773"/>
            <a:ext cx="3155795" cy="899743"/>
          </a:xfrm>
          <a:prstGeom prst="rect">
            <a:avLst/>
          </a:prstGeom>
          <a:solidFill>
            <a:srgbClr val="A0DCFF"/>
          </a:solidFill>
          <a:effectLst>
            <a:outerShdw blurRad="50800" dist="38100" dir="2700000" algn="tl" rotWithShape="0">
              <a:prstClr val="black">
                <a:alpha val="40000"/>
              </a:prstClr>
            </a:outerShdw>
          </a:effectLst>
        </p:spPr>
        <p:txBody>
          <a:bodyPr wrap="square" lIns="91440" tIns="91440" rIns="91440" bIns="91440" rtlCol="0" anchor="t"/>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000" b="1" i="0"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Complexity</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 of tables, run # of Reports, ETL scripts,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Skillset required, Time investment &amp; Planning</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Volume of Data</a:t>
            </a:r>
          </a:p>
        </p:txBody>
      </p:sp>
      <p:sp>
        <p:nvSpPr>
          <p:cNvPr id="54" name="Rectangle 53">
            <a:extLst>
              <a:ext uri="{FF2B5EF4-FFF2-40B4-BE49-F238E27FC236}">
                <a16:creationId xmlns:a16="http://schemas.microsoft.com/office/drawing/2014/main" id="{5CB2A563-A35C-E02D-35FC-B03715EDBFB7}"/>
              </a:ext>
            </a:extLst>
          </p:cNvPr>
          <p:cNvSpPr/>
          <p:nvPr/>
        </p:nvSpPr>
        <p:spPr bwMode="gray">
          <a:xfrm>
            <a:off x="6169550" y="1753575"/>
            <a:ext cx="2433711" cy="1079865"/>
          </a:xfrm>
          <a:prstGeom prst="rect">
            <a:avLst/>
          </a:prstGeom>
          <a:solidFill>
            <a:srgbClr val="A0DCFF"/>
          </a:solidFill>
          <a:effectLst>
            <a:outerShdw blurRad="50800" dist="38100" dir="2700000" algn="tl" rotWithShape="0">
              <a:prstClr val="black">
                <a:alpha val="40000"/>
              </a:prstClr>
            </a:outerShdw>
          </a:effectLst>
        </p:spPr>
        <p:txBody>
          <a:bodyPr wrap="square" lIns="91440" tIns="91440" rIns="91440" bIns="91440" rtlCol="0" anchor="t"/>
          <a:lstStyle/>
          <a:p>
            <a:pPr marL="0" marR="0" lvl="0" indent="0" algn="l" defTabSz="914400" rtl="0" eaLnBrk="1" fontAlgn="auto" latinLnBrk="0" hangingPunct="1">
              <a:lnSpc>
                <a:spcPct val="100000"/>
              </a:lnSpc>
              <a:spcBef>
                <a:spcPts val="100"/>
              </a:spcBef>
              <a:spcAft>
                <a:spcPts val="100"/>
              </a:spcAft>
              <a:buClrTx/>
              <a:buSzTx/>
              <a:buFontTx/>
              <a:buNone/>
              <a:tabLst/>
              <a:defRPr/>
            </a:pPr>
            <a:r>
              <a:rPr kumimoji="0" lang="en-US" sz="1000" b="1" i="0"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Business Usage Metrics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Number of users</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Frequency of usage</a:t>
            </a:r>
          </a:p>
          <a:p>
            <a:pPr marL="171450" marR="0" lvl="0" indent="-17145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0" i="1" u="none" strike="noStrike" kern="1200" cap="none" spc="0" normalizeH="0" baseline="0" noProof="0">
                <a:ln>
                  <a:noFill/>
                </a:ln>
                <a:solidFill>
                  <a:schemeClr val="tx1">
                    <a:lumMod val="10000"/>
                  </a:schemeClr>
                </a:solidFill>
                <a:effectLst/>
                <a:uLnTx/>
                <a:uFillTx/>
                <a:latin typeface="Open Sans"/>
                <a:ea typeface="+mn-ea"/>
                <a:cs typeface="Arial" panose="020B0604020202020204" pitchFamily="34" charset="0"/>
              </a:rPr>
              <a:t>%age of objects actively used</a:t>
            </a:r>
          </a:p>
        </p:txBody>
      </p:sp>
      <p:sp>
        <p:nvSpPr>
          <p:cNvPr id="11" name="TextBox 10">
            <a:extLst>
              <a:ext uri="{FF2B5EF4-FFF2-40B4-BE49-F238E27FC236}">
                <a16:creationId xmlns:a16="http://schemas.microsoft.com/office/drawing/2014/main" id="{D5F33A8F-4F95-EDDB-C208-BFCB4872BB5A}"/>
              </a:ext>
            </a:extLst>
          </p:cNvPr>
          <p:cNvSpPr txBox="1"/>
          <p:nvPr/>
        </p:nvSpPr>
        <p:spPr>
          <a:xfrm>
            <a:off x="644382" y="6269868"/>
            <a:ext cx="7457202" cy="230832"/>
          </a:xfrm>
          <a:prstGeom prst="rect">
            <a:avLst/>
          </a:prstGeom>
          <a:noFill/>
          <a:ln w="9525">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F5F5F5">
                    <a:lumMod val="10000"/>
                  </a:srgbClr>
                </a:solidFill>
                <a:effectLst/>
                <a:uLnTx/>
                <a:uFillTx/>
                <a:latin typeface="Open Sans"/>
                <a:ea typeface="+mn-ea"/>
                <a:cs typeface="+mn-cs"/>
              </a:rPr>
              <a:t>*Usage reflects last 90 days access and usage activity for the Teradata assets by the identified consumers.</a:t>
            </a:r>
            <a:endParaRPr kumimoji="0" lang="en-US" sz="900" b="0" i="1" u="none" strike="noStrike" kern="1200" cap="none" spc="0" normalizeH="0" baseline="0" noProof="0" dirty="0">
              <a:ln>
                <a:noFill/>
              </a:ln>
              <a:solidFill>
                <a:srgbClr val="F5F5F5"/>
              </a:solidFill>
              <a:effectLst/>
              <a:uLnTx/>
              <a:uFillTx/>
              <a:latin typeface="Open Sans"/>
              <a:ea typeface="+mn-ea"/>
              <a:cs typeface="+mn-cs"/>
            </a:endParaRPr>
          </a:p>
        </p:txBody>
      </p:sp>
    </p:spTree>
    <p:extLst>
      <p:ext uri="{BB962C8B-B14F-4D97-AF65-F5344CB8AC3E}">
        <p14:creationId xmlns:p14="http://schemas.microsoft.com/office/powerpoint/2010/main" val="3495745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A463-664D-A133-364B-ADE299D20322}"/>
            </a:ext>
          </a:extLst>
        </p:cNvPr>
        <p:cNvGrpSpPr/>
        <p:nvPr/>
      </p:nvGrpSpPr>
      <p:grpSpPr>
        <a:xfrm>
          <a:off x="0" y="0"/>
          <a:ext cx="0" cy="0"/>
          <a:chOff x="0" y="0"/>
          <a:chExt cx="0" cy="0"/>
        </a:xfrm>
      </p:grpSpPr>
      <p:sp>
        <p:nvSpPr>
          <p:cNvPr id="234" name="object 60">
            <a:extLst>
              <a:ext uri="{FF2B5EF4-FFF2-40B4-BE49-F238E27FC236}">
                <a16:creationId xmlns:a16="http://schemas.microsoft.com/office/drawing/2014/main" id="{C667B930-92C7-F037-4DFE-29C2AB5D65D5}"/>
              </a:ext>
            </a:extLst>
          </p:cNvPr>
          <p:cNvSpPr/>
          <p:nvPr/>
        </p:nvSpPr>
        <p:spPr>
          <a:xfrm>
            <a:off x="9031647" y="1691667"/>
            <a:ext cx="2618853" cy="385128"/>
          </a:xfrm>
          <a:custGeom>
            <a:avLst/>
            <a:gdLst/>
            <a:ahLst/>
            <a:cxnLst/>
            <a:rect l="l" t="t" r="r" b="b"/>
            <a:pathLst>
              <a:path w="2377440" h="356869">
                <a:moveTo>
                  <a:pt x="2377440" y="0"/>
                </a:moveTo>
                <a:lnTo>
                  <a:pt x="0" y="0"/>
                </a:lnTo>
                <a:lnTo>
                  <a:pt x="0" y="356615"/>
                </a:lnTo>
                <a:lnTo>
                  <a:pt x="2377440" y="356615"/>
                </a:lnTo>
                <a:lnTo>
                  <a:pt x="2377440" y="0"/>
                </a:lnTo>
                <a:close/>
              </a:path>
            </a:pathLst>
          </a:custGeom>
          <a:solidFill>
            <a:srgbClr val="D9D9D9"/>
          </a:solidFill>
        </p:spPr>
        <p:txBody>
          <a:bodyPr wrap="square" lIns="0" tIns="0" rIns="0" bIns="0" rtlCol="0"/>
          <a:lstStyle/>
          <a:p>
            <a:endParaRPr sz="1125"/>
          </a:p>
        </p:txBody>
      </p:sp>
      <p:sp>
        <p:nvSpPr>
          <p:cNvPr id="235" name="object 61">
            <a:extLst>
              <a:ext uri="{FF2B5EF4-FFF2-40B4-BE49-F238E27FC236}">
                <a16:creationId xmlns:a16="http://schemas.microsoft.com/office/drawing/2014/main" id="{FE27C431-53BC-F478-945F-75009EADE063}"/>
              </a:ext>
            </a:extLst>
          </p:cNvPr>
          <p:cNvSpPr txBox="1"/>
          <p:nvPr/>
        </p:nvSpPr>
        <p:spPr>
          <a:xfrm>
            <a:off x="9077209" y="1704148"/>
            <a:ext cx="1787171" cy="173124"/>
          </a:xfrm>
          <a:prstGeom prst="rect">
            <a:avLst/>
          </a:prstGeom>
        </p:spPr>
        <p:txBody>
          <a:bodyPr vert="horz" wrap="square" lIns="57150" tIns="0" rIns="0" bIns="0" rtlCol="0">
            <a:spAutoFit/>
          </a:bodyPr>
          <a:lstStyle/>
          <a:p>
            <a:pPr marL="7938">
              <a:spcBef>
                <a:spcPts val="66"/>
              </a:spcBef>
            </a:pPr>
            <a:r>
              <a:rPr lang="en-US" sz="1125" b="1">
                <a:solidFill>
                  <a:schemeClr val="tx2"/>
                </a:solidFill>
                <a:cs typeface="Open Sans"/>
              </a:rPr>
              <a:t>Hypercare</a:t>
            </a:r>
            <a:endParaRPr sz="1125">
              <a:solidFill>
                <a:schemeClr val="tx2"/>
              </a:solidFill>
              <a:cs typeface="Open Sans"/>
            </a:endParaRPr>
          </a:p>
        </p:txBody>
      </p:sp>
      <p:sp>
        <p:nvSpPr>
          <p:cNvPr id="236" name="object 63">
            <a:extLst>
              <a:ext uri="{FF2B5EF4-FFF2-40B4-BE49-F238E27FC236}">
                <a16:creationId xmlns:a16="http://schemas.microsoft.com/office/drawing/2014/main" id="{2CB593F6-45EE-BFFE-FCC7-0798B9009D36}"/>
              </a:ext>
            </a:extLst>
          </p:cNvPr>
          <p:cNvSpPr/>
          <p:nvPr/>
        </p:nvSpPr>
        <p:spPr>
          <a:xfrm>
            <a:off x="8690860" y="1691667"/>
            <a:ext cx="382905" cy="385128"/>
          </a:xfrm>
          <a:custGeom>
            <a:avLst/>
            <a:gdLst/>
            <a:ahLst/>
            <a:cxnLst/>
            <a:rect l="l" t="t" r="r" b="b"/>
            <a:pathLst>
              <a:path w="302259" h="356869">
                <a:moveTo>
                  <a:pt x="301752" y="0"/>
                </a:moveTo>
                <a:lnTo>
                  <a:pt x="0" y="0"/>
                </a:lnTo>
                <a:lnTo>
                  <a:pt x="0" y="356615"/>
                </a:lnTo>
                <a:lnTo>
                  <a:pt x="301752" y="356615"/>
                </a:lnTo>
                <a:lnTo>
                  <a:pt x="301752" y="0"/>
                </a:lnTo>
                <a:close/>
              </a:path>
            </a:pathLst>
          </a:custGeom>
          <a:solidFill>
            <a:srgbClr val="6A97DF"/>
          </a:solidFill>
        </p:spPr>
        <p:txBody>
          <a:bodyPr wrap="square" lIns="0" tIns="0" rIns="0" bIns="0" rtlCol="0" anchor="ctr"/>
          <a:lstStyle/>
          <a:p>
            <a:pPr algn="ctr"/>
            <a:r>
              <a:rPr lang="en-US" sz="1750" b="1">
                <a:solidFill>
                  <a:schemeClr val="bg1"/>
                </a:solidFill>
              </a:rPr>
              <a:t>3</a:t>
            </a:r>
            <a:endParaRPr sz="1750" b="1">
              <a:solidFill>
                <a:schemeClr val="bg1"/>
              </a:solidFill>
            </a:endParaRPr>
          </a:p>
        </p:txBody>
      </p:sp>
      <p:sp>
        <p:nvSpPr>
          <p:cNvPr id="230" name="object 60">
            <a:extLst>
              <a:ext uri="{FF2B5EF4-FFF2-40B4-BE49-F238E27FC236}">
                <a16:creationId xmlns:a16="http://schemas.microsoft.com/office/drawing/2014/main" id="{82AB8506-E156-DE4F-C339-E498A810D8FD}"/>
              </a:ext>
            </a:extLst>
          </p:cNvPr>
          <p:cNvSpPr/>
          <p:nvPr/>
        </p:nvSpPr>
        <p:spPr>
          <a:xfrm>
            <a:off x="4103063" y="1701613"/>
            <a:ext cx="4393202" cy="385128"/>
          </a:xfrm>
          <a:custGeom>
            <a:avLst/>
            <a:gdLst/>
            <a:ahLst/>
            <a:cxnLst/>
            <a:rect l="l" t="t" r="r" b="b"/>
            <a:pathLst>
              <a:path w="2377440" h="356869">
                <a:moveTo>
                  <a:pt x="2377440" y="0"/>
                </a:moveTo>
                <a:lnTo>
                  <a:pt x="0" y="0"/>
                </a:lnTo>
                <a:lnTo>
                  <a:pt x="0" y="356615"/>
                </a:lnTo>
                <a:lnTo>
                  <a:pt x="2377440" y="356615"/>
                </a:lnTo>
                <a:lnTo>
                  <a:pt x="2377440" y="0"/>
                </a:lnTo>
                <a:close/>
              </a:path>
            </a:pathLst>
          </a:custGeom>
          <a:solidFill>
            <a:srgbClr val="D9D9D9"/>
          </a:solidFill>
        </p:spPr>
        <p:txBody>
          <a:bodyPr wrap="square" lIns="0" tIns="0" rIns="0" bIns="0" rtlCol="0"/>
          <a:lstStyle/>
          <a:p>
            <a:endParaRPr sz="1125"/>
          </a:p>
        </p:txBody>
      </p:sp>
      <p:sp>
        <p:nvSpPr>
          <p:cNvPr id="231" name="object 61">
            <a:extLst>
              <a:ext uri="{FF2B5EF4-FFF2-40B4-BE49-F238E27FC236}">
                <a16:creationId xmlns:a16="http://schemas.microsoft.com/office/drawing/2014/main" id="{56082553-A912-5EF4-027D-CC1DC60548B3}"/>
              </a:ext>
            </a:extLst>
          </p:cNvPr>
          <p:cNvSpPr txBox="1"/>
          <p:nvPr/>
        </p:nvSpPr>
        <p:spPr>
          <a:xfrm>
            <a:off x="4110518" y="1715385"/>
            <a:ext cx="2884041" cy="173124"/>
          </a:xfrm>
          <a:prstGeom prst="rect">
            <a:avLst/>
          </a:prstGeom>
        </p:spPr>
        <p:txBody>
          <a:bodyPr vert="horz" wrap="square" lIns="57150" tIns="0" rIns="0" bIns="0" rtlCol="0">
            <a:spAutoFit/>
          </a:bodyPr>
          <a:lstStyle/>
          <a:p>
            <a:pPr marL="7938">
              <a:spcBef>
                <a:spcPts val="66"/>
              </a:spcBef>
            </a:pPr>
            <a:r>
              <a:rPr sz="1125" b="1">
                <a:solidFill>
                  <a:schemeClr val="tx2"/>
                </a:solidFill>
                <a:cs typeface="Open Sans"/>
              </a:rPr>
              <a:t>Migration</a:t>
            </a:r>
            <a:endParaRPr sz="1125">
              <a:solidFill>
                <a:schemeClr val="tx2"/>
              </a:solidFill>
              <a:cs typeface="Open Sans"/>
            </a:endParaRPr>
          </a:p>
        </p:txBody>
      </p:sp>
      <p:sp>
        <p:nvSpPr>
          <p:cNvPr id="232" name="object 63">
            <a:extLst>
              <a:ext uri="{FF2B5EF4-FFF2-40B4-BE49-F238E27FC236}">
                <a16:creationId xmlns:a16="http://schemas.microsoft.com/office/drawing/2014/main" id="{EA8E2F72-3BCE-5067-55F3-AB7D774C5410}"/>
              </a:ext>
            </a:extLst>
          </p:cNvPr>
          <p:cNvSpPr/>
          <p:nvPr/>
        </p:nvSpPr>
        <p:spPr>
          <a:xfrm>
            <a:off x="3720158" y="1701613"/>
            <a:ext cx="382905" cy="385128"/>
          </a:xfrm>
          <a:custGeom>
            <a:avLst/>
            <a:gdLst/>
            <a:ahLst/>
            <a:cxnLst/>
            <a:rect l="l" t="t" r="r" b="b"/>
            <a:pathLst>
              <a:path w="302259" h="356869">
                <a:moveTo>
                  <a:pt x="301752" y="0"/>
                </a:moveTo>
                <a:lnTo>
                  <a:pt x="0" y="0"/>
                </a:lnTo>
                <a:lnTo>
                  <a:pt x="0" y="356615"/>
                </a:lnTo>
                <a:lnTo>
                  <a:pt x="301752" y="356615"/>
                </a:lnTo>
                <a:lnTo>
                  <a:pt x="301752" y="0"/>
                </a:lnTo>
                <a:close/>
              </a:path>
            </a:pathLst>
          </a:custGeom>
          <a:solidFill>
            <a:srgbClr val="2861BB"/>
          </a:solidFill>
        </p:spPr>
        <p:txBody>
          <a:bodyPr wrap="square" lIns="0" tIns="0" rIns="0" bIns="0" rtlCol="0" anchor="ctr"/>
          <a:lstStyle/>
          <a:p>
            <a:pPr algn="ctr"/>
            <a:r>
              <a:rPr lang="en-US" sz="1750" b="1">
                <a:solidFill>
                  <a:schemeClr val="bg1"/>
                </a:solidFill>
              </a:rPr>
              <a:t>2</a:t>
            </a:r>
            <a:endParaRPr sz="1750" b="1">
              <a:solidFill>
                <a:schemeClr val="bg1"/>
              </a:solidFill>
            </a:endParaRPr>
          </a:p>
        </p:txBody>
      </p:sp>
      <p:sp>
        <p:nvSpPr>
          <p:cNvPr id="8" name="Rectangle 7">
            <a:extLst>
              <a:ext uri="{FF2B5EF4-FFF2-40B4-BE49-F238E27FC236}">
                <a16:creationId xmlns:a16="http://schemas.microsoft.com/office/drawing/2014/main" id="{9758D050-9C95-4B9D-CF15-7A3B3B05CF0E}"/>
              </a:ext>
            </a:extLst>
          </p:cNvPr>
          <p:cNvSpPr/>
          <p:nvPr/>
        </p:nvSpPr>
        <p:spPr bwMode="gray">
          <a:xfrm>
            <a:off x="3720158" y="2085679"/>
            <a:ext cx="4776107" cy="645795"/>
          </a:xfrm>
          <a:prstGeom prst="rect">
            <a:avLst/>
          </a:prstGeom>
          <a:solidFill>
            <a:srgbClr val="2861BB">
              <a:alpha val="70000"/>
            </a:srgbClr>
          </a:solidFill>
          <a:ln w="19050" algn="ctr">
            <a:noFill/>
            <a:miter lim="800000"/>
            <a:headEnd/>
            <a:tailEnd/>
          </a:ln>
        </p:spPr>
        <p:txBody>
          <a:bodyPr wrap="square" lIns="72015" tIns="72015" rIns="72015" bIns="72015" rtlCol="0" anchor="ctr"/>
          <a:lstStyle/>
          <a:p>
            <a:pPr algn="ctr" defTabSz="740805"/>
            <a:r>
              <a:rPr lang="en-US" sz="1000">
                <a:solidFill>
                  <a:prstClr val="white"/>
                </a:solidFill>
                <a:ea typeface="Open Sans Light" panose="020B0306030504020204" pitchFamily="34" charset="0"/>
                <a:cs typeface="Open Sans Light" panose="020B0306030504020204" pitchFamily="34" charset="0"/>
              </a:rPr>
              <a:t>Iteratively migrate the legacy data based on multiple functional areas or grouped during the planning phase in potentially deployable increments, and increase efficiency and quality through frequent feedback and improvement loops </a:t>
            </a:r>
          </a:p>
        </p:txBody>
      </p:sp>
      <p:sp>
        <p:nvSpPr>
          <p:cNvPr id="9" name="Rectangle 8">
            <a:extLst>
              <a:ext uri="{FF2B5EF4-FFF2-40B4-BE49-F238E27FC236}">
                <a16:creationId xmlns:a16="http://schemas.microsoft.com/office/drawing/2014/main" id="{3F40213B-2448-3CC5-A04E-6E71E7EF8203}"/>
              </a:ext>
            </a:extLst>
          </p:cNvPr>
          <p:cNvSpPr/>
          <p:nvPr/>
        </p:nvSpPr>
        <p:spPr bwMode="gray">
          <a:xfrm>
            <a:off x="8690861" y="2085679"/>
            <a:ext cx="2959639" cy="645795"/>
          </a:xfrm>
          <a:prstGeom prst="rect">
            <a:avLst/>
          </a:prstGeom>
          <a:solidFill>
            <a:srgbClr val="6A97DF">
              <a:alpha val="70000"/>
            </a:srgbClr>
          </a:solidFill>
          <a:ln w="19050" algn="ctr">
            <a:noFill/>
            <a:miter lim="800000"/>
            <a:headEnd/>
            <a:tailEnd/>
          </a:ln>
        </p:spPr>
        <p:txBody>
          <a:bodyPr wrap="square" lIns="72015" tIns="72015" rIns="72015" bIns="72015" rtlCol="0" anchor="ctr"/>
          <a:lstStyle/>
          <a:p>
            <a:pPr algn="ctr" defTabSz="740805">
              <a:defRPr/>
            </a:pPr>
            <a:r>
              <a:rPr lang="en-US" sz="1000">
                <a:solidFill>
                  <a:prstClr val="white"/>
                </a:solidFill>
                <a:ea typeface="Open Sans Light" panose="020B0306030504020204" pitchFamily="34" charset="0"/>
                <a:cs typeface="Open Sans Light" panose="020B0306030504020204" pitchFamily="34" charset="0"/>
              </a:rPr>
              <a:t>Execute Prod parallel, complete cutover and transition</a:t>
            </a:r>
          </a:p>
        </p:txBody>
      </p:sp>
      <p:sp>
        <p:nvSpPr>
          <p:cNvPr id="13" name="Rectangle 12">
            <a:extLst>
              <a:ext uri="{FF2B5EF4-FFF2-40B4-BE49-F238E27FC236}">
                <a16:creationId xmlns:a16="http://schemas.microsoft.com/office/drawing/2014/main" id="{5E2CA7C7-9339-382E-CA33-EA1F5E413BC4}"/>
              </a:ext>
            </a:extLst>
          </p:cNvPr>
          <p:cNvSpPr/>
          <p:nvPr/>
        </p:nvSpPr>
        <p:spPr bwMode="gray">
          <a:xfrm>
            <a:off x="4110518" y="1903461"/>
            <a:ext cx="3134581" cy="142090"/>
          </a:xfrm>
          <a:prstGeom prst="rect">
            <a:avLst/>
          </a:prstGeom>
          <a:noFill/>
          <a:ln w="19050" algn="ctr">
            <a:noFill/>
            <a:prstDash val="sysDash"/>
            <a:miter lim="800000"/>
            <a:headEnd/>
            <a:tailEnd/>
          </a:ln>
        </p:spPr>
        <p:txBody>
          <a:bodyPr wrap="square" lIns="57150" tIns="0" rIns="0" bIns="0" rtlCol="0" anchor="ctr">
            <a:spAutoFit/>
          </a:bodyPr>
          <a:lstStyle/>
          <a:p>
            <a:pPr defTabSz="740805">
              <a:lnSpc>
                <a:spcPct val="106000"/>
              </a:lnSpc>
              <a:defRPr/>
            </a:pPr>
            <a:r>
              <a:rPr lang="en-US" sz="900">
                <a:solidFill>
                  <a:schemeClr val="tx2"/>
                </a:solidFill>
                <a:ea typeface="Open Sans Light" panose="020B0306030504020204" pitchFamily="34" charset="0"/>
                <a:cs typeface="Open Sans Light" panose="020B0306030504020204" pitchFamily="34" charset="0"/>
              </a:rPr>
              <a:t>Typically, 2- to 3-weeks (shorter is better)</a:t>
            </a:r>
          </a:p>
        </p:txBody>
      </p:sp>
      <p:sp>
        <p:nvSpPr>
          <p:cNvPr id="17" name="Rectangle 16">
            <a:extLst>
              <a:ext uri="{FF2B5EF4-FFF2-40B4-BE49-F238E27FC236}">
                <a16:creationId xmlns:a16="http://schemas.microsoft.com/office/drawing/2014/main" id="{D4C8FF11-04ED-B9B6-A5F1-0F2F41C3130B}"/>
              </a:ext>
            </a:extLst>
          </p:cNvPr>
          <p:cNvSpPr/>
          <p:nvPr/>
        </p:nvSpPr>
        <p:spPr bwMode="gray">
          <a:xfrm>
            <a:off x="412757" y="2085679"/>
            <a:ext cx="3013109" cy="645795"/>
          </a:xfrm>
          <a:prstGeom prst="rect">
            <a:avLst/>
          </a:prstGeom>
          <a:solidFill>
            <a:srgbClr val="1A3673">
              <a:alpha val="70000"/>
            </a:srgbClr>
          </a:solidFill>
          <a:ln w="19050" algn="ctr">
            <a:noFill/>
            <a:miter lim="800000"/>
            <a:headEnd/>
            <a:tailEnd/>
          </a:ln>
        </p:spPr>
        <p:txBody>
          <a:bodyPr wrap="square" lIns="72015" tIns="72015" rIns="72015" bIns="72015" rtlCol="0" anchor="ctr"/>
          <a:lstStyle/>
          <a:p>
            <a:pPr algn="ctr" defTabSz="740805"/>
            <a:r>
              <a:rPr lang="en-US" sz="1000">
                <a:solidFill>
                  <a:prstClr val="white"/>
                </a:solidFill>
                <a:ea typeface="Open Sans Light" panose="020B0306030504020204" pitchFamily="34" charset="0"/>
                <a:cs typeface="Open Sans Light" panose="020B0306030504020204" pitchFamily="34" charset="0"/>
              </a:rPr>
              <a:t>Initiate and plan the project, develop the roadmap</a:t>
            </a:r>
          </a:p>
        </p:txBody>
      </p:sp>
      <p:sp>
        <p:nvSpPr>
          <p:cNvPr id="18" name="TextBox 17">
            <a:extLst>
              <a:ext uri="{FF2B5EF4-FFF2-40B4-BE49-F238E27FC236}">
                <a16:creationId xmlns:a16="http://schemas.microsoft.com/office/drawing/2014/main" id="{B5D3DB8D-FAAB-A333-A193-B68AF224A986}"/>
              </a:ext>
            </a:extLst>
          </p:cNvPr>
          <p:cNvSpPr txBox="1"/>
          <p:nvPr/>
        </p:nvSpPr>
        <p:spPr bwMode="gray">
          <a:xfrm>
            <a:off x="2632076" y="1299611"/>
            <a:ext cx="7671780" cy="251952"/>
          </a:xfrm>
          <a:prstGeom prst="rect">
            <a:avLst/>
          </a:prstGeom>
          <a:noFill/>
          <a:ln>
            <a:noFill/>
            <a:prstDash val="sysDash"/>
          </a:ln>
        </p:spPr>
        <p:txBody>
          <a:bodyPr wrap="square" lIns="14814" tIns="14814" rIns="14814" rtlCol="0" anchor="ctr" anchorCtr="0">
            <a:noAutofit/>
          </a:bodyPr>
          <a:lstStyle/>
          <a:p>
            <a:pPr defTabSz="740805">
              <a:defRPr/>
            </a:pPr>
            <a:r>
              <a:rPr lang="en-US" sz="1400" b="1">
                <a:solidFill>
                  <a:prstClr val="black"/>
                </a:solidFill>
                <a:ea typeface="Open Sans Light" panose="020B0306030504020204" pitchFamily="34" charset="0"/>
                <a:cs typeface="Open Sans Light" panose="020B0306030504020204" pitchFamily="34" charset="0"/>
              </a:rPr>
              <a:t>Program Increments</a:t>
            </a:r>
            <a:r>
              <a:rPr lang="en-US" sz="1400" b="1">
                <a:solidFill>
                  <a:schemeClr val="tx1">
                    <a:lumMod val="50000"/>
                    <a:lumOff val="50000"/>
                  </a:schemeClr>
                </a:solidFill>
                <a:ea typeface="Open Sans Light" panose="020B0306030504020204" pitchFamily="34" charset="0"/>
                <a:cs typeface="Open Sans Light" panose="020B0306030504020204" pitchFamily="34" charset="0"/>
              </a:rPr>
              <a:t> </a:t>
            </a:r>
            <a:r>
              <a:rPr lang="en-US" sz="1400">
                <a:solidFill>
                  <a:schemeClr val="tx1">
                    <a:lumMod val="50000"/>
                    <a:lumOff val="50000"/>
                  </a:schemeClr>
                </a:solidFill>
                <a:ea typeface="Open Sans Light" panose="020B0306030504020204" pitchFamily="34" charset="0"/>
                <a:cs typeface="Open Sans Light" panose="020B0306030504020204" pitchFamily="34" charset="0"/>
              </a:rPr>
              <a:t>(timeboxed efforts to deliver value in meaningful chunks)</a:t>
            </a:r>
          </a:p>
        </p:txBody>
      </p:sp>
      <p:sp>
        <p:nvSpPr>
          <p:cNvPr id="5" name="Text Placeholder 4">
            <a:extLst>
              <a:ext uri="{FF2B5EF4-FFF2-40B4-BE49-F238E27FC236}">
                <a16:creationId xmlns:a16="http://schemas.microsoft.com/office/drawing/2014/main" id="{7FA39DF9-95D9-B7B9-14EA-07826F9B7EBD}"/>
              </a:ext>
            </a:extLst>
          </p:cNvPr>
          <p:cNvSpPr>
            <a:spLocks noGrp="1"/>
          </p:cNvSpPr>
          <p:nvPr>
            <p:ph type="body" sz="quarter" idx="22"/>
          </p:nvPr>
        </p:nvSpPr>
        <p:spPr>
          <a:xfrm>
            <a:off x="463295" y="652460"/>
            <a:ext cx="11277600" cy="384721"/>
          </a:xfrm>
        </p:spPr>
        <p:txBody>
          <a:bodyPr/>
          <a:lstStyle/>
          <a:p>
            <a:r>
              <a:rPr lang="en-US"/>
              <a:t>The individual workstream will execute using our three-part phased approach, which has been proven to accelerate and de-risk program delivery to realize tangible business value.</a:t>
            </a:r>
          </a:p>
        </p:txBody>
      </p:sp>
      <p:sp>
        <p:nvSpPr>
          <p:cNvPr id="165" name="Title 164">
            <a:extLst>
              <a:ext uri="{FF2B5EF4-FFF2-40B4-BE49-F238E27FC236}">
                <a16:creationId xmlns:a16="http://schemas.microsoft.com/office/drawing/2014/main" id="{55EFE9FC-7154-4C64-FE49-BBD65098690A}"/>
              </a:ext>
            </a:extLst>
          </p:cNvPr>
          <p:cNvSpPr>
            <a:spLocks noGrp="1"/>
          </p:cNvSpPr>
          <p:nvPr>
            <p:ph type="title"/>
          </p:nvPr>
        </p:nvSpPr>
        <p:spPr>
          <a:xfrm>
            <a:off x="463550" y="346076"/>
            <a:ext cx="11277600" cy="276999"/>
          </a:xfrm>
        </p:spPr>
        <p:txBody>
          <a:bodyPr/>
          <a:lstStyle/>
          <a:p>
            <a:r>
              <a:rPr lang="en-US"/>
              <a:t>Our Approach</a:t>
            </a:r>
          </a:p>
        </p:txBody>
      </p:sp>
      <p:sp>
        <p:nvSpPr>
          <p:cNvPr id="79" name="Rectangle 78">
            <a:extLst>
              <a:ext uri="{FF2B5EF4-FFF2-40B4-BE49-F238E27FC236}">
                <a16:creationId xmlns:a16="http://schemas.microsoft.com/office/drawing/2014/main" id="{CC6FD8AD-96BE-8677-6BC2-74A6E7A73853}"/>
              </a:ext>
            </a:extLst>
          </p:cNvPr>
          <p:cNvSpPr/>
          <p:nvPr/>
        </p:nvSpPr>
        <p:spPr bwMode="gray">
          <a:xfrm>
            <a:off x="9077209" y="1888764"/>
            <a:ext cx="1760260" cy="142090"/>
          </a:xfrm>
          <a:prstGeom prst="rect">
            <a:avLst/>
          </a:prstGeom>
          <a:noFill/>
          <a:ln w="19050" algn="ctr">
            <a:noFill/>
            <a:prstDash val="sysDash"/>
            <a:miter lim="800000"/>
            <a:headEnd/>
            <a:tailEnd/>
          </a:ln>
        </p:spPr>
        <p:txBody>
          <a:bodyPr wrap="square" lIns="57150" tIns="0" rIns="0" bIns="0" rtlCol="0" anchor="ctr">
            <a:spAutoFit/>
          </a:bodyPr>
          <a:lstStyle/>
          <a:p>
            <a:pPr defTabSz="740805">
              <a:lnSpc>
                <a:spcPct val="106000"/>
              </a:lnSpc>
              <a:defRPr/>
            </a:pPr>
            <a:r>
              <a:rPr lang="en-US" sz="900">
                <a:solidFill>
                  <a:schemeClr val="tx2"/>
                </a:solidFill>
                <a:ea typeface="Open Sans Light" panose="020B0306030504020204" pitchFamily="34" charset="0"/>
                <a:cs typeface="Open Sans Light" panose="020B0306030504020204" pitchFamily="34" charset="0"/>
              </a:rPr>
              <a:t>Up to 12 weeks</a:t>
            </a:r>
          </a:p>
        </p:txBody>
      </p:sp>
      <p:sp>
        <p:nvSpPr>
          <p:cNvPr id="167" name="object 49">
            <a:extLst>
              <a:ext uri="{FF2B5EF4-FFF2-40B4-BE49-F238E27FC236}">
                <a16:creationId xmlns:a16="http://schemas.microsoft.com/office/drawing/2014/main" id="{68DA8F55-AFE2-EA3D-9076-CBE50524F814}"/>
              </a:ext>
            </a:extLst>
          </p:cNvPr>
          <p:cNvSpPr/>
          <p:nvPr/>
        </p:nvSpPr>
        <p:spPr>
          <a:xfrm>
            <a:off x="795662" y="5707191"/>
            <a:ext cx="10854838" cy="680085"/>
          </a:xfrm>
          <a:prstGeom prst="rect">
            <a:avLst/>
          </a:prstGeom>
          <a:solidFill>
            <a:srgbClr val="F1F1F1"/>
          </a:solidFill>
        </p:spPr>
        <p:txBody>
          <a:bodyPr wrap="square" lIns="114300" tIns="0" rIns="114300" bIns="0" rtlCol="0"/>
          <a:lstStyle/>
          <a:p>
            <a:r>
              <a:rPr lang="en-US" sz="1500" b="1">
                <a:solidFill>
                  <a:prstClr val="black"/>
                </a:solidFill>
                <a:ea typeface="Open Sans Light" panose="020B0306030504020204" pitchFamily="34" charset="0"/>
                <a:cs typeface="Open Sans Light" panose="020B0306030504020204" pitchFamily="34" charset="0"/>
              </a:rPr>
              <a:t>Program Management &amp; Governance</a:t>
            </a:r>
          </a:p>
          <a:p>
            <a:r>
              <a:rPr lang="en-US" sz="1250">
                <a:solidFill>
                  <a:prstClr val="black"/>
                </a:solidFill>
                <a:ea typeface="Open Sans Light" panose="020B0306030504020204" pitchFamily="34" charset="0"/>
                <a:cs typeface="Open Sans Light" panose="020B0306030504020204" pitchFamily="34" charset="0"/>
              </a:rPr>
              <a:t>Establish the key functions required to govern program strategy and execution, manage staffing needs, monitor delivery progress and quality, and provide change  management support</a:t>
            </a:r>
          </a:p>
        </p:txBody>
      </p:sp>
      <p:sp>
        <p:nvSpPr>
          <p:cNvPr id="117" name="object 27">
            <a:extLst>
              <a:ext uri="{FF2B5EF4-FFF2-40B4-BE49-F238E27FC236}">
                <a16:creationId xmlns:a16="http://schemas.microsoft.com/office/drawing/2014/main" id="{4A8DF9D7-17D2-D538-7CFE-3AF1AE5473F4}"/>
              </a:ext>
            </a:extLst>
          </p:cNvPr>
          <p:cNvSpPr txBox="1"/>
          <p:nvPr/>
        </p:nvSpPr>
        <p:spPr>
          <a:xfrm>
            <a:off x="646546" y="3307772"/>
            <a:ext cx="822325" cy="430887"/>
          </a:xfrm>
          <a:prstGeom prst="rect">
            <a:avLst/>
          </a:prstGeom>
        </p:spPr>
        <p:txBody>
          <a:bodyPr vert="horz" wrap="square" lIns="0" tIns="0" rIns="0" bIns="0" rtlCol="0">
            <a:spAutoFit/>
          </a:bodyPr>
          <a:lstStyle/>
          <a:p>
            <a:pPr marR="5080" algn="ctr"/>
            <a:r>
              <a:rPr lang="en-US" sz="700" spc="-5">
                <a:solidFill>
                  <a:prstClr val="black"/>
                </a:solidFill>
                <a:ea typeface="Open Sans Light" panose="020B0306030504020204" pitchFamily="34" charset="0"/>
                <a:cs typeface="Open Sans Light" panose="020B0306030504020204" pitchFamily="34" charset="0"/>
              </a:rPr>
              <a:t>Prioritize Use  Cases, Enterprise  and Domain</a:t>
            </a:r>
            <a:r>
              <a:rPr lang="en-US" sz="700" spc="-65">
                <a:solidFill>
                  <a:prstClr val="black"/>
                </a:solidFill>
                <a:ea typeface="Open Sans Light" panose="020B0306030504020204" pitchFamily="34" charset="0"/>
                <a:cs typeface="Open Sans Light" panose="020B0306030504020204" pitchFamily="34" charset="0"/>
              </a:rPr>
              <a:t> </a:t>
            </a:r>
            <a:r>
              <a:rPr lang="en-US" sz="700" spc="-5">
                <a:solidFill>
                  <a:prstClr val="black"/>
                </a:solidFill>
                <a:ea typeface="Open Sans Light" panose="020B0306030504020204" pitchFamily="34" charset="0"/>
                <a:cs typeface="Open Sans Light" panose="020B0306030504020204" pitchFamily="34" charset="0"/>
              </a:rPr>
              <a:t>Assets  and Source  Systems</a:t>
            </a:r>
            <a:endParaRPr lang="en-US" sz="700">
              <a:solidFill>
                <a:prstClr val="black"/>
              </a:solidFill>
              <a:ea typeface="Open Sans Light" panose="020B0306030504020204" pitchFamily="34" charset="0"/>
              <a:cs typeface="Open Sans Light" panose="020B0306030504020204" pitchFamily="34" charset="0"/>
            </a:endParaRPr>
          </a:p>
        </p:txBody>
      </p:sp>
      <p:grpSp>
        <p:nvGrpSpPr>
          <p:cNvPr id="118" name="Group 117">
            <a:extLst>
              <a:ext uri="{FF2B5EF4-FFF2-40B4-BE49-F238E27FC236}">
                <a16:creationId xmlns:a16="http://schemas.microsoft.com/office/drawing/2014/main" id="{DE4320F9-6FA9-4A8D-2406-09B9EBF5BC0E}"/>
              </a:ext>
            </a:extLst>
          </p:cNvPr>
          <p:cNvGrpSpPr/>
          <p:nvPr/>
        </p:nvGrpSpPr>
        <p:grpSpPr>
          <a:xfrm>
            <a:off x="1377450" y="2978714"/>
            <a:ext cx="1721363" cy="875030"/>
            <a:chOff x="1926327" y="3557626"/>
            <a:chExt cx="2754180" cy="1400048"/>
          </a:xfrm>
        </p:grpSpPr>
        <p:sp>
          <p:nvSpPr>
            <p:cNvPr id="119" name="object 29">
              <a:extLst>
                <a:ext uri="{FF2B5EF4-FFF2-40B4-BE49-F238E27FC236}">
                  <a16:creationId xmlns:a16="http://schemas.microsoft.com/office/drawing/2014/main" id="{488F3350-D7BE-E8C0-89EA-FD31FB8CBCF7}"/>
                </a:ext>
              </a:extLst>
            </p:cNvPr>
            <p:cNvSpPr/>
            <p:nvPr/>
          </p:nvSpPr>
          <p:spPr>
            <a:xfrm>
              <a:off x="4064813" y="3902660"/>
              <a:ext cx="615694" cy="386485"/>
            </a:xfrm>
            <a:prstGeom prst="rect">
              <a:avLst/>
            </a:prstGeom>
            <a:blipFill>
              <a:blip r:embed="rId2"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22" name="object 30">
              <a:extLst>
                <a:ext uri="{FF2B5EF4-FFF2-40B4-BE49-F238E27FC236}">
                  <a16:creationId xmlns:a16="http://schemas.microsoft.com/office/drawing/2014/main" id="{05C3EDFB-C0CF-57A4-6594-F85115DF84D0}"/>
                </a:ext>
              </a:extLst>
            </p:cNvPr>
            <p:cNvSpPr/>
            <p:nvPr/>
          </p:nvSpPr>
          <p:spPr>
            <a:xfrm>
              <a:off x="1926327" y="3557626"/>
              <a:ext cx="556768" cy="1400048"/>
            </a:xfrm>
            <a:custGeom>
              <a:avLst/>
              <a:gdLst/>
              <a:ahLst/>
              <a:cxnLst/>
              <a:rect l="l" t="t" r="r" b="b"/>
              <a:pathLst>
                <a:path w="347980" h="875030">
                  <a:moveTo>
                    <a:pt x="138493" y="0"/>
                  </a:moveTo>
                  <a:lnTo>
                    <a:pt x="15112" y="26035"/>
                  </a:lnTo>
                  <a:lnTo>
                    <a:pt x="224104" y="421767"/>
                  </a:lnTo>
                  <a:lnTo>
                    <a:pt x="0" y="874776"/>
                  </a:lnTo>
                  <a:lnTo>
                    <a:pt x="138493" y="864362"/>
                  </a:lnTo>
                  <a:lnTo>
                    <a:pt x="347472" y="432181"/>
                  </a:lnTo>
                  <a:lnTo>
                    <a:pt x="138493" y="0"/>
                  </a:lnTo>
                  <a:close/>
                </a:path>
              </a:pathLst>
            </a:custGeom>
            <a:solidFill>
              <a:srgbClr val="1A3673"/>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sp>
        <p:nvSpPr>
          <p:cNvPr id="123" name="object 40">
            <a:extLst>
              <a:ext uri="{FF2B5EF4-FFF2-40B4-BE49-F238E27FC236}">
                <a16:creationId xmlns:a16="http://schemas.microsoft.com/office/drawing/2014/main" id="{DF73A313-C08C-F66F-9701-5E7976310501}"/>
              </a:ext>
            </a:extLst>
          </p:cNvPr>
          <p:cNvSpPr txBox="1"/>
          <p:nvPr/>
        </p:nvSpPr>
        <p:spPr>
          <a:xfrm>
            <a:off x="1729107" y="3020965"/>
            <a:ext cx="633095" cy="861774"/>
          </a:xfrm>
          <a:prstGeom prst="rect">
            <a:avLst/>
          </a:prstGeom>
        </p:spPr>
        <p:txBody>
          <a:bodyPr vert="horz" wrap="square" lIns="0" tIns="0" rIns="0" bIns="0" rtlCol="0">
            <a:spAutoFit/>
          </a:bodyPr>
          <a:lstStyle/>
          <a:p>
            <a:pPr marR="5080" algn="ctr"/>
            <a:r>
              <a:rPr lang="en-US" sz="700" spc="-5">
                <a:solidFill>
                  <a:prstClr val="black"/>
                </a:solidFill>
                <a:ea typeface="Open Sans Light" panose="020B0306030504020204" pitchFamily="34" charset="0"/>
                <a:cs typeface="Open Sans Light" panose="020B0306030504020204" pitchFamily="34" charset="0"/>
              </a:rPr>
              <a:t>Incorporate  dependencies  and co-  relationships  between  Enterprise</a:t>
            </a:r>
            <a:r>
              <a:rPr lang="en-US" sz="700" spc="-75">
                <a:solidFill>
                  <a:prstClr val="black"/>
                </a:solidFill>
                <a:ea typeface="Open Sans Light" panose="020B0306030504020204" pitchFamily="34" charset="0"/>
                <a:cs typeface="Open Sans Light" panose="020B0306030504020204" pitchFamily="34" charset="0"/>
              </a:rPr>
              <a:t> </a:t>
            </a:r>
            <a:r>
              <a:rPr lang="en-US" sz="700" spc="-5">
                <a:solidFill>
                  <a:prstClr val="black"/>
                </a:solidFill>
                <a:ea typeface="Open Sans Light" panose="020B0306030504020204" pitchFamily="34" charset="0"/>
                <a:cs typeface="Open Sans Light" panose="020B0306030504020204" pitchFamily="34" charset="0"/>
              </a:rPr>
              <a:t>and  Domains  Assets</a:t>
            </a:r>
            <a:endParaRPr lang="en-US" sz="700">
              <a:solidFill>
                <a:prstClr val="black"/>
              </a:solidFill>
              <a:ea typeface="Open Sans Light" panose="020B0306030504020204" pitchFamily="34" charset="0"/>
              <a:cs typeface="Open Sans Light" panose="020B0306030504020204" pitchFamily="34" charset="0"/>
            </a:endParaRPr>
          </a:p>
        </p:txBody>
      </p:sp>
      <p:sp>
        <p:nvSpPr>
          <p:cNvPr id="124" name="object 41">
            <a:extLst>
              <a:ext uri="{FF2B5EF4-FFF2-40B4-BE49-F238E27FC236}">
                <a16:creationId xmlns:a16="http://schemas.microsoft.com/office/drawing/2014/main" id="{F8E1E4F6-9F75-DA31-D48E-4CC1E7160E67}"/>
              </a:ext>
            </a:extLst>
          </p:cNvPr>
          <p:cNvSpPr/>
          <p:nvPr/>
        </p:nvSpPr>
        <p:spPr>
          <a:xfrm>
            <a:off x="2329951" y="2978714"/>
            <a:ext cx="347980" cy="875030"/>
          </a:xfrm>
          <a:custGeom>
            <a:avLst/>
            <a:gdLst/>
            <a:ahLst/>
            <a:cxnLst/>
            <a:rect l="l" t="t" r="r" b="b"/>
            <a:pathLst>
              <a:path w="347980" h="875030">
                <a:moveTo>
                  <a:pt x="138493" y="0"/>
                </a:moveTo>
                <a:lnTo>
                  <a:pt x="15112" y="26035"/>
                </a:lnTo>
                <a:lnTo>
                  <a:pt x="224104" y="421767"/>
                </a:lnTo>
                <a:lnTo>
                  <a:pt x="0" y="874776"/>
                </a:lnTo>
                <a:lnTo>
                  <a:pt x="138493" y="864362"/>
                </a:lnTo>
                <a:lnTo>
                  <a:pt x="347472" y="432181"/>
                </a:lnTo>
                <a:lnTo>
                  <a:pt x="138493" y="0"/>
                </a:lnTo>
                <a:close/>
              </a:path>
            </a:pathLst>
          </a:custGeom>
          <a:solidFill>
            <a:srgbClr val="1A3673"/>
          </a:solid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sp>
        <p:nvSpPr>
          <p:cNvPr id="125" name="object 51">
            <a:extLst>
              <a:ext uri="{FF2B5EF4-FFF2-40B4-BE49-F238E27FC236}">
                <a16:creationId xmlns:a16="http://schemas.microsoft.com/office/drawing/2014/main" id="{C2C97BE2-A4D1-1981-10B9-FADA22A4BD87}"/>
              </a:ext>
            </a:extLst>
          </p:cNvPr>
          <p:cNvSpPr txBox="1"/>
          <p:nvPr/>
        </p:nvSpPr>
        <p:spPr>
          <a:xfrm>
            <a:off x="2669358" y="3436607"/>
            <a:ext cx="573405" cy="538609"/>
          </a:xfrm>
          <a:prstGeom prst="rect">
            <a:avLst/>
          </a:prstGeom>
        </p:spPr>
        <p:txBody>
          <a:bodyPr vert="horz" wrap="square" lIns="0" tIns="0" rIns="0" bIns="0" rtlCol="0">
            <a:spAutoFit/>
          </a:bodyPr>
          <a:lstStyle/>
          <a:p>
            <a:pPr algn="ctr"/>
            <a:r>
              <a:rPr lang="en-US" sz="700" spc="-5">
                <a:solidFill>
                  <a:prstClr val="black"/>
                </a:solidFill>
                <a:ea typeface="Open Sans Light" panose="020B0306030504020204" pitchFamily="34" charset="0"/>
                <a:cs typeface="Open Sans Light" panose="020B0306030504020204" pitchFamily="34" charset="0"/>
              </a:rPr>
              <a:t>Roadmap</a:t>
            </a:r>
            <a:r>
              <a:rPr lang="en-US" sz="700" spc="-20">
                <a:solidFill>
                  <a:prstClr val="black"/>
                </a:solidFill>
                <a:ea typeface="Open Sans Light" panose="020B0306030504020204" pitchFamily="34" charset="0"/>
                <a:cs typeface="Open Sans Light" panose="020B0306030504020204" pitchFamily="34" charset="0"/>
              </a:rPr>
              <a:t> </a:t>
            </a:r>
            <a:r>
              <a:rPr lang="en-US" sz="700" spc="-5">
                <a:solidFill>
                  <a:prstClr val="black"/>
                </a:solidFill>
                <a:ea typeface="Open Sans Light" panose="020B0306030504020204" pitchFamily="34" charset="0"/>
                <a:cs typeface="Open Sans Light" panose="020B0306030504020204" pitchFamily="34" charset="0"/>
              </a:rPr>
              <a:t>&amp;</a:t>
            </a:r>
            <a:endParaRPr lang="en-US" sz="700">
              <a:solidFill>
                <a:prstClr val="black"/>
              </a:solidFill>
              <a:ea typeface="Open Sans Light" panose="020B0306030504020204" pitchFamily="34" charset="0"/>
              <a:cs typeface="Open Sans Light" panose="020B0306030504020204" pitchFamily="34" charset="0"/>
            </a:endParaRPr>
          </a:p>
          <a:p>
            <a:pPr marR="5080" algn="ctr"/>
            <a:r>
              <a:rPr lang="en-US" sz="700" spc="-5">
                <a:solidFill>
                  <a:prstClr val="black"/>
                </a:solidFill>
                <a:ea typeface="Open Sans Light" panose="020B0306030504020204" pitchFamily="34" charset="0"/>
                <a:cs typeface="Open Sans Light" panose="020B0306030504020204" pitchFamily="34" charset="0"/>
              </a:rPr>
              <a:t>plan,</a:t>
            </a:r>
            <a:r>
              <a:rPr lang="en-US" sz="700" spc="-75">
                <a:solidFill>
                  <a:prstClr val="black"/>
                </a:solidFill>
                <a:ea typeface="Open Sans Light" panose="020B0306030504020204" pitchFamily="34" charset="0"/>
                <a:cs typeface="Open Sans Light" panose="020B0306030504020204" pitchFamily="34" charset="0"/>
              </a:rPr>
              <a:t> </a:t>
            </a:r>
            <a:r>
              <a:rPr lang="en-US" sz="700" spc="-5">
                <a:solidFill>
                  <a:prstClr val="black"/>
                </a:solidFill>
                <a:ea typeface="Open Sans Light" panose="020B0306030504020204" pitchFamily="34" charset="0"/>
                <a:cs typeface="Open Sans Light" panose="020B0306030504020204" pitchFamily="34" charset="0"/>
              </a:rPr>
              <a:t>validate  use case and  data domain  tranches</a:t>
            </a:r>
            <a:endParaRPr lang="en-US" sz="700">
              <a:solidFill>
                <a:prstClr val="black"/>
              </a:solidFill>
              <a:ea typeface="Open Sans Light" panose="020B0306030504020204" pitchFamily="34" charset="0"/>
              <a:cs typeface="Open Sans Light" panose="020B0306030504020204" pitchFamily="34" charset="0"/>
            </a:endParaRPr>
          </a:p>
        </p:txBody>
      </p:sp>
      <p:sp>
        <p:nvSpPr>
          <p:cNvPr id="137" name="object 53">
            <a:extLst>
              <a:ext uri="{FF2B5EF4-FFF2-40B4-BE49-F238E27FC236}">
                <a16:creationId xmlns:a16="http://schemas.microsoft.com/office/drawing/2014/main" id="{522621E7-1461-21A2-731F-3A910F140E72}"/>
              </a:ext>
            </a:extLst>
          </p:cNvPr>
          <p:cNvSpPr txBox="1"/>
          <p:nvPr/>
        </p:nvSpPr>
        <p:spPr>
          <a:xfrm>
            <a:off x="654103" y="4763584"/>
            <a:ext cx="574675" cy="215444"/>
          </a:xfrm>
          <a:prstGeom prst="rect">
            <a:avLst/>
          </a:prstGeom>
        </p:spPr>
        <p:txBody>
          <a:bodyPr vert="horz" wrap="square" lIns="0" tIns="0" rIns="0" bIns="0" rtlCol="0">
            <a:spAutoFit/>
          </a:bodyPr>
          <a:lstStyle/>
          <a:p>
            <a:pPr marR="5080" algn="ctr"/>
            <a:r>
              <a:rPr lang="en-US" sz="700" spc="-5">
                <a:solidFill>
                  <a:prstClr val="black"/>
                </a:solidFill>
                <a:ea typeface="Open Sans Light" panose="020B0306030504020204" pitchFamily="34" charset="0"/>
                <a:cs typeface="Open Sans Light" panose="020B0306030504020204" pitchFamily="34" charset="0"/>
              </a:rPr>
              <a:t>Current</a:t>
            </a:r>
            <a:r>
              <a:rPr lang="en-US" sz="700" spc="-75">
                <a:solidFill>
                  <a:prstClr val="black"/>
                </a:solidFill>
                <a:ea typeface="Open Sans Light" panose="020B0306030504020204" pitchFamily="34" charset="0"/>
                <a:cs typeface="Open Sans Light" panose="020B0306030504020204" pitchFamily="34" charset="0"/>
              </a:rPr>
              <a:t> </a:t>
            </a:r>
            <a:r>
              <a:rPr lang="en-US" sz="700" spc="-10">
                <a:solidFill>
                  <a:prstClr val="black"/>
                </a:solidFill>
                <a:ea typeface="Open Sans Light" panose="020B0306030504020204" pitchFamily="34" charset="0"/>
                <a:cs typeface="Open Sans Light" panose="020B0306030504020204" pitchFamily="34" charset="0"/>
              </a:rPr>
              <a:t>State  </a:t>
            </a:r>
            <a:r>
              <a:rPr lang="en-US" sz="700" spc="-5">
                <a:solidFill>
                  <a:prstClr val="black"/>
                </a:solidFill>
                <a:ea typeface="Open Sans Light" panose="020B0306030504020204" pitchFamily="34" charset="0"/>
                <a:cs typeface="Open Sans Light" panose="020B0306030504020204" pitchFamily="34" charset="0"/>
              </a:rPr>
              <a:t>Architecture</a:t>
            </a:r>
            <a:endParaRPr lang="en-US" sz="700">
              <a:solidFill>
                <a:prstClr val="black"/>
              </a:solidFill>
              <a:ea typeface="Open Sans Light" panose="020B0306030504020204" pitchFamily="34" charset="0"/>
              <a:cs typeface="Open Sans Light" panose="020B0306030504020204" pitchFamily="34" charset="0"/>
            </a:endParaRPr>
          </a:p>
        </p:txBody>
      </p:sp>
      <p:sp>
        <p:nvSpPr>
          <p:cNvPr id="138" name="object 54">
            <a:extLst>
              <a:ext uri="{FF2B5EF4-FFF2-40B4-BE49-F238E27FC236}">
                <a16:creationId xmlns:a16="http://schemas.microsoft.com/office/drawing/2014/main" id="{745FCC5B-EDF7-4729-A72C-11351B72ADFD}"/>
              </a:ext>
            </a:extLst>
          </p:cNvPr>
          <p:cNvSpPr txBox="1"/>
          <p:nvPr/>
        </p:nvSpPr>
        <p:spPr>
          <a:xfrm>
            <a:off x="2680843" y="4781880"/>
            <a:ext cx="534035" cy="215444"/>
          </a:xfrm>
          <a:prstGeom prst="rect">
            <a:avLst/>
          </a:prstGeom>
        </p:spPr>
        <p:txBody>
          <a:bodyPr vert="horz" wrap="square" lIns="0" tIns="0" rIns="0" bIns="0" rtlCol="0">
            <a:spAutoFit/>
          </a:bodyPr>
          <a:lstStyle/>
          <a:p>
            <a:pPr marR="5080" algn="ctr"/>
            <a:r>
              <a:rPr lang="en-US" sz="700" spc="-5">
                <a:solidFill>
                  <a:prstClr val="black"/>
                </a:solidFill>
                <a:ea typeface="Open Sans Light" panose="020B0306030504020204" pitchFamily="34" charset="0"/>
                <a:cs typeface="Open Sans Light" panose="020B0306030504020204" pitchFamily="34" charset="0"/>
              </a:rPr>
              <a:t>Future</a:t>
            </a:r>
            <a:r>
              <a:rPr lang="en-US" sz="700" spc="-65">
                <a:solidFill>
                  <a:prstClr val="black"/>
                </a:solidFill>
                <a:ea typeface="Open Sans Light" panose="020B0306030504020204" pitchFamily="34" charset="0"/>
                <a:cs typeface="Open Sans Light" panose="020B0306030504020204" pitchFamily="34" charset="0"/>
              </a:rPr>
              <a:t> </a:t>
            </a:r>
            <a:r>
              <a:rPr lang="en-US" sz="700" spc="-10">
                <a:solidFill>
                  <a:prstClr val="black"/>
                </a:solidFill>
                <a:ea typeface="Open Sans Light" panose="020B0306030504020204" pitchFamily="34" charset="0"/>
                <a:cs typeface="Open Sans Light" panose="020B0306030504020204" pitchFamily="34" charset="0"/>
              </a:rPr>
              <a:t>State  </a:t>
            </a:r>
            <a:r>
              <a:rPr lang="en-US" sz="700" spc="-5">
                <a:solidFill>
                  <a:prstClr val="black"/>
                </a:solidFill>
                <a:ea typeface="Open Sans Light" panose="020B0306030504020204" pitchFamily="34" charset="0"/>
                <a:cs typeface="Open Sans Light" panose="020B0306030504020204" pitchFamily="34" charset="0"/>
              </a:rPr>
              <a:t>Archi</a:t>
            </a:r>
            <a:r>
              <a:rPr lang="en-US" sz="700" spc="-15">
                <a:solidFill>
                  <a:prstClr val="black"/>
                </a:solidFill>
                <a:ea typeface="Open Sans Light" panose="020B0306030504020204" pitchFamily="34" charset="0"/>
                <a:cs typeface="Open Sans Light" panose="020B0306030504020204" pitchFamily="34" charset="0"/>
              </a:rPr>
              <a:t>t</a:t>
            </a:r>
            <a:r>
              <a:rPr lang="en-US" sz="700">
                <a:solidFill>
                  <a:prstClr val="black"/>
                </a:solidFill>
                <a:ea typeface="Open Sans Light" panose="020B0306030504020204" pitchFamily="34" charset="0"/>
                <a:cs typeface="Open Sans Light" panose="020B0306030504020204" pitchFamily="34" charset="0"/>
              </a:rPr>
              <a:t>e</a:t>
            </a:r>
            <a:r>
              <a:rPr lang="en-US" sz="700" spc="-5">
                <a:solidFill>
                  <a:prstClr val="black"/>
                </a:solidFill>
                <a:ea typeface="Open Sans Light" panose="020B0306030504020204" pitchFamily="34" charset="0"/>
                <a:cs typeface="Open Sans Light" panose="020B0306030504020204" pitchFamily="34" charset="0"/>
              </a:rPr>
              <a:t>c</a:t>
            </a:r>
            <a:r>
              <a:rPr lang="en-US" sz="700" spc="-15">
                <a:solidFill>
                  <a:prstClr val="black"/>
                </a:solidFill>
                <a:ea typeface="Open Sans Light" panose="020B0306030504020204" pitchFamily="34" charset="0"/>
                <a:cs typeface="Open Sans Light" panose="020B0306030504020204" pitchFamily="34" charset="0"/>
              </a:rPr>
              <a:t>t</a:t>
            </a:r>
            <a:r>
              <a:rPr lang="en-US" sz="700">
                <a:solidFill>
                  <a:prstClr val="black"/>
                </a:solidFill>
                <a:ea typeface="Open Sans Light" panose="020B0306030504020204" pitchFamily="34" charset="0"/>
                <a:cs typeface="Open Sans Light" panose="020B0306030504020204" pitchFamily="34" charset="0"/>
              </a:rPr>
              <a:t>u</a:t>
            </a:r>
            <a:r>
              <a:rPr lang="en-US" sz="700" spc="-5">
                <a:solidFill>
                  <a:prstClr val="black"/>
                </a:solidFill>
                <a:ea typeface="Open Sans Light" panose="020B0306030504020204" pitchFamily="34" charset="0"/>
                <a:cs typeface="Open Sans Light" panose="020B0306030504020204" pitchFamily="34" charset="0"/>
              </a:rPr>
              <a:t>re</a:t>
            </a:r>
            <a:endParaRPr lang="en-US" sz="700">
              <a:solidFill>
                <a:prstClr val="black"/>
              </a:solidFill>
              <a:ea typeface="Open Sans Light" panose="020B0306030504020204" pitchFamily="34" charset="0"/>
              <a:cs typeface="Open Sans Light" panose="020B0306030504020204" pitchFamily="34" charset="0"/>
            </a:endParaRPr>
          </a:p>
        </p:txBody>
      </p:sp>
      <p:grpSp>
        <p:nvGrpSpPr>
          <p:cNvPr id="139" name="Group 138">
            <a:extLst>
              <a:ext uri="{FF2B5EF4-FFF2-40B4-BE49-F238E27FC236}">
                <a16:creationId xmlns:a16="http://schemas.microsoft.com/office/drawing/2014/main" id="{4BDEB635-5F0E-2A24-321D-194C67B7516A}"/>
              </a:ext>
            </a:extLst>
          </p:cNvPr>
          <p:cNvGrpSpPr/>
          <p:nvPr/>
        </p:nvGrpSpPr>
        <p:grpSpPr>
          <a:xfrm>
            <a:off x="638734" y="4290908"/>
            <a:ext cx="2654807" cy="445007"/>
            <a:chOff x="751026" y="6120384"/>
            <a:chExt cx="4247691" cy="712011"/>
          </a:xfrm>
        </p:grpSpPr>
        <p:sp>
          <p:nvSpPr>
            <p:cNvPr id="140" name="object 56">
              <a:extLst>
                <a:ext uri="{FF2B5EF4-FFF2-40B4-BE49-F238E27FC236}">
                  <a16:creationId xmlns:a16="http://schemas.microsoft.com/office/drawing/2014/main" id="{9C7475E8-E68E-1832-C13F-9B5C93ADFF97}"/>
                </a:ext>
              </a:extLst>
            </p:cNvPr>
            <p:cNvSpPr/>
            <p:nvPr/>
          </p:nvSpPr>
          <p:spPr>
            <a:xfrm>
              <a:off x="3974591" y="6152083"/>
              <a:ext cx="1024126" cy="680312"/>
            </a:xfrm>
            <a:prstGeom prst="rect">
              <a:avLst/>
            </a:prstGeom>
            <a:blipFill>
              <a:blip r:embed="rId3"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41" name="object 57">
              <a:extLst>
                <a:ext uri="{FF2B5EF4-FFF2-40B4-BE49-F238E27FC236}">
                  <a16:creationId xmlns:a16="http://schemas.microsoft.com/office/drawing/2014/main" id="{28CD8148-3380-9FC4-B99B-2FFE0C452928}"/>
                </a:ext>
              </a:extLst>
            </p:cNvPr>
            <p:cNvSpPr/>
            <p:nvPr/>
          </p:nvSpPr>
          <p:spPr>
            <a:xfrm>
              <a:off x="751026" y="6120384"/>
              <a:ext cx="1024126" cy="687627"/>
            </a:xfrm>
            <a:prstGeom prst="rect">
              <a:avLst/>
            </a:prstGeom>
            <a:blipFill>
              <a:blip r:embed="rId4"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graphicFrame>
        <p:nvGraphicFramePr>
          <p:cNvPr id="142" name="object 58">
            <a:extLst>
              <a:ext uri="{FF2B5EF4-FFF2-40B4-BE49-F238E27FC236}">
                <a16:creationId xmlns:a16="http://schemas.microsoft.com/office/drawing/2014/main" id="{00A3613E-5D26-5240-BC4E-7409A3F95297}"/>
              </a:ext>
            </a:extLst>
          </p:cNvPr>
          <p:cNvGraphicFramePr>
            <a:graphicFrameLocks noGrp="1"/>
          </p:cNvGraphicFramePr>
          <p:nvPr/>
        </p:nvGraphicFramePr>
        <p:xfrm>
          <a:off x="1316265" y="4056714"/>
          <a:ext cx="1013460" cy="1184415"/>
        </p:xfrm>
        <a:graphic>
          <a:graphicData uri="http://schemas.openxmlformats.org/drawingml/2006/table">
            <a:tbl>
              <a:tblPr firstRow="1" bandRow="1">
                <a:tableStyleId>{2D5ABB26-0587-4C30-8999-92F81FD0307C}</a:tableStyleId>
              </a:tblPr>
              <a:tblGrid>
                <a:gridCol w="1013460">
                  <a:extLst>
                    <a:ext uri="{9D8B030D-6E8A-4147-A177-3AD203B41FA5}">
                      <a16:colId xmlns:a16="http://schemas.microsoft.com/office/drawing/2014/main" val="20000"/>
                    </a:ext>
                  </a:extLst>
                </a:gridCol>
              </a:tblGrid>
              <a:tr h="176425">
                <a:tc>
                  <a:txBody>
                    <a:bodyPr/>
                    <a:lstStyle/>
                    <a:p>
                      <a:pPr marL="27940">
                        <a:lnSpc>
                          <a:spcPct val="100000"/>
                        </a:lnSpc>
                        <a:spcBef>
                          <a:spcPts val="210"/>
                        </a:spcBef>
                      </a:pPr>
                      <a:r>
                        <a:rPr lang="en-US" sz="600" spc="-5">
                          <a:solidFill>
                            <a:schemeClr val="tx2"/>
                          </a:solidFill>
                          <a:latin typeface="+mn-lt"/>
                          <a:cs typeface="Open Sans"/>
                        </a:rPr>
                        <a:t>Technology</a:t>
                      </a:r>
                      <a:r>
                        <a:rPr lang="en-US" sz="600" spc="-35">
                          <a:solidFill>
                            <a:schemeClr val="tx2"/>
                          </a:solidFill>
                          <a:latin typeface="+mn-lt"/>
                          <a:cs typeface="Open Sans"/>
                        </a:rPr>
                        <a:t> </a:t>
                      </a:r>
                      <a:r>
                        <a:rPr lang="en-US" sz="600" spc="-5">
                          <a:solidFill>
                            <a:schemeClr val="tx2"/>
                          </a:solidFill>
                          <a:latin typeface="+mn-lt"/>
                          <a:cs typeface="Open Sans"/>
                        </a:rPr>
                        <a:t>blueprinting</a:t>
                      </a:r>
                      <a:endParaRPr lang="en-US" sz="600">
                        <a:solidFill>
                          <a:schemeClr val="tx2"/>
                        </a:solidFill>
                        <a:latin typeface="+mn-lt"/>
                        <a:cs typeface="Open Sans"/>
                      </a:endParaRPr>
                    </a:p>
                  </a:txBody>
                  <a:tcPr marL="17145" marR="17145" marT="17145" marB="17145" anchor="ctr">
                    <a:lnB w="28575">
                      <a:solidFill>
                        <a:srgbClr val="FFFFFF"/>
                      </a:solidFill>
                      <a:prstDash val="solid"/>
                    </a:lnB>
                    <a:solidFill>
                      <a:srgbClr val="E1EDFF"/>
                    </a:solidFill>
                  </a:tcPr>
                </a:tc>
                <a:extLst>
                  <a:ext uri="{0D108BD9-81ED-4DB2-BD59-A6C34878D82A}">
                    <a16:rowId xmlns:a16="http://schemas.microsoft.com/office/drawing/2014/main" val="10000"/>
                  </a:ext>
                </a:extLst>
              </a:tr>
              <a:tr h="188793">
                <a:tc>
                  <a:txBody>
                    <a:bodyPr/>
                    <a:lstStyle/>
                    <a:p>
                      <a:pPr marL="27940">
                        <a:lnSpc>
                          <a:spcPct val="100000"/>
                        </a:lnSpc>
                        <a:spcBef>
                          <a:spcPts val="300"/>
                        </a:spcBef>
                      </a:pPr>
                      <a:r>
                        <a:rPr lang="en-US" sz="600" spc="-5">
                          <a:solidFill>
                            <a:schemeClr val="tx2"/>
                          </a:solidFill>
                          <a:latin typeface="+mn-lt"/>
                          <a:cs typeface="Open Sans"/>
                        </a:rPr>
                        <a:t>Technology tooling</a:t>
                      </a:r>
                      <a:r>
                        <a:rPr lang="en-US" sz="600" spc="-65">
                          <a:solidFill>
                            <a:schemeClr val="tx2"/>
                          </a:solidFill>
                          <a:latin typeface="+mn-lt"/>
                          <a:cs typeface="Open Sans"/>
                        </a:rPr>
                        <a:t> </a:t>
                      </a:r>
                      <a:r>
                        <a:rPr lang="en-US" sz="600" spc="-5">
                          <a:solidFill>
                            <a:schemeClr val="tx2"/>
                          </a:solidFill>
                          <a:latin typeface="+mn-lt"/>
                          <a:cs typeface="Open Sans"/>
                        </a:rPr>
                        <a:t>options</a:t>
                      </a:r>
                      <a:endParaRPr lang="en-US" sz="600">
                        <a:solidFill>
                          <a:schemeClr val="tx2"/>
                        </a:solidFill>
                        <a:latin typeface="+mn-lt"/>
                        <a:cs typeface="Open Sans"/>
                      </a:endParaRPr>
                    </a:p>
                  </a:txBody>
                  <a:tcPr marL="17145" marR="17145" marT="17145" marB="17145" anchor="ctr">
                    <a:lnT w="28575">
                      <a:solidFill>
                        <a:srgbClr val="FFFFFF"/>
                      </a:solidFill>
                      <a:prstDash val="solid"/>
                    </a:lnT>
                    <a:lnB w="28575">
                      <a:solidFill>
                        <a:srgbClr val="FFFFFF"/>
                      </a:solidFill>
                      <a:prstDash val="solid"/>
                    </a:lnB>
                    <a:solidFill>
                      <a:srgbClr val="E1EDFF"/>
                    </a:solidFill>
                  </a:tcPr>
                </a:tc>
                <a:extLst>
                  <a:ext uri="{0D108BD9-81ED-4DB2-BD59-A6C34878D82A}">
                    <a16:rowId xmlns:a16="http://schemas.microsoft.com/office/drawing/2014/main" val="10001"/>
                  </a:ext>
                </a:extLst>
              </a:tr>
              <a:tr h="224790">
                <a:tc>
                  <a:txBody>
                    <a:bodyPr/>
                    <a:lstStyle/>
                    <a:p>
                      <a:pPr marL="27940">
                        <a:lnSpc>
                          <a:spcPct val="100000"/>
                        </a:lnSpc>
                        <a:spcBef>
                          <a:spcPts val="0"/>
                        </a:spcBef>
                      </a:pPr>
                      <a:r>
                        <a:rPr lang="en-US" sz="600" spc="-5">
                          <a:solidFill>
                            <a:schemeClr val="tx2"/>
                          </a:solidFill>
                          <a:latin typeface="+mn-lt"/>
                          <a:cs typeface="Open Sans"/>
                        </a:rPr>
                        <a:t>Upstream </a:t>
                      </a:r>
                      <a:r>
                        <a:rPr lang="en-US" sz="600">
                          <a:solidFill>
                            <a:schemeClr val="tx2"/>
                          </a:solidFill>
                          <a:latin typeface="+mn-lt"/>
                          <a:cs typeface="Open Sans"/>
                        </a:rPr>
                        <a:t>&amp;</a:t>
                      </a:r>
                      <a:r>
                        <a:rPr lang="en-US" sz="600" spc="-15">
                          <a:solidFill>
                            <a:schemeClr val="tx2"/>
                          </a:solidFill>
                          <a:latin typeface="+mn-lt"/>
                          <a:cs typeface="Open Sans"/>
                        </a:rPr>
                        <a:t> </a:t>
                      </a:r>
                      <a:r>
                        <a:rPr lang="en-US" sz="600" spc="-5">
                          <a:solidFill>
                            <a:schemeClr val="tx2"/>
                          </a:solidFill>
                          <a:latin typeface="+mn-lt"/>
                          <a:cs typeface="Open Sans"/>
                        </a:rPr>
                        <a:t>downstream</a:t>
                      </a:r>
                      <a:endParaRPr lang="en-US" sz="600">
                        <a:solidFill>
                          <a:schemeClr val="tx2"/>
                        </a:solidFill>
                        <a:latin typeface="+mn-lt"/>
                        <a:cs typeface="Open Sans"/>
                      </a:endParaRPr>
                    </a:p>
                    <a:p>
                      <a:pPr marL="27940">
                        <a:lnSpc>
                          <a:spcPct val="100000"/>
                        </a:lnSpc>
                        <a:spcBef>
                          <a:spcPts val="0"/>
                        </a:spcBef>
                      </a:pPr>
                      <a:r>
                        <a:rPr lang="en-US" sz="600" spc="-5">
                          <a:solidFill>
                            <a:schemeClr val="tx2"/>
                          </a:solidFill>
                          <a:latin typeface="+mn-lt"/>
                          <a:cs typeface="Open Sans"/>
                        </a:rPr>
                        <a:t>Capabilities</a:t>
                      </a:r>
                      <a:endParaRPr lang="en-US" sz="600">
                        <a:solidFill>
                          <a:schemeClr val="tx2"/>
                        </a:solidFill>
                        <a:latin typeface="+mn-lt"/>
                        <a:cs typeface="Open Sans"/>
                      </a:endParaRPr>
                    </a:p>
                  </a:txBody>
                  <a:tcPr marL="17145" marR="17145" marT="17145" marB="17145" anchor="ctr">
                    <a:lnT w="28575">
                      <a:solidFill>
                        <a:srgbClr val="FFFFFF"/>
                      </a:solidFill>
                      <a:prstDash val="solid"/>
                    </a:lnT>
                    <a:lnB w="28575">
                      <a:solidFill>
                        <a:srgbClr val="FFFFFF"/>
                      </a:solidFill>
                      <a:prstDash val="solid"/>
                    </a:lnB>
                    <a:solidFill>
                      <a:srgbClr val="E1EDFF"/>
                    </a:solidFill>
                  </a:tcPr>
                </a:tc>
                <a:extLst>
                  <a:ext uri="{0D108BD9-81ED-4DB2-BD59-A6C34878D82A}">
                    <a16:rowId xmlns:a16="http://schemas.microsoft.com/office/drawing/2014/main" val="10002"/>
                  </a:ext>
                </a:extLst>
              </a:tr>
              <a:tr h="194563">
                <a:tc>
                  <a:txBody>
                    <a:bodyPr/>
                    <a:lstStyle/>
                    <a:p>
                      <a:pPr marL="27940">
                        <a:lnSpc>
                          <a:spcPct val="100000"/>
                        </a:lnSpc>
                        <a:spcBef>
                          <a:spcPts val="295"/>
                        </a:spcBef>
                      </a:pPr>
                      <a:r>
                        <a:rPr lang="en-US" sz="600" spc="-5">
                          <a:solidFill>
                            <a:schemeClr val="tx2"/>
                          </a:solidFill>
                          <a:latin typeface="+mn-lt"/>
                          <a:cs typeface="Open Sans"/>
                        </a:rPr>
                        <a:t>Automation</a:t>
                      </a:r>
                      <a:r>
                        <a:rPr lang="en-US" sz="600" spc="-50">
                          <a:solidFill>
                            <a:schemeClr val="tx2"/>
                          </a:solidFill>
                          <a:latin typeface="+mn-lt"/>
                          <a:cs typeface="Open Sans"/>
                        </a:rPr>
                        <a:t> </a:t>
                      </a:r>
                      <a:r>
                        <a:rPr lang="en-US" sz="600" spc="-5">
                          <a:solidFill>
                            <a:schemeClr val="tx2"/>
                          </a:solidFill>
                          <a:latin typeface="+mn-lt"/>
                          <a:cs typeface="Open Sans"/>
                        </a:rPr>
                        <a:t>framework</a:t>
                      </a:r>
                      <a:endParaRPr lang="en-US" sz="600">
                        <a:solidFill>
                          <a:schemeClr val="tx2"/>
                        </a:solidFill>
                        <a:latin typeface="+mn-lt"/>
                        <a:cs typeface="Open Sans"/>
                      </a:endParaRPr>
                    </a:p>
                  </a:txBody>
                  <a:tcPr marL="17145" marR="17145" marT="17145" marB="17145" anchor="ctr">
                    <a:lnT w="28575">
                      <a:solidFill>
                        <a:srgbClr val="FFFFFF"/>
                      </a:solidFill>
                      <a:prstDash val="solid"/>
                    </a:lnT>
                    <a:lnB w="38100">
                      <a:solidFill>
                        <a:srgbClr val="FFFFFF"/>
                      </a:solidFill>
                      <a:prstDash val="solid"/>
                    </a:lnB>
                    <a:solidFill>
                      <a:srgbClr val="E1EDFF"/>
                    </a:solidFill>
                  </a:tcPr>
                </a:tc>
                <a:extLst>
                  <a:ext uri="{0D108BD9-81ED-4DB2-BD59-A6C34878D82A}">
                    <a16:rowId xmlns:a16="http://schemas.microsoft.com/office/drawing/2014/main" val="10003"/>
                  </a:ext>
                </a:extLst>
              </a:tr>
              <a:tr h="207753">
                <a:tc>
                  <a:txBody>
                    <a:bodyPr/>
                    <a:lstStyle/>
                    <a:p>
                      <a:pPr marL="18415">
                        <a:lnSpc>
                          <a:spcPct val="100000"/>
                        </a:lnSpc>
                        <a:spcBef>
                          <a:spcPts val="335"/>
                        </a:spcBef>
                      </a:pPr>
                      <a:r>
                        <a:rPr lang="en-US" sz="600" spc="-5">
                          <a:solidFill>
                            <a:schemeClr val="tx2"/>
                          </a:solidFill>
                          <a:latin typeface="+mn-lt"/>
                          <a:cs typeface="Open Sans"/>
                        </a:rPr>
                        <a:t>Data Mgmt. </a:t>
                      </a:r>
                      <a:r>
                        <a:rPr lang="en-US" sz="600">
                          <a:solidFill>
                            <a:schemeClr val="tx2"/>
                          </a:solidFill>
                          <a:latin typeface="+mn-lt"/>
                          <a:cs typeface="Open Sans"/>
                        </a:rPr>
                        <a:t>&amp;</a:t>
                      </a:r>
                      <a:r>
                        <a:rPr lang="en-US" sz="600" spc="-35">
                          <a:solidFill>
                            <a:schemeClr val="tx2"/>
                          </a:solidFill>
                          <a:latin typeface="+mn-lt"/>
                          <a:cs typeface="Open Sans"/>
                        </a:rPr>
                        <a:t> </a:t>
                      </a:r>
                      <a:r>
                        <a:rPr lang="en-US" sz="600" spc="-5">
                          <a:solidFill>
                            <a:schemeClr val="tx2"/>
                          </a:solidFill>
                          <a:latin typeface="+mn-lt"/>
                          <a:cs typeface="Open Sans"/>
                        </a:rPr>
                        <a:t>Security</a:t>
                      </a:r>
                      <a:endParaRPr lang="en-US" sz="600">
                        <a:solidFill>
                          <a:schemeClr val="tx2"/>
                        </a:solidFill>
                        <a:latin typeface="+mn-lt"/>
                        <a:cs typeface="Open Sans"/>
                      </a:endParaRPr>
                    </a:p>
                  </a:txBody>
                  <a:tcPr marL="17145" marR="17145" marT="17145" marB="17145" anchor="ctr">
                    <a:lnT w="38100">
                      <a:solidFill>
                        <a:srgbClr val="FFFFFF"/>
                      </a:solidFill>
                      <a:prstDash val="solid"/>
                    </a:lnT>
                    <a:lnB w="53975">
                      <a:solidFill>
                        <a:srgbClr val="FFFFFF"/>
                      </a:solidFill>
                      <a:prstDash val="solid"/>
                    </a:lnB>
                    <a:solidFill>
                      <a:srgbClr val="E1EDFF"/>
                    </a:solidFill>
                  </a:tcPr>
                </a:tc>
                <a:extLst>
                  <a:ext uri="{0D108BD9-81ED-4DB2-BD59-A6C34878D82A}">
                    <a16:rowId xmlns:a16="http://schemas.microsoft.com/office/drawing/2014/main" val="10004"/>
                  </a:ext>
                </a:extLst>
              </a:tr>
              <a:tr h="192091">
                <a:tc>
                  <a:txBody>
                    <a:bodyPr/>
                    <a:lstStyle/>
                    <a:p>
                      <a:pPr marL="0" indent="0">
                        <a:lnSpc>
                          <a:spcPct val="100000"/>
                        </a:lnSpc>
                        <a:spcBef>
                          <a:spcPts val="400"/>
                        </a:spcBef>
                      </a:pPr>
                      <a:r>
                        <a:rPr lang="en-US" sz="600" spc="-5">
                          <a:solidFill>
                            <a:schemeClr val="tx2"/>
                          </a:solidFill>
                          <a:latin typeface="+mn-lt"/>
                          <a:cs typeface="Open Sans"/>
                        </a:rPr>
                        <a:t>ARB Review</a:t>
                      </a:r>
                      <a:endParaRPr lang="en-US" sz="600">
                        <a:solidFill>
                          <a:schemeClr val="tx2"/>
                        </a:solidFill>
                        <a:latin typeface="+mn-lt"/>
                        <a:cs typeface="Open Sans"/>
                      </a:endParaRPr>
                    </a:p>
                  </a:txBody>
                  <a:tcPr marL="17145" marR="17145" marT="17145" marB="17145" anchor="ctr">
                    <a:lnT w="53975">
                      <a:solidFill>
                        <a:srgbClr val="FFFFFF"/>
                      </a:solidFill>
                      <a:prstDash val="solid"/>
                    </a:lnT>
                    <a:solidFill>
                      <a:srgbClr val="E1EDFF"/>
                    </a:solidFill>
                  </a:tcPr>
                </a:tc>
                <a:extLst>
                  <a:ext uri="{0D108BD9-81ED-4DB2-BD59-A6C34878D82A}">
                    <a16:rowId xmlns:a16="http://schemas.microsoft.com/office/drawing/2014/main" val="10005"/>
                  </a:ext>
                </a:extLst>
              </a:tr>
            </a:tbl>
          </a:graphicData>
        </a:graphic>
      </p:graphicFrame>
      <p:sp>
        <p:nvSpPr>
          <p:cNvPr id="144" name="object 59">
            <a:extLst>
              <a:ext uri="{FF2B5EF4-FFF2-40B4-BE49-F238E27FC236}">
                <a16:creationId xmlns:a16="http://schemas.microsoft.com/office/drawing/2014/main" id="{4722FF06-5FFC-5DA0-A8DF-E7C487B5035F}"/>
              </a:ext>
            </a:extLst>
          </p:cNvPr>
          <p:cNvSpPr/>
          <p:nvPr/>
        </p:nvSpPr>
        <p:spPr>
          <a:xfrm>
            <a:off x="2324541" y="4127241"/>
            <a:ext cx="347980" cy="875030"/>
          </a:xfrm>
          <a:custGeom>
            <a:avLst/>
            <a:gdLst/>
            <a:ahLst/>
            <a:cxnLst/>
            <a:rect l="l" t="t" r="r" b="b"/>
            <a:pathLst>
              <a:path w="347980" h="875029">
                <a:moveTo>
                  <a:pt x="138493" y="0"/>
                </a:moveTo>
                <a:lnTo>
                  <a:pt x="15112" y="26035"/>
                </a:lnTo>
                <a:lnTo>
                  <a:pt x="224104" y="421767"/>
                </a:lnTo>
                <a:lnTo>
                  <a:pt x="0" y="874776"/>
                </a:lnTo>
                <a:lnTo>
                  <a:pt x="138493" y="864362"/>
                </a:lnTo>
                <a:lnTo>
                  <a:pt x="347472" y="432181"/>
                </a:lnTo>
                <a:lnTo>
                  <a:pt x="138493" y="0"/>
                </a:lnTo>
                <a:close/>
              </a:path>
            </a:pathLst>
          </a:custGeom>
          <a:solidFill>
            <a:srgbClr val="1A3673"/>
          </a:solid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grpSp>
        <p:nvGrpSpPr>
          <p:cNvPr id="158" name="Group 157">
            <a:extLst>
              <a:ext uri="{FF2B5EF4-FFF2-40B4-BE49-F238E27FC236}">
                <a16:creationId xmlns:a16="http://schemas.microsoft.com/office/drawing/2014/main" id="{864EB6CC-A825-4684-4A26-9B46DC5B8B35}"/>
              </a:ext>
            </a:extLst>
          </p:cNvPr>
          <p:cNvGrpSpPr/>
          <p:nvPr/>
        </p:nvGrpSpPr>
        <p:grpSpPr>
          <a:xfrm>
            <a:off x="743214" y="2963075"/>
            <a:ext cx="563879" cy="312420"/>
            <a:chOff x="731931" y="4740920"/>
            <a:chExt cx="902206" cy="499872"/>
          </a:xfrm>
        </p:grpSpPr>
        <p:sp>
          <p:nvSpPr>
            <p:cNvPr id="127" name="object 18">
              <a:extLst>
                <a:ext uri="{FF2B5EF4-FFF2-40B4-BE49-F238E27FC236}">
                  <a16:creationId xmlns:a16="http://schemas.microsoft.com/office/drawing/2014/main" id="{91ECEFE4-85D4-9ADE-F5D9-2AC8ADFD569C}"/>
                </a:ext>
              </a:extLst>
            </p:cNvPr>
            <p:cNvSpPr/>
            <p:nvPr/>
          </p:nvSpPr>
          <p:spPr>
            <a:xfrm>
              <a:off x="860843" y="4895237"/>
              <a:ext cx="329184" cy="304800"/>
            </a:xfrm>
            <a:custGeom>
              <a:avLst/>
              <a:gdLst/>
              <a:ahLst/>
              <a:cxnLst/>
              <a:rect l="l" t="t" r="r" b="b"/>
              <a:pathLst>
                <a:path w="205740" h="190500">
                  <a:moveTo>
                    <a:pt x="0" y="95250"/>
                  </a:moveTo>
                  <a:lnTo>
                    <a:pt x="8083" y="58175"/>
                  </a:lnTo>
                  <a:lnTo>
                    <a:pt x="30127" y="27898"/>
                  </a:lnTo>
                  <a:lnTo>
                    <a:pt x="62825" y="7485"/>
                  </a:lnTo>
                  <a:lnTo>
                    <a:pt x="102870" y="0"/>
                  </a:lnTo>
                  <a:lnTo>
                    <a:pt x="142914" y="7485"/>
                  </a:lnTo>
                  <a:lnTo>
                    <a:pt x="175612" y="27898"/>
                  </a:lnTo>
                  <a:lnTo>
                    <a:pt x="197656" y="58175"/>
                  </a:lnTo>
                  <a:lnTo>
                    <a:pt x="205740" y="95250"/>
                  </a:lnTo>
                  <a:lnTo>
                    <a:pt x="197656" y="132324"/>
                  </a:lnTo>
                  <a:lnTo>
                    <a:pt x="175612" y="162601"/>
                  </a:lnTo>
                  <a:lnTo>
                    <a:pt x="142914" y="183014"/>
                  </a:lnTo>
                  <a:lnTo>
                    <a:pt x="102870" y="190500"/>
                  </a:lnTo>
                  <a:lnTo>
                    <a:pt x="62825" y="183014"/>
                  </a:lnTo>
                  <a:lnTo>
                    <a:pt x="30127" y="162601"/>
                  </a:lnTo>
                  <a:lnTo>
                    <a:pt x="8083" y="132324"/>
                  </a:lnTo>
                  <a:lnTo>
                    <a:pt x="0" y="95250"/>
                  </a:lnTo>
                  <a:close/>
                </a:path>
              </a:pathLst>
            </a:custGeom>
            <a:ln w="19812">
              <a:solidFill>
                <a:srgbClr val="FFFFFF"/>
              </a:solidFill>
            </a:ln>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47" name="object 11">
              <a:extLst>
                <a:ext uri="{FF2B5EF4-FFF2-40B4-BE49-F238E27FC236}">
                  <a16:creationId xmlns:a16="http://schemas.microsoft.com/office/drawing/2014/main" id="{223F80B1-4F97-060C-DB1E-8452ADB9C3AD}"/>
                </a:ext>
              </a:extLst>
            </p:cNvPr>
            <p:cNvSpPr/>
            <p:nvPr/>
          </p:nvSpPr>
          <p:spPr>
            <a:xfrm>
              <a:off x="731931" y="4743358"/>
              <a:ext cx="600456" cy="314960"/>
            </a:xfrm>
            <a:custGeom>
              <a:avLst/>
              <a:gdLst/>
              <a:ahLst/>
              <a:cxnLst/>
              <a:rect l="l" t="t" r="r" b="b"/>
              <a:pathLst>
                <a:path w="375284" h="196850">
                  <a:moveTo>
                    <a:pt x="374904" y="101346"/>
                  </a:moveTo>
                  <a:lnTo>
                    <a:pt x="366814" y="64274"/>
                  </a:lnTo>
                  <a:lnTo>
                    <a:pt x="344766" y="33997"/>
                  </a:lnTo>
                  <a:lnTo>
                    <a:pt x="312077" y="13589"/>
                  </a:lnTo>
                  <a:lnTo>
                    <a:pt x="272034" y="6096"/>
                  </a:lnTo>
                  <a:lnTo>
                    <a:pt x="231978" y="13589"/>
                  </a:lnTo>
                  <a:lnTo>
                    <a:pt x="199288" y="33997"/>
                  </a:lnTo>
                  <a:lnTo>
                    <a:pt x="189788" y="47028"/>
                  </a:lnTo>
                  <a:lnTo>
                    <a:pt x="175602" y="27686"/>
                  </a:lnTo>
                  <a:lnTo>
                    <a:pt x="142913" y="7429"/>
                  </a:lnTo>
                  <a:lnTo>
                    <a:pt x="102870" y="0"/>
                  </a:lnTo>
                  <a:lnTo>
                    <a:pt x="62814" y="7429"/>
                  </a:lnTo>
                  <a:lnTo>
                    <a:pt x="30124" y="27686"/>
                  </a:lnTo>
                  <a:lnTo>
                    <a:pt x="8077" y="57721"/>
                  </a:lnTo>
                  <a:lnTo>
                    <a:pt x="0" y="94488"/>
                  </a:lnTo>
                  <a:lnTo>
                    <a:pt x="8077" y="131267"/>
                  </a:lnTo>
                  <a:lnTo>
                    <a:pt x="30124" y="161302"/>
                  </a:lnTo>
                  <a:lnTo>
                    <a:pt x="62814" y="181559"/>
                  </a:lnTo>
                  <a:lnTo>
                    <a:pt x="102870" y="188976"/>
                  </a:lnTo>
                  <a:lnTo>
                    <a:pt x="142913" y="181559"/>
                  </a:lnTo>
                  <a:lnTo>
                    <a:pt x="175602" y="161302"/>
                  </a:lnTo>
                  <a:lnTo>
                    <a:pt x="184785" y="148793"/>
                  </a:lnTo>
                  <a:lnTo>
                    <a:pt x="199288" y="168706"/>
                  </a:lnTo>
                  <a:lnTo>
                    <a:pt x="231978" y="189115"/>
                  </a:lnTo>
                  <a:lnTo>
                    <a:pt x="272034" y="196596"/>
                  </a:lnTo>
                  <a:lnTo>
                    <a:pt x="312077" y="189115"/>
                  </a:lnTo>
                  <a:lnTo>
                    <a:pt x="344766" y="168706"/>
                  </a:lnTo>
                  <a:lnTo>
                    <a:pt x="366814" y="138430"/>
                  </a:lnTo>
                  <a:lnTo>
                    <a:pt x="374904" y="101346"/>
                  </a:lnTo>
                  <a:close/>
                </a:path>
              </a:pathLst>
            </a:custGeom>
            <a:solidFill>
              <a:srgbClr val="2292D2"/>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48" name="object 12">
              <a:extLst>
                <a:ext uri="{FF2B5EF4-FFF2-40B4-BE49-F238E27FC236}">
                  <a16:creationId xmlns:a16="http://schemas.microsoft.com/office/drawing/2014/main" id="{D47E8EA8-336D-9061-1ED5-3EB2B5DAB51C}"/>
                </a:ext>
              </a:extLst>
            </p:cNvPr>
            <p:cNvSpPr/>
            <p:nvPr/>
          </p:nvSpPr>
          <p:spPr>
            <a:xfrm>
              <a:off x="1002592" y="4753112"/>
              <a:ext cx="329184" cy="304800"/>
            </a:xfrm>
            <a:custGeom>
              <a:avLst/>
              <a:gdLst/>
              <a:ahLst/>
              <a:cxnLst/>
              <a:rect l="l" t="t" r="r" b="b"/>
              <a:pathLst>
                <a:path w="205740" h="190500">
                  <a:moveTo>
                    <a:pt x="0" y="95250"/>
                  </a:moveTo>
                  <a:lnTo>
                    <a:pt x="8083" y="58175"/>
                  </a:lnTo>
                  <a:lnTo>
                    <a:pt x="30127" y="27898"/>
                  </a:lnTo>
                  <a:lnTo>
                    <a:pt x="62825" y="7485"/>
                  </a:lnTo>
                  <a:lnTo>
                    <a:pt x="102870" y="0"/>
                  </a:lnTo>
                  <a:lnTo>
                    <a:pt x="142914" y="7485"/>
                  </a:lnTo>
                  <a:lnTo>
                    <a:pt x="175612" y="27898"/>
                  </a:lnTo>
                  <a:lnTo>
                    <a:pt x="197656" y="58175"/>
                  </a:lnTo>
                  <a:lnTo>
                    <a:pt x="205740" y="95250"/>
                  </a:lnTo>
                  <a:lnTo>
                    <a:pt x="197656" y="132324"/>
                  </a:lnTo>
                  <a:lnTo>
                    <a:pt x="175612" y="162601"/>
                  </a:lnTo>
                  <a:lnTo>
                    <a:pt x="142914" y="183014"/>
                  </a:lnTo>
                  <a:lnTo>
                    <a:pt x="102870" y="190500"/>
                  </a:lnTo>
                  <a:lnTo>
                    <a:pt x="62825" y="183014"/>
                  </a:lnTo>
                  <a:lnTo>
                    <a:pt x="30127" y="162601"/>
                  </a:lnTo>
                  <a:lnTo>
                    <a:pt x="8083" y="132324"/>
                  </a:lnTo>
                  <a:lnTo>
                    <a:pt x="0" y="95250"/>
                  </a:lnTo>
                  <a:close/>
                </a:path>
              </a:pathLst>
            </a:custGeom>
            <a:ln w="19812">
              <a:solidFill>
                <a:srgbClr val="FFFFFF"/>
              </a:solidFill>
            </a:ln>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2" name="object 13">
              <a:extLst>
                <a:ext uri="{FF2B5EF4-FFF2-40B4-BE49-F238E27FC236}">
                  <a16:creationId xmlns:a16="http://schemas.microsoft.com/office/drawing/2014/main" id="{B4E34DE8-F186-9E74-E2C8-EB77B630566F}"/>
                </a:ext>
              </a:extLst>
            </p:cNvPr>
            <p:cNvSpPr/>
            <p:nvPr/>
          </p:nvSpPr>
          <p:spPr>
            <a:xfrm>
              <a:off x="1304953" y="4740920"/>
              <a:ext cx="329184" cy="302768"/>
            </a:xfrm>
            <a:custGeom>
              <a:avLst/>
              <a:gdLst/>
              <a:ahLst/>
              <a:cxnLst/>
              <a:rect l="l" t="t" r="r" b="b"/>
              <a:pathLst>
                <a:path w="205740" h="189230">
                  <a:moveTo>
                    <a:pt x="102870" y="0"/>
                  </a:moveTo>
                  <a:lnTo>
                    <a:pt x="62825" y="7425"/>
                  </a:lnTo>
                  <a:lnTo>
                    <a:pt x="30127" y="27674"/>
                  </a:lnTo>
                  <a:lnTo>
                    <a:pt x="8083" y="57708"/>
                  </a:lnTo>
                  <a:lnTo>
                    <a:pt x="0" y="94487"/>
                  </a:lnTo>
                  <a:lnTo>
                    <a:pt x="8083" y="131267"/>
                  </a:lnTo>
                  <a:lnTo>
                    <a:pt x="30127" y="161301"/>
                  </a:lnTo>
                  <a:lnTo>
                    <a:pt x="62825" y="181550"/>
                  </a:lnTo>
                  <a:lnTo>
                    <a:pt x="102870" y="188976"/>
                  </a:lnTo>
                  <a:lnTo>
                    <a:pt x="142914" y="181550"/>
                  </a:lnTo>
                  <a:lnTo>
                    <a:pt x="175612" y="161301"/>
                  </a:lnTo>
                  <a:lnTo>
                    <a:pt x="197656" y="131267"/>
                  </a:lnTo>
                  <a:lnTo>
                    <a:pt x="205740" y="94487"/>
                  </a:lnTo>
                  <a:lnTo>
                    <a:pt x="197656" y="57708"/>
                  </a:lnTo>
                  <a:lnTo>
                    <a:pt x="175612" y="27674"/>
                  </a:lnTo>
                  <a:lnTo>
                    <a:pt x="142914" y="7425"/>
                  </a:lnTo>
                  <a:lnTo>
                    <a:pt x="102870" y="0"/>
                  </a:lnTo>
                  <a:close/>
                </a:path>
              </a:pathLst>
            </a:custGeom>
            <a:solidFill>
              <a:srgbClr val="2292D2"/>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3" name="object 14">
              <a:extLst>
                <a:ext uri="{FF2B5EF4-FFF2-40B4-BE49-F238E27FC236}">
                  <a16:creationId xmlns:a16="http://schemas.microsoft.com/office/drawing/2014/main" id="{B0481FA3-815C-2D6A-1FFA-0BC277C77525}"/>
                </a:ext>
              </a:extLst>
            </p:cNvPr>
            <p:cNvSpPr/>
            <p:nvPr/>
          </p:nvSpPr>
          <p:spPr>
            <a:xfrm>
              <a:off x="1304953" y="4740920"/>
              <a:ext cx="329184" cy="302768"/>
            </a:xfrm>
            <a:custGeom>
              <a:avLst/>
              <a:gdLst/>
              <a:ahLst/>
              <a:cxnLst/>
              <a:rect l="l" t="t" r="r" b="b"/>
              <a:pathLst>
                <a:path w="205740" h="189230">
                  <a:moveTo>
                    <a:pt x="0" y="94487"/>
                  </a:moveTo>
                  <a:lnTo>
                    <a:pt x="8083" y="57708"/>
                  </a:lnTo>
                  <a:lnTo>
                    <a:pt x="30127" y="27674"/>
                  </a:lnTo>
                  <a:lnTo>
                    <a:pt x="62825" y="7425"/>
                  </a:lnTo>
                  <a:lnTo>
                    <a:pt x="102870" y="0"/>
                  </a:lnTo>
                  <a:lnTo>
                    <a:pt x="142914" y="7425"/>
                  </a:lnTo>
                  <a:lnTo>
                    <a:pt x="175612" y="27674"/>
                  </a:lnTo>
                  <a:lnTo>
                    <a:pt x="197656" y="57708"/>
                  </a:lnTo>
                  <a:lnTo>
                    <a:pt x="205740" y="94487"/>
                  </a:lnTo>
                  <a:lnTo>
                    <a:pt x="197656" y="131267"/>
                  </a:lnTo>
                  <a:lnTo>
                    <a:pt x="175612" y="161301"/>
                  </a:lnTo>
                  <a:lnTo>
                    <a:pt x="142914" y="181550"/>
                  </a:lnTo>
                  <a:lnTo>
                    <a:pt x="102870" y="188976"/>
                  </a:lnTo>
                  <a:lnTo>
                    <a:pt x="62825" y="181550"/>
                  </a:lnTo>
                  <a:lnTo>
                    <a:pt x="30127" y="161301"/>
                  </a:lnTo>
                  <a:lnTo>
                    <a:pt x="8083" y="131267"/>
                  </a:lnTo>
                  <a:lnTo>
                    <a:pt x="0" y="94487"/>
                  </a:lnTo>
                  <a:close/>
                </a:path>
              </a:pathLst>
            </a:custGeom>
            <a:ln w="19812">
              <a:solidFill>
                <a:srgbClr val="FFFFFF"/>
              </a:solidFill>
            </a:ln>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4" name="object 15">
              <a:extLst>
                <a:ext uri="{FF2B5EF4-FFF2-40B4-BE49-F238E27FC236}">
                  <a16:creationId xmlns:a16="http://schemas.microsoft.com/office/drawing/2014/main" id="{C96B431B-2062-B2DF-707A-AD30EF194742}"/>
                </a:ext>
              </a:extLst>
            </p:cNvPr>
            <p:cNvSpPr/>
            <p:nvPr/>
          </p:nvSpPr>
          <p:spPr>
            <a:xfrm>
              <a:off x="1163526" y="4872593"/>
              <a:ext cx="329184" cy="302768"/>
            </a:xfrm>
            <a:custGeom>
              <a:avLst/>
              <a:gdLst/>
              <a:ahLst/>
              <a:cxnLst/>
              <a:rect l="l" t="t" r="r" b="b"/>
              <a:pathLst>
                <a:path w="205740" h="189230">
                  <a:moveTo>
                    <a:pt x="102870" y="0"/>
                  </a:moveTo>
                  <a:lnTo>
                    <a:pt x="62825" y="7425"/>
                  </a:lnTo>
                  <a:lnTo>
                    <a:pt x="30127" y="27674"/>
                  </a:lnTo>
                  <a:lnTo>
                    <a:pt x="8083" y="57708"/>
                  </a:lnTo>
                  <a:lnTo>
                    <a:pt x="0" y="94487"/>
                  </a:lnTo>
                  <a:lnTo>
                    <a:pt x="8083" y="131267"/>
                  </a:lnTo>
                  <a:lnTo>
                    <a:pt x="30127" y="161301"/>
                  </a:lnTo>
                  <a:lnTo>
                    <a:pt x="62825" y="181550"/>
                  </a:lnTo>
                  <a:lnTo>
                    <a:pt x="102870" y="188976"/>
                  </a:lnTo>
                  <a:lnTo>
                    <a:pt x="142914" y="181550"/>
                  </a:lnTo>
                  <a:lnTo>
                    <a:pt x="175612" y="161301"/>
                  </a:lnTo>
                  <a:lnTo>
                    <a:pt x="197656" y="131267"/>
                  </a:lnTo>
                  <a:lnTo>
                    <a:pt x="205740" y="94487"/>
                  </a:lnTo>
                  <a:lnTo>
                    <a:pt x="197656" y="57708"/>
                  </a:lnTo>
                  <a:lnTo>
                    <a:pt x="175612" y="27674"/>
                  </a:lnTo>
                  <a:lnTo>
                    <a:pt x="142914" y="7425"/>
                  </a:lnTo>
                  <a:lnTo>
                    <a:pt x="102870" y="0"/>
                  </a:lnTo>
                  <a:close/>
                </a:path>
              </a:pathLst>
            </a:custGeom>
            <a:solidFill>
              <a:srgbClr val="2292D2"/>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5" name="object 16">
              <a:extLst>
                <a:ext uri="{FF2B5EF4-FFF2-40B4-BE49-F238E27FC236}">
                  <a16:creationId xmlns:a16="http://schemas.microsoft.com/office/drawing/2014/main" id="{CC319459-09AF-AD61-2141-DAD7D31B6D08}"/>
                </a:ext>
              </a:extLst>
            </p:cNvPr>
            <p:cNvSpPr/>
            <p:nvPr/>
          </p:nvSpPr>
          <p:spPr>
            <a:xfrm>
              <a:off x="1163526" y="4872593"/>
              <a:ext cx="329184" cy="302768"/>
            </a:xfrm>
            <a:custGeom>
              <a:avLst/>
              <a:gdLst/>
              <a:ahLst/>
              <a:cxnLst/>
              <a:rect l="l" t="t" r="r" b="b"/>
              <a:pathLst>
                <a:path w="205740" h="189230">
                  <a:moveTo>
                    <a:pt x="0" y="94487"/>
                  </a:moveTo>
                  <a:lnTo>
                    <a:pt x="8083" y="57708"/>
                  </a:lnTo>
                  <a:lnTo>
                    <a:pt x="30127" y="27674"/>
                  </a:lnTo>
                  <a:lnTo>
                    <a:pt x="62825" y="7425"/>
                  </a:lnTo>
                  <a:lnTo>
                    <a:pt x="102870" y="0"/>
                  </a:lnTo>
                  <a:lnTo>
                    <a:pt x="142914" y="7425"/>
                  </a:lnTo>
                  <a:lnTo>
                    <a:pt x="175612" y="27674"/>
                  </a:lnTo>
                  <a:lnTo>
                    <a:pt x="197656" y="57708"/>
                  </a:lnTo>
                  <a:lnTo>
                    <a:pt x="205740" y="94487"/>
                  </a:lnTo>
                  <a:lnTo>
                    <a:pt x="197656" y="131267"/>
                  </a:lnTo>
                  <a:lnTo>
                    <a:pt x="175612" y="161301"/>
                  </a:lnTo>
                  <a:lnTo>
                    <a:pt x="142914" y="181550"/>
                  </a:lnTo>
                  <a:lnTo>
                    <a:pt x="102870" y="188976"/>
                  </a:lnTo>
                  <a:lnTo>
                    <a:pt x="62825" y="181550"/>
                  </a:lnTo>
                  <a:lnTo>
                    <a:pt x="30127" y="161301"/>
                  </a:lnTo>
                  <a:lnTo>
                    <a:pt x="8083" y="131267"/>
                  </a:lnTo>
                  <a:lnTo>
                    <a:pt x="0" y="94487"/>
                  </a:lnTo>
                  <a:close/>
                </a:path>
              </a:pathLst>
            </a:custGeom>
            <a:ln w="19812">
              <a:solidFill>
                <a:srgbClr val="FFFFFF"/>
              </a:solidFill>
            </a:ln>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6" name="object 17">
              <a:extLst>
                <a:ext uri="{FF2B5EF4-FFF2-40B4-BE49-F238E27FC236}">
                  <a16:creationId xmlns:a16="http://schemas.microsoft.com/office/drawing/2014/main" id="{1EFF7B05-586E-AD76-F5D5-12F66C89231F}"/>
                </a:ext>
              </a:extLst>
            </p:cNvPr>
            <p:cNvSpPr/>
            <p:nvPr/>
          </p:nvSpPr>
          <p:spPr>
            <a:xfrm>
              <a:off x="890425" y="4935992"/>
              <a:ext cx="329184" cy="304800"/>
            </a:xfrm>
            <a:custGeom>
              <a:avLst/>
              <a:gdLst/>
              <a:ahLst/>
              <a:cxnLst/>
              <a:rect l="l" t="t" r="r" b="b"/>
              <a:pathLst>
                <a:path w="205740" h="190500">
                  <a:moveTo>
                    <a:pt x="102870" y="0"/>
                  </a:moveTo>
                  <a:lnTo>
                    <a:pt x="62825" y="7485"/>
                  </a:lnTo>
                  <a:lnTo>
                    <a:pt x="30127" y="27898"/>
                  </a:lnTo>
                  <a:lnTo>
                    <a:pt x="8083" y="58175"/>
                  </a:lnTo>
                  <a:lnTo>
                    <a:pt x="0" y="95250"/>
                  </a:lnTo>
                  <a:lnTo>
                    <a:pt x="8083" y="132324"/>
                  </a:lnTo>
                  <a:lnTo>
                    <a:pt x="30127" y="162601"/>
                  </a:lnTo>
                  <a:lnTo>
                    <a:pt x="62825" y="183014"/>
                  </a:lnTo>
                  <a:lnTo>
                    <a:pt x="102870" y="190500"/>
                  </a:lnTo>
                  <a:lnTo>
                    <a:pt x="142914" y="183014"/>
                  </a:lnTo>
                  <a:lnTo>
                    <a:pt x="175612" y="162601"/>
                  </a:lnTo>
                  <a:lnTo>
                    <a:pt x="197656" y="132324"/>
                  </a:lnTo>
                  <a:lnTo>
                    <a:pt x="205740" y="95250"/>
                  </a:lnTo>
                  <a:lnTo>
                    <a:pt x="197656" y="58175"/>
                  </a:lnTo>
                  <a:lnTo>
                    <a:pt x="175612" y="27898"/>
                  </a:lnTo>
                  <a:lnTo>
                    <a:pt x="142914" y="7485"/>
                  </a:lnTo>
                  <a:lnTo>
                    <a:pt x="102870" y="0"/>
                  </a:lnTo>
                  <a:close/>
                </a:path>
              </a:pathLst>
            </a:custGeom>
            <a:solidFill>
              <a:srgbClr val="2292D2"/>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57" name="object 18">
              <a:extLst>
                <a:ext uri="{FF2B5EF4-FFF2-40B4-BE49-F238E27FC236}">
                  <a16:creationId xmlns:a16="http://schemas.microsoft.com/office/drawing/2014/main" id="{31CB12B2-2184-436B-4EDB-F114FD41ECBD}"/>
                </a:ext>
              </a:extLst>
            </p:cNvPr>
            <p:cNvSpPr/>
            <p:nvPr/>
          </p:nvSpPr>
          <p:spPr>
            <a:xfrm>
              <a:off x="890425" y="4935992"/>
              <a:ext cx="329184" cy="304800"/>
            </a:xfrm>
            <a:custGeom>
              <a:avLst/>
              <a:gdLst/>
              <a:ahLst/>
              <a:cxnLst/>
              <a:rect l="l" t="t" r="r" b="b"/>
              <a:pathLst>
                <a:path w="205740" h="190500">
                  <a:moveTo>
                    <a:pt x="0" y="95250"/>
                  </a:moveTo>
                  <a:lnTo>
                    <a:pt x="8083" y="58175"/>
                  </a:lnTo>
                  <a:lnTo>
                    <a:pt x="30127" y="27898"/>
                  </a:lnTo>
                  <a:lnTo>
                    <a:pt x="62825" y="7485"/>
                  </a:lnTo>
                  <a:lnTo>
                    <a:pt x="102870" y="0"/>
                  </a:lnTo>
                  <a:lnTo>
                    <a:pt x="142914" y="7485"/>
                  </a:lnTo>
                  <a:lnTo>
                    <a:pt x="175612" y="27898"/>
                  </a:lnTo>
                  <a:lnTo>
                    <a:pt x="197656" y="58175"/>
                  </a:lnTo>
                  <a:lnTo>
                    <a:pt x="205740" y="95250"/>
                  </a:lnTo>
                  <a:lnTo>
                    <a:pt x="197656" y="132324"/>
                  </a:lnTo>
                  <a:lnTo>
                    <a:pt x="175612" y="162601"/>
                  </a:lnTo>
                  <a:lnTo>
                    <a:pt x="142914" y="183014"/>
                  </a:lnTo>
                  <a:lnTo>
                    <a:pt x="102870" y="190500"/>
                  </a:lnTo>
                  <a:lnTo>
                    <a:pt x="62825" y="183014"/>
                  </a:lnTo>
                  <a:lnTo>
                    <a:pt x="30127" y="162601"/>
                  </a:lnTo>
                  <a:lnTo>
                    <a:pt x="8083" y="132324"/>
                  </a:lnTo>
                  <a:lnTo>
                    <a:pt x="0" y="95250"/>
                  </a:lnTo>
                  <a:close/>
                </a:path>
              </a:pathLst>
            </a:custGeom>
            <a:ln w="19812">
              <a:solidFill>
                <a:srgbClr val="FFFFFF"/>
              </a:solidFill>
            </a:ln>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sp>
        <p:nvSpPr>
          <p:cNvPr id="159" name="Rectangle: Rounded Corners 158">
            <a:extLst>
              <a:ext uri="{FF2B5EF4-FFF2-40B4-BE49-F238E27FC236}">
                <a16:creationId xmlns:a16="http://schemas.microsoft.com/office/drawing/2014/main" id="{772D3B0E-6C9F-D128-3457-CA7BD24AA047}"/>
              </a:ext>
            </a:extLst>
          </p:cNvPr>
          <p:cNvSpPr/>
          <p:nvPr/>
        </p:nvSpPr>
        <p:spPr bwMode="gray">
          <a:xfrm>
            <a:off x="412757" y="2803347"/>
            <a:ext cx="3013109" cy="2808919"/>
          </a:xfrm>
          <a:prstGeom prst="roundRect">
            <a:avLst>
              <a:gd name="adj" fmla="val 4614"/>
            </a:avLst>
          </a:prstGeom>
          <a:noFill/>
          <a:ln w="12700" algn="ctr">
            <a:solidFill>
              <a:schemeClr val="bg1">
                <a:lumMod val="50000"/>
              </a:schemeClr>
            </a:solidFill>
            <a:prstDash val="sysDash"/>
            <a:miter lim="800000"/>
            <a:headEnd/>
            <a:tailEnd/>
          </a:ln>
        </p:spPr>
        <p:txBody>
          <a:bodyPr wrap="square" lIns="72015" tIns="72015" rIns="72015" bIns="72015" rtlCol="0" anchor="ctr"/>
          <a:lstStyle/>
          <a:p>
            <a:pPr algn="ctr" defTabSz="740805">
              <a:lnSpc>
                <a:spcPct val="106000"/>
              </a:lnSpc>
              <a:defRPr/>
            </a:pPr>
            <a:endParaRPr lang="en-US" sz="1440" b="1">
              <a:solidFill>
                <a:srgbClr val="585A5C"/>
              </a:solidFill>
              <a:ea typeface="Open Sans Light" panose="020B0306030504020204" pitchFamily="34" charset="0"/>
              <a:cs typeface="Open Sans Light" panose="020B0306030504020204" pitchFamily="34" charset="0"/>
            </a:endParaRPr>
          </a:p>
        </p:txBody>
      </p:sp>
      <p:sp>
        <p:nvSpPr>
          <p:cNvPr id="161" name="object 21">
            <a:extLst>
              <a:ext uri="{FF2B5EF4-FFF2-40B4-BE49-F238E27FC236}">
                <a16:creationId xmlns:a16="http://schemas.microsoft.com/office/drawing/2014/main" id="{546AFECC-B60B-1737-2C4E-F2790EA1F51B}"/>
              </a:ext>
            </a:extLst>
          </p:cNvPr>
          <p:cNvSpPr/>
          <p:nvPr/>
        </p:nvSpPr>
        <p:spPr>
          <a:xfrm>
            <a:off x="4283470" y="2989669"/>
            <a:ext cx="3909489" cy="413384"/>
          </a:xfrm>
          <a:custGeom>
            <a:avLst/>
            <a:gdLst/>
            <a:ahLst/>
            <a:cxnLst/>
            <a:rect l="l" t="t" r="r" b="b"/>
            <a:pathLst>
              <a:path w="2638425" h="413385">
                <a:moveTo>
                  <a:pt x="2201760" y="0"/>
                </a:moveTo>
                <a:lnTo>
                  <a:pt x="412369" y="0"/>
                </a:lnTo>
                <a:lnTo>
                  <a:pt x="0" y="409867"/>
                </a:lnTo>
                <a:lnTo>
                  <a:pt x="2638044" y="413004"/>
                </a:lnTo>
                <a:lnTo>
                  <a:pt x="2201760" y="0"/>
                </a:lnTo>
                <a:close/>
              </a:path>
            </a:pathLst>
          </a:custGeom>
          <a:solidFill>
            <a:srgbClr val="2861BB"/>
          </a:solid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sp>
        <p:nvSpPr>
          <p:cNvPr id="176" name="object 76">
            <a:extLst>
              <a:ext uri="{FF2B5EF4-FFF2-40B4-BE49-F238E27FC236}">
                <a16:creationId xmlns:a16="http://schemas.microsoft.com/office/drawing/2014/main" id="{4FD8D454-7D12-84B6-A8FC-0E8EBC56EC0B}"/>
              </a:ext>
            </a:extLst>
          </p:cNvPr>
          <p:cNvSpPr/>
          <p:nvPr/>
        </p:nvSpPr>
        <p:spPr>
          <a:xfrm>
            <a:off x="5062728" y="3082634"/>
            <a:ext cx="228600" cy="228600"/>
          </a:xfrm>
          <a:prstGeom prst="rect">
            <a:avLst/>
          </a:prstGeom>
          <a:blipFill>
            <a:blip r:embed="rId5" cstate="print"/>
            <a:stretch>
              <a:fillRect/>
            </a:stretch>
          </a:blip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sp>
        <p:nvSpPr>
          <p:cNvPr id="186" name="Rectangle: Rounded Corners 185">
            <a:extLst>
              <a:ext uri="{FF2B5EF4-FFF2-40B4-BE49-F238E27FC236}">
                <a16:creationId xmlns:a16="http://schemas.microsoft.com/office/drawing/2014/main" id="{85773F5A-84C1-136A-6131-B1E22414D1D3}"/>
              </a:ext>
            </a:extLst>
          </p:cNvPr>
          <p:cNvSpPr/>
          <p:nvPr/>
        </p:nvSpPr>
        <p:spPr bwMode="gray">
          <a:xfrm>
            <a:off x="3720158" y="2793226"/>
            <a:ext cx="4780912" cy="2808919"/>
          </a:xfrm>
          <a:prstGeom prst="roundRect">
            <a:avLst>
              <a:gd name="adj" fmla="val 4614"/>
            </a:avLst>
          </a:prstGeom>
          <a:noFill/>
          <a:ln w="12700" algn="ctr">
            <a:solidFill>
              <a:schemeClr val="bg1">
                <a:lumMod val="50000"/>
              </a:schemeClr>
            </a:solidFill>
            <a:prstDash val="sysDash"/>
            <a:miter lim="800000"/>
            <a:headEnd/>
            <a:tailEnd/>
          </a:ln>
        </p:spPr>
        <p:txBody>
          <a:bodyPr wrap="square" lIns="72015" tIns="72015" rIns="72015" bIns="72015" rtlCol="0" anchor="ctr"/>
          <a:lstStyle/>
          <a:p>
            <a:pPr algn="ctr" defTabSz="740805">
              <a:lnSpc>
                <a:spcPct val="106000"/>
              </a:lnSpc>
              <a:defRPr/>
            </a:pPr>
            <a:endParaRPr lang="en-US" sz="1440" b="1">
              <a:solidFill>
                <a:srgbClr val="585A5C"/>
              </a:solidFill>
              <a:ea typeface="Open Sans Light" panose="020B0306030504020204" pitchFamily="34" charset="0"/>
              <a:cs typeface="Open Sans Light" panose="020B0306030504020204" pitchFamily="34" charset="0"/>
            </a:endParaRPr>
          </a:p>
        </p:txBody>
      </p:sp>
      <p:sp>
        <p:nvSpPr>
          <p:cNvPr id="187" name="Rectangle 186">
            <a:extLst>
              <a:ext uri="{FF2B5EF4-FFF2-40B4-BE49-F238E27FC236}">
                <a16:creationId xmlns:a16="http://schemas.microsoft.com/office/drawing/2014/main" id="{E1B0FB92-7012-4E3A-3C81-24E3BFFCCD9C}"/>
              </a:ext>
            </a:extLst>
          </p:cNvPr>
          <p:cNvSpPr/>
          <p:nvPr/>
        </p:nvSpPr>
        <p:spPr bwMode="gray">
          <a:xfrm>
            <a:off x="4306671" y="5283503"/>
            <a:ext cx="3943350" cy="228600"/>
          </a:xfrm>
          <a:prstGeom prst="rect">
            <a:avLst/>
          </a:prstGeom>
          <a:solidFill>
            <a:srgbClr val="E1EDFF"/>
          </a:solidFill>
          <a:ln w="28575" algn="ctr">
            <a:solidFill>
              <a:srgbClr val="2861BB"/>
            </a:solidFill>
            <a:miter lim="800000"/>
            <a:headEnd/>
            <a:tailEnd/>
          </a:ln>
        </p:spPr>
        <p:txBody>
          <a:bodyPr wrap="square" lIns="72015" tIns="72015" rIns="72015" bIns="72015" rtlCol="0" anchor="ctr"/>
          <a:lstStyle/>
          <a:p>
            <a:pPr algn="ctr" defTabSz="740805">
              <a:lnSpc>
                <a:spcPct val="106000"/>
              </a:lnSpc>
              <a:defRPr/>
            </a:pPr>
            <a:r>
              <a:rPr lang="en-US" sz="1000">
                <a:solidFill>
                  <a:schemeClr val="tx2"/>
                </a:solidFill>
                <a:ea typeface="Open Sans Light" panose="020B0306030504020204" pitchFamily="34" charset="0"/>
                <a:cs typeface="Open Sans Light" panose="020B0306030504020204" pitchFamily="34" charset="0"/>
              </a:rPr>
              <a:t>Data Security (Standards, Tokenization, Access Control etc.)</a:t>
            </a:r>
          </a:p>
        </p:txBody>
      </p:sp>
      <p:sp>
        <p:nvSpPr>
          <p:cNvPr id="188" name="Rectangle 187">
            <a:extLst>
              <a:ext uri="{FF2B5EF4-FFF2-40B4-BE49-F238E27FC236}">
                <a16:creationId xmlns:a16="http://schemas.microsoft.com/office/drawing/2014/main" id="{818C25CA-D0B8-E512-FF91-CA1BD52C9766}"/>
              </a:ext>
            </a:extLst>
          </p:cNvPr>
          <p:cNvSpPr/>
          <p:nvPr/>
        </p:nvSpPr>
        <p:spPr bwMode="gray">
          <a:xfrm>
            <a:off x="4306671" y="4731320"/>
            <a:ext cx="3943350" cy="228600"/>
          </a:xfrm>
          <a:prstGeom prst="rect">
            <a:avLst/>
          </a:prstGeom>
          <a:solidFill>
            <a:srgbClr val="E1EDFF"/>
          </a:solidFill>
          <a:ln w="28575" algn="ctr">
            <a:solidFill>
              <a:srgbClr val="2861BB"/>
            </a:solidFill>
            <a:miter lim="800000"/>
            <a:headEnd/>
            <a:tailEnd/>
          </a:ln>
        </p:spPr>
        <p:txBody>
          <a:bodyPr wrap="square" lIns="72015" tIns="72015" rIns="72015" bIns="72015" rtlCol="0" anchor="ctr"/>
          <a:lstStyle/>
          <a:p>
            <a:pPr algn="ctr" defTabSz="740805">
              <a:lnSpc>
                <a:spcPct val="106000"/>
              </a:lnSpc>
              <a:defRPr/>
            </a:pPr>
            <a:r>
              <a:rPr lang="en-US" sz="1000">
                <a:solidFill>
                  <a:schemeClr val="tx2"/>
                </a:solidFill>
                <a:ea typeface="Open Sans Light" panose="020B0306030504020204" pitchFamily="34" charset="0"/>
                <a:cs typeface="Open Sans Light" panose="020B0306030504020204" pitchFamily="34" charset="0"/>
              </a:rPr>
              <a:t>Agile Pod-based Delivery</a:t>
            </a:r>
          </a:p>
        </p:txBody>
      </p:sp>
      <p:sp>
        <p:nvSpPr>
          <p:cNvPr id="189" name="Rectangle 188">
            <a:extLst>
              <a:ext uri="{FF2B5EF4-FFF2-40B4-BE49-F238E27FC236}">
                <a16:creationId xmlns:a16="http://schemas.microsoft.com/office/drawing/2014/main" id="{52A2B666-022E-6267-A2D9-5AE2EB3348CA}"/>
              </a:ext>
            </a:extLst>
          </p:cNvPr>
          <p:cNvSpPr/>
          <p:nvPr/>
        </p:nvSpPr>
        <p:spPr bwMode="gray">
          <a:xfrm>
            <a:off x="4306671" y="5007412"/>
            <a:ext cx="3943350" cy="228600"/>
          </a:xfrm>
          <a:prstGeom prst="rect">
            <a:avLst/>
          </a:prstGeom>
          <a:solidFill>
            <a:srgbClr val="E1EDFF"/>
          </a:solidFill>
          <a:ln w="28575" algn="ctr">
            <a:solidFill>
              <a:srgbClr val="2861BB"/>
            </a:solidFill>
            <a:miter lim="800000"/>
            <a:headEnd/>
            <a:tailEnd/>
          </a:ln>
        </p:spPr>
        <p:txBody>
          <a:bodyPr wrap="square" lIns="72015" tIns="72015" rIns="72015" bIns="72015" rtlCol="0" anchor="ctr"/>
          <a:lstStyle/>
          <a:p>
            <a:pPr algn="ctr" defTabSz="740805">
              <a:lnSpc>
                <a:spcPct val="106000"/>
              </a:lnSpc>
              <a:defRPr/>
            </a:pPr>
            <a:r>
              <a:rPr lang="en-US" sz="1000">
                <a:solidFill>
                  <a:schemeClr val="tx2"/>
                </a:solidFill>
                <a:ea typeface="Open Sans Light" panose="020B0306030504020204" pitchFamily="34" charset="0"/>
                <a:cs typeface="Open Sans Light" panose="020B0306030504020204" pitchFamily="34" charset="0"/>
              </a:rPr>
              <a:t>Test Automation</a:t>
            </a:r>
          </a:p>
        </p:txBody>
      </p:sp>
      <p:sp>
        <p:nvSpPr>
          <p:cNvPr id="191" name="TextBox 190">
            <a:extLst>
              <a:ext uri="{FF2B5EF4-FFF2-40B4-BE49-F238E27FC236}">
                <a16:creationId xmlns:a16="http://schemas.microsoft.com/office/drawing/2014/main" id="{C9C07181-EB4F-1BDB-337E-48EAE294FA0D}"/>
              </a:ext>
            </a:extLst>
          </p:cNvPr>
          <p:cNvSpPr txBox="1"/>
          <p:nvPr/>
        </p:nvSpPr>
        <p:spPr>
          <a:xfrm>
            <a:off x="5267832" y="3114810"/>
            <a:ext cx="2539273" cy="198196"/>
          </a:xfrm>
          <a:prstGeom prst="rect">
            <a:avLst/>
          </a:prstGeom>
          <a:noFill/>
        </p:spPr>
        <p:txBody>
          <a:bodyPr wrap="square">
            <a:spAutoFit/>
          </a:bodyPr>
          <a:lstStyle/>
          <a:p>
            <a:pPr marL="40680" marR="486966"/>
            <a:r>
              <a:rPr lang="en-US" sz="688" spc="-6">
                <a:solidFill>
                  <a:srgbClr val="FFFFFF"/>
                </a:solidFill>
                <a:cs typeface="Open Sans"/>
              </a:rPr>
              <a:t>Integration Management  </a:t>
            </a:r>
            <a:r>
              <a:rPr lang="en-US" sz="688" spc="-3">
                <a:solidFill>
                  <a:srgbClr val="FFFFFF"/>
                </a:solidFill>
                <a:cs typeface="Open Sans"/>
              </a:rPr>
              <a:t>Across</a:t>
            </a:r>
            <a:r>
              <a:rPr lang="en-US" sz="688" spc="6">
                <a:solidFill>
                  <a:srgbClr val="FFFFFF"/>
                </a:solidFill>
                <a:cs typeface="Open Sans"/>
              </a:rPr>
              <a:t> </a:t>
            </a:r>
            <a:r>
              <a:rPr lang="en-US" sz="688" spc="-6">
                <a:solidFill>
                  <a:srgbClr val="FFFFFF"/>
                </a:solidFill>
                <a:cs typeface="Open Sans"/>
              </a:rPr>
              <a:t>Enterprise</a:t>
            </a:r>
            <a:endParaRPr lang="en-US" sz="688">
              <a:cs typeface="Open Sans"/>
            </a:endParaRPr>
          </a:p>
        </p:txBody>
      </p:sp>
      <p:grpSp>
        <p:nvGrpSpPr>
          <p:cNvPr id="207" name="Group 206">
            <a:extLst>
              <a:ext uri="{FF2B5EF4-FFF2-40B4-BE49-F238E27FC236}">
                <a16:creationId xmlns:a16="http://schemas.microsoft.com/office/drawing/2014/main" id="{7270F29A-BB8C-71B3-EDAA-01041F800171}"/>
              </a:ext>
            </a:extLst>
          </p:cNvPr>
          <p:cNvGrpSpPr/>
          <p:nvPr/>
        </p:nvGrpSpPr>
        <p:grpSpPr>
          <a:xfrm>
            <a:off x="4795840" y="3580076"/>
            <a:ext cx="2720747" cy="818515"/>
            <a:chOff x="6954872" y="5989383"/>
            <a:chExt cx="4353195" cy="1309624"/>
          </a:xfrm>
        </p:grpSpPr>
        <p:sp>
          <p:nvSpPr>
            <p:cNvPr id="163" name="object 24">
              <a:extLst>
                <a:ext uri="{FF2B5EF4-FFF2-40B4-BE49-F238E27FC236}">
                  <a16:creationId xmlns:a16="http://schemas.microsoft.com/office/drawing/2014/main" id="{6E3DDC8C-F52C-3C5A-091B-BB65E8ED3115}"/>
                </a:ext>
              </a:extLst>
            </p:cNvPr>
            <p:cNvSpPr/>
            <p:nvPr/>
          </p:nvSpPr>
          <p:spPr>
            <a:xfrm>
              <a:off x="10430243" y="5989383"/>
              <a:ext cx="877824" cy="1309624"/>
            </a:xfrm>
            <a:custGeom>
              <a:avLst/>
              <a:gdLst/>
              <a:ahLst/>
              <a:cxnLst/>
              <a:rect l="l" t="t" r="r" b="b"/>
              <a:pathLst>
                <a:path w="548640" h="818514">
                  <a:moveTo>
                    <a:pt x="548640" y="0"/>
                  </a:moveTo>
                  <a:lnTo>
                    <a:pt x="0" y="0"/>
                  </a:lnTo>
                  <a:lnTo>
                    <a:pt x="0" y="818388"/>
                  </a:lnTo>
                  <a:lnTo>
                    <a:pt x="548640" y="818388"/>
                  </a:lnTo>
                  <a:lnTo>
                    <a:pt x="548640" y="0"/>
                  </a:lnTo>
                  <a:close/>
                </a:path>
              </a:pathLst>
            </a:custGeom>
            <a:solidFill>
              <a:srgbClr val="2861BB"/>
            </a:solid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grpSp>
          <p:nvGrpSpPr>
            <p:cNvPr id="203" name="Group 202">
              <a:extLst>
                <a:ext uri="{FF2B5EF4-FFF2-40B4-BE49-F238E27FC236}">
                  <a16:creationId xmlns:a16="http://schemas.microsoft.com/office/drawing/2014/main" id="{41271533-B39C-3E6E-E6DB-38B9FA209BD2}"/>
                </a:ext>
              </a:extLst>
            </p:cNvPr>
            <p:cNvGrpSpPr/>
            <p:nvPr/>
          </p:nvGrpSpPr>
          <p:grpSpPr>
            <a:xfrm>
              <a:off x="9200236" y="5989383"/>
              <a:ext cx="877824" cy="1309624"/>
              <a:chOff x="8138873" y="6022041"/>
              <a:chExt cx="877824" cy="1309624"/>
            </a:xfrm>
          </p:grpSpPr>
          <p:grpSp>
            <p:nvGrpSpPr>
              <p:cNvPr id="199" name="Group 198">
                <a:extLst>
                  <a:ext uri="{FF2B5EF4-FFF2-40B4-BE49-F238E27FC236}">
                    <a16:creationId xmlns:a16="http://schemas.microsoft.com/office/drawing/2014/main" id="{1F5F7F6D-B543-008C-1DD4-29205E7BFDD6}"/>
                  </a:ext>
                </a:extLst>
              </p:cNvPr>
              <p:cNvGrpSpPr/>
              <p:nvPr/>
            </p:nvGrpSpPr>
            <p:grpSpPr>
              <a:xfrm>
                <a:off x="8138873" y="6022041"/>
                <a:ext cx="877824" cy="1309624"/>
                <a:chOff x="5893509" y="5992786"/>
                <a:chExt cx="877824" cy="1309624"/>
              </a:xfrm>
            </p:grpSpPr>
            <p:sp>
              <p:nvSpPr>
                <p:cNvPr id="200" name="object 34">
                  <a:extLst>
                    <a:ext uri="{FF2B5EF4-FFF2-40B4-BE49-F238E27FC236}">
                      <a16:creationId xmlns:a16="http://schemas.microsoft.com/office/drawing/2014/main" id="{64433B8A-4795-9FA1-FA94-A1539F6B16B2}"/>
                    </a:ext>
                  </a:extLst>
                </p:cNvPr>
                <p:cNvSpPr/>
                <p:nvPr/>
              </p:nvSpPr>
              <p:spPr>
                <a:xfrm>
                  <a:off x="5893509" y="5992786"/>
                  <a:ext cx="877824" cy="1309624"/>
                </a:xfrm>
                <a:custGeom>
                  <a:avLst/>
                  <a:gdLst/>
                  <a:ahLst/>
                  <a:cxnLst/>
                  <a:rect l="l" t="t" r="r" b="b"/>
                  <a:pathLst>
                    <a:path w="548640" h="818514">
                      <a:moveTo>
                        <a:pt x="548640" y="0"/>
                      </a:moveTo>
                      <a:lnTo>
                        <a:pt x="0" y="0"/>
                      </a:lnTo>
                      <a:lnTo>
                        <a:pt x="0" y="818388"/>
                      </a:lnTo>
                      <a:lnTo>
                        <a:pt x="548640" y="818388"/>
                      </a:lnTo>
                      <a:lnTo>
                        <a:pt x="548640" y="0"/>
                      </a:lnTo>
                      <a:close/>
                    </a:path>
                  </a:pathLst>
                </a:custGeom>
                <a:solidFill>
                  <a:srgbClr val="2861BB"/>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202" name="object 54">
                  <a:extLst>
                    <a:ext uri="{FF2B5EF4-FFF2-40B4-BE49-F238E27FC236}">
                      <a16:creationId xmlns:a16="http://schemas.microsoft.com/office/drawing/2014/main" id="{0D3FE0BD-E1D4-2DDD-E096-FA17E88984F2}"/>
                    </a:ext>
                  </a:extLst>
                </p:cNvPr>
                <p:cNvSpPr txBox="1"/>
                <p:nvPr/>
              </p:nvSpPr>
              <p:spPr>
                <a:xfrm>
                  <a:off x="5897152" y="6676824"/>
                  <a:ext cx="854456" cy="364202"/>
                </a:xfrm>
                <a:prstGeom prst="rect">
                  <a:avLst/>
                </a:prstGeom>
              </p:spPr>
              <p:txBody>
                <a:bodyPr vert="horz" wrap="square" lIns="0" tIns="12065" rIns="0" bIns="0" rtlCol="0">
                  <a:spAutoFit/>
                </a:bodyPr>
                <a:lstStyle/>
                <a:p>
                  <a:pPr marL="12700" marR="5080" indent="2540" algn="ctr">
                    <a:spcBef>
                      <a:spcPts val="95"/>
                    </a:spcBef>
                  </a:pPr>
                  <a:r>
                    <a:rPr lang="en-US" sz="700" spc="-5">
                      <a:solidFill>
                        <a:schemeClr val="bg1"/>
                      </a:solidFill>
                      <a:ea typeface="Open Sans Light" panose="020B0306030504020204" pitchFamily="34" charset="0"/>
                      <a:cs typeface="Open Sans Light" panose="020B0306030504020204" pitchFamily="34" charset="0"/>
                    </a:rPr>
                    <a:t>Test &amp; Deploy</a:t>
                  </a:r>
                  <a:endParaRPr lang="en-US" sz="700">
                    <a:solidFill>
                      <a:schemeClr val="bg1"/>
                    </a:solidFill>
                    <a:ea typeface="Open Sans Light" panose="020B0306030504020204" pitchFamily="34" charset="0"/>
                    <a:cs typeface="Open Sans Light" panose="020B0306030504020204" pitchFamily="34" charset="0"/>
                  </a:endParaRPr>
                </a:p>
              </p:txBody>
            </p:sp>
          </p:grpSp>
          <p:sp>
            <p:nvSpPr>
              <p:cNvPr id="173" name="object 37">
                <a:extLst>
                  <a:ext uri="{FF2B5EF4-FFF2-40B4-BE49-F238E27FC236}">
                    <a16:creationId xmlns:a16="http://schemas.microsoft.com/office/drawing/2014/main" id="{F8D45A81-BF62-97FD-C22B-02FE8E533A6A}"/>
                  </a:ext>
                </a:extLst>
              </p:cNvPr>
              <p:cNvSpPr/>
              <p:nvPr/>
            </p:nvSpPr>
            <p:spPr>
              <a:xfrm>
                <a:off x="8378333" y="6149226"/>
                <a:ext cx="365760" cy="365760"/>
              </a:xfrm>
              <a:prstGeom prst="rect">
                <a:avLst/>
              </a:prstGeom>
              <a:blipFill>
                <a:blip r:embed="rId6"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grpSp>
          <p:nvGrpSpPr>
            <p:cNvPr id="204" name="Group 203">
              <a:extLst>
                <a:ext uri="{FF2B5EF4-FFF2-40B4-BE49-F238E27FC236}">
                  <a16:creationId xmlns:a16="http://schemas.microsoft.com/office/drawing/2014/main" id="{8E20CA60-E9CF-1AC9-1B22-9B5003C5D614}"/>
                </a:ext>
              </a:extLst>
            </p:cNvPr>
            <p:cNvGrpSpPr/>
            <p:nvPr/>
          </p:nvGrpSpPr>
          <p:grpSpPr>
            <a:xfrm>
              <a:off x="8070637" y="5989383"/>
              <a:ext cx="877824" cy="1309624"/>
              <a:chOff x="7009274" y="6022041"/>
              <a:chExt cx="877824" cy="1309624"/>
            </a:xfrm>
          </p:grpSpPr>
          <p:grpSp>
            <p:nvGrpSpPr>
              <p:cNvPr id="195" name="Group 194">
                <a:extLst>
                  <a:ext uri="{FF2B5EF4-FFF2-40B4-BE49-F238E27FC236}">
                    <a16:creationId xmlns:a16="http://schemas.microsoft.com/office/drawing/2014/main" id="{FFC200CC-F4C1-A9C9-5FB5-FB0468F6AF82}"/>
                  </a:ext>
                </a:extLst>
              </p:cNvPr>
              <p:cNvGrpSpPr/>
              <p:nvPr/>
            </p:nvGrpSpPr>
            <p:grpSpPr>
              <a:xfrm>
                <a:off x="7009274" y="6022041"/>
                <a:ext cx="877824" cy="1309624"/>
                <a:chOff x="5893509" y="6016826"/>
                <a:chExt cx="877824" cy="1309624"/>
              </a:xfrm>
            </p:grpSpPr>
            <p:sp>
              <p:nvSpPr>
                <p:cNvPr id="196" name="object 34">
                  <a:extLst>
                    <a:ext uri="{FF2B5EF4-FFF2-40B4-BE49-F238E27FC236}">
                      <a16:creationId xmlns:a16="http://schemas.microsoft.com/office/drawing/2014/main" id="{16FE298A-A6A8-3DB4-76BB-974E82A2291A}"/>
                    </a:ext>
                  </a:extLst>
                </p:cNvPr>
                <p:cNvSpPr/>
                <p:nvPr/>
              </p:nvSpPr>
              <p:spPr>
                <a:xfrm>
                  <a:off x="5893509" y="6016826"/>
                  <a:ext cx="877824" cy="1309624"/>
                </a:xfrm>
                <a:custGeom>
                  <a:avLst/>
                  <a:gdLst/>
                  <a:ahLst/>
                  <a:cxnLst/>
                  <a:rect l="l" t="t" r="r" b="b"/>
                  <a:pathLst>
                    <a:path w="548640" h="818514">
                      <a:moveTo>
                        <a:pt x="548640" y="0"/>
                      </a:moveTo>
                      <a:lnTo>
                        <a:pt x="0" y="0"/>
                      </a:lnTo>
                      <a:lnTo>
                        <a:pt x="0" y="818388"/>
                      </a:lnTo>
                      <a:lnTo>
                        <a:pt x="548640" y="818388"/>
                      </a:lnTo>
                      <a:lnTo>
                        <a:pt x="548640" y="0"/>
                      </a:lnTo>
                      <a:close/>
                    </a:path>
                  </a:pathLst>
                </a:custGeom>
                <a:solidFill>
                  <a:srgbClr val="2861BB"/>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98" name="object 54">
                  <a:extLst>
                    <a:ext uri="{FF2B5EF4-FFF2-40B4-BE49-F238E27FC236}">
                      <a16:creationId xmlns:a16="http://schemas.microsoft.com/office/drawing/2014/main" id="{39E9E2FF-B163-419D-3CC5-3F6CE3F08D42}"/>
                    </a:ext>
                  </a:extLst>
                </p:cNvPr>
                <p:cNvSpPr txBox="1"/>
                <p:nvPr/>
              </p:nvSpPr>
              <p:spPr>
                <a:xfrm>
                  <a:off x="5897152" y="6676824"/>
                  <a:ext cx="854456" cy="364202"/>
                </a:xfrm>
                <a:prstGeom prst="rect">
                  <a:avLst/>
                </a:prstGeom>
              </p:spPr>
              <p:txBody>
                <a:bodyPr vert="horz" wrap="square" lIns="0" tIns="12065" rIns="0" bIns="0" rtlCol="0">
                  <a:spAutoFit/>
                </a:bodyPr>
                <a:lstStyle/>
                <a:p>
                  <a:pPr marL="12700" marR="5080" indent="2540" algn="ctr">
                    <a:spcBef>
                      <a:spcPts val="95"/>
                    </a:spcBef>
                  </a:pPr>
                  <a:r>
                    <a:rPr lang="en-US" sz="700" spc="-5">
                      <a:solidFill>
                        <a:schemeClr val="bg1"/>
                      </a:solidFill>
                      <a:ea typeface="Open Sans Light" panose="020B0306030504020204" pitchFamily="34" charset="0"/>
                      <a:cs typeface="Open Sans Light" panose="020B0306030504020204" pitchFamily="34" charset="0"/>
                    </a:rPr>
                    <a:t>Design &amp; Build</a:t>
                  </a:r>
                  <a:endParaRPr lang="en-US" sz="700">
                    <a:solidFill>
                      <a:schemeClr val="bg1"/>
                    </a:solidFill>
                    <a:ea typeface="Open Sans Light" panose="020B0306030504020204" pitchFamily="34" charset="0"/>
                    <a:cs typeface="Open Sans Light" panose="020B0306030504020204" pitchFamily="34" charset="0"/>
                  </a:endParaRPr>
                </a:p>
              </p:txBody>
            </p:sp>
          </p:grpSp>
          <p:sp>
            <p:nvSpPr>
              <p:cNvPr id="175" name="object 39">
                <a:extLst>
                  <a:ext uri="{FF2B5EF4-FFF2-40B4-BE49-F238E27FC236}">
                    <a16:creationId xmlns:a16="http://schemas.microsoft.com/office/drawing/2014/main" id="{30D2BB46-41B9-6712-E855-6C78FDAB7D77}"/>
                  </a:ext>
                </a:extLst>
              </p:cNvPr>
              <p:cNvSpPr/>
              <p:nvPr/>
            </p:nvSpPr>
            <p:spPr>
              <a:xfrm>
                <a:off x="7255158" y="6114130"/>
                <a:ext cx="365760" cy="368198"/>
              </a:xfrm>
              <a:prstGeom prst="rect">
                <a:avLst/>
              </a:prstGeom>
              <a:blipFill>
                <a:blip r:embed="rId7"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grpSp>
          <p:nvGrpSpPr>
            <p:cNvPr id="182" name="object 83">
              <a:extLst>
                <a:ext uri="{FF2B5EF4-FFF2-40B4-BE49-F238E27FC236}">
                  <a16:creationId xmlns:a16="http://schemas.microsoft.com/office/drawing/2014/main" id="{34565AFF-F438-DAD8-EC6A-F47C50BCA1D5}"/>
                </a:ext>
              </a:extLst>
            </p:cNvPr>
            <p:cNvGrpSpPr/>
            <p:nvPr/>
          </p:nvGrpSpPr>
          <p:grpSpPr>
            <a:xfrm>
              <a:off x="7903513" y="6559065"/>
              <a:ext cx="1231614" cy="170241"/>
              <a:chOff x="6764963" y="3638760"/>
              <a:chExt cx="769759" cy="106401"/>
            </a:xfrm>
          </p:grpSpPr>
          <p:sp>
            <p:nvSpPr>
              <p:cNvPr id="183" name="object 84">
                <a:extLst>
                  <a:ext uri="{FF2B5EF4-FFF2-40B4-BE49-F238E27FC236}">
                    <a16:creationId xmlns:a16="http://schemas.microsoft.com/office/drawing/2014/main" id="{380BDB21-C4CB-E0CC-2BEB-CD80D9505FFF}"/>
                  </a:ext>
                </a:extLst>
              </p:cNvPr>
              <p:cNvSpPr/>
              <p:nvPr/>
            </p:nvSpPr>
            <p:spPr>
              <a:xfrm>
                <a:off x="7467527" y="3638761"/>
                <a:ext cx="67195" cy="106400"/>
              </a:xfrm>
              <a:prstGeom prst="rect">
                <a:avLst/>
              </a:prstGeom>
              <a:blipFill>
                <a:blip r:embed="rId8"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84" name="object 85">
                <a:extLst>
                  <a:ext uri="{FF2B5EF4-FFF2-40B4-BE49-F238E27FC236}">
                    <a16:creationId xmlns:a16="http://schemas.microsoft.com/office/drawing/2014/main" id="{E3EED3FF-C8FE-AECB-A769-2A7F34900732}"/>
                  </a:ext>
                </a:extLst>
              </p:cNvPr>
              <p:cNvSpPr/>
              <p:nvPr/>
            </p:nvSpPr>
            <p:spPr>
              <a:xfrm>
                <a:off x="6764963" y="3638760"/>
                <a:ext cx="67195" cy="106400"/>
              </a:xfrm>
              <a:prstGeom prst="rect">
                <a:avLst/>
              </a:prstGeom>
              <a:blipFill>
                <a:blip r:embed="rId9"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grpSp>
        <p:sp>
          <p:nvSpPr>
            <p:cNvPr id="185" name="object 86">
              <a:extLst>
                <a:ext uri="{FF2B5EF4-FFF2-40B4-BE49-F238E27FC236}">
                  <a16:creationId xmlns:a16="http://schemas.microsoft.com/office/drawing/2014/main" id="{25628B05-751F-00FF-A6D7-69262769286D}"/>
                </a:ext>
              </a:extLst>
            </p:cNvPr>
            <p:cNvSpPr/>
            <p:nvPr/>
          </p:nvSpPr>
          <p:spPr>
            <a:xfrm>
              <a:off x="10211187" y="6601015"/>
              <a:ext cx="107696" cy="86360"/>
            </a:xfrm>
            <a:custGeom>
              <a:avLst/>
              <a:gdLst/>
              <a:ahLst/>
              <a:cxnLst/>
              <a:rect l="l" t="t" r="r" b="b"/>
              <a:pathLst>
                <a:path w="67309" h="53975">
                  <a:moveTo>
                    <a:pt x="67195" y="0"/>
                  </a:moveTo>
                  <a:lnTo>
                    <a:pt x="0" y="0"/>
                  </a:lnTo>
                  <a:lnTo>
                    <a:pt x="0" y="21501"/>
                  </a:lnTo>
                  <a:lnTo>
                    <a:pt x="67195" y="21501"/>
                  </a:lnTo>
                  <a:lnTo>
                    <a:pt x="67195" y="0"/>
                  </a:lnTo>
                  <a:close/>
                </a:path>
                <a:path w="67309" h="53975">
                  <a:moveTo>
                    <a:pt x="67195" y="32258"/>
                  </a:moveTo>
                  <a:lnTo>
                    <a:pt x="0" y="32258"/>
                  </a:lnTo>
                  <a:lnTo>
                    <a:pt x="0" y="53759"/>
                  </a:lnTo>
                  <a:lnTo>
                    <a:pt x="67195" y="53759"/>
                  </a:lnTo>
                  <a:lnTo>
                    <a:pt x="67195" y="32258"/>
                  </a:lnTo>
                  <a:close/>
                </a:path>
              </a:pathLst>
            </a:custGeom>
            <a:solidFill>
              <a:srgbClr val="0096A9"/>
            </a:solidFill>
          </p:spPr>
          <p:txBody>
            <a:bodyPr wrap="square" lIns="0" tIns="0" rIns="0" bIns="0" rtlCol="0"/>
            <a:lstStyle/>
            <a:p>
              <a:endParaRPr lang="en-US">
                <a:solidFill>
                  <a:prstClr val="black"/>
                </a:solidFill>
                <a:ea typeface="Open Sans Light" panose="020B0306030504020204" pitchFamily="34" charset="0"/>
                <a:cs typeface="Open Sans Light" panose="020B0306030504020204" pitchFamily="34" charset="0"/>
              </a:endParaRPr>
            </a:p>
          </p:txBody>
        </p:sp>
        <p:grpSp>
          <p:nvGrpSpPr>
            <p:cNvPr id="193" name="Group 192">
              <a:extLst>
                <a:ext uri="{FF2B5EF4-FFF2-40B4-BE49-F238E27FC236}">
                  <a16:creationId xmlns:a16="http://schemas.microsoft.com/office/drawing/2014/main" id="{DFF547DD-E03B-8EBE-81D8-C7A2B1DED2A7}"/>
                </a:ext>
              </a:extLst>
            </p:cNvPr>
            <p:cNvGrpSpPr/>
            <p:nvPr/>
          </p:nvGrpSpPr>
          <p:grpSpPr>
            <a:xfrm>
              <a:off x="6954872" y="5989383"/>
              <a:ext cx="877824" cy="1309624"/>
              <a:chOff x="5893509" y="6022041"/>
              <a:chExt cx="877824" cy="1309624"/>
            </a:xfrm>
          </p:grpSpPr>
          <p:sp>
            <p:nvSpPr>
              <p:cNvPr id="166" name="object 34">
                <a:extLst>
                  <a:ext uri="{FF2B5EF4-FFF2-40B4-BE49-F238E27FC236}">
                    <a16:creationId xmlns:a16="http://schemas.microsoft.com/office/drawing/2014/main" id="{C018A00F-0538-F28E-87D1-686FD5DDB89D}"/>
                  </a:ext>
                </a:extLst>
              </p:cNvPr>
              <p:cNvSpPr/>
              <p:nvPr/>
            </p:nvSpPr>
            <p:spPr>
              <a:xfrm>
                <a:off x="5893509" y="6022041"/>
                <a:ext cx="877824" cy="1309624"/>
              </a:xfrm>
              <a:custGeom>
                <a:avLst/>
                <a:gdLst/>
                <a:ahLst/>
                <a:cxnLst/>
                <a:rect l="l" t="t" r="r" b="b"/>
                <a:pathLst>
                  <a:path w="548640" h="818514">
                    <a:moveTo>
                      <a:pt x="548640" y="0"/>
                    </a:moveTo>
                    <a:lnTo>
                      <a:pt x="0" y="0"/>
                    </a:lnTo>
                    <a:lnTo>
                      <a:pt x="0" y="818388"/>
                    </a:lnTo>
                    <a:lnTo>
                      <a:pt x="548640" y="818388"/>
                    </a:lnTo>
                    <a:lnTo>
                      <a:pt x="548640" y="0"/>
                    </a:lnTo>
                    <a:close/>
                  </a:path>
                </a:pathLst>
              </a:custGeom>
              <a:solidFill>
                <a:srgbClr val="2861BB"/>
              </a:solid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71" name="object 35">
                <a:extLst>
                  <a:ext uri="{FF2B5EF4-FFF2-40B4-BE49-F238E27FC236}">
                    <a16:creationId xmlns:a16="http://schemas.microsoft.com/office/drawing/2014/main" id="{98420672-4CA1-7F8A-80D3-07F655CF07E3}"/>
                  </a:ext>
                </a:extLst>
              </p:cNvPr>
              <p:cNvSpPr/>
              <p:nvPr/>
            </p:nvSpPr>
            <p:spPr>
              <a:xfrm>
                <a:off x="6149541" y="6112270"/>
                <a:ext cx="365760" cy="365760"/>
              </a:xfrm>
              <a:prstGeom prst="rect">
                <a:avLst/>
              </a:prstGeom>
              <a:blipFill>
                <a:blip r:embed="rId10" cstate="print"/>
                <a:stretch>
                  <a:fillRect/>
                </a:stretch>
              </a:blipFill>
            </p:spPr>
            <p:txBody>
              <a:bodyPr wrap="square" lIns="0" tIns="0" rIns="0" bIns="0" rtlCol="0"/>
              <a:lstStyle/>
              <a:p>
                <a:endParaRPr>
                  <a:solidFill>
                    <a:prstClr val="black"/>
                  </a:solidFill>
                  <a:ea typeface="Open Sans Light" panose="020B0306030504020204" pitchFamily="34" charset="0"/>
                  <a:cs typeface="Open Sans Light" panose="020B0306030504020204" pitchFamily="34" charset="0"/>
                </a:endParaRPr>
              </a:p>
            </p:txBody>
          </p:sp>
          <p:sp>
            <p:nvSpPr>
              <p:cNvPr id="192" name="object 54">
                <a:extLst>
                  <a:ext uri="{FF2B5EF4-FFF2-40B4-BE49-F238E27FC236}">
                    <a16:creationId xmlns:a16="http://schemas.microsoft.com/office/drawing/2014/main" id="{406D1E5E-638D-92BE-87A5-B8412DC868F0}"/>
                  </a:ext>
                </a:extLst>
              </p:cNvPr>
              <p:cNvSpPr txBox="1"/>
              <p:nvPr/>
            </p:nvSpPr>
            <p:spPr>
              <a:xfrm>
                <a:off x="5897152" y="6676825"/>
                <a:ext cx="854456" cy="191848"/>
              </a:xfrm>
              <a:prstGeom prst="rect">
                <a:avLst/>
              </a:prstGeom>
            </p:spPr>
            <p:txBody>
              <a:bodyPr vert="horz" wrap="square" lIns="0" tIns="12065" rIns="0" bIns="0" rtlCol="0">
                <a:spAutoFit/>
              </a:bodyPr>
              <a:lstStyle/>
              <a:p>
                <a:pPr marL="12700" marR="5080" indent="2540" algn="ctr">
                  <a:spcBef>
                    <a:spcPts val="95"/>
                  </a:spcBef>
                </a:pPr>
                <a:r>
                  <a:rPr lang="en-US" sz="700" spc="-5">
                    <a:solidFill>
                      <a:schemeClr val="bg1"/>
                    </a:solidFill>
                    <a:ea typeface="Open Sans Light" panose="020B0306030504020204" pitchFamily="34" charset="0"/>
                    <a:cs typeface="Open Sans Light" panose="020B0306030504020204" pitchFamily="34" charset="0"/>
                  </a:rPr>
                  <a:t>Refine Scope</a:t>
                </a:r>
                <a:endParaRPr lang="en-US" sz="700">
                  <a:solidFill>
                    <a:schemeClr val="bg1"/>
                  </a:solidFill>
                  <a:ea typeface="Open Sans Light" panose="020B0306030504020204" pitchFamily="34" charset="0"/>
                  <a:cs typeface="Open Sans Light" panose="020B0306030504020204" pitchFamily="34" charset="0"/>
                </a:endParaRPr>
              </a:p>
            </p:txBody>
          </p:sp>
        </p:grpSp>
        <p:sp>
          <p:nvSpPr>
            <p:cNvPr id="205" name="object 54">
              <a:extLst>
                <a:ext uri="{FF2B5EF4-FFF2-40B4-BE49-F238E27FC236}">
                  <a16:creationId xmlns:a16="http://schemas.microsoft.com/office/drawing/2014/main" id="{4A87C6D3-7193-51BD-65E2-AF439E81AADF}"/>
                </a:ext>
              </a:extLst>
            </p:cNvPr>
            <p:cNvSpPr txBox="1"/>
            <p:nvPr/>
          </p:nvSpPr>
          <p:spPr>
            <a:xfrm>
              <a:off x="10430243" y="6709005"/>
              <a:ext cx="854456" cy="364202"/>
            </a:xfrm>
            <a:prstGeom prst="rect">
              <a:avLst/>
            </a:prstGeom>
          </p:spPr>
          <p:txBody>
            <a:bodyPr vert="horz" wrap="square" lIns="0" tIns="12065" rIns="0" bIns="0" rtlCol="0">
              <a:spAutoFit/>
            </a:bodyPr>
            <a:lstStyle/>
            <a:p>
              <a:pPr marL="12700" marR="5080" indent="2540" algn="ctr">
                <a:spcBef>
                  <a:spcPts val="95"/>
                </a:spcBef>
              </a:pPr>
              <a:r>
                <a:rPr lang="en-US" sz="700" spc="-5">
                  <a:solidFill>
                    <a:schemeClr val="bg1"/>
                  </a:solidFill>
                  <a:ea typeface="Open Sans Light" panose="020B0306030504020204" pitchFamily="34" charset="0"/>
                  <a:cs typeface="Open Sans Light" panose="020B0306030504020204" pitchFamily="34" charset="0"/>
                </a:rPr>
                <a:t>Enable New Capabilities</a:t>
              </a:r>
              <a:endParaRPr lang="en-US" sz="700">
                <a:solidFill>
                  <a:schemeClr val="bg1"/>
                </a:solidFill>
                <a:ea typeface="Open Sans Light" panose="020B0306030504020204" pitchFamily="34" charset="0"/>
                <a:cs typeface="Open Sans Light" panose="020B0306030504020204" pitchFamily="34" charset="0"/>
              </a:endParaRPr>
            </a:p>
          </p:txBody>
        </p:sp>
        <p:sp>
          <p:nvSpPr>
            <p:cNvPr id="206" name="object 79">
              <a:extLst>
                <a:ext uri="{FF2B5EF4-FFF2-40B4-BE49-F238E27FC236}">
                  <a16:creationId xmlns:a16="http://schemas.microsoft.com/office/drawing/2014/main" id="{F086AE04-DAC1-64D6-D939-884EF62A46B1}"/>
                </a:ext>
              </a:extLst>
            </p:cNvPr>
            <p:cNvSpPr/>
            <p:nvPr/>
          </p:nvSpPr>
          <p:spPr>
            <a:xfrm>
              <a:off x="10686275" y="6123410"/>
              <a:ext cx="365760" cy="365760"/>
            </a:xfrm>
            <a:prstGeom prst="rect">
              <a:avLst/>
            </a:prstGeom>
            <a:blipFill>
              <a:blip r:embed="rId11" cstate="print"/>
              <a:stretch>
                <a:fillRect/>
              </a:stretch>
            </a:blipFill>
          </p:spPr>
          <p:txBody>
            <a:bodyPr wrap="square" lIns="0" tIns="0" rIns="0" bIns="0" rtlCol="0"/>
            <a:lstStyle/>
            <a:p>
              <a:endParaRPr>
                <a:solidFill>
                  <a:prstClr val="black"/>
                </a:solidFill>
              </a:endParaRPr>
            </a:p>
          </p:txBody>
        </p:sp>
      </p:grpSp>
      <p:sp>
        <p:nvSpPr>
          <p:cNvPr id="208" name="Rectangle 207">
            <a:extLst>
              <a:ext uri="{FF2B5EF4-FFF2-40B4-BE49-F238E27FC236}">
                <a16:creationId xmlns:a16="http://schemas.microsoft.com/office/drawing/2014/main" id="{09C79045-5577-4D7D-5AE4-2E5E93524533}"/>
              </a:ext>
            </a:extLst>
          </p:cNvPr>
          <p:cNvSpPr/>
          <p:nvPr/>
        </p:nvSpPr>
        <p:spPr bwMode="gray">
          <a:xfrm>
            <a:off x="4306670" y="4455228"/>
            <a:ext cx="3943350" cy="228600"/>
          </a:xfrm>
          <a:prstGeom prst="rect">
            <a:avLst/>
          </a:prstGeom>
          <a:solidFill>
            <a:srgbClr val="E1EDFF"/>
          </a:solidFill>
          <a:ln w="28575" algn="ctr">
            <a:solidFill>
              <a:srgbClr val="2861BB"/>
            </a:solidFill>
            <a:miter lim="800000"/>
            <a:headEnd/>
            <a:tailEnd/>
          </a:ln>
        </p:spPr>
        <p:txBody>
          <a:bodyPr wrap="square" lIns="72015" tIns="72015" rIns="72015" bIns="72015" rtlCol="0" anchor="ctr"/>
          <a:lstStyle/>
          <a:p>
            <a:pPr algn="ctr" defTabSz="740805">
              <a:lnSpc>
                <a:spcPct val="106000"/>
              </a:lnSpc>
              <a:defRPr/>
            </a:pPr>
            <a:r>
              <a:rPr lang="en-US" sz="1000">
                <a:solidFill>
                  <a:schemeClr val="tx2"/>
                </a:solidFill>
                <a:ea typeface="Open Sans Light" panose="020B0306030504020204" pitchFamily="34" charset="0"/>
                <a:cs typeface="Open Sans Light" panose="020B0306030504020204" pitchFamily="34" charset="0"/>
              </a:rPr>
              <a:t>Agentic-led Automation Approach</a:t>
            </a:r>
          </a:p>
        </p:txBody>
      </p:sp>
      <p:sp>
        <p:nvSpPr>
          <p:cNvPr id="209" name="Rectangle: Rounded Corners 208">
            <a:extLst>
              <a:ext uri="{FF2B5EF4-FFF2-40B4-BE49-F238E27FC236}">
                <a16:creationId xmlns:a16="http://schemas.microsoft.com/office/drawing/2014/main" id="{A6A02C58-1028-FD1A-4836-420883BD7C61}"/>
              </a:ext>
            </a:extLst>
          </p:cNvPr>
          <p:cNvSpPr/>
          <p:nvPr/>
        </p:nvSpPr>
        <p:spPr bwMode="gray">
          <a:xfrm>
            <a:off x="8690861" y="2788669"/>
            <a:ext cx="2959639" cy="2808919"/>
          </a:xfrm>
          <a:prstGeom prst="roundRect">
            <a:avLst>
              <a:gd name="adj" fmla="val 4614"/>
            </a:avLst>
          </a:prstGeom>
          <a:noFill/>
          <a:ln w="12700" algn="ctr">
            <a:solidFill>
              <a:schemeClr val="bg1">
                <a:lumMod val="50000"/>
              </a:schemeClr>
            </a:solidFill>
            <a:prstDash val="sysDash"/>
            <a:miter lim="800000"/>
            <a:headEnd/>
            <a:tailEnd/>
          </a:ln>
        </p:spPr>
        <p:txBody>
          <a:bodyPr wrap="square" lIns="72015" tIns="72015" rIns="72015" bIns="72015" rtlCol="0" anchor="ctr"/>
          <a:lstStyle/>
          <a:p>
            <a:pPr algn="ctr" defTabSz="740805">
              <a:lnSpc>
                <a:spcPct val="106000"/>
              </a:lnSpc>
              <a:defRPr/>
            </a:pPr>
            <a:endParaRPr lang="en-US" sz="1440" b="1">
              <a:solidFill>
                <a:srgbClr val="585A5C"/>
              </a:solidFill>
              <a:ea typeface="Open Sans Light" panose="020B0306030504020204" pitchFamily="34" charset="0"/>
              <a:cs typeface="Open Sans Light" panose="020B0306030504020204" pitchFamily="34" charset="0"/>
            </a:endParaRPr>
          </a:p>
        </p:txBody>
      </p:sp>
      <p:sp>
        <p:nvSpPr>
          <p:cNvPr id="210" name="object 48">
            <a:extLst>
              <a:ext uri="{FF2B5EF4-FFF2-40B4-BE49-F238E27FC236}">
                <a16:creationId xmlns:a16="http://schemas.microsoft.com/office/drawing/2014/main" id="{C9671B0C-F3D4-586E-1624-4D3B5D7BF05E}"/>
              </a:ext>
            </a:extLst>
          </p:cNvPr>
          <p:cNvSpPr txBox="1"/>
          <p:nvPr/>
        </p:nvSpPr>
        <p:spPr>
          <a:xfrm>
            <a:off x="8850562" y="2953046"/>
            <a:ext cx="2640235" cy="742950"/>
          </a:xfrm>
          <a:prstGeom prst="rect">
            <a:avLst/>
          </a:prstGeom>
          <a:solidFill>
            <a:srgbClr val="E1EDFF"/>
          </a:solidFill>
        </p:spPr>
        <p:txBody>
          <a:bodyPr vert="horz" wrap="square" lIns="57150" tIns="28575" rIns="57150" bIns="28575" rtlCol="0">
            <a:noAutofit/>
          </a:bodyPr>
          <a:lstStyle/>
          <a:p>
            <a:pPr marL="397" algn="ctr">
              <a:spcBef>
                <a:spcPts val="197"/>
              </a:spcBef>
            </a:pPr>
            <a:r>
              <a:rPr lang="en-US" sz="1000" b="1" spc="-3">
                <a:solidFill>
                  <a:schemeClr val="tx2"/>
                </a:solidFill>
                <a:ea typeface="Open Sans Light" panose="020B0306030504020204" pitchFamily="34" charset="0"/>
                <a:cs typeface="Open Sans Light" panose="020B0306030504020204" pitchFamily="34" charset="0"/>
              </a:rPr>
              <a:t>Parallel Runs</a:t>
            </a:r>
            <a:endParaRPr lang="en-US" sz="1000">
              <a:solidFill>
                <a:schemeClr val="tx2"/>
              </a:solidFill>
              <a:ea typeface="Open Sans Light" panose="020B0306030504020204" pitchFamily="34" charset="0"/>
              <a:cs typeface="Open Sans Light" panose="020B0306030504020204" pitchFamily="34" charset="0"/>
            </a:endParaRPr>
          </a:p>
          <a:p>
            <a:pPr marL="76200" marR="71040" algn="ctr"/>
            <a:r>
              <a:rPr lang="en-US" sz="1000" spc="-3">
                <a:solidFill>
                  <a:schemeClr val="tx2"/>
                </a:solidFill>
                <a:ea typeface="Open Sans Light" panose="020B0306030504020204" pitchFamily="34" charset="0"/>
                <a:cs typeface="Open Sans Light" panose="020B0306030504020204" pitchFamily="34" charset="0"/>
              </a:rPr>
              <a:t>Support production parallel runs and facilitate business validation in Production to obtain business-signs off for Cutover</a:t>
            </a:r>
            <a:endParaRPr lang="en-US" sz="1000">
              <a:solidFill>
                <a:schemeClr val="tx2"/>
              </a:solidFill>
              <a:ea typeface="Open Sans Light" panose="020B0306030504020204" pitchFamily="34" charset="0"/>
              <a:cs typeface="Open Sans Light" panose="020B0306030504020204" pitchFamily="34" charset="0"/>
            </a:endParaRPr>
          </a:p>
        </p:txBody>
      </p:sp>
      <p:sp>
        <p:nvSpPr>
          <p:cNvPr id="211" name="object 52">
            <a:extLst>
              <a:ext uri="{FF2B5EF4-FFF2-40B4-BE49-F238E27FC236}">
                <a16:creationId xmlns:a16="http://schemas.microsoft.com/office/drawing/2014/main" id="{F29D8B16-DBAF-39EC-5958-B49556BAF392}"/>
              </a:ext>
            </a:extLst>
          </p:cNvPr>
          <p:cNvSpPr txBox="1"/>
          <p:nvPr/>
        </p:nvSpPr>
        <p:spPr>
          <a:xfrm>
            <a:off x="8850562" y="4253052"/>
            <a:ext cx="2640235" cy="857250"/>
          </a:xfrm>
          <a:prstGeom prst="rect">
            <a:avLst/>
          </a:prstGeom>
          <a:solidFill>
            <a:srgbClr val="E1EDFF"/>
          </a:solidFill>
        </p:spPr>
        <p:txBody>
          <a:bodyPr vert="horz" wrap="square" lIns="57150" tIns="28575" rIns="57150" bIns="28575" rtlCol="0">
            <a:noAutofit/>
          </a:bodyPr>
          <a:lstStyle/>
          <a:p>
            <a:pPr algn="ctr">
              <a:spcBef>
                <a:spcPts val="200"/>
              </a:spcBef>
            </a:pPr>
            <a:r>
              <a:rPr lang="en-US" sz="1000" b="1" spc="-3">
                <a:solidFill>
                  <a:schemeClr val="tx2"/>
                </a:solidFill>
                <a:ea typeface="Open Sans Light" panose="020B0306030504020204" pitchFamily="34" charset="0"/>
                <a:cs typeface="Open Sans Light" panose="020B0306030504020204" pitchFamily="34" charset="0"/>
              </a:rPr>
              <a:t>Transition</a:t>
            </a:r>
            <a:endParaRPr lang="en-US" sz="1000">
              <a:solidFill>
                <a:schemeClr val="tx2"/>
              </a:solidFill>
              <a:ea typeface="Open Sans Light" panose="020B0306030504020204" pitchFamily="34" charset="0"/>
              <a:cs typeface="Open Sans Light" panose="020B0306030504020204" pitchFamily="34" charset="0"/>
            </a:endParaRPr>
          </a:p>
          <a:p>
            <a:pPr marL="71438" marR="67071" algn="ctr"/>
            <a:r>
              <a:rPr lang="en-US" sz="1000" spc="-3">
                <a:solidFill>
                  <a:schemeClr val="tx2"/>
                </a:solidFill>
                <a:cs typeface="Open Sans"/>
              </a:rPr>
              <a:t>Upon </a:t>
            </a:r>
            <a:r>
              <a:rPr lang="en-US" sz="1000">
                <a:solidFill>
                  <a:schemeClr val="tx2"/>
                </a:solidFill>
                <a:cs typeface="Open Sans"/>
              </a:rPr>
              <a:t>successful </a:t>
            </a:r>
            <a:r>
              <a:rPr lang="en-US" sz="1000" spc="-3">
                <a:solidFill>
                  <a:schemeClr val="tx2"/>
                </a:solidFill>
                <a:cs typeface="Open Sans"/>
              </a:rPr>
              <a:t>completion of parallel runs, transition the application to Lights-On team to enable decommissioning of the legacy application</a:t>
            </a:r>
            <a:endParaRPr lang="en-US" sz="1000">
              <a:solidFill>
                <a:schemeClr val="tx2"/>
              </a:solidFill>
              <a:ea typeface="Open Sans Light" panose="020B0306030504020204" pitchFamily="34" charset="0"/>
              <a:cs typeface="Open Sans Light" panose="020B0306030504020204" pitchFamily="34" charset="0"/>
            </a:endParaRPr>
          </a:p>
        </p:txBody>
      </p:sp>
      <p:sp>
        <p:nvSpPr>
          <p:cNvPr id="212" name="object 23">
            <a:extLst>
              <a:ext uri="{FF2B5EF4-FFF2-40B4-BE49-F238E27FC236}">
                <a16:creationId xmlns:a16="http://schemas.microsoft.com/office/drawing/2014/main" id="{F16AD509-3011-699C-BAD0-792017CA13D8}"/>
              </a:ext>
            </a:extLst>
          </p:cNvPr>
          <p:cNvSpPr/>
          <p:nvPr/>
        </p:nvSpPr>
        <p:spPr>
          <a:xfrm>
            <a:off x="9897232" y="3865780"/>
            <a:ext cx="546894" cy="217488"/>
          </a:xfrm>
          <a:custGeom>
            <a:avLst/>
            <a:gdLst/>
            <a:ahLst/>
            <a:cxnLst/>
            <a:rect l="l" t="t" r="r" b="b"/>
            <a:pathLst>
              <a:path w="875029" h="347979">
                <a:moveTo>
                  <a:pt x="0" y="0"/>
                </a:moveTo>
                <a:lnTo>
                  <a:pt x="10414" y="138493"/>
                </a:lnTo>
                <a:lnTo>
                  <a:pt x="442595" y="347472"/>
                </a:lnTo>
                <a:lnTo>
                  <a:pt x="874776" y="138493"/>
                </a:lnTo>
                <a:lnTo>
                  <a:pt x="848741" y="15112"/>
                </a:lnTo>
                <a:lnTo>
                  <a:pt x="453009" y="224104"/>
                </a:lnTo>
                <a:lnTo>
                  <a:pt x="0" y="0"/>
                </a:lnTo>
                <a:close/>
              </a:path>
            </a:pathLst>
          </a:custGeom>
          <a:solidFill>
            <a:srgbClr val="6A97DF"/>
          </a:solidFill>
        </p:spPr>
        <p:txBody>
          <a:bodyPr wrap="square" lIns="0" tIns="0" rIns="0" bIns="0" rtlCol="0"/>
          <a:lstStyle/>
          <a:p>
            <a:endParaRPr sz="1125"/>
          </a:p>
        </p:txBody>
      </p:sp>
      <p:sp>
        <p:nvSpPr>
          <p:cNvPr id="226" name="object 60">
            <a:extLst>
              <a:ext uri="{FF2B5EF4-FFF2-40B4-BE49-F238E27FC236}">
                <a16:creationId xmlns:a16="http://schemas.microsoft.com/office/drawing/2014/main" id="{1EEA09F8-392B-1DE2-FEF1-8C9B3AEBB83B}"/>
              </a:ext>
            </a:extLst>
          </p:cNvPr>
          <p:cNvSpPr/>
          <p:nvPr/>
        </p:nvSpPr>
        <p:spPr>
          <a:xfrm>
            <a:off x="759700" y="1709215"/>
            <a:ext cx="2666165" cy="385128"/>
          </a:xfrm>
          <a:custGeom>
            <a:avLst/>
            <a:gdLst/>
            <a:ahLst/>
            <a:cxnLst/>
            <a:rect l="l" t="t" r="r" b="b"/>
            <a:pathLst>
              <a:path w="2377440" h="356869">
                <a:moveTo>
                  <a:pt x="2377440" y="0"/>
                </a:moveTo>
                <a:lnTo>
                  <a:pt x="0" y="0"/>
                </a:lnTo>
                <a:lnTo>
                  <a:pt x="0" y="356615"/>
                </a:lnTo>
                <a:lnTo>
                  <a:pt x="2377440" y="356615"/>
                </a:lnTo>
                <a:lnTo>
                  <a:pt x="2377440" y="0"/>
                </a:lnTo>
                <a:close/>
              </a:path>
            </a:pathLst>
          </a:custGeom>
          <a:solidFill>
            <a:srgbClr val="D9D9D9"/>
          </a:solidFill>
        </p:spPr>
        <p:txBody>
          <a:bodyPr wrap="square" lIns="0" tIns="0" rIns="0" bIns="0" rtlCol="0"/>
          <a:lstStyle/>
          <a:p>
            <a:endParaRPr sz="1125"/>
          </a:p>
        </p:txBody>
      </p:sp>
      <p:sp>
        <p:nvSpPr>
          <p:cNvPr id="227" name="object 61">
            <a:extLst>
              <a:ext uri="{FF2B5EF4-FFF2-40B4-BE49-F238E27FC236}">
                <a16:creationId xmlns:a16="http://schemas.microsoft.com/office/drawing/2014/main" id="{CD477DFF-6C62-2140-0746-884F4B388CBC}"/>
              </a:ext>
            </a:extLst>
          </p:cNvPr>
          <p:cNvSpPr txBox="1"/>
          <p:nvPr/>
        </p:nvSpPr>
        <p:spPr>
          <a:xfrm>
            <a:off x="799519" y="1722988"/>
            <a:ext cx="1819458" cy="173124"/>
          </a:xfrm>
          <a:prstGeom prst="rect">
            <a:avLst/>
          </a:prstGeom>
        </p:spPr>
        <p:txBody>
          <a:bodyPr vert="horz" wrap="square" lIns="57150" tIns="0" rIns="0" bIns="0" rtlCol="0">
            <a:spAutoFit/>
          </a:bodyPr>
          <a:lstStyle/>
          <a:p>
            <a:pPr marL="7938">
              <a:spcBef>
                <a:spcPts val="66"/>
              </a:spcBef>
            </a:pPr>
            <a:r>
              <a:rPr lang="en-US" sz="1125" b="1">
                <a:solidFill>
                  <a:schemeClr val="tx2"/>
                </a:solidFill>
                <a:cs typeface="Open Sans"/>
              </a:rPr>
              <a:t>Discovery &amp; Planning</a:t>
            </a:r>
            <a:endParaRPr sz="1125">
              <a:solidFill>
                <a:schemeClr val="tx2"/>
              </a:solidFill>
              <a:cs typeface="Open Sans"/>
            </a:endParaRPr>
          </a:p>
        </p:txBody>
      </p:sp>
      <p:sp>
        <p:nvSpPr>
          <p:cNvPr id="228" name="object 63">
            <a:extLst>
              <a:ext uri="{FF2B5EF4-FFF2-40B4-BE49-F238E27FC236}">
                <a16:creationId xmlns:a16="http://schemas.microsoft.com/office/drawing/2014/main" id="{EFF033D8-4A65-58FC-9A86-8EE72103A564}"/>
              </a:ext>
            </a:extLst>
          </p:cNvPr>
          <p:cNvSpPr/>
          <p:nvPr/>
        </p:nvSpPr>
        <p:spPr>
          <a:xfrm>
            <a:off x="412757" y="1709215"/>
            <a:ext cx="382905" cy="385128"/>
          </a:xfrm>
          <a:custGeom>
            <a:avLst/>
            <a:gdLst/>
            <a:ahLst/>
            <a:cxnLst/>
            <a:rect l="l" t="t" r="r" b="b"/>
            <a:pathLst>
              <a:path w="302259" h="356869">
                <a:moveTo>
                  <a:pt x="301752" y="0"/>
                </a:moveTo>
                <a:lnTo>
                  <a:pt x="0" y="0"/>
                </a:lnTo>
                <a:lnTo>
                  <a:pt x="0" y="356615"/>
                </a:lnTo>
                <a:lnTo>
                  <a:pt x="301752" y="356615"/>
                </a:lnTo>
                <a:lnTo>
                  <a:pt x="301752" y="0"/>
                </a:lnTo>
                <a:close/>
              </a:path>
            </a:pathLst>
          </a:custGeom>
          <a:solidFill>
            <a:srgbClr val="1A3673"/>
          </a:solidFill>
        </p:spPr>
        <p:txBody>
          <a:bodyPr wrap="square" lIns="0" tIns="0" rIns="0" bIns="0" rtlCol="0" anchor="ctr"/>
          <a:lstStyle/>
          <a:p>
            <a:pPr algn="ctr"/>
            <a:r>
              <a:rPr lang="en-US" sz="1750" b="1">
                <a:solidFill>
                  <a:schemeClr val="bg1"/>
                </a:solidFill>
              </a:rPr>
              <a:t>1</a:t>
            </a:r>
            <a:endParaRPr sz="1750" b="1">
              <a:solidFill>
                <a:schemeClr val="bg1"/>
              </a:solidFill>
            </a:endParaRPr>
          </a:p>
        </p:txBody>
      </p:sp>
      <p:sp>
        <p:nvSpPr>
          <p:cNvPr id="16" name="Rectangle 15">
            <a:extLst>
              <a:ext uri="{FF2B5EF4-FFF2-40B4-BE49-F238E27FC236}">
                <a16:creationId xmlns:a16="http://schemas.microsoft.com/office/drawing/2014/main" id="{089F86EB-D121-D800-74DE-B7FFF883B3D2}"/>
              </a:ext>
            </a:extLst>
          </p:cNvPr>
          <p:cNvSpPr/>
          <p:nvPr/>
        </p:nvSpPr>
        <p:spPr bwMode="gray">
          <a:xfrm>
            <a:off x="799519" y="1903461"/>
            <a:ext cx="1339615" cy="142090"/>
          </a:xfrm>
          <a:prstGeom prst="rect">
            <a:avLst/>
          </a:prstGeom>
          <a:noFill/>
          <a:ln w="19050" algn="ctr">
            <a:noFill/>
            <a:prstDash val="sysDash"/>
            <a:miter lim="800000"/>
            <a:headEnd/>
            <a:tailEnd/>
          </a:ln>
        </p:spPr>
        <p:txBody>
          <a:bodyPr wrap="square" lIns="57150" tIns="0" rIns="0" bIns="0" rtlCol="0" anchor="ctr">
            <a:spAutoFit/>
          </a:bodyPr>
          <a:lstStyle/>
          <a:p>
            <a:pPr defTabSz="740805">
              <a:lnSpc>
                <a:spcPct val="106000"/>
              </a:lnSpc>
              <a:defRPr/>
            </a:pPr>
            <a:r>
              <a:rPr lang="en-US" sz="900">
                <a:solidFill>
                  <a:schemeClr val="tx2"/>
                </a:solidFill>
                <a:ea typeface="Open Sans Light" panose="020B0306030504020204" pitchFamily="34" charset="0"/>
                <a:cs typeface="Open Sans Light" panose="020B0306030504020204" pitchFamily="34" charset="0"/>
              </a:rPr>
              <a:t>Typically, 6-8 weeks</a:t>
            </a:r>
          </a:p>
        </p:txBody>
      </p:sp>
      <p:sp>
        <p:nvSpPr>
          <p:cNvPr id="240" name="Arc 239">
            <a:extLst>
              <a:ext uri="{FF2B5EF4-FFF2-40B4-BE49-F238E27FC236}">
                <a16:creationId xmlns:a16="http://schemas.microsoft.com/office/drawing/2014/main" id="{E92AE242-6F86-5C57-05CF-F1507BC158AC}"/>
              </a:ext>
            </a:extLst>
          </p:cNvPr>
          <p:cNvSpPr/>
          <p:nvPr/>
        </p:nvSpPr>
        <p:spPr>
          <a:xfrm>
            <a:off x="8199966" y="1655770"/>
            <a:ext cx="347196" cy="347196"/>
          </a:xfrm>
          <a:prstGeom prst="arc">
            <a:avLst>
              <a:gd name="adj1" fmla="val 14549463"/>
              <a:gd name="adj2" fmla="val 13590906"/>
            </a:avLst>
          </a:prstGeom>
          <a:ln w="25400">
            <a:solidFill>
              <a:srgbClr val="44B8F3"/>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823038"/>
            <a:endParaRPr lang="en-US" sz="3960">
              <a:solidFill>
                <a:prstClr val="black"/>
              </a:solidFill>
            </a:endParaRPr>
          </a:p>
        </p:txBody>
      </p:sp>
      <p:sp>
        <p:nvSpPr>
          <p:cNvPr id="252" name="Arc 251">
            <a:extLst>
              <a:ext uri="{FF2B5EF4-FFF2-40B4-BE49-F238E27FC236}">
                <a16:creationId xmlns:a16="http://schemas.microsoft.com/office/drawing/2014/main" id="{771AD96C-D232-A002-85F0-A59B1EB2B310}"/>
              </a:ext>
            </a:extLst>
          </p:cNvPr>
          <p:cNvSpPr/>
          <p:nvPr/>
        </p:nvSpPr>
        <p:spPr>
          <a:xfrm>
            <a:off x="11348865" y="1648926"/>
            <a:ext cx="347196" cy="347196"/>
          </a:xfrm>
          <a:prstGeom prst="arc">
            <a:avLst>
              <a:gd name="adj1" fmla="val 14549463"/>
              <a:gd name="adj2" fmla="val 13590906"/>
            </a:avLst>
          </a:prstGeom>
          <a:ln w="25400">
            <a:solidFill>
              <a:srgbClr val="44B8F3"/>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823038"/>
            <a:endParaRPr lang="en-US" sz="3960">
              <a:solidFill>
                <a:prstClr val="black"/>
              </a:solidFill>
            </a:endParaRPr>
          </a:p>
        </p:txBody>
      </p:sp>
      <p:sp>
        <p:nvSpPr>
          <p:cNvPr id="253" name="object 63">
            <a:extLst>
              <a:ext uri="{FF2B5EF4-FFF2-40B4-BE49-F238E27FC236}">
                <a16:creationId xmlns:a16="http://schemas.microsoft.com/office/drawing/2014/main" id="{0A62A914-8D4B-20F3-963E-98A905F123B5}"/>
              </a:ext>
            </a:extLst>
          </p:cNvPr>
          <p:cNvSpPr/>
          <p:nvPr/>
        </p:nvSpPr>
        <p:spPr>
          <a:xfrm>
            <a:off x="412757" y="5707190"/>
            <a:ext cx="382905" cy="385128"/>
          </a:xfrm>
          <a:custGeom>
            <a:avLst/>
            <a:gdLst/>
            <a:ahLst/>
            <a:cxnLst/>
            <a:rect l="l" t="t" r="r" b="b"/>
            <a:pathLst>
              <a:path w="302259" h="356869">
                <a:moveTo>
                  <a:pt x="301752" y="0"/>
                </a:moveTo>
                <a:lnTo>
                  <a:pt x="0" y="0"/>
                </a:lnTo>
                <a:lnTo>
                  <a:pt x="0" y="356615"/>
                </a:lnTo>
                <a:lnTo>
                  <a:pt x="301752" y="356615"/>
                </a:lnTo>
                <a:lnTo>
                  <a:pt x="301752" y="0"/>
                </a:lnTo>
                <a:close/>
              </a:path>
            </a:pathLst>
          </a:custGeom>
          <a:solidFill>
            <a:srgbClr val="0076A8"/>
          </a:solidFill>
        </p:spPr>
        <p:txBody>
          <a:bodyPr wrap="square" lIns="0" tIns="0" rIns="0" bIns="0" rtlCol="0" anchor="ctr"/>
          <a:lstStyle/>
          <a:p>
            <a:pPr algn="ctr"/>
            <a:r>
              <a:rPr lang="en-US" sz="1750" b="1">
                <a:solidFill>
                  <a:schemeClr val="bg1"/>
                </a:solidFill>
              </a:rPr>
              <a:t>4</a:t>
            </a:r>
            <a:endParaRPr sz="1750" b="1">
              <a:solidFill>
                <a:schemeClr val="bg1"/>
              </a:solidFill>
            </a:endParaRPr>
          </a:p>
        </p:txBody>
      </p:sp>
    </p:spTree>
    <p:extLst>
      <p:ext uri="{BB962C8B-B14F-4D97-AF65-F5344CB8AC3E}">
        <p14:creationId xmlns:p14="http://schemas.microsoft.com/office/powerpoint/2010/main" val="332830658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4" ma:contentTypeDescription="Create a new document." ma:contentTypeScope="" ma:versionID="4c6617896dbd6066d418e5883b6ed562">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beb73ffafaeb73ea273bd43962ac528"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9BBF235D-5BAD-4A08-AEE0-5E29BE15689F}">
  <ds:schemaRefs>
    <ds:schemaRef ds:uri="http://schemas.microsoft.com/office/2006/documentManagement/types"/>
    <ds:schemaRef ds:uri="8f1e2369-70da-40d7-b978-99d0855b91b8"/>
    <ds:schemaRef ds:uri="8ee28f6f-733e-446a-845c-015b8614e1f7"/>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0B2FCBC-AEA4-4167-AEBB-3951BFAB5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1262</Words>
  <Application>Microsoft Macintosh PowerPoint</Application>
  <PresentationFormat>Widescreen</PresentationFormat>
  <Paragraphs>157</Paragraphs>
  <Slides>4</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3" baseType="lpstr">
      <vt:lpstr>Aptos</vt:lpstr>
      <vt:lpstr>Arial</vt:lpstr>
      <vt:lpstr>Open Sans</vt:lpstr>
      <vt:lpstr>Open Sans Light</vt:lpstr>
      <vt:lpstr>Verdana</vt:lpstr>
      <vt:lpstr>Wingdings</vt:lpstr>
      <vt:lpstr>Wingdings 2</vt:lpstr>
      <vt:lpstr>Deloitte_Brand_Theme</vt:lpstr>
      <vt:lpstr>think-cell Slide</vt:lpstr>
      <vt:lpstr>Our approach</vt:lpstr>
      <vt:lpstr>Our approach</vt:lpstr>
      <vt:lpstr>Guiding Framework for Platform Disposition </vt:lpstr>
      <vt:lpstr>Our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2</cp:revision>
  <dcterms:created xsi:type="dcterms:W3CDTF">2020-04-09T19:50:51Z</dcterms:created>
  <dcterms:modified xsi:type="dcterms:W3CDTF">2026-08-02T13:14:13Z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0x01010097C0B5E8C28FBB4DB6BB6E6547CA8A70</vt:lpwstr>
  </property>
</Properties>
</file>