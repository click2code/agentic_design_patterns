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538" r:id="rId2"/>
    <p:sldId id="214748353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56FD-2D21-1643-9643-0F2FE4569B4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FEE6-F60B-9642-9D02-935F2D136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2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CB4A-F3B4-9FC2-250E-81177FE56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6F386-D39F-FE1E-D287-517C7F0A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8474-23B1-16D3-91F8-54C8A5B0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A3D2-689D-4FA5-7A05-A1565C3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7133-1FC0-1D4D-37D3-351C5BB1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80E7-FC37-323F-F0E8-352BB0CC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BAE8-6B13-C941-0954-11C445A7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2F40-E4F3-7E3B-2F3A-2DA5C25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6CCC-404E-5032-486F-683E1860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9F549-5B00-2D70-7575-BBF26E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C11-C234-A4AF-47C6-621280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335C-35FD-738E-7374-C38D1C26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1C08-CC12-333A-112C-7C83067F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BFEA4-8487-3B1B-8CF4-E5032BE9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CB2E-AAD1-6BC3-F132-D93EC013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5CC0-4DAE-01E8-479D-6120FF9C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6A37-C2A6-109E-9115-E312C13F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45660-2430-0744-C4FF-DD85C96C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E4A67-3118-DE6B-9D4F-5098065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59D74-306C-824A-5B1E-B26D6C09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D74B-A7BE-592C-E3E6-92A0C108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0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9B31-473B-8178-49A0-9A492A5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B877-5595-A731-341E-82F8907A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312E-A817-9CCD-ADF2-813E5099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C0AB-DEB5-43FA-1198-1B79FD572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3D0DA-4194-4702-3195-D1156B48D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4DD94-B98C-C50F-5893-CEED927C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1B1FB-F76E-F7ED-A7FC-B6E66194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3EC03-9694-6825-E1AF-3C3756EE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E4D-578F-DDFE-7DFC-90E692FF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47B20-66A9-28CD-C4D7-B99F3B37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93455-CFAA-4235-34E6-B965CB87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BE974-FD90-7505-FE96-927D23EA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793D-1D49-AA8A-BCE7-8FEBE0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022A8-1605-D56A-2549-BB2FC49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5488-00F4-8EC1-6CDB-8875D7F3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AB7-BE99-C670-DD1D-143D5599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2B8A-2D16-1E4C-D61D-BA866574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70938-AF01-B9EB-563E-A6372BE0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0DB0-6AD6-924A-432B-D6E758CC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A123A-98D7-6036-3C56-A2AB8C2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4FB5-E9DB-E2D8-5FDC-AEE504F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75A0-EA25-5329-B3E6-E5F8AE5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3C446-8555-795A-E658-0D0B438EA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28418-9CD9-EEB8-34CD-24F44ADA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0535-EAA3-2991-CCE1-9823CE93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8F88-B9BE-CE60-1D11-F79A58C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C5B46-04BD-634C-3D49-7F0A253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7FB7-593D-3839-2569-6D7EAA47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9894-309C-1C9E-10AD-8E6A5C58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B08A-906E-920E-FE98-06CA3801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B3BF-2811-977B-F122-9B6BC9E2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D908-D6A8-0FBF-3894-4CF9A14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4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AF5A1-14AF-6A25-2D5E-B00755E34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DE01-D41F-E373-D4DB-DC1FA8739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524C-C1F9-8099-0AC5-93E9E1E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D2E0-2C01-9DD8-C343-44D74DF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DFE-BE63-71EB-F4CD-D980D89F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8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29362342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3295" y="652461"/>
            <a:ext cx="11277600" cy="17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50" b="0">
                <a:solidFill>
                  <a:schemeClr val="bg1">
                    <a:lumMod val="5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3550" y="346075"/>
            <a:ext cx="11277600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8E69C9B-B7B1-E448-56C4-0DAB74C78AE9}"/>
              </a:ext>
            </a:extLst>
          </p:cNvPr>
          <p:cNvSpPr/>
          <p:nvPr userDrawn="1"/>
        </p:nvSpPr>
        <p:spPr>
          <a:xfrm>
            <a:off x="-602984" y="1330960"/>
            <a:ext cx="267704" cy="267704"/>
          </a:xfrm>
          <a:prstGeom prst="ellips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36D86E4-73B5-E0B0-5DE3-E5C0C01B7AA9}"/>
              </a:ext>
            </a:extLst>
          </p:cNvPr>
          <p:cNvSpPr/>
          <p:nvPr userDrawn="1"/>
        </p:nvSpPr>
        <p:spPr>
          <a:xfrm>
            <a:off x="-602984" y="1635169"/>
            <a:ext cx="267704" cy="26770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55BB41-F21B-B406-F55D-93807EBE38B3}"/>
              </a:ext>
            </a:extLst>
          </p:cNvPr>
          <p:cNvSpPr/>
          <p:nvPr userDrawn="1"/>
        </p:nvSpPr>
        <p:spPr>
          <a:xfrm>
            <a:off x="-602984" y="1939379"/>
            <a:ext cx="267704" cy="267704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A0774-2F81-11E6-A1E2-2D790E546286}"/>
              </a:ext>
            </a:extLst>
          </p:cNvPr>
          <p:cNvSpPr/>
          <p:nvPr userDrawn="1"/>
        </p:nvSpPr>
        <p:spPr>
          <a:xfrm>
            <a:off x="-602984" y="2243588"/>
            <a:ext cx="267704" cy="267704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4E68A2-0BF6-BE1D-C046-3073AD9123A2}"/>
              </a:ext>
            </a:extLst>
          </p:cNvPr>
          <p:cNvSpPr/>
          <p:nvPr userDrawn="1"/>
        </p:nvSpPr>
        <p:spPr>
          <a:xfrm>
            <a:off x="-602984" y="2547797"/>
            <a:ext cx="267704" cy="267704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FD02C4E-5E08-00B3-3E64-4CFD4FDCBD66}"/>
              </a:ext>
            </a:extLst>
          </p:cNvPr>
          <p:cNvSpPr/>
          <p:nvPr userDrawn="1"/>
        </p:nvSpPr>
        <p:spPr>
          <a:xfrm>
            <a:off x="-602984" y="2852007"/>
            <a:ext cx="267704" cy="267704"/>
          </a:xfrm>
          <a:prstGeom prst="ellipse">
            <a:avLst/>
          </a:prstGeom>
          <a:solidFill>
            <a:srgbClr val="C7EAF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D4C64D9-489D-1531-3F08-EBB1D8B2B6E4}"/>
              </a:ext>
            </a:extLst>
          </p:cNvPr>
          <p:cNvSpPr/>
          <p:nvPr userDrawn="1"/>
        </p:nvSpPr>
        <p:spPr>
          <a:xfrm>
            <a:off x="-602984" y="3156216"/>
            <a:ext cx="267704" cy="267704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02378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11832">
          <p15:clr>
            <a:srgbClr val="FBAE40"/>
          </p15:clr>
        </p15:guide>
        <p15:guide id="2" pos="4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6F980-44D2-D9E9-4758-88789E02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B68E-E18E-B807-1296-83F2FBB9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8C81-68DB-6FDD-B8F0-90A33336B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75F8D-5130-E049-B250-ADAF720CF121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3A25-9078-CD5A-5A9A-E87D3FF36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6686-C24F-375E-CEF4-6057F93EC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F394-47BB-0945-8408-F2366CEA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8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11" Type="http://schemas.openxmlformats.org/officeDocument/2006/relationships/image" Target="../media/image9.jpeg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01">
            <a:extLst>
              <a:ext uri="{FF2B5EF4-FFF2-40B4-BE49-F238E27FC236}">
                <a16:creationId xmlns:a16="http://schemas.microsoft.com/office/drawing/2014/main" id="{BE78A603-DFF4-9C18-F6BC-FF0DA12FCE2C}"/>
              </a:ext>
            </a:extLst>
          </p:cNvPr>
          <p:cNvSpPr/>
          <p:nvPr/>
        </p:nvSpPr>
        <p:spPr>
          <a:xfrm>
            <a:off x="2591765" y="3470094"/>
            <a:ext cx="5192656" cy="460222"/>
          </a:xfrm>
          <a:prstGeom prst="roundRect">
            <a:avLst>
              <a:gd name="adj" fmla="val 7166"/>
            </a:avLst>
          </a:prstGeom>
          <a:solidFill>
            <a:srgbClr val="6A97DF">
              <a:alpha val="29804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 lang="en-GB" sz="875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B88E49-0A71-2042-C4F8-55F6D9A6ADAB}"/>
              </a:ext>
            </a:extLst>
          </p:cNvPr>
          <p:cNvSpPr/>
          <p:nvPr/>
        </p:nvSpPr>
        <p:spPr>
          <a:xfrm>
            <a:off x="3520676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DDL Migrator Agent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0850F0-ECB5-152C-F2A0-CF59BE2EAB7B}"/>
              </a:ext>
            </a:extLst>
          </p:cNvPr>
          <p:cNvSpPr/>
          <p:nvPr/>
        </p:nvSpPr>
        <p:spPr>
          <a:xfrm>
            <a:off x="4424565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Code Converter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431B74-2657-F404-FCB8-1435988EC92D}"/>
              </a:ext>
            </a:extLst>
          </p:cNvPr>
          <p:cNvSpPr/>
          <p:nvPr/>
        </p:nvSpPr>
        <p:spPr>
          <a:xfrm>
            <a:off x="5321883" y="2823000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Migration Agent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37418D2-117F-102C-C286-1D263F5DE019}"/>
              </a:ext>
            </a:extLst>
          </p:cNvPr>
          <p:cNvSpPr/>
          <p:nvPr/>
        </p:nvSpPr>
        <p:spPr>
          <a:xfrm>
            <a:off x="1790359" y="2809442"/>
            <a:ext cx="188953" cy="1046803"/>
          </a:xfrm>
          <a:prstGeom prst="leftBrace">
            <a:avLst>
              <a:gd name="adj1" fmla="val 8333"/>
              <a:gd name="adj2" fmla="val 4768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sz="1750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3475E0B-1194-74B6-E3E8-66873AA7DCE8}"/>
              </a:ext>
            </a:extLst>
          </p:cNvPr>
          <p:cNvSpPr/>
          <p:nvPr/>
        </p:nvSpPr>
        <p:spPr>
          <a:xfrm flipH="1">
            <a:off x="8076140" y="2788891"/>
            <a:ext cx="218003" cy="1079554"/>
          </a:xfrm>
          <a:prstGeom prst="leftBrace">
            <a:avLst>
              <a:gd name="adj1" fmla="val 8333"/>
              <a:gd name="adj2" fmla="val 4768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GB" sz="1750" kern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7311B-7D97-140A-40F9-D478E9234C5E}"/>
              </a:ext>
            </a:extLst>
          </p:cNvPr>
          <p:cNvSpPr txBox="1"/>
          <p:nvPr/>
        </p:nvSpPr>
        <p:spPr>
          <a:xfrm>
            <a:off x="8339909" y="3120939"/>
            <a:ext cx="902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00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Team of helper agents &amp; tools</a:t>
            </a:r>
          </a:p>
        </p:txBody>
      </p:sp>
      <p:sp>
        <p:nvSpPr>
          <p:cNvPr id="12" name="Rectangle: Rounded Corners 128">
            <a:extLst>
              <a:ext uri="{FF2B5EF4-FFF2-40B4-BE49-F238E27FC236}">
                <a16:creationId xmlns:a16="http://schemas.microsoft.com/office/drawing/2014/main" id="{0679DE49-65DB-9DB6-47F7-DD931810C160}"/>
              </a:ext>
            </a:extLst>
          </p:cNvPr>
          <p:cNvSpPr/>
          <p:nvPr/>
        </p:nvSpPr>
        <p:spPr>
          <a:xfrm>
            <a:off x="3638587" y="1804314"/>
            <a:ext cx="2976104" cy="430024"/>
          </a:xfrm>
          <a:prstGeom prst="roundRect">
            <a:avLst/>
          </a:prstGeom>
          <a:solidFill>
            <a:schemeClr val="tx1">
              <a:lumMod val="20000"/>
              <a:lumOff val="80000"/>
              <a:alpha val="29804"/>
            </a:schemeClr>
          </a:solidFill>
          <a:ln w="19050"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 3.0- Migration Agents </a:t>
            </a:r>
          </a:p>
        </p:txBody>
      </p:sp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BD6D1261-4043-40B7-F041-2CF594966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0015" y="1883064"/>
            <a:ext cx="272523" cy="272523"/>
          </a:xfrm>
          <a:prstGeom prst="rect">
            <a:avLst/>
          </a:prstGeom>
        </p:spPr>
      </p:pic>
      <p:cxnSp>
        <p:nvCxnSpPr>
          <p:cNvPr id="14" name="Connector: Elbow 130">
            <a:extLst>
              <a:ext uri="{FF2B5EF4-FFF2-40B4-BE49-F238E27FC236}">
                <a16:creationId xmlns:a16="http://schemas.microsoft.com/office/drawing/2014/main" id="{AF0B5B31-7071-F826-F2F0-778401103431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 rot="5400000">
            <a:off x="4239434" y="1935795"/>
            <a:ext cx="588662" cy="118574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C3E3FE-211E-002E-D7D3-95A7517649E8}"/>
              </a:ext>
            </a:extLst>
          </p:cNvPr>
          <p:cNvCxnSpPr>
            <a:cxnSpLocks/>
          </p:cNvCxnSpPr>
          <p:nvPr/>
        </p:nvCxnSpPr>
        <p:spPr>
          <a:xfrm>
            <a:off x="4861858" y="2230981"/>
            <a:ext cx="1186" cy="54908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25" name="Rounded Rectangle 636">
            <a:extLst>
              <a:ext uri="{FF2B5EF4-FFF2-40B4-BE49-F238E27FC236}">
                <a16:creationId xmlns:a16="http://schemas.microsoft.com/office/drawing/2014/main" id="{96078489-3639-95EA-B554-BE68BB2CEE27}"/>
              </a:ext>
            </a:extLst>
          </p:cNvPr>
          <p:cNvSpPr/>
          <p:nvPr/>
        </p:nvSpPr>
        <p:spPr>
          <a:xfrm>
            <a:off x="6218440" y="2832961"/>
            <a:ext cx="840428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Testing Agent: Data &amp; Reports</a:t>
            </a:r>
          </a:p>
        </p:txBody>
      </p:sp>
      <p:cxnSp>
        <p:nvCxnSpPr>
          <p:cNvPr id="26" name="Connector: Elbow 130">
            <a:extLst>
              <a:ext uri="{FF2B5EF4-FFF2-40B4-BE49-F238E27FC236}">
                <a16:creationId xmlns:a16="http://schemas.microsoft.com/office/drawing/2014/main" id="{095D1B32-EEC1-4C4B-3D95-7AD06A325126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rot="16200000" flipH="1">
            <a:off x="5140037" y="2220940"/>
            <a:ext cx="588662" cy="61545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27" name="Connector: Elbow 130">
            <a:extLst>
              <a:ext uri="{FF2B5EF4-FFF2-40B4-BE49-F238E27FC236}">
                <a16:creationId xmlns:a16="http://schemas.microsoft.com/office/drawing/2014/main" id="{01FB2BFF-A16E-9669-CE19-E8D880867DC1}"/>
              </a:ext>
            </a:extLst>
          </p:cNvPr>
          <p:cNvCxnSpPr>
            <a:cxnSpLocks/>
            <a:stCxn id="12" idx="2"/>
            <a:endCxn id="25" idx="0"/>
          </p:cNvCxnSpPr>
          <p:nvPr/>
        </p:nvCxnSpPr>
        <p:spPr>
          <a:xfrm rot="16200000" flipH="1">
            <a:off x="5583335" y="1777641"/>
            <a:ext cx="598623" cy="151201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CDB2-CF9B-BFB8-506D-7BEC93E7FB89}"/>
              </a:ext>
            </a:extLst>
          </p:cNvPr>
          <p:cNvSpPr/>
          <p:nvPr/>
        </p:nvSpPr>
        <p:spPr>
          <a:xfrm>
            <a:off x="757044" y="1606152"/>
            <a:ext cx="1728504" cy="333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7FE64-CC97-52A7-5CBB-CB6AF5963968}"/>
              </a:ext>
            </a:extLst>
          </p:cNvPr>
          <p:cNvSpPr/>
          <p:nvPr/>
        </p:nvSpPr>
        <p:spPr>
          <a:xfrm>
            <a:off x="3653749" y="1608542"/>
            <a:ext cx="5486400" cy="285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A42C0-2D54-8F59-E293-32ADD7C5AC38}"/>
              </a:ext>
            </a:extLst>
          </p:cNvPr>
          <p:cNvSpPr txBox="1"/>
          <p:nvPr/>
        </p:nvSpPr>
        <p:spPr>
          <a:xfrm>
            <a:off x="697641" y="1248854"/>
            <a:ext cx="2198768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Report Rationalization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232E2-C14F-869A-E929-C2532A1C0FA9}"/>
              </a:ext>
            </a:extLst>
          </p:cNvPr>
          <p:cNvSpPr txBox="1"/>
          <p:nvPr/>
        </p:nvSpPr>
        <p:spPr>
          <a:xfrm>
            <a:off x="5788290" y="1238271"/>
            <a:ext cx="1745771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Migration Phase</a:t>
            </a:r>
          </a:p>
        </p:txBody>
      </p:sp>
      <p:sp>
        <p:nvSpPr>
          <p:cNvPr id="32" name="Rounded Rectangle 636">
            <a:extLst>
              <a:ext uri="{FF2B5EF4-FFF2-40B4-BE49-F238E27FC236}">
                <a16:creationId xmlns:a16="http://schemas.microsoft.com/office/drawing/2014/main" id="{F1FADD8F-F744-307A-6C2A-A30D477AEDA1}"/>
              </a:ext>
            </a:extLst>
          </p:cNvPr>
          <p:cNvSpPr/>
          <p:nvPr/>
        </p:nvSpPr>
        <p:spPr>
          <a:xfrm>
            <a:off x="7119875" y="2841471"/>
            <a:ext cx="860403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Code Optimization Agent</a:t>
            </a:r>
          </a:p>
        </p:txBody>
      </p:sp>
      <p:cxnSp>
        <p:nvCxnSpPr>
          <p:cNvPr id="36" name="Connector: Elbow 130">
            <a:extLst>
              <a:ext uri="{FF2B5EF4-FFF2-40B4-BE49-F238E27FC236}">
                <a16:creationId xmlns:a16="http://schemas.microsoft.com/office/drawing/2014/main" id="{844439BB-7652-EB67-3304-DDE92E608AAC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6034792" y="1326185"/>
            <a:ext cx="607133" cy="242343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pic>
        <p:nvPicPr>
          <p:cNvPr id="37" name="Graphic 36" descr="Robot outline">
            <a:extLst>
              <a:ext uri="{FF2B5EF4-FFF2-40B4-BE49-F238E27FC236}">
                <a16:creationId xmlns:a16="http://schemas.microsoft.com/office/drawing/2014/main" id="{8615FC3D-2273-B8CE-EF06-77D86A9F1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9360" y="3161459"/>
            <a:ext cx="248153" cy="259385"/>
          </a:xfrm>
          <a:prstGeom prst="rect">
            <a:avLst/>
          </a:prstGeom>
        </p:spPr>
      </p:pic>
      <p:pic>
        <p:nvPicPr>
          <p:cNvPr id="38" name="Graphic 37" descr="Mining tools with solid fill">
            <a:extLst>
              <a:ext uri="{FF2B5EF4-FFF2-40B4-BE49-F238E27FC236}">
                <a16:creationId xmlns:a16="http://schemas.microsoft.com/office/drawing/2014/main" id="{2E4B4C98-BBA4-C07F-C00E-1B14352B1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9521" y="3416267"/>
            <a:ext cx="172899" cy="1728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F36AEFF-2798-7552-F6A2-B169BF8A3A9A}"/>
              </a:ext>
            </a:extLst>
          </p:cNvPr>
          <p:cNvSpPr txBox="1"/>
          <p:nvPr/>
        </p:nvSpPr>
        <p:spPr>
          <a:xfrm>
            <a:off x="725942" y="2644861"/>
            <a:ext cx="760423" cy="5107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rtlCol="0" anchor="t" anchorCtr="0">
            <a:spAutoFit/>
          </a:bodyPr>
          <a:lstStyle/>
          <a:p>
            <a:pPr algn="ctr"/>
            <a:r>
              <a:rPr lang="en-US" sz="750" b="1" i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Identify reports which need to be considered for migration</a:t>
            </a:r>
          </a:p>
        </p:txBody>
      </p:sp>
      <p:sp>
        <p:nvSpPr>
          <p:cNvPr id="40" name="Rectangle: Rounded Corners 128">
            <a:extLst>
              <a:ext uri="{FF2B5EF4-FFF2-40B4-BE49-F238E27FC236}">
                <a16:creationId xmlns:a16="http://schemas.microsoft.com/office/drawing/2014/main" id="{89324DF8-428C-9087-60C8-93E75600FFE7}"/>
              </a:ext>
            </a:extLst>
          </p:cNvPr>
          <p:cNvSpPr/>
          <p:nvPr/>
        </p:nvSpPr>
        <p:spPr>
          <a:xfrm>
            <a:off x="698399" y="1804314"/>
            <a:ext cx="1787149" cy="430024"/>
          </a:xfrm>
          <a:prstGeom prst="roundRect">
            <a:avLst/>
          </a:prstGeom>
          <a:solidFill>
            <a:schemeClr val="bg1">
              <a:lumMod val="85000"/>
              <a:alpha val="29804"/>
            </a:schemeClr>
          </a:solidFill>
          <a:ln w="19050">
            <a:solidFill>
              <a:schemeClr val="bg1">
                <a:lumMod val="65000"/>
              </a:schemeClr>
            </a:solidFill>
          </a:ln>
          <a:effectLst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 3.0 - DRECT</a:t>
            </a:r>
            <a:endParaRPr lang="en-GB" sz="1125" kern="0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Graphic 40" descr="Robot with solid fill">
            <a:extLst>
              <a:ext uri="{FF2B5EF4-FFF2-40B4-BE49-F238E27FC236}">
                <a16:creationId xmlns:a16="http://schemas.microsoft.com/office/drawing/2014/main" id="{40487753-A5AD-568F-8F0F-484A97A56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907" y="1883064"/>
            <a:ext cx="272523" cy="272523"/>
          </a:xfrm>
          <a:prstGeom prst="rect">
            <a:avLst/>
          </a:prstGeom>
        </p:spPr>
      </p:pic>
      <p:sp>
        <p:nvSpPr>
          <p:cNvPr id="42" name="Rectangle: Rounded Corners 128">
            <a:extLst>
              <a:ext uri="{FF2B5EF4-FFF2-40B4-BE49-F238E27FC236}">
                <a16:creationId xmlns:a16="http://schemas.microsoft.com/office/drawing/2014/main" id="{BE5665AD-0264-91A6-18DF-68FB9748D8BA}"/>
              </a:ext>
            </a:extLst>
          </p:cNvPr>
          <p:cNvSpPr/>
          <p:nvPr/>
        </p:nvSpPr>
        <p:spPr>
          <a:xfrm>
            <a:off x="6808290" y="1780114"/>
            <a:ext cx="2572866" cy="430024"/>
          </a:xfrm>
          <a:prstGeom prst="roundRect">
            <a:avLst/>
          </a:prstGeom>
          <a:solidFill>
            <a:schemeClr val="accent1">
              <a:alpha val="14000"/>
            </a:schemeClr>
          </a:solidFill>
          <a:ln w="19050">
            <a:solidFill>
              <a:schemeClr val="tx1"/>
            </a:solidFill>
          </a:ln>
          <a:effectLst/>
        </p:spPr>
        <p:txBody>
          <a:bodyPr wrap="square" lIns="400050" tIns="114300" rIns="91440" bIns="45720" rtlCol="0" anchor="ctr" anchorCtr="0">
            <a:noAutofit/>
          </a:bodyPr>
          <a:lstStyle/>
          <a:p>
            <a:pPr algn="ctr">
              <a:defRPr/>
            </a:pPr>
            <a:endParaRPr lang="en-GB" sz="875" kern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" name="Connector: Elbow 130">
            <a:extLst>
              <a:ext uri="{FF2B5EF4-FFF2-40B4-BE49-F238E27FC236}">
                <a16:creationId xmlns:a16="http://schemas.microsoft.com/office/drawing/2014/main" id="{8280336E-6712-8255-FEB7-8C844A9FE86E}"/>
              </a:ext>
            </a:extLst>
          </p:cNvPr>
          <p:cNvCxnSpPr>
            <a:cxnSpLocks/>
            <a:stCxn id="42" idx="2"/>
            <a:endCxn id="32" idx="3"/>
          </p:cNvCxnSpPr>
          <p:nvPr/>
        </p:nvCxnSpPr>
        <p:spPr>
          <a:xfrm rot="5400000">
            <a:off x="7584563" y="2605854"/>
            <a:ext cx="905876" cy="114445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44" name="Connector: Elbow 130">
            <a:extLst>
              <a:ext uri="{FF2B5EF4-FFF2-40B4-BE49-F238E27FC236}">
                <a16:creationId xmlns:a16="http://schemas.microsoft.com/office/drawing/2014/main" id="{EAFFD876-722B-BBD3-582E-99DFFF41FBB7}"/>
              </a:ext>
            </a:extLst>
          </p:cNvPr>
          <p:cNvCxnSpPr>
            <a:cxnSpLocks/>
            <a:stCxn id="42" idx="2"/>
            <a:endCxn id="25" idx="0"/>
          </p:cNvCxnSpPr>
          <p:nvPr/>
        </p:nvCxnSpPr>
        <p:spPr>
          <a:xfrm rot="5400000">
            <a:off x="7055278" y="1793515"/>
            <a:ext cx="622823" cy="145606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45" name="Flowchart: Connector 37">
            <a:extLst>
              <a:ext uri="{FF2B5EF4-FFF2-40B4-BE49-F238E27FC236}">
                <a16:creationId xmlns:a16="http://schemas.microsoft.com/office/drawing/2014/main" id="{09EBB974-252B-207F-24C0-3BD3D327F8C1}"/>
              </a:ext>
            </a:extLst>
          </p:cNvPr>
          <p:cNvSpPr/>
          <p:nvPr/>
        </p:nvSpPr>
        <p:spPr>
          <a:xfrm>
            <a:off x="3450028" y="2797196"/>
            <a:ext cx="187981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Flowchart: Connector 37">
            <a:extLst>
              <a:ext uri="{FF2B5EF4-FFF2-40B4-BE49-F238E27FC236}">
                <a16:creationId xmlns:a16="http://schemas.microsoft.com/office/drawing/2014/main" id="{04126FAB-7FB7-03CF-22AF-EA22114F7F7D}"/>
              </a:ext>
            </a:extLst>
          </p:cNvPr>
          <p:cNvSpPr/>
          <p:nvPr/>
        </p:nvSpPr>
        <p:spPr>
          <a:xfrm>
            <a:off x="4389237" y="2785810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Flowchart: Connector 37">
            <a:extLst>
              <a:ext uri="{FF2B5EF4-FFF2-40B4-BE49-F238E27FC236}">
                <a16:creationId xmlns:a16="http://schemas.microsoft.com/office/drawing/2014/main" id="{F95C5769-C8C8-4A63-9D8D-3C8CC96ABDCF}"/>
              </a:ext>
            </a:extLst>
          </p:cNvPr>
          <p:cNvSpPr/>
          <p:nvPr/>
        </p:nvSpPr>
        <p:spPr>
          <a:xfrm>
            <a:off x="5306135" y="2791988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lowchart: Connector 37">
            <a:extLst>
              <a:ext uri="{FF2B5EF4-FFF2-40B4-BE49-F238E27FC236}">
                <a16:creationId xmlns:a16="http://schemas.microsoft.com/office/drawing/2014/main" id="{F9F3BADD-442E-E9D6-7CD5-6613E8FB72E8}"/>
              </a:ext>
            </a:extLst>
          </p:cNvPr>
          <p:cNvSpPr/>
          <p:nvPr/>
        </p:nvSpPr>
        <p:spPr>
          <a:xfrm>
            <a:off x="6199735" y="2791052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Flowchart: Connector 37">
            <a:extLst>
              <a:ext uri="{FF2B5EF4-FFF2-40B4-BE49-F238E27FC236}">
                <a16:creationId xmlns:a16="http://schemas.microsoft.com/office/drawing/2014/main" id="{3E0A5F1E-0AA0-C051-F18C-9F43AA391704}"/>
              </a:ext>
            </a:extLst>
          </p:cNvPr>
          <p:cNvSpPr/>
          <p:nvPr/>
        </p:nvSpPr>
        <p:spPr>
          <a:xfrm>
            <a:off x="7093423" y="2797806"/>
            <a:ext cx="211398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E0FBD4-C766-FA01-3F8F-889C214A4251}"/>
              </a:ext>
            </a:extLst>
          </p:cNvPr>
          <p:cNvSpPr txBox="1"/>
          <p:nvPr/>
        </p:nvSpPr>
        <p:spPr>
          <a:xfrm>
            <a:off x="6958685" y="1880690"/>
            <a:ext cx="254839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125" b="1" kern="0" dirty="0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Assist 3.0 -Optimization Agent </a:t>
            </a:r>
            <a:endParaRPr lang="en-GB" sz="1125" kern="0" dirty="0">
              <a:solidFill>
                <a:prstClr val="black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or: Elbow 139">
            <a:extLst>
              <a:ext uri="{FF2B5EF4-FFF2-40B4-BE49-F238E27FC236}">
                <a16:creationId xmlns:a16="http://schemas.microsoft.com/office/drawing/2014/main" id="{B423A5FA-88FC-B76D-5305-F44880E789EC}"/>
              </a:ext>
            </a:extLst>
          </p:cNvPr>
          <p:cNvCxnSpPr>
            <a:cxnSpLocks/>
            <a:stCxn id="33" idx="1"/>
            <a:endCxn id="40" idx="2"/>
          </p:cNvCxnSpPr>
          <p:nvPr/>
        </p:nvCxnSpPr>
        <p:spPr>
          <a:xfrm rot="10800000">
            <a:off x="1591975" y="2234338"/>
            <a:ext cx="1304435" cy="1456958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52" name="Rounded Rectangle 634">
            <a:extLst>
              <a:ext uri="{FF2B5EF4-FFF2-40B4-BE49-F238E27FC236}">
                <a16:creationId xmlns:a16="http://schemas.microsoft.com/office/drawing/2014/main" id="{974F702A-015A-AF6D-E0D6-221EBC782269}"/>
              </a:ext>
            </a:extLst>
          </p:cNvPr>
          <p:cNvSpPr/>
          <p:nvPr/>
        </p:nvSpPr>
        <p:spPr>
          <a:xfrm>
            <a:off x="2211837" y="2816072"/>
            <a:ext cx="1219412" cy="5490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sz="875" b="1" kern="0" dirty="0">
                <a:solidFill>
                  <a:schemeClr val="tx2"/>
                </a:solidFill>
                <a:cs typeface="Calibri" panose="020F0502020204030204" pitchFamily="34" charset="0"/>
              </a:rPr>
              <a:t> Report Rationalization</a:t>
            </a:r>
          </a:p>
          <a:p>
            <a:pPr>
              <a:defRPr/>
            </a:pPr>
            <a:endParaRPr lang="en-US" sz="875" b="1" kern="0" dirty="0">
              <a:solidFill>
                <a:schemeClr val="tx2"/>
              </a:solidFill>
              <a:cs typeface="Calibri" panose="020F0502020204030204" pitchFamily="34" charset="0"/>
            </a:endParaRPr>
          </a:p>
        </p:txBody>
      </p:sp>
      <p:sp>
        <p:nvSpPr>
          <p:cNvPr id="53" name="Flowchart: Connector 37">
            <a:extLst>
              <a:ext uri="{FF2B5EF4-FFF2-40B4-BE49-F238E27FC236}">
                <a16:creationId xmlns:a16="http://schemas.microsoft.com/office/drawing/2014/main" id="{3423F235-0DA6-1957-D20E-C6904C4D4950}"/>
              </a:ext>
            </a:extLst>
          </p:cNvPr>
          <p:cNvSpPr/>
          <p:nvPr/>
        </p:nvSpPr>
        <p:spPr>
          <a:xfrm>
            <a:off x="2150500" y="2768881"/>
            <a:ext cx="182549" cy="192448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IN" sz="875" b="1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Connector: Elbow 139">
            <a:extLst>
              <a:ext uri="{FF2B5EF4-FFF2-40B4-BE49-F238E27FC236}">
                <a16:creationId xmlns:a16="http://schemas.microsoft.com/office/drawing/2014/main" id="{03F47956-0C0E-E368-0AB8-595635F1DDA2}"/>
              </a:ext>
            </a:extLst>
          </p:cNvPr>
          <p:cNvCxnSpPr>
            <a:cxnSpLocks/>
            <a:stCxn id="52" idx="0"/>
            <a:endCxn id="40" idx="2"/>
          </p:cNvCxnSpPr>
          <p:nvPr/>
        </p:nvCxnSpPr>
        <p:spPr>
          <a:xfrm rot="16200000" flipV="1">
            <a:off x="1915892" y="1910420"/>
            <a:ext cx="581734" cy="122956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56" name="Connector: Elbow 139">
            <a:extLst>
              <a:ext uri="{FF2B5EF4-FFF2-40B4-BE49-F238E27FC236}">
                <a16:creationId xmlns:a16="http://schemas.microsoft.com/office/drawing/2014/main" id="{5F68B834-3736-9646-3866-D356E23F2456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551237" y="2841784"/>
            <a:ext cx="660600" cy="24883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pic>
        <p:nvPicPr>
          <p:cNvPr id="69" name="Graphic 68" descr="Robot with solid fill">
            <a:extLst>
              <a:ext uri="{FF2B5EF4-FFF2-40B4-BE49-F238E27FC236}">
                <a16:creationId xmlns:a16="http://schemas.microsoft.com/office/drawing/2014/main" id="{5549B64D-B6AB-25B8-DE24-86658B312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65055" y="1872368"/>
            <a:ext cx="272523" cy="27252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C339B16C-302C-DEF1-B6E4-C44620BDDC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942" y="4146191"/>
            <a:ext cx="1468809" cy="1236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99120CC-14D9-0A12-8556-9DE2D46079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202" y="4101759"/>
            <a:ext cx="1667518" cy="10517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5637A560-DE81-9379-4B66-22236120D2AA}"/>
              </a:ext>
            </a:extLst>
          </p:cNvPr>
          <p:cNvSpPr txBox="1"/>
          <p:nvPr/>
        </p:nvSpPr>
        <p:spPr>
          <a:xfrm>
            <a:off x="196462" y="5125179"/>
            <a:ext cx="1398863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75" b="1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Inventory Dependency Tracker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198908-BA0D-3996-EB04-FC395C2445C8}"/>
              </a:ext>
            </a:extLst>
          </p:cNvPr>
          <p:cNvSpPr txBox="1"/>
          <p:nvPr/>
        </p:nvSpPr>
        <p:spPr>
          <a:xfrm>
            <a:off x="1546801" y="5425711"/>
            <a:ext cx="1398863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75" b="1">
                <a:solidFill>
                  <a:prstClr val="black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Track Agentic Conversion Progress</a:t>
            </a:r>
          </a:p>
        </p:txBody>
      </p:sp>
      <p:cxnSp>
        <p:nvCxnSpPr>
          <p:cNvPr id="74" name="Connector: Elbow 139">
            <a:extLst>
              <a:ext uri="{FF2B5EF4-FFF2-40B4-BE49-F238E27FC236}">
                <a16:creationId xmlns:a16="http://schemas.microsoft.com/office/drawing/2014/main" id="{7920714F-87FB-F8A6-F040-BC8B42C30FE3}"/>
              </a:ext>
            </a:extLst>
          </p:cNvPr>
          <p:cNvCxnSpPr>
            <a:cxnSpLocks/>
            <a:endCxn id="39" idx="2"/>
          </p:cNvCxnSpPr>
          <p:nvPr/>
        </p:nvCxnSpPr>
        <p:spPr>
          <a:xfrm rot="16200000" flipV="1">
            <a:off x="634383" y="3627410"/>
            <a:ext cx="943546" cy="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75" name="Connector: Elbow 139">
            <a:extLst>
              <a:ext uri="{FF2B5EF4-FFF2-40B4-BE49-F238E27FC236}">
                <a16:creationId xmlns:a16="http://schemas.microsoft.com/office/drawing/2014/main" id="{C831AC0A-3311-7848-968A-14CA022D9F4B}"/>
              </a:ext>
            </a:extLst>
          </p:cNvPr>
          <p:cNvCxnSpPr>
            <a:cxnSpLocks/>
            <a:stCxn id="70" idx="0"/>
          </p:cNvCxnSpPr>
          <p:nvPr/>
        </p:nvCxnSpPr>
        <p:spPr>
          <a:xfrm rot="5400000" flipH="1" flipV="1">
            <a:off x="2710150" y="3504932"/>
            <a:ext cx="167457" cy="111506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76" name="Connector: Elbow 139">
            <a:extLst>
              <a:ext uri="{FF2B5EF4-FFF2-40B4-BE49-F238E27FC236}">
                <a16:creationId xmlns:a16="http://schemas.microsoft.com/office/drawing/2014/main" id="{9243CF9F-25E4-6073-0C70-0A41E51E15AA}"/>
              </a:ext>
            </a:extLst>
          </p:cNvPr>
          <p:cNvCxnSpPr>
            <a:cxnSpLocks/>
          </p:cNvCxnSpPr>
          <p:nvPr/>
        </p:nvCxnSpPr>
        <p:spPr>
          <a:xfrm rot="5400000">
            <a:off x="3396932" y="3733329"/>
            <a:ext cx="1050153" cy="344799"/>
          </a:xfrm>
          <a:prstGeom prst="bentConnector3">
            <a:avLst>
              <a:gd name="adj1" fmla="val 7025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grpSp>
        <p:nvGrpSpPr>
          <p:cNvPr id="77" name="Graphic 4">
            <a:extLst>
              <a:ext uri="{FF2B5EF4-FFF2-40B4-BE49-F238E27FC236}">
                <a16:creationId xmlns:a16="http://schemas.microsoft.com/office/drawing/2014/main" id="{D093A592-2F5D-7843-AD49-96096C841434}"/>
              </a:ext>
            </a:extLst>
          </p:cNvPr>
          <p:cNvGrpSpPr/>
          <p:nvPr/>
        </p:nvGrpSpPr>
        <p:grpSpPr>
          <a:xfrm>
            <a:off x="3607356" y="5673367"/>
            <a:ext cx="159469" cy="183749"/>
            <a:chOff x="4746445" y="988403"/>
            <a:chExt cx="191697" cy="220885"/>
          </a:xfrm>
          <a:solidFill>
            <a:schemeClr val="bg1"/>
          </a:solidFill>
        </p:grpSpPr>
        <p:sp>
          <p:nvSpPr>
            <p:cNvPr id="78" name="Graphic 4">
              <a:extLst>
                <a:ext uri="{FF2B5EF4-FFF2-40B4-BE49-F238E27FC236}">
                  <a16:creationId xmlns:a16="http://schemas.microsoft.com/office/drawing/2014/main" id="{23CA28E8-616A-D47B-5E2C-A01C2E971480}"/>
                </a:ext>
              </a:extLst>
            </p:cNvPr>
            <p:cNvSpPr/>
            <p:nvPr/>
          </p:nvSpPr>
          <p:spPr>
            <a:xfrm>
              <a:off x="4746445" y="988403"/>
              <a:ext cx="58787" cy="220885"/>
            </a:xfrm>
            <a:custGeom>
              <a:avLst/>
              <a:gdLst>
                <a:gd name="connsiteX0" fmla="*/ 35784 w 58787"/>
                <a:gd name="connsiteY0" fmla="*/ 29366 h 220885"/>
                <a:gd name="connsiteX1" fmla="*/ 35784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29366 h 220885"/>
                <a:gd name="connsiteX5" fmla="*/ 0 w 58787"/>
                <a:gd name="connsiteY5" fmla="*/ 58094 h 220885"/>
                <a:gd name="connsiteX6" fmla="*/ 23004 w 58787"/>
                <a:gd name="connsiteY6" fmla="*/ 86822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4 w 58787"/>
                <a:gd name="connsiteY9" fmla="*/ 214502 h 220885"/>
                <a:gd name="connsiteX10" fmla="*/ 35784 w 58787"/>
                <a:gd name="connsiteY10" fmla="*/ 86822 h 220885"/>
                <a:gd name="connsiteX11" fmla="*/ 58788 w 58787"/>
                <a:gd name="connsiteY11" fmla="*/ 58094 h 220885"/>
                <a:gd name="connsiteX12" fmla="*/ 35784 w 58787"/>
                <a:gd name="connsiteY12" fmla="*/ 29366 h 220885"/>
                <a:gd name="connsiteX13" fmla="*/ 29394 w 58787"/>
                <a:gd name="connsiteY13" fmla="*/ 74693 h 220885"/>
                <a:gd name="connsiteX14" fmla="*/ 12780 w 58787"/>
                <a:gd name="connsiteY14" fmla="*/ 58094 h 220885"/>
                <a:gd name="connsiteX15" fmla="*/ 29394 w 58787"/>
                <a:gd name="connsiteY15" fmla="*/ 41496 h 220885"/>
                <a:gd name="connsiteX16" fmla="*/ 46008 w 58787"/>
                <a:gd name="connsiteY16" fmla="*/ 58094 h 220885"/>
                <a:gd name="connsiteX17" fmla="*/ 29394 w 58787"/>
                <a:gd name="connsiteY17" fmla="*/ 74693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4" y="29366"/>
                  </a:moveTo>
                  <a:lnTo>
                    <a:pt x="35784" y="6384"/>
                  </a:lnTo>
                  <a:cubicBezTo>
                    <a:pt x="35784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29366"/>
                  </a:lnTo>
                  <a:cubicBezTo>
                    <a:pt x="9585" y="32558"/>
                    <a:pt x="0" y="44050"/>
                    <a:pt x="0" y="58094"/>
                  </a:cubicBezTo>
                  <a:cubicBezTo>
                    <a:pt x="0" y="72139"/>
                    <a:pt x="10224" y="84269"/>
                    <a:pt x="23004" y="86822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4" y="218332"/>
                    <a:pt x="35784" y="214502"/>
                  </a:cubicBezTo>
                  <a:lnTo>
                    <a:pt x="35784" y="86822"/>
                  </a:lnTo>
                  <a:cubicBezTo>
                    <a:pt x="49203" y="83630"/>
                    <a:pt x="58788" y="72139"/>
                    <a:pt x="58788" y="58094"/>
                  </a:cubicBezTo>
                  <a:cubicBezTo>
                    <a:pt x="58788" y="44050"/>
                    <a:pt x="49203" y="32558"/>
                    <a:pt x="35784" y="29366"/>
                  </a:cubicBezTo>
                  <a:close/>
                  <a:moveTo>
                    <a:pt x="29394" y="74693"/>
                  </a:moveTo>
                  <a:cubicBezTo>
                    <a:pt x="20448" y="74693"/>
                    <a:pt x="12780" y="67032"/>
                    <a:pt x="12780" y="58094"/>
                  </a:cubicBezTo>
                  <a:cubicBezTo>
                    <a:pt x="12780" y="49157"/>
                    <a:pt x="20448" y="41496"/>
                    <a:pt x="29394" y="41496"/>
                  </a:cubicBezTo>
                  <a:cubicBezTo>
                    <a:pt x="38340" y="41496"/>
                    <a:pt x="46008" y="49157"/>
                    <a:pt x="46008" y="58094"/>
                  </a:cubicBezTo>
                  <a:cubicBezTo>
                    <a:pt x="46008" y="67032"/>
                    <a:pt x="38340" y="74693"/>
                    <a:pt x="29394" y="74693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79" name="Graphic 4">
              <a:extLst>
                <a:ext uri="{FF2B5EF4-FFF2-40B4-BE49-F238E27FC236}">
                  <a16:creationId xmlns:a16="http://schemas.microsoft.com/office/drawing/2014/main" id="{71D3C1CB-1259-706C-9643-53D2CCE015BF}"/>
                </a:ext>
              </a:extLst>
            </p:cNvPr>
            <p:cNvSpPr/>
            <p:nvPr/>
          </p:nvSpPr>
          <p:spPr>
            <a:xfrm>
              <a:off x="4879355" y="988403"/>
              <a:ext cx="58787" cy="220885"/>
            </a:xfrm>
            <a:custGeom>
              <a:avLst/>
              <a:gdLst>
                <a:gd name="connsiteX0" fmla="*/ 35784 w 58787"/>
                <a:gd name="connsiteY0" fmla="*/ 66393 h 220885"/>
                <a:gd name="connsiteX1" fmla="*/ 35784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66393 h 220885"/>
                <a:gd name="connsiteX5" fmla="*/ 0 w 58787"/>
                <a:gd name="connsiteY5" fmla="*/ 95121 h 220885"/>
                <a:gd name="connsiteX6" fmla="*/ 23004 w 58787"/>
                <a:gd name="connsiteY6" fmla="*/ 123849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4 w 58787"/>
                <a:gd name="connsiteY9" fmla="*/ 214502 h 220885"/>
                <a:gd name="connsiteX10" fmla="*/ 35784 w 58787"/>
                <a:gd name="connsiteY10" fmla="*/ 123849 h 220885"/>
                <a:gd name="connsiteX11" fmla="*/ 58788 w 58787"/>
                <a:gd name="connsiteY11" fmla="*/ 95121 h 220885"/>
                <a:gd name="connsiteX12" fmla="*/ 35784 w 58787"/>
                <a:gd name="connsiteY12" fmla="*/ 66393 h 220885"/>
                <a:gd name="connsiteX13" fmla="*/ 29394 w 58787"/>
                <a:gd name="connsiteY13" fmla="*/ 111720 h 220885"/>
                <a:gd name="connsiteX14" fmla="*/ 12780 w 58787"/>
                <a:gd name="connsiteY14" fmla="*/ 95121 h 220885"/>
                <a:gd name="connsiteX15" fmla="*/ 29394 w 58787"/>
                <a:gd name="connsiteY15" fmla="*/ 78523 h 220885"/>
                <a:gd name="connsiteX16" fmla="*/ 46008 w 58787"/>
                <a:gd name="connsiteY16" fmla="*/ 95121 h 220885"/>
                <a:gd name="connsiteX17" fmla="*/ 29394 w 58787"/>
                <a:gd name="connsiteY17" fmla="*/ 111720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4" y="66393"/>
                  </a:moveTo>
                  <a:lnTo>
                    <a:pt x="35784" y="6384"/>
                  </a:lnTo>
                  <a:cubicBezTo>
                    <a:pt x="35784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66393"/>
                  </a:lnTo>
                  <a:cubicBezTo>
                    <a:pt x="9585" y="69585"/>
                    <a:pt x="0" y="81077"/>
                    <a:pt x="0" y="95121"/>
                  </a:cubicBezTo>
                  <a:cubicBezTo>
                    <a:pt x="0" y="109166"/>
                    <a:pt x="10224" y="121296"/>
                    <a:pt x="23004" y="123849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4" y="218332"/>
                    <a:pt x="35784" y="214502"/>
                  </a:cubicBezTo>
                  <a:lnTo>
                    <a:pt x="35784" y="123849"/>
                  </a:lnTo>
                  <a:cubicBezTo>
                    <a:pt x="49203" y="120657"/>
                    <a:pt x="58788" y="109166"/>
                    <a:pt x="58788" y="95121"/>
                  </a:cubicBezTo>
                  <a:cubicBezTo>
                    <a:pt x="58788" y="81077"/>
                    <a:pt x="49203" y="69585"/>
                    <a:pt x="35784" y="66393"/>
                  </a:cubicBezTo>
                  <a:close/>
                  <a:moveTo>
                    <a:pt x="29394" y="111720"/>
                  </a:moveTo>
                  <a:cubicBezTo>
                    <a:pt x="20448" y="111720"/>
                    <a:pt x="12780" y="104059"/>
                    <a:pt x="12780" y="95121"/>
                  </a:cubicBezTo>
                  <a:cubicBezTo>
                    <a:pt x="12780" y="86184"/>
                    <a:pt x="20448" y="78523"/>
                    <a:pt x="29394" y="78523"/>
                  </a:cubicBezTo>
                  <a:cubicBezTo>
                    <a:pt x="38340" y="78523"/>
                    <a:pt x="46008" y="86184"/>
                    <a:pt x="46008" y="95121"/>
                  </a:cubicBezTo>
                  <a:cubicBezTo>
                    <a:pt x="46647" y="104697"/>
                    <a:pt x="38979" y="111720"/>
                    <a:pt x="29394" y="111720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  <p:sp>
          <p:nvSpPr>
            <p:cNvPr id="80" name="Graphic 4">
              <a:extLst>
                <a:ext uri="{FF2B5EF4-FFF2-40B4-BE49-F238E27FC236}">
                  <a16:creationId xmlns:a16="http://schemas.microsoft.com/office/drawing/2014/main" id="{D21C75F6-ADCE-BE34-77C3-6A71BE71D117}"/>
                </a:ext>
              </a:extLst>
            </p:cNvPr>
            <p:cNvSpPr/>
            <p:nvPr/>
          </p:nvSpPr>
          <p:spPr>
            <a:xfrm>
              <a:off x="4812900" y="988403"/>
              <a:ext cx="58787" cy="220885"/>
            </a:xfrm>
            <a:custGeom>
              <a:avLst/>
              <a:gdLst>
                <a:gd name="connsiteX0" fmla="*/ 35783 w 58787"/>
                <a:gd name="connsiteY0" fmla="*/ 132787 h 220885"/>
                <a:gd name="connsiteX1" fmla="*/ 35783 w 58787"/>
                <a:gd name="connsiteY1" fmla="*/ 6384 h 220885"/>
                <a:gd name="connsiteX2" fmla="*/ 29394 w 58787"/>
                <a:gd name="connsiteY2" fmla="*/ 0 h 220885"/>
                <a:gd name="connsiteX3" fmla="*/ 23004 w 58787"/>
                <a:gd name="connsiteY3" fmla="*/ 6384 h 220885"/>
                <a:gd name="connsiteX4" fmla="*/ 23004 w 58787"/>
                <a:gd name="connsiteY4" fmla="*/ 132787 h 220885"/>
                <a:gd name="connsiteX5" fmla="*/ 0 w 58787"/>
                <a:gd name="connsiteY5" fmla="*/ 161515 h 220885"/>
                <a:gd name="connsiteX6" fmla="*/ 23004 w 58787"/>
                <a:gd name="connsiteY6" fmla="*/ 190243 h 220885"/>
                <a:gd name="connsiteX7" fmla="*/ 23004 w 58787"/>
                <a:gd name="connsiteY7" fmla="*/ 214502 h 220885"/>
                <a:gd name="connsiteX8" fmla="*/ 29394 w 58787"/>
                <a:gd name="connsiteY8" fmla="*/ 220886 h 220885"/>
                <a:gd name="connsiteX9" fmla="*/ 35783 w 58787"/>
                <a:gd name="connsiteY9" fmla="*/ 214502 h 220885"/>
                <a:gd name="connsiteX10" fmla="*/ 35783 w 58787"/>
                <a:gd name="connsiteY10" fmla="*/ 190243 h 220885"/>
                <a:gd name="connsiteX11" fmla="*/ 58788 w 58787"/>
                <a:gd name="connsiteY11" fmla="*/ 161515 h 220885"/>
                <a:gd name="connsiteX12" fmla="*/ 35783 w 58787"/>
                <a:gd name="connsiteY12" fmla="*/ 132787 h 220885"/>
                <a:gd name="connsiteX13" fmla="*/ 29394 w 58787"/>
                <a:gd name="connsiteY13" fmla="*/ 178752 h 220885"/>
                <a:gd name="connsiteX14" fmla="*/ 12780 w 58787"/>
                <a:gd name="connsiteY14" fmla="*/ 162153 h 220885"/>
                <a:gd name="connsiteX15" fmla="*/ 29394 w 58787"/>
                <a:gd name="connsiteY15" fmla="*/ 145555 h 220885"/>
                <a:gd name="connsiteX16" fmla="*/ 46008 w 58787"/>
                <a:gd name="connsiteY16" fmla="*/ 162153 h 220885"/>
                <a:gd name="connsiteX17" fmla="*/ 29394 w 58787"/>
                <a:gd name="connsiteY17" fmla="*/ 178752 h 22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787" h="220885">
                  <a:moveTo>
                    <a:pt x="35783" y="132787"/>
                  </a:moveTo>
                  <a:lnTo>
                    <a:pt x="35783" y="6384"/>
                  </a:lnTo>
                  <a:cubicBezTo>
                    <a:pt x="35783" y="2554"/>
                    <a:pt x="33228" y="0"/>
                    <a:pt x="29394" y="0"/>
                  </a:cubicBezTo>
                  <a:cubicBezTo>
                    <a:pt x="25560" y="0"/>
                    <a:pt x="23004" y="2554"/>
                    <a:pt x="23004" y="6384"/>
                  </a:cubicBezTo>
                  <a:lnTo>
                    <a:pt x="23004" y="132787"/>
                  </a:lnTo>
                  <a:cubicBezTo>
                    <a:pt x="9585" y="135979"/>
                    <a:pt x="0" y="147470"/>
                    <a:pt x="0" y="161515"/>
                  </a:cubicBezTo>
                  <a:cubicBezTo>
                    <a:pt x="0" y="175560"/>
                    <a:pt x="10224" y="187689"/>
                    <a:pt x="23004" y="190243"/>
                  </a:cubicBezTo>
                  <a:lnTo>
                    <a:pt x="23004" y="214502"/>
                  </a:lnTo>
                  <a:cubicBezTo>
                    <a:pt x="23004" y="218332"/>
                    <a:pt x="25560" y="220886"/>
                    <a:pt x="29394" y="220886"/>
                  </a:cubicBezTo>
                  <a:cubicBezTo>
                    <a:pt x="33228" y="220886"/>
                    <a:pt x="35783" y="218332"/>
                    <a:pt x="35783" y="214502"/>
                  </a:cubicBezTo>
                  <a:lnTo>
                    <a:pt x="35783" y="190243"/>
                  </a:lnTo>
                  <a:cubicBezTo>
                    <a:pt x="49203" y="187051"/>
                    <a:pt x="58788" y="175560"/>
                    <a:pt x="58788" y="161515"/>
                  </a:cubicBezTo>
                  <a:cubicBezTo>
                    <a:pt x="58788" y="147470"/>
                    <a:pt x="49203" y="135979"/>
                    <a:pt x="35783" y="132787"/>
                  </a:cubicBezTo>
                  <a:close/>
                  <a:moveTo>
                    <a:pt x="29394" y="178752"/>
                  </a:moveTo>
                  <a:cubicBezTo>
                    <a:pt x="20448" y="178752"/>
                    <a:pt x="12780" y="171091"/>
                    <a:pt x="12780" y="162153"/>
                  </a:cubicBezTo>
                  <a:cubicBezTo>
                    <a:pt x="12780" y="153216"/>
                    <a:pt x="20448" y="145555"/>
                    <a:pt x="29394" y="145555"/>
                  </a:cubicBezTo>
                  <a:cubicBezTo>
                    <a:pt x="38340" y="145555"/>
                    <a:pt x="46008" y="153216"/>
                    <a:pt x="46008" y="162153"/>
                  </a:cubicBezTo>
                  <a:cubicBezTo>
                    <a:pt x="46008" y="171091"/>
                    <a:pt x="38340" y="178752"/>
                    <a:pt x="29394" y="178752"/>
                  </a:cubicBezTo>
                  <a:close/>
                </a:path>
              </a:pathLst>
            </a:custGeom>
            <a:grpFill/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125"/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A6F3AE-0466-BBB7-3A40-A4F35C9E20B7}"/>
              </a:ext>
            </a:extLst>
          </p:cNvPr>
          <p:cNvCxnSpPr/>
          <p:nvPr/>
        </p:nvCxnSpPr>
        <p:spPr>
          <a:xfrm flipV="1">
            <a:off x="3355524" y="3856245"/>
            <a:ext cx="0" cy="122297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072A6E3A-0980-38F0-F356-DAF7E87BAB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535" y="4095389"/>
            <a:ext cx="2824872" cy="1727658"/>
          </a:xfrm>
          <a:prstGeom prst="rect">
            <a:avLst/>
          </a:prstGeom>
        </p:spPr>
      </p:pic>
      <p:pic>
        <p:nvPicPr>
          <p:cNvPr id="105" name="Picture 10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DADA14EF-9B49-F386-E201-C39D6AF4AB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t="64968" r="11017" b="5750"/>
          <a:stretch>
            <a:fillRect/>
          </a:stretch>
        </p:blipFill>
        <p:spPr>
          <a:xfrm flipH="1">
            <a:off x="9405119" y="919587"/>
            <a:ext cx="2786881" cy="5386620"/>
          </a:xfrm>
          <a:prstGeom prst="roundRect">
            <a:avLst>
              <a:gd name="adj" fmla="val 3594"/>
            </a:avLst>
          </a:prstGeom>
        </p:spPr>
      </p:pic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A83E53EE-3BDA-35D5-0B51-30E13EE93FC7}"/>
              </a:ext>
            </a:extLst>
          </p:cNvPr>
          <p:cNvSpPr/>
          <p:nvPr/>
        </p:nvSpPr>
        <p:spPr>
          <a:xfrm>
            <a:off x="9406642" y="956629"/>
            <a:ext cx="2778944" cy="5349578"/>
          </a:xfrm>
          <a:prstGeom prst="roundRect">
            <a:avLst>
              <a:gd name="adj" fmla="val 3306"/>
            </a:avLst>
          </a:prstGeom>
          <a:gradFill flip="none" rotWithShape="1">
            <a:gsLst>
              <a:gs pos="30000">
                <a:srgbClr val="1A3673">
                  <a:alpha val="90000"/>
                </a:srgbClr>
              </a:gs>
              <a:gs pos="80000">
                <a:schemeClr val="bg2">
                  <a:lumMod val="10000"/>
                  <a:alpha val="8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baseline="30000"/>
          </a:p>
        </p:txBody>
      </p:sp>
      <p:sp>
        <p:nvSpPr>
          <p:cNvPr id="107" name="Rectangle: Rounded Corners 96">
            <a:extLst>
              <a:ext uri="{FF2B5EF4-FFF2-40B4-BE49-F238E27FC236}">
                <a16:creationId xmlns:a16="http://schemas.microsoft.com/office/drawing/2014/main" id="{AA7FC481-2E1D-F8D3-2886-34B9C175787D}"/>
              </a:ext>
            </a:extLst>
          </p:cNvPr>
          <p:cNvSpPr/>
          <p:nvPr/>
        </p:nvSpPr>
        <p:spPr>
          <a:xfrm>
            <a:off x="9756966" y="1233695"/>
            <a:ext cx="2292641" cy="4862870"/>
          </a:xfrm>
          <a:prstGeom prst="roundRect">
            <a:avLst>
              <a:gd name="adj" fmla="val 2593"/>
            </a:avLst>
          </a:prstGeom>
          <a:solidFill>
            <a:srgbClr val="6A97DF">
              <a:alpha val="20000"/>
            </a:srgbClr>
          </a:solidFill>
          <a:ln>
            <a:noFill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Report Rationalization Data Assist - DRECT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Reverse engineers the BTEQ, Informatica code, Control-M and database metadata to identify object dependency, generate source to target mapping and lineage.</a:t>
            </a: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endParaRPr lang="en-US" sz="1000" b="1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DDL Migrator Agent 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Converts Teradata DDL scripts into Snowflake DDL scripts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Code Converter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Converts BTEQ, Informatica code into Snow-SQL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Data Migration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Generates configuration for the bulk upload to Elevance Health built data ingestion framework Falcon</a:t>
            </a:r>
          </a:p>
          <a:p>
            <a:pPr>
              <a:defRPr/>
            </a:pPr>
            <a:endParaRPr lang="en-US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sz="1000" b="1" kern="0" dirty="0">
                <a:solidFill>
                  <a:schemeClr val="bg1"/>
                </a:solidFill>
                <a:cs typeface="Calibri" panose="020F0502020204030204" pitchFamily="34" charset="0"/>
              </a:rPr>
              <a:t>Testing Agent</a:t>
            </a:r>
          </a:p>
          <a:p>
            <a:pPr>
              <a:defRPr/>
            </a:pPr>
            <a:r>
              <a:rPr lang="en-GB" sz="1000" kern="0" dirty="0">
                <a:solidFill>
                  <a:schemeClr val="bg1"/>
                </a:solidFill>
                <a:cs typeface="Calibri" panose="020F0502020204030204" pitchFamily="34" charset="0"/>
              </a:rPr>
              <a:t>Generates and executes test cases for DDL, BI/SAS reports,  data  during SIT, UAT and Regression testing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000" b="1" kern="0" dirty="0">
                <a:solidFill>
                  <a:schemeClr val="bg1"/>
                </a:solidFill>
                <a:ea typeface="Calibri"/>
                <a:cs typeface="Calibri" panose="020F0502020204030204" pitchFamily="34" charset="0"/>
              </a:rPr>
              <a:t>Code Optimization Agent</a:t>
            </a:r>
          </a:p>
          <a:p>
            <a:pPr>
              <a:defRPr/>
            </a:pPr>
            <a:r>
              <a:rPr lang="en-US" sz="1000" kern="0" dirty="0">
                <a:solidFill>
                  <a:schemeClr val="bg1"/>
                </a:solidFill>
                <a:ea typeface="Calibri"/>
                <a:cs typeface="Calibri" panose="020F0502020204030204" pitchFamily="34" charset="0"/>
              </a:rPr>
              <a:t> Code optimization agents monitors queries and recommends ways to optimize for performance and cost.</a:t>
            </a:r>
          </a:p>
          <a:p>
            <a:pPr>
              <a:defRPr/>
            </a:pPr>
            <a:endParaRPr lang="en-GB" sz="1000" kern="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108" name="Flowchart: Connector 37">
            <a:extLst>
              <a:ext uri="{FF2B5EF4-FFF2-40B4-BE49-F238E27FC236}">
                <a16:creationId xmlns:a16="http://schemas.microsoft.com/office/drawing/2014/main" id="{F807D348-2589-EF24-ECBC-CAF6309E399C}"/>
              </a:ext>
            </a:extLst>
          </p:cNvPr>
          <p:cNvSpPr/>
          <p:nvPr/>
        </p:nvSpPr>
        <p:spPr>
          <a:xfrm>
            <a:off x="9582378" y="1287766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lowchart: Connector 37">
            <a:extLst>
              <a:ext uri="{FF2B5EF4-FFF2-40B4-BE49-F238E27FC236}">
                <a16:creationId xmlns:a16="http://schemas.microsoft.com/office/drawing/2014/main" id="{3B15A3F0-A0A9-13FD-6743-3FE05953BBD0}"/>
              </a:ext>
            </a:extLst>
          </p:cNvPr>
          <p:cNvSpPr/>
          <p:nvPr/>
        </p:nvSpPr>
        <p:spPr>
          <a:xfrm>
            <a:off x="9575906" y="2352045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Flowchart: Connector 37">
            <a:extLst>
              <a:ext uri="{FF2B5EF4-FFF2-40B4-BE49-F238E27FC236}">
                <a16:creationId xmlns:a16="http://schemas.microsoft.com/office/drawing/2014/main" id="{63F4AE63-68EC-F581-16E6-E428D8B4559D}"/>
              </a:ext>
            </a:extLst>
          </p:cNvPr>
          <p:cNvSpPr/>
          <p:nvPr/>
        </p:nvSpPr>
        <p:spPr>
          <a:xfrm>
            <a:off x="9566208" y="3000423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Flowchart: Connector 37">
            <a:extLst>
              <a:ext uri="{FF2B5EF4-FFF2-40B4-BE49-F238E27FC236}">
                <a16:creationId xmlns:a16="http://schemas.microsoft.com/office/drawing/2014/main" id="{065E4B50-2661-A561-B65E-C5A4DC558997}"/>
              </a:ext>
            </a:extLst>
          </p:cNvPr>
          <p:cNvSpPr/>
          <p:nvPr/>
        </p:nvSpPr>
        <p:spPr>
          <a:xfrm>
            <a:off x="9567752" y="3622472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Flowchart: Connector 37">
            <a:extLst>
              <a:ext uri="{FF2B5EF4-FFF2-40B4-BE49-F238E27FC236}">
                <a16:creationId xmlns:a16="http://schemas.microsoft.com/office/drawing/2014/main" id="{DD6D50D0-6506-0871-BB2B-3348A9EF081C}"/>
              </a:ext>
            </a:extLst>
          </p:cNvPr>
          <p:cNvSpPr/>
          <p:nvPr/>
        </p:nvSpPr>
        <p:spPr>
          <a:xfrm>
            <a:off x="9579109" y="4334579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Flowchart: Connector 37">
            <a:extLst>
              <a:ext uri="{FF2B5EF4-FFF2-40B4-BE49-F238E27FC236}">
                <a16:creationId xmlns:a16="http://schemas.microsoft.com/office/drawing/2014/main" id="{FEC3972E-FEEB-95A0-316A-AA13C4333992}"/>
              </a:ext>
            </a:extLst>
          </p:cNvPr>
          <p:cNvSpPr/>
          <p:nvPr/>
        </p:nvSpPr>
        <p:spPr>
          <a:xfrm>
            <a:off x="9561657" y="5120420"/>
            <a:ext cx="182549" cy="19244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75" b="1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IN" sz="875" b="1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6D47FE3-B809-7222-A02B-64B6CC39568C}"/>
              </a:ext>
            </a:extLst>
          </p:cNvPr>
          <p:cNvSpPr txBox="1"/>
          <p:nvPr/>
        </p:nvSpPr>
        <p:spPr>
          <a:xfrm>
            <a:off x="3302707" y="4410797"/>
            <a:ext cx="1192229" cy="8771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50" b="0" dirty="0">
                <a:solidFill>
                  <a:srgbClr val="353533"/>
                </a:solidFill>
                <a:latin typeface="Open Sans"/>
              </a:rPr>
              <a:t>Convert table, views DDL definitions of of the </a:t>
            </a:r>
            <a:r>
              <a:rPr lang="en-US" sz="850" dirty="0">
                <a:solidFill>
                  <a:srgbClr val="353533"/>
                </a:solidFill>
                <a:latin typeface="Open Sans"/>
              </a:rPr>
              <a:t>custom objects required by reports finalized by 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42D987-7CDB-ABDF-0FFB-50EF945BA7D3}"/>
              </a:ext>
            </a:extLst>
          </p:cNvPr>
          <p:cNvSpPr txBox="1"/>
          <p:nvPr/>
        </p:nvSpPr>
        <p:spPr>
          <a:xfrm>
            <a:off x="4501601" y="4423397"/>
            <a:ext cx="1192229" cy="11387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50" b="0" dirty="0">
                <a:solidFill>
                  <a:srgbClr val="353533"/>
                </a:solidFill>
                <a:latin typeface="Open Sans"/>
              </a:rPr>
              <a:t>Convert SQLs, Stored procedures, Packages, Triggers from custom data layer set up for reports to target MS SQL &amp; Databrick platform</a:t>
            </a:r>
            <a:endParaRPr lang="en-US" dirty="0"/>
          </a:p>
        </p:txBody>
      </p:sp>
      <p:cxnSp>
        <p:nvCxnSpPr>
          <p:cNvPr id="128" name="Connector: Elbow 139">
            <a:extLst>
              <a:ext uri="{FF2B5EF4-FFF2-40B4-BE49-F238E27FC236}">
                <a16:creationId xmlns:a16="http://schemas.microsoft.com/office/drawing/2014/main" id="{A3BF17A3-56D3-E066-4118-F75AE0DFF6AF}"/>
              </a:ext>
            </a:extLst>
          </p:cNvPr>
          <p:cNvCxnSpPr>
            <a:cxnSpLocks/>
          </p:cNvCxnSpPr>
          <p:nvPr/>
        </p:nvCxnSpPr>
        <p:spPr>
          <a:xfrm rot="5400000">
            <a:off x="4462385" y="3865037"/>
            <a:ext cx="1023876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cxnSp>
        <p:nvCxnSpPr>
          <p:cNvPr id="20" name="Connector: Elbow 139">
            <a:extLst>
              <a:ext uri="{FF2B5EF4-FFF2-40B4-BE49-F238E27FC236}">
                <a16:creationId xmlns:a16="http://schemas.microsoft.com/office/drawing/2014/main" id="{C914B688-9921-A532-2A6F-516409095CFA}"/>
              </a:ext>
            </a:extLst>
          </p:cNvPr>
          <p:cNvCxnSpPr>
            <a:cxnSpLocks/>
          </p:cNvCxnSpPr>
          <p:nvPr/>
        </p:nvCxnSpPr>
        <p:spPr>
          <a:xfrm rot="5400000">
            <a:off x="6083084" y="3905728"/>
            <a:ext cx="1023876" cy="1"/>
          </a:xfrm>
          <a:prstGeom prst="bentConnector3">
            <a:avLst>
              <a:gd name="adj1" fmla="val 57269"/>
            </a:avLst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headEnd type="triangle"/>
            <a:tailEnd type="triangle"/>
          </a:ln>
          <a:effectLst/>
        </p:spPr>
      </p:cxnSp>
      <p:sp>
        <p:nvSpPr>
          <p:cNvPr id="33" name="Rounded Rectangle 635">
            <a:extLst>
              <a:ext uri="{FF2B5EF4-FFF2-40B4-BE49-F238E27FC236}">
                <a16:creationId xmlns:a16="http://schemas.microsoft.com/office/drawing/2014/main" id="{96319E52-3B1F-CE11-9ECD-4555BA75256A}"/>
              </a:ext>
            </a:extLst>
          </p:cNvPr>
          <p:cNvSpPr/>
          <p:nvPr/>
        </p:nvSpPr>
        <p:spPr>
          <a:xfrm>
            <a:off x="2896409" y="3507167"/>
            <a:ext cx="4549461" cy="36825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875" b="1" kern="0" dirty="0">
                <a:solidFill>
                  <a:schemeClr val="accent1">
                    <a:lumMod val="75000"/>
                  </a:schemeClr>
                </a:solidFill>
                <a:ea typeface="Calibri"/>
                <a:cs typeface="Calibri" panose="020F0502020204030204" pitchFamily="34" charset="0"/>
              </a:rPr>
              <a:t>Data Assist 3.0</a:t>
            </a:r>
          </a:p>
          <a:p>
            <a:pPr algn="ctr"/>
            <a:r>
              <a:rPr lang="en-GB" sz="688" b="1" i="1" kern="0" dirty="0">
                <a:solidFill>
                  <a:schemeClr val="accent1">
                    <a:lumMod val="75000"/>
                  </a:schemeClr>
                </a:solidFill>
                <a:ea typeface="Calibri"/>
                <a:cs typeface="Calibri" panose="020F0502020204030204" pitchFamily="34" charset="0"/>
              </a:rPr>
              <a:t>(Code Converter, CATE, Report Migrator, Report Validator , Code Optimizer)</a:t>
            </a:r>
            <a:endParaRPr lang="en-GB" sz="688" b="1" i="1" kern="0" dirty="0">
              <a:solidFill>
                <a:schemeClr val="accent1">
                  <a:lumMod val="7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701D1D-C650-9A90-C916-B38AE7615106}"/>
              </a:ext>
            </a:extLst>
          </p:cNvPr>
          <p:cNvSpPr txBox="1"/>
          <p:nvPr/>
        </p:nvSpPr>
        <p:spPr>
          <a:xfrm>
            <a:off x="6174460" y="4376976"/>
            <a:ext cx="1192229" cy="74635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850" dirty="0">
                <a:solidFill>
                  <a:srgbClr val="353533"/>
                </a:solidFill>
                <a:latin typeface="Open Sans"/>
              </a:rPr>
              <a:t>Validates data objects migrated(if any) for row count, metrics and generates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495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3A1981-8B3A-76BE-4809-17E6127E73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06C0EF-F45D-F0C3-0D8E-78D225F0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F51FC-E0BB-AC83-A7B9-C9EB0205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155" y="1638819"/>
            <a:ext cx="9040245" cy="358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50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261</Words>
  <Application>Microsoft Macintosh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Open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Pawar, AMIT</dc:creator>
  <cp:lastModifiedBy>Pawar, AMIT</cp:lastModifiedBy>
  <cp:revision>5</cp:revision>
  <dcterms:created xsi:type="dcterms:W3CDTF">2026-08-02T14:41:13Z</dcterms:created>
  <dcterms:modified xsi:type="dcterms:W3CDTF">2026-08-02T17:16:59Z</dcterms:modified>
</cp:coreProperties>
</file>