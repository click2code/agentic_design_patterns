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57" r:id="rId2"/>
    <p:sldId id="358" r:id="rId3"/>
    <p:sldId id="3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27945"/>
  </p:normalViewPr>
  <p:slideViewPr>
    <p:cSldViewPr snapToGrid="0">
      <p:cViewPr varScale="1">
        <p:scale>
          <a:sx n="30" d="100"/>
          <a:sy n="30" d="100"/>
        </p:scale>
        <p:origin x="4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2956FD-2D21-1643-9643-0F2FE4569B42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DFEE6-F60B-9642-9D02-935F2D13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2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5770-0165-A815-E568-6AE7A98DB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F4A99-DF55-06B0-C33E-A27DDA883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6C812-6B02-A065-1E64-C3AAD826F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7F66E-9745-6B73-43D7-85DB93863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31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maximize delivery velocity and efficiency, we propose a Migration Factory model supported by a scalable, blended onshore/offshore pod structure. This approach enables us to flex capacity across migration waves while maintaining centralized governance, consistent standards, and clear accountability throughout the program.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5.1 Proposed Team and Delivery Model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delivery model is organized into two integrated layers: a Core Leadership and Governance Team, which remains consistent throughout the program, and Conversion Pods, which scale based on wave volume and complexity.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operate as an extension of client’s organization, with embedded collaboration across internal IT and business SMEs under a shared operating model and RACI to support efficient day-to-day execution.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1: Centralized Leadership and Governance Core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accountability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Timeline protection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PMO Lead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Owns governance, release calendar, wave planning, RAID, and executive status.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Maintains the critical path and escalates blockers early.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 Architect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Defines target-state architecture, platform disposition, coding, security, and data-modeling standards.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Prevents rework through consistent design decisions.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 &amp; KT Lead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Leads stakeholder communications, training strategy, knowledge transfer, and BAU transition readiness.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Reduces late adoption and handover risk.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2 : Agile Conversion Pods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 role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accountability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Timeline protection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 Lead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Manages sprint execution, backlog flow, SME coordination, and blocker removal for each domain pod.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Keeps wave velocity on track and escalates delivery impediments quickly.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Engineers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Translate BO logic and transformation rules into governed Databricks structures and semantic layers.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Reduces rework by standardizing reusable data patterns early in each wave.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 &amp; Visualization Developers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Rebuild reports and dashboards in Power BI and Epic Cogito as modern, user-ready analytics assets.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Accelerates adoption by delivering usable assets within each release wave.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QA / Validation Analysts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Execute reconciliation and logic validation to confirm parity before UAT and deployment.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Surfaces defects before cutover and protects business confidence in migrated outputs.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DFEE6-F60B-9642-9D02-935F2D136C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67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9CB4A-F3B4-9FC2-250E-81177FE56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6F386-D39F-FE1E-D287-517C7F0A6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8474-23B1-16D3-91F8-54C8A5B06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CA3D2-689D-4FA5-7A05-A1565C3B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07133-1FC0-1D4D-37D3-351C5BB1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8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980E7-FC37-323F-F0E8-352BB0CC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1BAE8-6B13-C941-0954-11C445A71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12F40-E4F3-7E3B-2F3A-2DA5C257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06CCC-404E-5032-486F-683E1860D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9F549-5B00-2D70-7575-BBF26E59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84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05C11-C234-A4AF-47C6-6212800C9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0335C-35FD-738E-7374-C38D1C263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B1C08-CC12-333A-112C-7C83067F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BFEA4-8487-3B1B-8CF4-E5032BE9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1CB2E-AAD1-6BC3-F132-D93EC013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29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5CC0-4DAE-01E8-479D-6120FF9C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66A37-C2A6-109E-9115-E312C13F9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45660-2430-0744-C4FF-DD85C96C0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E4A67-3118-DE6B-9D4F-50980655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59D74-306C-824A-5B1E-B26D6C09D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ED74B-A7BE-592C-E3E6-92A0C108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07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9B31-473B-8178-49A0-9A492A53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7B877-5595-A731-341E-82F8907AB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0312E-A817-9CCD-ADF2-813E5099E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8C0AB-DEB5-43FA-1198-1B79FD572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3D0DA-4194-4702-3195-D1156B48D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74DD94-B98C-C50F-5893-CEED927C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F1B1FB-F76E-F7ED-A7FC-B6E66194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E3EC03-9694-6825-E1AF-3C3756EE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4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1E4D-578F-DDFE-7DFC-90E692FF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647B20-66A9-28CD-C4D7-B99F3B37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93455-CFAA-4235-34E6-B965CB87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BE974-FD90-7505-FE96-927D23EA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28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4793D-1D49-AA8A-BCE7-8FEBE0A49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022A8-1605-D56A-2549-BB2FC496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85488-00F4-8EC1-6CDB-8875D7F30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9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EAB7-BE99-C670-DD1D-143D5599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22B8A-2D16-1E4C-D61D-BA8665742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A70938-AF01-B9EB-563E-A6372BE09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70DB0-6AD6-924A-432B-D6E758CCB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A123A-98D7-6036-3C56-A2AB8C29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84FB5-E9DB-E2D8-5FDC-AEE504F1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93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275A0-EA25-5329-B3E6-E5F8AE58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83C446-8555-795A-E658-0D0B438EA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28418-9CD9-EEB8-34CD-24F44ADAD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50535-EAA3-2991-CCE1-9823CE93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08F88-B9BE-CE60-1D11-F79A58CFC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C5B46-04BD-634C-3D49-7F0A2530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29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77FB7-593D-3839-2569-6D7EAA47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59894-309C-1C9E-10AD-8E6A5C58B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AB08A-906E-920E-FE98-06CA3801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7B3BF-2811-977B-F122-9B6BC9E2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D908-D6A8-0FBF-3894-4CF9A147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46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1AF5A1-14AF-6A25-2D5E-B00755E34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CDE01-D41F-E373-D4DB-DC1FA8739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D524C-C1F9-8099-0AC5-93E9E1EB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ED2E0-2C01-9DD8-C343-44D74DF3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85DFE-BE63-71EB-F4CD-D980D89F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88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 THIS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63295" y="652461"/>
            <a:ext cx="11277600" cy="174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50" b="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63550" y="346075"/>
            <a:ext cx="11277600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8E69C9B-B7B1-E448-56C4-0DAB74C78AE9}"/>
              </a:ext>
            </a:extLst>
          </p:cNvPr>
          <p:cNvSpPr/>
          <p:nvPr userDrawn="1"/>
        </p:nvSpPr>
        <p:spPr>
          <a:xfrm>
            <a:off x="-602984" y="1330960"/>
            <a:ext cx="267704" cy="267704"/>
          </a:xfrm>
          <a:prstGeom prst="ellips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36D86E4-73B5-E0B0-5DE3-E5C0C01B7AA9}"/>
              </a:ext>
            </a:extLst>
          </p:cNvPr>
          <p:cNvSpPr/>
          <p:nvPr userDrawn="1"/>
        </p:nvSpPr>
        <p:spPr>
          <a:xfrm>
            <a:off x="-602984" y="1635169"/>
            <a:ext cx="267704" cy="26770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155BB41-F21B-B406-F55D-93807EBE38B3}"/>
              </a:ext>
            </a:extLst>
          </p:cNvPr>
          <p:cNvSpPr/>
          <p:nvPr userDrawn="1"/>
        </p:nvSpPr>
        <p:spPr>
          <a:xfrm>
            <a:off x="-602984" y="1939379"/>
            <a:ext cx="267704" cy="267704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67A0774-2F81-11E6-A1E2-2D790E546286}"/>
              </a:ext>
            </a:extLst>
          </p:cNvPr>
          <p:cNvSpPr/>
          <p:nvPr userDrawn="1"/>
        </p:nvSpPr>
        <p:spPr>
          <a:xfrm>
            <a:off x="-602984" y="2243588"/>
            <a:ext cx="267704" cy="267704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94E68A2-0BF6-BE1D-C046-3073AD9123A2}"/>
              </a:ext>
            </a:extLst>
          </p:cNvPr>
          <p:cNvSpPr/>
          <p:nvPr userDrawn="1"/>
        </p:nvSpPr>
        <p:spPr>
          <a:xfrm>
            <a:off x="-602984" y="2547797"/>
            <a:ext cx="267704" cy="267704"/>
          </a:xfrm>
          <a:prstGeom prst="ellipse">
            <a:avLst/>
          </a:prstGeom>
          <a:solidFill>
            <a:schemeClr val="accent6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FD02C4E-5E08-00B3-3E64-4CFD4FDCBD66}"/>
              </a:ext>
            </a:extLst>
          </p:cNvPr>
          <p:cNvSpPr/>
          <p:nvPr userDrawn="1"/>
        </p:nvSpPr>
        <p:spPr>
          <a:xfrm>
            <a:off x="-602984" y="2852007"/>
            <a:ext cx="267704" cy="267704"/>
          </a:xfrm>
          <a:prstGeom prst="ellipse">
            <a:avLst/>
          </a:prstGeom>
          <a:solidFill>
            <a:srgbClr val="C7EAF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BD4C64D9-489D-1531-3F08-EBB1D8B2B6E4}"/>
              </a:ext>
            </a:extLst>
          </p:cNvPr>
          <p:cNvSpPr/>
          <p:nvPr userDrawn="1"/>
        </p:nvSpPr>
        <p:spPr>
          <a:xfrm>
            <a:off x="-602984" y="3156216"/>
            <a:ext cx="267704" cy="267704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023784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11832">
          <p15:clr>
            <a:srgbClr val="FBAE40"/>
          </p15:clr>
        </p15:guide>
        <p15:guide id="2" pos="4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6F980-44D2-D9E9-4758-88789E02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6B68E-E18E-B807-1296-83F2FBB9F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B8C81-68DB-6FDD-B8F0-90A33336B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13A25-9078-CD5A-5A9A-E87D3FF36F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36686-C24F-375E-CEF4-6057F93EC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89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262D1-EF79-479B-2ACC-CCC648C9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57D58D4A-A3A3-8ABF-FDE5-2D0E0484E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" t="64968" r="11017" b="5750"/>
          <a:stretch>
            <a:fillRect/>
          </a:stretch>
        </p:blipFill>
        <p:spPr>
          <a:xfrm flipH="1">
            <a:off x="7978002" y="952501"/>
            <a:ext cx="4225471" cy="4947051"/>
          </a:xfrm>
          <a:prstGeom prst="roundRect">
            <a:avLst>
              <a:gd name="adj" fmla="val 3594"/>
            </a:avLst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4542231-8283-E5D6-9388-E68D6273ED3B}"/>
              </a:ext>
            </a:extLst>
          </p:cNvPr>
          <p:cNvSpPr/>
          <p:nvPr/>
        </p:nvSpPr>
        <p:spPr>
          <a:xfrm>
            <a:off x="7990038" y="952502"/>
            <a:ext cx="4213436" cy="4947049"/>
          </a:xfrm>
          <a:prstGeom prst="roundRect">
            <a:avLst>
              <a:gd name="adj" fmla="val 3306"/>
            </a:avLst>
          </a:prstGeom>
          <a:gradFill flip="none" rotWithShape="1">
            <a:gsLst>
              <a:gs pos="30000">
                <a:srgbClr val="1A3673">
                  <a:alpha val="90000"/>
                </a:srgbClr>
              </a:gs>
              <a:gs pos="80000">
                <a:schemeClr val="bg2">
                  <a:lumMod val="10000"/>
                  <a:alpha val="8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3000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E58FBB8-06D3-4598-3BF2-EFA1D59D6AEE}"/>
              </a:ext>
            </a:extLst>
          </p:cNvPr>
          <p:cNvSpPr/>
          <p:nvPr/>
        </p:nvSpPr>
        <p:spPr>
          <a:xfrm>
            <a:off x="7643385" y="970683"/>
            <a:ext cx="4408358" cy="5012075"/>
          </a:xfrm>
          <a:prstGeom prst="roundRect">
            <a:avLst>
              <a:gd name="adj" fmla="val 32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30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6" name="think-cell data - do not delete" hidden="1">
            <a:extLst>
              <a:ext uri="{FF2B5EF4-FFF2-40B4-BE49-F238E27FC236}">
                <a16:creationId xmlns:a16="http://schemas.microsoft.com/office/drawing/2014/main" id="{9237E232-904D-E0D5-6002-C77FCD4786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2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7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37E232-904D-E0D5-6002-C77FCD4786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2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03F57EC4-C0B3-3AC3-A9AD-1D17B19B388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295" y="652460"/>
            <a:ext cx="11277600" cy="347339"/>
          </a:xfrm>
        </p:spPr>
        <p:txBody>
          <a:bodyPr/>
          <a:lstStyle/>
          <a:p>
            <a:r>
              <a:rPr lang="en-US"/>
              <a:t>Our team is organized into cross-functional, self-organizing agile PODs and consists of members across the US &amp; India. Each POD will be responsible for managing and delivering the team’s backlog. </a:t>
            </a:r>
          </a:p>
        </p:txBody>
      </p:sp>
      <p:sp>
        <p:nvSpPr>
          <p:cNvPr id="61" name="Title 9">
            <a:extLst>
              <a:ext uri="{FF2B5EF4-FFF2-40B4-BE49-F238E27FC236}">
                <a16:creationId xmlns:a16="http://schemas.microsoft.com/office/drawing/2014/main" id="{88BFE633-1412-3252-154D-96A41185F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50" y="346076"/>
            <a:ext cx="11277600" cy="276999"/>
          </a:xfrm>
        </p:spPr>
        <p:txBody>
          <a:bodyPr vert="horz"/>
          <a:lstStyle/>
          <a:p>
            <a:r>
              <a:rPr lang="en-GB"/>
              <a:t>2. Migration – Agile Pod-Based Delivery</a:t>
            </a:r>
          </a:p>
        </p:txBody>
      </p:sp>
      <p:sp>
        <p:nvSpPr>
          <p:cNvPr id="1221" name="Rectangle 1220">
            <a:extLst>
              <a:ext uri="{FF2B5EF4-FFF2-40B4-BE49-F238E27FC236}">
                <a16:creationId xmlns:a16="http://schemas.microsoft.com/office/drawing/2014/main" id="{7880011B-269A-530C-5C3C-D33EB6375CD9}"/>
              </a:ext>
            </a:extLst>
          </p:cNvPr>
          <p:cNvSpPr/>
          <p:nvPr/>
        </p:nvSpPr>
        <p:spPr>
          <a:xfrm>
            <a:off x="0" y="5975996"/>
            <a:ext cx="12192000" cy="393619"/>
          </a:xfrm>
          <a:prstGeom prst="rect">
            <a:avLst/>
          </a:prstGeom>
          <a:solidFill>
            <a:srgbClr val="E1E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 b="1" i="1">
                <a:solidFill>
                  <a:schemeClr val="tx1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Pods offer a balance of skills and Elevance Health experience across shores.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927592-32C5-A50C-1445-A4CD1B3EE717}"/>
              </a:ext>
            </a:extLst>
          </p:cNvPr>
          <p:cNvSpPr txBox="1"/>
          <p:nvPr/>
        </p:nvSpPr>
        <p:spPr>
          <a:xfrm>
            <a:off x="8421741" y="1183277"/>
            <a:ext cx="3525571" cy="4837222"/>
          </a:xfrm>
          <a:prstGeom prst="roundRect">
            <a:avLst>
              <a:gd name="adj" fmla="val 0"/>
            </a:avLst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8"/>
              </a:spcBef>
              <a:spcAft>
                <a:spcPts val="188"/>
              </a:spcAft>
            </a:pPr>
            <a:r>
              <a:rPr lang="en-US" sz="125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We will enable an AI Foundation POD to drive incremental efficiencies through innovation and automation across PODs. Activities include but are not limited to:</a:t>
            </a:r>
          </a:p>
          <a:p>
            <a:pPr marL="178594" indent="-178594">
              <a:spcBef>
                <a:spcPts val="188"/>
              </a:spcBef>
              <a:spcAft>
                <a:spcPts val="188"/>
              </a:spcAft>
              <a:buFont typeface="Arial" panose="020B0604020202020204" pitchFamily="34" charset="0"/>
              <a:buChar char="•"/>
            </a:pPr>
            <a:r>
              <a:rPr lang="en-US" sz="112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Leverage agents/accelerators </a:t>
            </a:r>
            <a:r>
              <a:rPr lang="en-US" sz="1125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to efficiently conduct Discovery, Migration, Testing &amp; Optimization within each POD. Agents detect data anomalies post migration and notify Developers. These agents/ accelerators will also apply</a:t>
            </a:r>
            <a:r>
              <a:rPr lang="en-US" sz="112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intelligent code Modernizations </a:t>
            </a:r>
            <a:r>
              <a:rPr lang="en-US" sz="1125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112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performance optimization suggestions </a:t>
            </a:r>
            <a:r>
              <a:rPr lang="en-US" sz="1125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across large codebases efficiently — </a:t>
            </a:r>
            <a:r>
              <a:rPr lang="en-US" sz="112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accelerating transformation </a:t>
            </a:r>
            <a:r>
              <a:rPr lang="en-US" sz="1125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while ensuring consistency</a:t>
            </a:r>
          </a:p>
          <a:p>
            <a:pPr>
              <a:spcBef>
                <a:spcPts val="188"/>
              </a:spcBef>
              <a:spcAft>
                <a:spcPts val="188"/>
              </a:spcAft>
            </a:pPr>
            <a:endParaRPr lang="en-US" sz="1125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88"/>
              </a:spcBef>
              <a:spcAft>
                <a:spcPts val="188"/>
              </a:spcAft>
            </a:pPr>
            <a:r>
              <a:rPr lang="en-US" sz="1125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We will have </a:t>
            </a:r>
            <a:r>
              <a:rPr lang="en-US" sz="112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approximately 20 pods </a:t>
            </a:r>
            <a:r>
              <a:rPr lang="en-US" sz="1125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comprised</a:t>
            </a:r>
            <a:r>
              <a:rPr lang="en-US" sz="112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25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split across the following areas</a:t>
            </a:r>
            <a:r>
              <a:rPr lang="en-US" sz="112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78594" indent="-178594">
              <a:spcBef>
                <a:spcPts val="188"/>
              </a:spcBef>
              <a:spcAft>
                <a:spcPts val="188"/>
              </a:spcAft>
              <a:buFont typeface="Arial" panose="020B0604020202020204" pitchFamily="34" charset="0"/>
              <a:buChar char="•"/>
            </a:pPr>
            <a:r>
              <a:rPr lang="en-US" sz="112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 Migration </a:t>
            </a:r>
            <a:r>
              <a:rPr lang="en-US" sz="1125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– EDWARD, DX Data, DX APIT, Data Lab PODs/Other Apps</a:t>
            </a:r>
          </a:p>
          <a:p>
            <a:pPr marL="178594" indent="-178594">
              <a:spcBef>
                <a:spcPts val="188"/>
              </a:spcBef>
              <a:spcAft>
                <a:spcPts val="188"/>
              </a:spcAft>
              <a:buFont typeface="Arial" panose="020B0604020202020204" pitchFamily="34" charset="0"/>
              <a:buChar char="•"/>
            </a:pPr>
            <a:r>
              <a:rPr lang="en-US" sz="112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Report Repointing/Migration  – SAS/BI Reports</a:t>
            </a:r>
          </a:p>
          <a:p>
            <a:pPr marL="178594" indent="-178594">
              <a:spcBef>
                <a:spcPts val="188"/>
              </a:spcBef>
              <a:spcAft>
                <a:spcPts val="188"/>
              </a:spcAft>
              <a:buFont typeface="Arial" panose="020B0604020202020204" pitchFamily="34" charset="0"/>
              <a:buChar char="•"/>
            </a:pPr>
            <a:r>
              <a:rPr lang="en-US" sz="112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FinOps </a:t>
            </a:r>
          </a:p>
          <a:p>
            <a:pPr marL="178594" indent="-178594">
              <a:spcBef>
                <a:spcPts val="188"/>
              </a:spcBef>
              <a:spcAft>
                <a:spcPts val="188"/>
              </a:spcAft>
              <a:buFont typeface="Arial" panose="020B0604020202020204" pitchFamily="34" charset="0"/>
              <a:buChar char="•"/>
            </a:pPr>
            <a:r>
              <a:rPr lang="en-US" sz="112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SMEs </a:t>
            </a:r>
          </a:p>
          <a:p>
            <a:pPr marL="178594" indent="-178594">
              <a:spcBef>
                <a:spcPts val="188"/>
              </a:spcBef>
              <a:spcAft>
                <a:spcPts val="188"/>
              </a:spcAft>
              <a:buFont typeface="Arial" panose="020B0604020202020204" pitchFamily="34" charset="0"/>
              <a:buChar char="•"/>
            </a:pPr>
            <a:r>
              <a:rPr lang="en-US" sz="112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Performance Optimization </a:t>
            </a:r>
          </a:p>
          <a:p>
            <a:pPr marL="178594" indent="-178594">
              <a:spcBef>
                <a:spcPts val="188"/>
              </a:spcBef>
              <a:spcAft>
                <a:spcPts val="188"/>
              </a:spcAft>
              <a:buFont typeface="Arial" panose="020B0604020202020204" pitchFamily="34" charset="0"/>
              <a:buChar char="•"/>
            </a:pPr>
            <a:r>
              <a:rPr lang="en-US" sz="112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Change Management /Training</a:t>
            </a:r>
          </a:p>
          <a:p>
            <a:pPr marL="178594" indent="-178594">
              <a:spcBef>
                <a:spcPts val="188"/>
              </a:spcBef>
              <a:spcAft>
                <a:spcPts val="188"/>
              </a:spcAft>
              <a:buFont typeface="Arial" panose="020B0604020202020204" pitchFamily="34" charset="0"/>
              <a:buChar char="•"/>
            </a:pPr>
            <a:r>
              <a:rPr lang="en-US" sz="112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Program Management </a:t>
            </a:r>
            <a:endParaRPr lang="en-US" sz="875" b="1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B244F36-36F5-06B8-2BC0-35E75145C4DE}"/>
              </a:ext>
            </a:extLst>
          </p:cNvPr>
          <p:cNvSpPr/>
          <p:nvPr/>
        </p:nvSpPr>
        <p:spPr>
          <a:xfrm>
            <a:off x="450832" y="1166813"/>
            <a:ext cx="7903371" cy="4374875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>
            <a:noFill/>
          </a:ln>
          <a:effectLst>
            <a:outerShdw blurRad="1270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963" name="Rectangle: Rounded Corners 962">
            <a:extLst>
              <a:ext uri="{FF2B5EF4-FFF2-40B4-BE49-F238E27FC236}">
                <a16:creationId xmlns:a16="http://schemas.microsoft.com/office/drawing/2014/main" id="{AF40E17C-7480-61C1-5C09-8345DC611C7F}"/>
              </a:ext>
            </a:extLst>
          </p:cNvPr>
          <p:cNvSpPr/>
          <p:nvPr/>
        </p:nvSpPr>
        <p:spPr bwMode="gray">
          <a:xfrm>
            <a:off x="5149676" y="3085553"/>
            <a:ext cx="1423401" cy="1490826"/>
          </a:xfrm>
          <a:prstGeom prst="roundRect">
            <a:avLst>
              <a:gd name="adj" fmla="val 3541"/>
            </a:avLst>
          </a:prstGeom>
          <a:solidFill>
            <a:schemeClr val="bg1"/>
          </a:solidFill>
          <a:ln w="12700" algn="ctr">
            <a:solidFill>
              <a:srgbClr val="1A3673"/>
            </a:solidFill>
            <a:miter lim="800000"/>
            <a:headEnd/>
            <a:tailEnd/>
          </a:ln>
        </p:spPr>
        <p:txBody>
          <a:bodyPr wrap="square" lIns="91440" tIns="54864" rIns="91440" bIns="54864" rtlCol="0" anchor="t">
            <a:noAutofit/>
          </a:bodyPr>
          <a:lstStyle/>
          <a:p>
            <a:pPr>
              <a:lnSpc>
                <a:spcPct val="106000"/>
              </a:lnSpc>
              <a:defRPr/>
            </a:pPr>
            <a:endParaRPr lang="en-US" sz="900" b="1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4" name="Rectangle: Rounded Corners 963">
            <a:extLst>
              <a:ext uri="{FF2B5EF4-FFF2-40B4-BE49-F238E27FC236}">
                <a16:creationId xmlns:a16="http://schemas.microsoft.com/office/drawing/2014/main" id="{537BCC69-A3B4-2074-83DA-C4C127251F4B}"/>
              </a:ext>
            </a:extLst>
          </p:cNvPr>
          <p:cNvSpPr/>
          <p:nvPr/>
        </p:nvSpPr>
        <p:spPr bwMode="gray">
          <a:xfrm>
            <a:off x="3544490" y="3097760"/>
            <a:ext cx="1423401" cy="1490826"/>
          </a:xfrm>
          <a:prstGeom prst="roundRect">
            <a:avLst>
              <a:gd name="adj" fmla="val 3541"/>
            </a:avLst>
          </a:prstGeom>
          <a:solidFill>
            <a:schemeClr val="bg1"/>
          </a:solidFill>
          <a:ln w="12700" algn="ctr">
            <a:solidFill>
              <a:srgbClr val="1A3673"/>
            </a:solidFill>
            <a:miter lim="800000"/>
            <a:headEnd/>
            <a:tailEnd/>
          </a:ln>
        </p:spPr>
        <p:txBody>
          <a:bodyPr wrap="square" lIns="91440" tIns="54864" rIns="91440" bIns="54864" rtlCol="0" anchor="t">
            <a:noAutofit/>
          </a:bodyPr>
          <a:lstStyle/>
          <a:p>
            <a:pPr>
              <a:lnSpc>
                <a:spcPct val="106000"/>
              </a:lnSpc>
              <a:defRPr/>
            </a:pPr>
            <a:endParaRPr lang="en-US" sz="900" b="1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7" name="Rectangle: Rounded Corners 966">
            <a:extLst>
              <a:ext uri="{FF2B5EF4-FFF2-40B4-BE49-F238E27FC236}">
                <a16:creationId xmlns:a16="http://schemas.microsoft.com/office/drawing/2014/main" id="{EEC5D983-D9A1-2FD7-F5D2-304A48E48F23}"/>
              </a:ext>
            </a:extLst>
          </p:cNvPr>
          <p:cNvSpPr/>
          <p:nvPr/>
        </p:nvSpPr>
        <p:spPr bwMode="gray">
          <a:xfrm>
            <a:off x="5113585" y="3129813"/>
            <a:ext cx="1423401" cy="1490826"/>
          </a:xfrm>
          <a:prstGeom prst="roundRect">
            <a:avLst>
              <a:gd name="adj" fmla="val 3541"/>
            </a:avLst>
          </a:prstGeom>
          <a:solidFill>
            <a:schemeClr val="bg1"/>
          </a:solidFill>
          <a:ln w="12700" algn="ctr">
            <a:solidFill>
              <a:srgbClr val="1A3673"/>
            </a:solidFill>
            <a:miter lim="800000"/>
            <a:headEnd/>
            <a:tailEnd/>
          </a:ln>
        </p:spPr>
        <p:txBody>
          <a:bodyPr wrap="square" lIns="91440" tIns="54864" rIns="91440" bIns="54864" rtlCol="0" anchor="t">
            <a:noAutofit/>
          </a:bodyPr>
          <a:lstStyle/>
          <a:p>
            <a:pPr>
              <a:lnSpc>
                <a:spcPct val="106000"/>
              </a:lnSpc>
              <a:defRPr/>
            </a:pPr>
            <a:endParaRPr lang="en-US" sz="900" b="1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8" name="Rectangle: Rounded Corners 967">
            <a:extLst>
              <a:ext uri="{FF2B5EF4-FFF2-40B4-BE49-F238E27FC236}">
                <a16:creationId xmlns:a16="http://schemas.microsoft.com/office/drawing/2014/main" id="{D86FE858-AD3B-5FD8-C32C-4D31471AF911}"/>
              </a:ext>
            </a:extLst>
          </p:cNvPr>
          <p:cNvSpPr/>
          <p:nvPr/>
        </p:nvSpPr>
        <p:spPr bwMode="gray">
          <a:xfrm>
            <a:off x="3504154" y="3129813"/>
            <a:ext cx="1423401" cy="1490826"/>
          </a:xfrm>
          <a:prstGeom prst="roundRect">
            <a:avLst>
              <a:gd name="adj" fmla="val 3541"/>
            </a:avLst>
          </a:prstGeom>
          <a:solidFill>
            <a:schemeClr val="bg1"/>
          </a:solidFill>
          <a:ln w="12700" algn="ctr">
            <a:solidFill>
              <a:srgbClr val="1A3673"/>
            </a:solidFill>
            <a:miter lim="800000"/>
            <a:headEnd/>
            <a:tailEnd/>
          </a:ln>
        </p:spPr>
        <p:txBody>
          <a:bodyPr wrap="square" lIns="91440" tIns="54864" rIns="91440" bIns="54864" rtlCol="0" anchor="t">
            <a:noAutofit/>
          </a:bodyPr>
          <a:lstStyle/>
          <a:p>
            <a:pPr>
              <a:lnSpc>
                <a:spcPct val="106000"/>
              </a:lnSpc>
              <a:defRPr/>
            </a:pPr>
            <a:endParaRPr lang="en-US" sz="900" b="1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1" name="Rectangle: Rounded Corners 970">
            <a:extLst>
              <a:ext uri="{FF2B5EF4-FFF2-40B4-BE49-F238E27FC236}">
                <a16:creationId xmlns:a16="http://schemas.microsoft.com/office/drawing/2014/main" id="{08ADE5B7-108A-FA76-0864-A21EA4E29E24}"/>
              </a:ext>
            </a:extLst>
          </p:cNvPr>
          <p:cNvSpPr/>
          <p:nvPr/>
        </p:nvSpPr>
        <p:spPr bwMode="gray">
          <a:xfrm>
            <a:off x="3471712" y="3160341"/>
            <a:ext cx="1423401" cy="1490826"/>
          </a:xfrm>
          <a:prstGeom prst="roundRect">
            <a:avLst>
              <a:gd name="adj" fmla="val 4157"/>
            </a:avLst>
          </a:prstGeom>
          <a:solidFill>
            <a:srgbClr val="E1EDFF"/>
          </a:solidFill>
          <a:ln w="12700" algn="ctr">
            <a:solidFill>
              <a:srgbClr val="1A3673"/>
            </a:solidFill>
            <a:miter lim="800000"/>
            <a:headEnd/>
            <a:tailEnd/>
          </a:ln>
        </p:spPr>
        <p:txBody>
          <a:bodyPr wrap="square" lIns="91440" tIns="54864" rIns="91440" bIns="54864" rtlCol="0" anchor="t"/>
          <a:lstStyle/>
          <a:p>
            <a:pPr>
              <a:lnSpc>
                <a:spcPct val="106000"/>
              </a:lnSpc>
              <a:defRPr/>
            </a:pPr>
            <a:r>
              <a:rPr lang="en-US" sz="9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EDW/DX POD</a:t>
            </a:r>
          </a:p>
        </p:txBody>
      </p:sp>
      <p:sp>
        <p:nvSpPr>
          <p:cNvPr id="972" name="Rectangle: Rounded Corners 971">
            <a:extLst>
              <a:ext uri="{FF2B5EF4-FFF2-40B4-BE49-F238E27FC236}">
                <a16:creationId xmlns:a16="http://schemas.microsoft.com/office/drawing/2014/main" id="{17294B4C-AE63-34BC-2075-F97185B886EE}"/>
              </a:ext>
            </a:extLst>
          </p:cNvPr>
          <p:cNvSpPr/>
          <p:nvPr/>
        </p:nvSpPr>
        <p:spPr bwMode="gray">
          <a:xfrm>
            <a:off x="5081229" y="3160341"/>
            <a:ext cx="1423401" cy="1490826"/>
          </a:xfrm>
          <a:prstGeom prst="roundRect">
            <a:avLst>
              <a:gd name="adj" fmla="val 2926"/>
            </a:avLst>
          </a:prstGeom>
          <a:solidFill>
            <a:srgbClr val="E1EDFF"/>
          </a:solidFill>
          <a:ln w="12700" algn="ctr">
            <a:solidFill>
              <a:srgbClr val="1A3673"/>
            </a:solidFill>
            <a:miter lim="800000"/>
            <a:headEnd/>
            <a:tailEnd/>
          </a:ln>
        </p:spPr>
        <p:txBody>
          <a:bodyPr wrap="square" lIns="91440" tIns="54864" rIns="91440" bIns="54864" rtlCol="0" anchor="t"/>
          <a:lstStyle/>
          <a:p>
            <a:pPr>
              <a:lnSpc>
                <a:spcPct val="106000"/>
              </a:lnSpc>
              <a:defRPr/>
            </a:pPr>
            <a:r>
              <a:rPr lang="en-US" sz="9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SAS/BI POD</a:t>
            </a:r>
          </a:p>
        </p:txBody>
      </p:sp>
      <p:sp>
        <p:nvSpPr>
          <p:cNvPr id="973" name="Rectangle: Rounded Corners 972">
            <a:extLst>
              <a:ext uri="{FF2B5EF4-FFF2-40B4-BE49-F238E27FC236}">
                <a16:creationId xmlns:a16="http://schemas.microsoft.com/office/drawing/2014/main" id="{56FA08B7-0E0F-78F2-6A5D-809329DD52A9}"/>
              </a:ext>
            </a:extLst>
          </p:cNvPr>
          <p:cNvSpPr/>
          <p:nvPr/>
        </p:nvSpPr>
        <p:spPr bwMode="gray">
          <a:xfrm>
            <a:off x="1923805" y="4783893"/>
            <a:ext cx="6303413" cy="679641"/>
          </a:xfrm>
          <a:prstGeom prst="roundRect">
            <a:avLst>
              <a:gd name="adj" fmla="val 6347"/>
            </a:avLst>
          </a:prstGeom>
          <a:solidFill>
            <a:srgbClr val="E1EDFF"/>
          </a:solidFill>
          <a:ln w="12700" algn="ctr">
            <a:solidFill>
              <a:srgbClr val="1A3673"/>
            </a:solidFill>
            <a:miter lim="800000"/>
            <a:headEnd/>
            <a:tailEnd/>
          </a:ln>
        </p:spPr>
        <p:txBody>
          <a:bodyPr wrap="square" lIns="91440" tIns="54864" rIns="91440" bIns="54864" rtlCol="0" anchor="t">
            <a:noAutofit/>
          </a:bodyPr>
          <a:lstStyle/>
          <a:p>
            <a:pPr>
              <a:lnSpc>
                <a:spcPct val="106000"/>
              </a:lnSpc>
              <a:defRPr/>
            </a:pPr>
            <a:r>
              <a:rPr lang="en-US" sz="9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SMEs</a:t>
            </a:r>
          </a:p>
        </p:txBody>
      </p:sp>
      <p:sp>
        <p:nvSpPr>
          <p:cNvPr id="976" name="Shape 2652">
            <a:extLst>
              <a:ext uri="{FF2B5EF4-FFF2-40B4-BE49-F238E27FC236}">
                <a16:creationId xmlns:a16="http://schemas.microsoft.com/office/drawing/2014/main" id="{48310E59-A545-323F-21C5-F70B4193771C}"/>
              </a:ext>
            </a:extLst>
          </p:cNvPr>
          <p:cNvSpPr>
            <a:spLocks/>
          </p:cNvSpPr>
          <p:nvPr/>
        </p:nvSpPr>
        <p:spPr>
          <a:xfrm>
            <a:off x="3572699" y="3414888"/>
            <a:ext cx="1245526" cy="308940"/>
          </a:xfrm>
          <a:prstGeom prst="roundRect">
            <a:avLst>
              <a:gd name="adj" fmla="val 7985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 lvl="0"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Scrum Master (PT)</a:t>
            </a:r>
          </a:p>
        </p:txBody>
      </p:sp>
      <p:sp>
        <p:nvSpPr>
          <p:cNvPr id="1080" name="Shape 2652">
            <a:extLst>
              <a:ext uri="{FF2B5EF4-FFF2-40B4-BE49-F238E27FC236}">
                <a16:creationId xmlns:a16="http://schemas.microsoft.com/office/drawing/2014/main" id="{C6C7EA2C-3E2B-57B7-54E5-68B801988962}"/>
              </a:ext>
            </a:extLst>
          </p:cNvPr>
          <p:cNvSpPr>
            <a:spLocks/>
          </p:cNvSpPr>
          <p:nvPr/>
        </p:nvSpPr>
        <p:spPr>
          <a:xfrm>
            <a:off x="3572700" y="3837824"/>
            <a:ext cx="1245526" cy="308940"/>
          </a:xfrm>
          <a:prstGeom prst="roundRect">
            <a:avLst>
              <a:gd name="adj" fmla="val 9564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Data Engineer(s)</a:t>
            </a:r>
          </a:p>
        </p:txBody>
      </p:sp>
      <p:sp>
        <p:nvSpPr>
          <p:cNvPr id="1076" name="Shape 2652">
            <a:extLst>
              <a:ext uri="{FF2B5EF4-FFF2-40B4-BE49-F238E27FC236}">
                <a16:creationId xmlns:a16="http://schemas.microsoft.com/office/drawing/2014/main" id="{9E73E2BA-3034-6694-0460-44A2B9D98B00}"/>
              </a:ext>
            </a:extLst>
          </p:cNvPr>
          <p:cNvSpPr>
            <a:spLocks/>
          </p:cNvSpPr>
          <p:nvPr/>
        </p:nvSpPr>
        <p:spPr>
          <a:xfrm>
            <a:off x="3572700" y="4262114"/>
            <a:ext cx="1245526" cy="308940"/>
          </a:xfrm>
          <a:prstGeom prst="roundRect">
            <a:avLst>
              <a:gd name="adj" fmla="val 11142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Tester(s)</a:t>
            </a:r>
          </a:p>
        </p:txBody>
      </p:sp>
      <p:sp>
        <p:nvSpPr>
          <p:cNvPr id="980" name="TextBox 979">
            <a:extLst>
              <a:ext uri="{FF2B5EF4-FFF2-40B4-BE49-F238E27FC236}">
                <a16:creationId xmlns:a16="http://schemas.microsoft.com/office/drawing/2014/main" id="{F4BCE276-46A5-E1B1-F62C-4A62498A0BA2}"/>
              </a:ext>
            </a:extLst>
          </p:cNvPr>
          <p:cNvSpPr txBox="1"/>
          <p:nvPr/>
        </p:nvSpPr>
        <p:spPr>
          <a:xfrm>
            <a:off x="577440" y="2056583"/>
            <a:ext cx="7685497" cy="292769"/>
          </a:xfrm>
          <a:prstGeom prst="roundRect">
            <a:avLst>
              <a:gd name="adj" fmla="val 16423"/>
            </a:avLst>
          </a:prstGeom>
          <a:solidFill>
            <a:schemeClr val="accent2"/>
          </a:solidFill>
          <a:ln w="19050" algn="ctr">
            <a:noFill/>
            <a:miter lim="800000"/>
            <a:headEnd/>
            <a:tailEnd/>
          </a:ln>
        </p:spPr>
        <p:txBody>
          <a:bodyPr wrap="square" lIns="91440" tIns="91440" rIns="91440" bIns="91440" rtlCol="0" anchor="ctr">
            <a:noAutofit/>
          </a:bodyPr>
          <a:lstStyle>
            <a:defPPr>
              <a:defRPr lang="en-US"/>
            </a:defPPr>
            <a:lvl1pPr defTabSz="914229">
              <a:spcAft>
                <a:spcPts val="600"/>
              </a:spcAft>
              <a:buSzPct val="75000"/>
              <a:defRPr sz="13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sz="1100">
                <a:latin typeface="+mn-lt"/>
              </a:rPr>
              <a:t>PROGRAM DELIVERY</a:t>
            </a:r>
          </a:p>
        </p:txBody>
      </p:sp>
      <p:sp>
        <p:nvSpPr>
          <p:cNvPr id="981" name="Rectangle: Rounded Corners 980">
            <a:extLst>
              <a:ext uri="{FF2B5EF4-FFF2-40B4-BE49-F238E27FC236}">
                <a16:creationId xmlns:a16="http://schemas.microsoft.com/office/drawing/2014/main" id="{459010B3-8EB2-06D4-A9D5-5D41DCB6A83B}"/>
              </a:ext>
            </a:extLst>
          </p:cNvPr>
          <p:cNvSpPr>
            <a:spLocks/>
          </p:cNvSpPr>
          <p:nvPr/>
        </p:nvSpPr>
        <p:spPr bwMode="gray">
          <a:xfrm>
            <a:off x="1931199" y="2391312"/>
            <a:ext cx="6296019" cy="607203"/>
          </a:xfrm>
          <a:prstGeom prst="roundRect">
            <a:avLst>
              <a:gd name="adj" fmla="val 5963"/>
            </a:avLst>
          </a:prstGeom>
          <a:solidFill>
            <a:srgbClr val="E1EDFF"/>
          </a:solidFill>
          <a:ln w="12700" cap="flat" cmpd="sng" algn="ctr">
            <a:solidFill>
              <a:srgbClr val="1A3673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1440" tIns="54864" rIns="91440" bIns="54864" rtlCol="0" anchor="t" anchorCtr="0">
            <a:noAutofit/>
          </a:bodyPr>
          <a:lstStyle/>
          <a:p>
            <a:pPr defTabSz="1219170">
              <a:spcBef>
                <a:spcPts val="5600"/>
              </a:spcBef>
              <a:defRPr/>
            </a:pPr>
            <a:r>
              <a:rPr lang="en-GB" sz="900" b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Program Governance</a:t>
            </a:r>
          </a:p>
        </p:txBody>
      </p:sp>
      <p:sp>
        <p:nvSpPr>
          <p:cNvPr id="982" name="Shape 2652">
            <a:extLst>
              <a:ext uri="{FF2B5EF4-FFF2-40B4-BE49-F238E27FC236}">
                <a16:creationId xmlns:a16="http://schemas.microsoft.com/office/drawing/2014/main" id="{1739D854-7B9E-65BE-2F2F-2F3DA09180FD}"/>
              </a:ext>
            </a:extLst>
          </p:cNvPr>
          <p:cNvSpPr>
            <a:spLocks/>
          </p:cNvSpPr>
          <p:nvPr/>
        </p:nvSpPr>
        <p:spPr>
          <a:xfrm>
            <a:off x="5045777" y="2628887"/>
            <a:ext cx="1363194" cy="308940"/>
          </a:xfrm>
          <a:prstGeom prst="roundRect">
            <a:avLst>
              <a:gd name="adj" fmla="val 10605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Delivery Lead</a:t>
            </a:r>
          </a:p>
        </p:txBody>
      </p:sp>
      <p:sp>
        <p:nvSpPr>
          <p:cNvPr id="983" name="Shape 2652">
            <a:extLst>
              <a:ext uri="{FF2B5EF4-FFF2-40B4-BE49-F238E27FC236}">
                <a16:creationId xmlns:a16="http://schemas.microsoft.com/office/drawing/2014/main" id="{2190EAE4-B0FA-CA04-629B-1F9FB5ADA9D0}"/>
              </a:ext>
            </a:extLst>
          </p:cNvPr>
          <p:cNvSpPr>
            <a:spLocks/>
          </p:cNvSpPr>
          <p:nvPr/>
        </p:nvSpPr>
        <p:spPr>
          <a:xfrm>
            <a:off x="3557881" y="2618568"/>
            <a:ext cx="1363194" cy="308940"/>
          </a:xfrm>
          <a:prstGeom prst="roundRect">
            <a:avLst>
              <a:gd name="adj" fmla="val 11471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Tech Architect</a:t>
            </a:r>
          </a:p>
        </p:txBody>
      </p:sp>
      <p:sp>
        <p:nvSpPr>
          <p:cNvPr id="984" name="Shape 2652">
            <a:extLst>
              <a:ext uri="{FF2B5EF4-FFF2-40B4-BE49-F238E27FC236}">
                <a16:creationId xmlns:a16="http://schemas.microsoft.com/office/drawing/2014/main" id="{78AC27CA-0472-E2BF-40A2-548CF97CC7E5}"/>
              </a:ext>
            </a:extLst>
          </p:cNvPr>
          <p:cNvSpPr>
            <a:spLocks/>
          </p:cNvSpPr>
          <p:nvPr/>
        </p:nvSpPr>
        <p:spPr>
          <a:xfrm>
            <a:off x="2016369" y="2618568"/>
            <a:ext cx="1363194" cy="308940"/>
          </a:xfrm>
          <a:prstGeom prst="roundRect">
            <a:avLst>
              <a:gd name="adj" fmla="val 10605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PMO Lead </a:t>
            </a:r>
          </a:p>
        </p:txBody>
      </p:sp>
      <p:sp>
        <p:nvSpPr>
          <p:cNvPr id="986" name="Rectangle: Rounded Corners 985">
            <a:extLst>
              <a:ext uri="{FF2B5EF4-FFF2-40B4-BE49-F238E27FC236}">
                <a16:creationId xmlns:a16="http://schemas.microsoft.com/office/drawing/2014/main" id="{A7147EBC-2BAE-15D5-7A50-CBE5C2DD0879}"/>
              </a:ext>
            </a:extLst>
          </p:cNvPr>
          <p:cNvSpPr>
            <a:spLocks/>
          </p:cNvSpPr>
          <p:nvPr/>
        </p:nvSpPr>
        <p:spPr bwMode="gray">
          <a:xfrm>
            <a:off x="4448082" y="1366468"/>
            <a:ext cx="3784978" cy="646156"/>
          </a:xfrm>
          <a:prstGeom prst="roundRect">
            <a:avLst>
              <a:gd name="adj" fmla="val 4207"/>
            </a:avLst>
          </a:prstGeom>
          <a:solidFill>
            <a:srgbClr val="E1EDFF"/>
          </a:solidFill>
          <a:ln w="12700" cap="flat" cmpd="sng" algn="ctr">
            <a:solidFill>
              <a:srgbClr val="1A3673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1440" tIns="54864" rIns="91440" bIns="54864" rtlCol="0" anchor="t" anchorCtr="0">
            <a:noAutofit/>
          </a:bodyPr>
          <a:lstStyle/>
          <a:p>
            <a:pPr defTabSz="1219170">
              <a:spcBef>
                <a:spcPts val="5600"/>
              </a:spcBef>
            </a:pPr>
            <a:r>
              <a:rPr lang="en-US" sz="900" b="1">
                <a:solidFill>
                  <a:srgbClr val="000000"/>
                </a:solidFill>
                <a:cs typeface="Calibri" panose="020F0502020204030204" pitchFamily="34" charset="0"/>
              </a:rPr>
              <a:t>Deloitte Engagement Leadership</a:t>
            </a:r>
          </a:p>
        </p:txBody>
      </p:sp>
      <p:sp>
        <p:nvSpPr>
          <p:cNvPr id="987" name="Rectangle: Rounded Corners 986">
            <a:extLst>
              <a:ext uri="{FF2B5EF4-FFF2-40B4-BE49-F238E27FC236}">
                <a16:creationId xmlns:a16="http://schemas.microsoft.com/office/drawing/2014/main" id="{5117F5E7-1736-B657-959A-4CA2E2057F89}"/>
              </a:ext>
            </a:extLst>
          </p:cNvPr>
          <p:cNvSpPr>
            <a:spLocks/>
          </p:cNvSpPr>
          <p:nvPr/>
        </p:nvSpPr>
        <p:spPr bwMode="gray">
          <a:xfrm>
            <a:off x="577440" y="1366468"/>
            <a:ext cx="3784978" cy="646156"/>
          </a:xfrm>
          <a:prstGeom prst="roundRect">
            <a:avLst>
              <a:gd name="adj" fmla="val 4207"/>
            </a:avLst>
          </a:prstGeom>
          <a:solidFill>
            <a:srgbClr val="1A3673"/>
          </a:solidFill>
          <a:ln w="12700" cap="flat" cmpd="sng" algn="ctr">
            <a:solidFill>
              <a:srgbClr val="1A3673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1440" tIns="54864" rIns="91440" bIns="54864" rtlCol="0" anchor="t" anchorCtr="0">
            <a:noAutofit/>
          </a:bodyPr>
          <a:lstStyle/>
          <a:p>
            <a:pPr defTabSz="1219170">
              <a:spcBef>
                <a:spcPts val="5600"/>
              </a:spcBef>
              <a:defRPr/>
            </a:pPr>
            <a:r>
              <a:rPr lang="en-US" sz="900" b="1">
                <a:solidFill>
                  <a:schemeClr val="bg1"/>
                </a:solidFill>
                <a:cs typeface="Calibri" panose="020F0502020204030204" pitchFamily="34" charset="0"/>
              </a:rPr>
              <a:t>Elevance Health Leadership Team</a:t>
            </a:r>
          </a:p>
        </p:txBody>
      </p:sp>
      <p:sp>
        <p:nvSpPr>
          <p:cNvPr id="988" name="Shape 2652">
            <a:extLst>
              <a:ext uri="{FF2B5EF4-FFF2-40B4-BE49-F238E27FC236}">
                <a16:creationId xmlns:a16="http://schemas.microsoft.com/office/drawing/2014/main" id="{9DF4F1D6-F1CB-E361-AC0C-B67CD6649199}"/>
              </a:ext>
            </a:extLst>
          </p:cNvPr>
          <p:cNvSpPr>
            <a:spLocks/>
          </p:cNvSpPr>
          <p:nvPr/>
        </p:nvSpPr>
        <p:spPr>
          <a:xfrm>
            <a:off x="693678" y="1602716"/>
            <a:ext cx="1710178" cy="308940"/>
          </a:xfrm>
          <a:prstGeom prst="roundRect">
            <a:avLst>
              <a:gd name="adj" fmla="val 9812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Sponsor</a:t>
            </a:r>
          </a:p>
        </p:txBody>
      </p:sp>
      <p:sp>
        <p:nvSpPr>
          <p:cNvPr id="989" name="Shape 2652">
            <a:extLst>
              <a:ext uri="{FF2B5EF4-FFF2-40B4-BE49-F238E27FC236}">
                <a16:creationId xmlns:a16="http://schemas.microsoft.com/office/drawing/2014/main" id="{615A6D85-E068-7C7C-71F9-FFF98683B349}"/>
              </a:ext>
            </a:extLst>
          </p:cNvPr>
          <p:cNvSpPr>
            <a:spLocks/>
          </p:cNvSpPr>
          <p:nvPr/>
        </p:nvSpPr>
        <p:spPr>
          <a:xfrm>
            <a:off x="2567105" y="1602716"/>
            <a:ext cx="1710178" cy="308940"/>
          </a:xfrm>
          <a:prstGeom prst="roundRect">
            <a:avLst>
              <a:gd name="adj" fmla="val 9812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Steering Committee </a:t>
            </a:r>
          </a:p>
        </p:txBody>
      </p:sp>
      <p:sp>
        <p:nvSpPr>
          <p:cNvPr id="990" name="Shape 2652">
            <a:extLst>
              <a:ext uri="{FF2B5EF4-FFF2-40B4-BE49-F238E27FC236}">
                <a16:creationId xmlns:a16="http://schemas.microsoft.com/office/drawing/2014/main" id="{FE781FB2-18B9-FD85-F6D4-73D85593503E}"/>
              </a:ext>
            </a:extLst>
          </p:cNvPr>
          <p:cNvSpPr>
            <a:spLocks/>
          </p:cNvSpPr>
          <p:nvPr/>
        </p:nvSpPr>
        <p:spPr>
          <a:xfrm>
            <a:off x="4693017" y="1602716"/>
            <a:ext cx="1568469" cy="308940"/>
          </a:xfrm>
          <a:prstGeom prst="roundRect">
            <a:avLst>
              <a:gd name="adj" fmla="val 9812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Program Oversight </a:t>
            </a:r>
          </a:p>
        </p:txBody>
      </p:sp>
      <p:sp>
        <p:nvSpPr>
          <p:cNvPr id="991" name="Shape 2652">
            <a:extLst>
              <a:ext uri="{FF2B5EF4-FFF2-40B4-BE49-F238E27FC236}">
                <a16:creationId xmlns:a16="http://schemas.microsoft.com/office/drawing/2014/main" id="{50065454-1C80-3A15-EC43-4953E0A0F417}"/>
              </a:ext>
            </a:extLst>
          </p:cNvPr>
          <p:cNvSpPr>
            <a:spLocks/>
          </p:cNvSpPr>
          <p:nvPr/>
        </p:nvSpPr>
        <p:spPr>
          <a:xfrm>
            <a:off x="2165154" y="5022235"/>
            <a:ext cx="1066559" cy="288349"/>
          </a:xfrm>
          <a:prstGeom prst="roundRect">
            <a:avLst>
              <a:gd name="adj" fmla="val 11932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 lvl="0"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Teradata/Snowflake</a:t>
            </a:r>
          </a:p>
        </p:txBody>
      </p:sp>
      <p:sp>
        <p:nvSpPr>
          <p:cNvPr id="992" name="Shape 2652">
            <a:extLst>
              <a:ext uri="{FF2B5EF4-FFF2-40B4-BE49-F238E27FC236}">
                <a16:creationId xmlns:a16="http://schemas.microsoft.com/office/drawing/2014/main" id="{147DFEDD-EFE3-886C-E826-A4137D918F1C}"/>
              </a:ext>
            </a:extLst>
          </p:cNvPr>
          <p:cNvSpPr>
            <a:spLocks/>
          </p:cNvSpPr>
          <p:nvPr/>
        </p:nvSpPr>
        <p:spPr>
          <a:xfrm>
            <a:off x="3345805" y="5023441"/>
            <a:ext cx="1066559" cy="308940"/>
          </a:xfrm>
          <a:prstGeom prst="roundRect">
            <a:avLst>
              <a:gd name="adj" fmla="val 7985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 lvl="0"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SAS/BI Reporting</a:t>
            </a:r>
          </a:p>
        </p:txBody>
      </p:sp>
      <p:sp>
        <p:nvSpPr>
          <p:cNvPr id="993" name="Rectangle: Rounded Corners 992">
            <a:extLst>
              <a:ext uri="{FF2B5EF4-FFF2-40B4-BE49-F238E27FC236}">
                <a16:creationId xmlns:a16="http://schemas.microsoft.com/office/drawing/2014/main" id="{34D980BA-7618-78C7-CB4F-24C40BD262D8}"/>
              </a:ext>
            </a:extLst>
          </p:cNvPr>
          <p:cNvSpPr/>
          <p:nvPr/>
        </p:nvSpPr>
        <p:spPr bwMode="gray">
          <a:xfrm>
            <a:off x="1960428" y="3148894"/>
            <a:ext cx="1423401" cy="1513318"/>
          </a:xfrm>
          <a:prstGeom prst="roundRect">
            <a:avLst>
              <a:gd name="adj" fmla="val 5883"/>
            </a:avLst>
          </a:prstGeom>
          <a:solidFill>
            <a:srgbClr val="E1EDFF"/>
          </a:solidFill>
          <a:ln w="12700" algn="ctr">
            <a:solidFill>
              <a:srgbClr val="1A3673"/>
            </a:solidFill>
            <a:miter lim="800000"/>
            <a:headEnd/>
            <a:tailEnd/>
          </a:ln>
        </p:spPr>
        <p:txBody>
          <a:bodyPr wrap="square" lIns="91440" tIns="54864" rIns="91440" bIns="54864" rtlCol="0" anchor="t">
            <a:noAutofit/>
          </a:bodyPr>
          <a:lstStyle/>
          <a:p>
            <a:pPr>
              <a:lnSpc>
                <a:spcPct val="106000"/>
              </a:lnSpc>
              <a:defRPr/>
            </a:pPr>
            <a:r>
              <a:rPr lang="en-US" sz="9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AI Foundation POD</a:t>
            </a:r>
          </a:p>
        </p:txBody>
      </p:sp>
      <p:sp>
        <p:nvSpPr>
          <p:cNvPr id="994" name="Shape 2652">
            <a:extLst>
              <a:ext uri="{FF2B5EF4-FFF2-40B4-BE49-F238E27FC236}">
                <a16:creationId xmlns:a16="http://schemas.microsoft.com/office/drawing/2014/main" id="{10530A80-E974-5CCC-B25C-D0A5A26ECE55}"/>
              </a:ext>
            </a:extLst>
          </p:cNvPr>
          <p:cNvSpPr>
            <a:spLocks/>
          </p:cNvSpPr>
          <p:nvPr/>
        </p:nvSpPr>
        <p:spPr>
          <a:xfrm>
            <a:off x="2058071" y="3414888"/>
            <a:ext cx="1245526" cy="308940"/>
          </a:xfrm>
          <a:prstGeom prst="roundRect">
            <a:avLst>
              <a:gd name="adj" fmla="val 9812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AI Lead</a:t>
            </a:r>
          </a:p>
        </p:txBody>
      </p:sp>
      <p:sp>
        <p:nvSpPr>
          <p:cNvPr id="995" name="Shape 2652">
            <a:extLst>
              <a:ext uri="{FF2B5EF4-FFF2-40B4-BE49-F238E27FC236}">
                <a16:creationId xmlns:a16="http://schemas.microsoft.com/office/drawing/2014/main" id="{62D3CA8C-3A37-0830-184A-C924403C729C}"/>
              </a:ext>
            </a:extLst>
          </p:cNvPr>
          <p:cNvSpPr>
            <a:spLocks/>
          </p:cNvSpPr>
          <p:nvPr/>
        </p:nvSpPr>
        <p:spPr>
          <a:xfrm>
            <a:off x="4526457" y="5023441"/>
            <a:ext cx="1066559" cy="308940"/>
          </a:xfrm>
          <a:prstGeom prst="roundRect">
            <a:avLst>
              <a:gd name="adj" fmla="val 7985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 lvl="0"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</a:p>
        </p:txBody>
      </p:sp>
      <p:sp>
        <p:nvSpPr>
          <p:cNvPr id="998" name="Rectangle: Rounded Corners 997">
            <a:extLst>
              <a:ext uri="{FF2B5EF4-FFF2-40B4-BE49-F238E27FC236}">
                <a16:creationId xmlns:a16="http://schemas.microsoft.com/office/drawing/2014/main" id="{BFE586C2-1A58-C00F-E9BF-EF6B5944C365}"/>
              </a:ext>
            </a:extLst>
          </p:cNvPr>
          <p:cNvSpPr>
            <a:spLocks/>
          </p:cNvSpPr>
          <p:nvPr/>
        </p:nvSpPr>
        <p:spPr bwMode="gray">
          <a:xfrm>
            <a:off x="577441" y="2383862"/>
            <a:ext cx="1203739" cy="3094458"/>
          </a:xfrm>
          <a:prstGeom prst="roundRect">
            <a:avLst>
              <a:gd name="adj" fmla="val 4207"/>
            </a:avLst>
          </a:prstGeom>
          <a:solidFill>
            <a:srgbClr val="1A3673"/>
          </a:solidFill>
          <a:ln w="12700" cap="flat" cmpd="sng" algn="ctr">
            <a:solidFill>
              <a:srgbClr val="1A3673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1440" tIns="54864" rIns="91440" bIns="54864" rtlCol="0" anchor="t" anchorCtr="0">
            <a:noAutofit/>
          </a:bodyPr>
          <a:lstStyle/>
          <a:p>
            <a:pPr marL="7938">
              <a:spcBef>
                <a:spcPts val="66"/>
              </a:spcBef>
              <a:defRPr/>
            </a:pPr>
            <a:r>
              <a:rPr lang="en-US" sz="875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NYU</a:t>
            </a:r>
          </a:p>
          <a:p>
            <a:pPr marL="7938">
              <a:spcBef>
                <a:spcPts val="66"/>
              </a:spcBef>
              <a:defRPr/>
            </a:pPr>
            <a:r>
              <a:rPr lang="en-US" sz="875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Project team</a:t>
            </a:r>
            <a:endParaRPr lang="en-US" sz="875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9" name="Shape 2652">
            <a:extLst>
              <a:ext uri="{FF2B5EF4-FFF2-40B4-BE49-F238E27FC236}">
                <a16:creationId xmlns:a16="http://schemas.microsoft.com/office/drawing/2014/main" id="{72D65381-9D85-65CC-6E00-1B392B3DE478}"/>
              </a:ext>
            </a:extLst>
          </p:cNvPr>
          <p:cNvSpPr>
            <a:spLocks/>
          </p:cNvSpPr>
          <p:nvPr/>
        </p:nvSpPr>
        <p:spPr>
          <a:xfrm>
            <a:off x="669866" y="3103049"/>
            <a:ext cx="1009649" cy="325285"/>
          </a:xfrm>
          <a:prstGeom prst="roundRect">
            <a:avLst>
              <a:gd name="adj" fmla="val 10605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r>
              <a:rPr lang="en-GB" sz="900" spc="0">
                <a:solidFill>
                  <a:schemeClr val="accent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Product Owners</a:t>
            </a:r>
          </a:p>
        </p:txBody>
      </p:sp>
      <p:sp>
        <p:nvSpPr>
          <p:cNvPr id="1000" name="Shape 2652">
            <a:extLst>
              <a:ext uri="{FF2B5EF4-FFF2-40B4-BE49-F238E27FC236}">
                <a16:creationId xmlns:a16="http://schemas.microsoft.com/office/drawing/2014/main" id="{E28F8526-076F-2116-679F-86589446C2FC}"/>
              </a:ext>
            </a:extLst>
          </p:cNvPr>
          <p:cNvSpPr>
            <a:spLocks/>
          </p:cNvSpPr>
          <p:nvPr/>
        </p:nvSpPr>
        <p:spPr>
          <a:xfrm>
            <a:off x="669866" y="3538424"/>
            <a:ext cx="1009649" cy="325285"/>
          </a:xfrm>
          <a:prstGeom prst="roundRect">
            <a:avLst>
              <a:gd name="adj" fmla="val 10605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r>
              <a:rPr lang="en-GB" sz="900" spc="0">
                <a:solidFill>
                  <a:schemeClr val="accent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Business Lead</a:t>
            </a:r>
          </a:p>
        </p:txBody>
      </p:sp>
      <p:sp>
        <p:nvSpPr>
          <p:cNvPr id="1001" name="Shape 2652">
            <a:extLst>
              <a:ext uri="{FF2B5EF4-FFF2-40B4-BE49-F238E27FC236}">
                <a16:creationId xmlns:a16="http://schemas.microsoft.com/office/drawing/2014/main" id="{729F8A77-862C-4456-FF6F-60D7E3E33888}"/>
              </a:ext>
            </a:extLst>
          </p:cNvPr>
          <p:cNvSpPr>
            <a:spLocks/>
          </p:cNvSpPr>
          <p:nvPr/>
        </p:nvSpPr>
        <p:spPr>
          <a:xfrm>
            <a:off x="669866" y="3973798"/>
            <a:ext cx="1009649" cy="325285"/>
          </a:xfrm>
          <a:prstGeom prst="roundRect">
            <a:avLst>
              <a:gd name="adj" fmla="val 10605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r>
              <a:rPr lang="en-GB" sz="900" spc="0">
                <a:solidFill>
                  <a:schemeClr val="accent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Technical Lead </a:t>
            </a:r>
          </a:p>
        </p:txBody>
      </p:sp>
      <p:sp>
        <p:nvSpPr>
          <p:cNvPr id="1002" name="Shape 2652">
            <a:extLst>
              <a:ext uri="{FF2B5EF4-FFF2-40B4-BE49-F238E27FC236}">
                <a16:creationId xmlns:a16="http://schemas.microsoft.com/office/drawing/2014/main" id="{E2309CD3-CDFE-1851-6566-0B89B2083775}"/>
              </a:ext>
            </a:extLst>
          </p:cNvPr>
          <p:cNvSpPr>
            <a:spLocks/>
          </p:cNvSpPr>
          <p:nvPr/>
        </p:nvSpPr>
        <p:spPr>
          <a:xfrm>
            <a:off x="669866" y="4409173"/>
            <a:ext cx="1009649" cy="325285"/>
          </a:xfrm>
          <a:prstGeom prst="roundRect">
            <a:avLst>
              <a:gd name="adj" fmla="val 10605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r>
              <a:rPr lang="en-GB" sz="900" spc="0">
                <a:solidFill>
                  <a:schemeClr val="accent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Infrastructure Support</a:t>
            </a:r>
          </a:p>
        </p:txBody>
      </p:sp>
      <p:sp>
        <p:nvSpPr>
          <p:cNvPr id="1009" name="TextBox 1008">
            <a:extLst>
              <a:ext uri="{FF2B5EF4-FFF2-40B4-BE49-F238E27FC236}">
                <a16:creationId xmlns:a16="http://schemas.microsoft.com/office/drawing/2014/main" id="{B1B6F4ED-7EE8-2E7F-048C-F5CBA9C32D75}"/>
              </a:ext>
            </a:extLst>
          </p:cNvPr>
          <p:cNvSpPr txBox="1"/>
          <p:nvPr/>
        </p:nvSpPr>
        <p:spPr>
          <a:xfrm>
            <a:off x="6432425" y="5701276"/>
            <a:ext cx="106655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n-GB" sz="80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Cross-pod governance</a:t>
            </a:r>
          </a:p>
        </p:txBody>
      </p:sp>
      <p:sp>
        <p:nvSpPr>
          <p:cNvPr id="1012" name="Shape 2652">
            <a:extLst>
              <a:ext uri="{FF2B5EF4-FFF2-40B4-BE49-F238E27FC236}">
                <a16:creationId xmlns:a16="http://schemas.microsoft.com/office/drawing/2014/main" id="{274876D8-A593-4577-9D86-84AD151C2411}"/>
              </a:ext>
            </a:extLst>
          </p:cNvPr>
          <p:cNvSpPr>
            <a:spLocks/>
          </p:cNvSpPr>
          <p:nvPr/>
        </p:nvSpPr>
        <p:spPr>
          <a:xfrm>
            <a:off x="2058071" y="3837824"/>
            <a:ext cx="1245526" cy="308940"/>
          </a:xfrm>
          <a:prstGeom prst="roundRect">
            <a:avLst>
              <a:gd name="adj" fmla="val 9812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Agent Builder</a:t>
            </a:r>
          </a:p>
        </p:txBody>
      </p:sp>
      <p:sp>
        <p:nvSpPr>
          <p:cNvPr id="1013" name="Shape 2652">
            <a:extLst>
              <a:ext uri="{FF2B5EF4-FFF2-40B4-BE49-F238E27FC236}">
                <a16:creationId xmlns:a16="http://schemas.microsoft.com/office/drawing/2014/main" id="{5573087E-EC24-9FEF-4209-85BF39EA9898}"/>
              </a:ext>
            </a:extLst>
          </p:cNvPr>
          <p:cNvSpPr>
            <a:spLocks/>
          </p:cNvSpPr>
          <p:nvPr/>
        </p:nvSpPr>
        <p:spPr>
          <a:xfrm>
            <a:off x="2058071" y="4262114"/>
            <a:ext cx="1245526" cy="308940"/>
          </a:xfrm>
          <a:prstGeom prst="roundRect">
            <a:avLst>
              <a:gd name="adj" fmla="val 9812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AgentOPs</a:t>
            </a:r>
          </a:p>
        </p:txBody>
      </p:sp>
      <p:sp>
        <p:nvSpPr>
          <p:cNvPr id="1014" name="Shape 2652">
            <a:extLst>
              <a:ext uri="{FF2B5EF4-FFF2-40B4-BE49-F238E27FC236}">
                <a16:creationId xmlns:a16="http://schemas.microsoft.com/office/drawing/2014/main" id="{AE781A11-0907-FADA-771F-ED15FEC4B6A4}"/>
              </a:ext>
            </a:extLst>
          </p:cNvPr>
          <p:cNvSpPr>
            <a:spLocks/>
          </p:cNvSpPr>
          <p:nvPr/>
        </p:nvSpPr>
        <p:spPr>
          <a:xfrm>
            <a:off x="6432285" y="1602716"/>
            <a:ext cx="1568469" cy="308940"/>
          </a:xfrm>
          <a:prstGeom prst="roundRect">
            <a:avLst>
              <a:gd name="adj" fmla="val 9812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Program Engagement Lead</a:t>
            </a:r>
          </a:p>
        </p:txBody>
      </p:sp>
      <p:grpSp>
        <p:nvGrpSpPr>
          <p:cNvPr id="906" name="Group 905">
            <a:extLst>
              <a:ext uri="{FF2B5EF4-FFF2-40B4-BE49-F238E27FC236}">
                <a16:creationId xmlns:a16="http://schemas.microsoft.com/office/drawing/2014/main" id="{3BA2C18D-4382-B9E4-C66E-AEF106BE6C83}"/>
              </a:ext>
            </a:extLst>
          </p:cNvPr>
          <p:cNvGrpSpPr/>
          <p:nvPr/>
        </p:nvGrpSpPr>
        <p:grpSpPr>
          <a:xfrm>
            <a:off x="1823927" y="2337446"/>
            <a:ext cx="234154" cy="2552795"/>
            <a:chOff x="2887794" y="3739913"/>
            <a:chExt cx="365837" cy="4084472"/>
          </a:xfrm>
        </p:grpSpPr>
        <p:sp>
          <p:nvSpPr>
            <p:cNvPr id="961" name="Oval 960">
              <a:extLst>
                <a:ext uri="{FF2B5EF4-FFF2-40B4-BE49-F238E27FC236}">
                  <a16:creationId xmlns:a16="http://schemas.microsoft.com/office/drawing/2014/main" id="{A3246C9E-2811-5846-A9B6-0C70A6A66A6A}"/>
                </a:ext>
              </a:extLst>
            </p:cNvPr>
            <p:cNvSpPr/>
            <p:nvPr/>
          </p:nvSpPr>
          <p:spPr>
            <a:xfrm>
              <a:off x="2890396" y="3768385"/>
              <a:ext cx="335793" cy="335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015" name="Group 1014">
              <a:extLst>
                <a:ext uri="{FF2B5EF4-FFF2-40B4-BE49-F238E27FC236}">
                  <a16:creationId xmlns:a16="http://schemas.microsoft.com/office/drawing/2014/main" id="{7F19C9FF-B966-B15B-C7F0-1DF86B0ED553}"/>
                </a:ext>
              </a:extLst>
            </p:cNvPr>
            <p:cNvGrpSpPr/>
            <p:nvPr/>
          </p:nvGrpSpPr>
          <p:grpSpPr>
            <a:xfrm>
              <a:off x="2887794" y="3739913"/>
              <a:ext cx="354017" cy="363610"/>
              <a:chOff x="17716072" y="2222443"/>
              <a:chExt cx="1192398" cy="1226135"/>
            </a:xfrm>
          </p:grpSpPr>
          <p:sp>
            <p:nvSpPr>
              <p:cNvPr id="1022" name="Oval 1021">
                <a:extLst>
                  <a:ext uri="{FF2B5EF4-FFF2-40B4-BE49-F238E27FC236}">
                    <a16:creationId xmlns:a16="http://schemas.microsoft.com/office/drawing/2014/main" id="{3E2C2CE6-B993-D9C1-BF00-B44879985DE6}"/>
                  </a:ext>
                </a:extLst>
              </p:cNvPr>
              <p:cNvSpPr/>
              <p:nvPr/>
            </p:nvSpPr>
            <p:spPr>
              <a:xfrm>
                <a:off x="17716072" y="2222443"/>
                <a:ext cx="1192398" cy="122613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25"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1023" name="Graphic 1022" descr="Arrow circle with solid fill">
                <a:extLst>
                  <a:ext uri="{FF2B5EF4-FFF2-40B4-BE49-F238E27FC236}">
                    <a16:creationId xmlns:a16="http://schemas.microsoft.com/office/drawing/2014/main" id="{4314C87C-7F7E-D0C9-E873-F09BAACE2D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7758825" y="2297956"/>
                <a:ext cx="1106893" cy="1106895"/>
              </a:xfrm>
              <a:prstGeom prst="rect">
                <a:avLst/>
              </a:prstGeom>
            </p:spPr>
          </p:pic>
        </p:grpSp>
        <p:grpSp>
          <p:nvGrpSpPr>
            <p:cNvPr id="1016" name="Group 1015">
              <a:extLst>
                <a:ext uri="{FF2B5EF4-FFF2-40B4-BE49-F238E27FC236}">
                  <a16:creationId xmlns:a16="http://schemas.microsoft.com/office/drawing/2014/main" id="{DF85BC5B-5D83-EEFC-93EB-763CB0737CAC}"/>
                </a:ext>
              </a:extLst>
            </p:cNvPr>
            <p:cNvGrpSpPr/>
            <p:nvPr/>
          </p:nvGrpSpPr>
          <p:grpSpPr>
            <a:xfrm>
              <a:off x="2899614" y="7460775"/>
              <a:ext cx="354017" cy="363610"/>
              <a:chOff x="17716072" y="2222443"/>
              <a:chExt cx="1192398" cy="1226135"/>
            </a:xfrm>
          </p:grpSpPr>
          <p:sp>
            <p:nvSpPr>
              <p:cNvPr id="1020" name="Oval 1019">
                <a:extLst>
                  <a:ext uri="{FF2B5EF4-FFF2-40B4-BE49-F238E27FC236}">
                    <a16:creationId xmlns:a16="http://schemas.microsoft.com/office/drawing/2014/main" id="{2920DAAC-045A-7B3F-CD54-E816261B1A18}"/>
                  </a:ext>
                </a:extLst>
              </p:cNvPr>
              <p:cNvSpPr/>
              <p:nvPr/>
            </p:nvSpPr>
            <p:spPr>
              <a:xfrm>
                <a:off x="17716072" y="2222443"/>
                <a:ext cx="1192398" cy="122613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25"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1021" name="Graphic 1020" descr="Arrow circle with solid fill">
                <a:extLst>
                  <a:ext uri="{FF2B5EF4-FFF2-40B4-BE49-F238E27FC236}">
                    <a16:creationId xmlns:a16="http://schemas.microsoft.com/office/drawing/2014/main" id="{05CE2AD9-DBD9-6D5B-F834-85B64D047B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7758825" y="2297956"/>
                <a:ext cx="1106893" cy="1106895"/>
              </a:xfrm>
              <a:prstGeom prst="rect">
                <a:avLst/>
              </a:prstGeom>
            </p:spPr>
          </p:pic>
        </p:grpSp>
      </p:grp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01C20D02-1A66-B330-3F89-503FD53E59B9}"/>
              </a:ext>
            </a:extLst>
          </p:cNvPr>
          <p:cNvGrpSpPr/>
          <p:nvPr/>
        </p:nvGrpSpPr>
        <p:grpSpPr>
          <a:xfrm>
            <a:off x="6118746" y="5627197"/>
            <a:ext cx="225696" cy="227256"/>
            <a:chOff x="17716072" y="2222443"/>
            <a:chExt cx="1192398" cy="1226135"/>
          </a:xfrm>
        </p:grpSpPr>
        <p:sp>
          <p:nvSpPr>
            <p:cNvPr id="1018" name="Oval 1017">
              <a:extLst>
                <a:ext uri="{FF2B5EF4-FFF2-40B4-BE49-F238E27FC236}">
                  <a16:creationId xmlns:a16="http://schemas.microsoft.com/office/drawing/2014/main" id="{81AB67A6-A714-F527-BE2B-147B8275B01E}"/>
                </a:ext>
              </a:extLst>
            </p:cNvPr>
            <p:cNvSpPr/>
            <p:nvPr/>
          </p:nvSpPr>
          <p:spPr>
            <a:xfrm>
              <a:off x="17716072" y="2222443"/>
              <a:ext cx="1192398" cy="12261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19" name="Graphic 1018" descr="Arrow circle with solid fill">
              <a:extLst>
                <a:ext uri="{FF2B5EF4-FFF2-40B4-BE49-F238E27FC236}">
                  <a16:creationId xmlns:a16="http://schemas.microsoft.com/office/drawing/2014/main" id="{A2B124D3-E4B9-F3E4-266E-E962F01DEA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7758825" y="2297956"/>
              <a:ext cx="1106893" cy="1106895"/>
            </a:xfrm>
            <a:prstGeom prst="rect">
              <a:avLst/>
            </a:prstGeom>
          </p:spPr>
        </p:pic>
      </p:grpSp>
      <p:sp>
        <p:nvSpPr>
          <p:cNvPr id="1083" name="Shape 2652">
            <a:extLst>
              <a:ext uri="{FF2B5EF4-FFF2-40B4-BE49-F238E27FC236}">
                <a16:creationId xmlns:a16="http://schemas.microsoft.com/office/drawing/2014/main" id="{91A6E842-7B97-01BD-A8B1-D09215E2F3B4}"/>
              </a:ext>
            </a:extLst>
          </p:cNvPr>
          <p:cNvSpPr>
            <a:spLocks/>
          </p:cNvSpPr>
          <p:nvPr/>
        </p:nvSpPr>
        <p:spPr>
          <a:xfrm>
            <a:off x="5707108" y="5026488"/>
            <a:ext cx="1066559" cy="308940"/>
          </a:xfrm>
          <a:prstGeom prst="roundRect">
            <a:avLst>
              <a:gd name="adj" fmla="val 7985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 lvl="0"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Informatica</a:t>
            </a:r>
          </a:p>
        </p:txBody>
      </p:sp>
      <p:sp>
        <p:nvSpPr>
          <p:cNvPr id="1084" name="Shape 2652">
            <a:extLst>
              <a:ext uri="{FF2B5EF4-FFF2-40B4-BE49-F238E27FC236}">
                <a16:creationId xmlns:a16="http://schemas.microsoft.com/office/drawing/2014/main" id="{C2058165-837B-C463-C597-3C87C12FCA34}"/>
              </a:ext>
            </a:extLst>
          </p:cNvPr>
          <p:cNvSpPr>
            <a:spLocks/>
          </p:cNvSpPr>
          <p:nvPr/>
        </p:nvSpPr>
        <p:spPr>
          <a:xfrm>
            <a:off x="6887760" y="5026488"/>
            <a:ext cx="1066559" cy="308940"/>
          </a:xfrm>
          <a:prstGeom prst="roundRect">
            <a:avLst>
              <a:gd name="adj" fmla="val 7985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 lvl="0"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Test Automation</a:t>
            </a:r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D4AEF3A4-A8BB-D06F-4A54-117E5D7E031C}"/>
              </a:ext>
            </a:extLst>
          </p:cNvPr>
          <p:cNvSpPr txBox="1"/>
          <p:nvPr/>
        </p:nvSpPr>
        <p:spPr>
          <a:xfrm>
            <a:off x="7687057" y="1207408"/>
            <a:ext cx="564649" cy="11541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sz="750" i="1" u="sng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illustrative</a:t>
            </a:r>
          </a:p>
        </p:txBody>
      </p:sp>
      <p:sp>
        <p:nvSpPr>
          <p:cNvPr id="2" name="Shape 2652">
            <a:extLst>
              <a:ext uri="{FF2B5EF4-FFF2-40B4-BE49-F238E27FC236}">
                <a16:creationId xmlns:a16="http://schemas.microsoft.com/office/drawing/2014/main" id="{689810D3-F6CE-5346-D319-B46CFC1A62A5}"/>
              </a:ext>
            </a:extLst>
          </p:cNvPr>
          <p:cNvSpPr>
            <a:spLocks/>
          </p:cNvSpPr>
          <p:nvPr/>
        </p:nvSpPr>
        <p:spPr>
          <a:xfrm>
            <a:off x="6570434" y="2634140"/>
            <a:ext cx="1363194" cy="308940"/>
          </a:xfrm>
          <a:prstGeom prst="roundRect">
            <a:avLst>
              <a:gd name="adj" fmla="val 10605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Testing Lead</a:t>
            </a:r>
          </a:p>
        </p:txBody>
      </p:sp>
      <p:sp>
        <p:nvSpPr>
          <p:cNvPr id="958" name="Shape 2652">
            <a:extLst>
              <a:ext uri="{FF2B5EF4-FFF2-40B4-BE49-F238E27FC236}">
                <a16:creationId xmlns:a16="http://schemas.microsoft.com/office/drawing/2014/main" id="{579A87C2-3BDC-968E-C091-098B2C5AD38E}"/>
              </a:ext>
            </a:extLst>
          </p:cNvPr>
          <p:cNvSpPr>
            <a:spLocks/>
          </p:cNvSpPr>
          <p:nvPr/>
        </p:nvSpPr>
        <p:spPr>
          <a:xfrm>
            <a:off x="5177933" y="3414888"/>
            <a:ext cx="1245526" cy="308940"/>
          </a:xfrm>
          <a:prstGeom prst="roundRect">
            <a:avLst>
              <a:gd name="adj" fmla="val 7985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 lvl="0">
              <a:defRPr/>
            </a:pPr>
            <a:r>
              <a:rPr lang="en-GB" sz="900" spc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Scrum Master (PT)</a:t>
            </a:r>
          </a:p>
        </p:txBody>
      </p:sp>
      <p:sp>
        <p:nvSpPr>
          <p:cNvPr id="959" name="Shape 2652">
            <a:extLst>
              <a:ext uri="{FF2B5EF4-FFF2-40B4-BE49-F238E27FC236}">
                <a16:creationId xmlns:a16="http://schemas.microsoft.com/office/drawing/2014/main" id="{BAEC0A51-8C20-5875-B68C-533CA69CF64C}"/>
              </a:ext>
            </a:extLst>
          </p:cNvPr>
          <p:cNvSpPr>
            <a:spLocks/>
          </p:cNvSpPr>
          <p:nvPr/>
        </p:nvSpPr>
        <p:spPr>
          <a:xfrm>
            <a:off x="5177933" y="3837824"/>
            <a:ext cx="1245526" cy="308940"/>
          </a:xfrm>
          <a:prstGeom prst="roundRect">
            <a:avLst>
              <a:gd name="adj" fmla="val 9564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Report Developer(s)</a:t>
            </a:r>
          </a:p>
        </p:txBody>
      </p:sp>
      <p:sp>
        <p:nvSpPr>
          <p:cNvPr id="64" name="Shape 2652">
            <a:extLst>
              <a:ext uri="{FF2B5EF4-FFF2-40B4-BE49-F238E27FC236}">
                <a16:creationId xmlns:a16="http://schemas.microsoft.com/office/drawing/2014/main" id="{42A3D0D3-B1E5-7F63-F092-0C8532D27060}"/>
              </a:ext>
            </a:extLst>
          </p:cNvPr>
          <p:cNvSpPr>
            <a:spLocks/>
          </p:cNvSpPr>
          <p:nvPr/>
        </p:nvSpPr>
        <p:spPr>
          <a:xfrm>
            <a:off x="5177933" y="4262114"/>
            <a:ext cx="1245526" cy="308940"/>
          </a:xfrm>
          <a:prstGeom prst="roundRect">
            <a:avLst>
              <a:gd name="adj" fmla="val 11142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Tester(s)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E181C2-3193-C5B9-99A4-E52413D7948C}"/>
              </a:ext>
            </a:extLst>
          </p:cNvPr>
          <p:cNvSpPr/>
          <p:nvPr/>
        </p:nvSpPr>
        <p:spPr bwMode="gray">
          <a:xfrm>
            <a:off x="6723101" y="3118365"/>
            <a:ext cx="1423401" cy="1490826"/>
          </a:xfrm>
          <a:prstGeom prst="roundRect">
            <a:avLst>
              <a:gd name="adj" fmla="val 3541"/>
            </a:avLst>
          </a:prstGeom>
          <a:solidFill>
            <a:schemeClr val="bg1"/>
          </a:solidFill>
          <a:ln w="12700" algn="ctr">
            <a:solidFill>
              <a:srgbClr val="1A3673"/>
            </a:solidFill>
            <a:miter lim="800000"/>
            <a:headEnd/>
            <a:tailEnd/>
          </a:ln>
        </p:spPr>
        <p:txBody>
          <a:bodyPr wrap="square" lIns="91440" tIns="54864" rIns="91440" bIns="54864" rtlCol="0" anchor="t">
            <a:noAutofit/>
          </a:bodyPr>
          <a:lstStyle/>
          <a:p>
            <a:pPr>
              <a:lnSpc>
                <a:spcPct val="106000"/>
              </a:lnSpc>
              <a:defRPr/>
            </a:pPr>
            <a:endParaRPr lang="en-US" sz="900" b="1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DCDF72-D723-3EBC-54B6-CD481F21C5A2}"/>
              </a:ext>
            </a:extLst>
          </p:cNvPr>
          <p:cNvSpPr/>
          <p:nvPr/>
        </p:nvSpPr>
        <p:spPr bwMode="gray">
          <a:xfrm>
            <a:off x="6690746" y="3148894"/>
            <a:ext cx="1423401" cy="1490826"/>
          </a:xfrm>
          <a:prstGeom prst="roundRect">
            <a:avLst>
              <a:gd name="adj" fmla="val 2926"/>
            </a:avLst>
          </a:prstGeom>
          <a:solidFill>
            <a:srgbClr val="E1EDFF"/>
          </a:solidFill>
          <a:ln w="12700" algn="ctr">
            <a:solidFill>
              <a:srgbClr val="1A3673"/>
            </a:solidFill>
            <a:miter lim="800000"/>
            <a:headEnd/>
            <a:tailEnd/>
          </a:ln>
        </p:spPr>
        <p:txBody>
          <a:bodyPr wrap="square" lIns="91440" tIns="54864" rIns="91440" bIns="54864" rtlCol="0" anchor="t"/>
          <a:lstStyle/>
          <a:p>
            <a:pPr>
              <a:lnSpc>
                <a:spcPct val="106000"/>
              </a:lnSpc>
              <a:defRPr/>
            </a:pPr>
            <a:r>
              <a:rPr lang="en-US" sz="9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OTHER APPs</a:t>
            </a:r>
          </a:p>
        </p:txBody>
      </p:sp>
      <p:sp>
        <p:nvSpPr>
          <p:cNvPr id="7" name="Shape 2652">
            <a:extLst>
              <a:ext uri="{FF2B5EF4-FFF2-40B4-BE49-F238E27FC236}">
                <a16:creationId xmlns:a16="http://schemas.microsoft.com/office/drawing/2014/main" id="{5B920402-01CF-4930-D107-36B0584172A1}"/>
              </a:ext>
            </a:extLst>
          </p:cNvPr>
          <p:cNvSpPr>
            <a:spLocks/>
          </p:cNvSpPr>
          <p:nvPr/>
        </p:nvSpPr>
        <p:spPr>
          <a:xfrm>
            <a:off x="6787450" y="3403440"/>
            <a:ext cx="1245526" cy="308940"/>
          </a:xfrm>
          <a:prstGeom prst="roundRect">
            <a:avLst>
              <a:gd name="adj" fmla="val 7985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 lvl="0">
              <a:defRPr/>
            </a:pPr>
            <a:r>
              <a:rPr lang="en-GB" sz="900" spc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Scrum Master (PT)</a:t>
            </a:r>
          </a:p>
        </p:txBody>
      </p:sp>
      <p:sp>
        <p:nvSpPr>
          <p:cNvPr id="9" name="Shape 2652">
            <a:extLst>
              <a:ext uri="{FF2B5EF4-FFF2-40B4-BE49-F238E27FC236}">
                <a16:creationId xmlns:a16="http://schemas.microsoft.com/office/drawing/2014/main" id="{723FC6E7-0798-06CE-BA62-D6BEC36BEAC9}"/>
              </a:ext>
            </a:extLst>
          </p:cNvPr>
          <p:cNvSpPr>
            <a:spLocks/>
          </p:cNvSpPr>
          <p:nvPr/>
        </p:nvSpPr>
        <p:spPr>
          <a:xfrm>
            <a:off x="6787450" y="3826376"/>
            <a:ext cx="1245526" cy="308940"/>
          </a:xfrm>
          <a:prstGeom prst="roundRect">
            <a:avLst>
              <a:gd name="adj" fmla="val 9564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pPr>
              <a:defRPr/>
            </a:pPr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Report Developer(s)</a:t>
            </a:r>
          </a:p>
        </p:txBody>
      </p:sp>
      <p:sp>
        <p:nvSpPr>
          <p:cNvPr id="13" name="Shape 2652">
            <a:extLst>
              <a:ext uri="{FF2B5EF4-FFF2-40B4-BE49-F238E27FC236}">
                <a16:creationId xmlns:a16="http://schemas.microsoft.com/office/drawing/2014/main" id="{0F7ED29D-58ED-1107-72BA-19201D87FA71}"/>
              </a:ext>
            </a:extLst>
          </p:cNvPr>
          <p:cNvSpPr>
            <a:spLocks/>
          </p:cNvSpPr>
          <p:nvPr/>
        </p:nvSpPr>
        <p:spPr>
          <a:xfrm>
            <a:off x="6787450" y="4250667"/>
            <a:ext cx="1245526" cy="308940"/>
          </a:xfrm>
          <a:prstGeom prst="roundRect">
            <a:avLst>
              <a:gd name="adj" fmla="val 11142"/>
            </a:avLst>
          </a:prstGeom>
          <a:solidFill>
            <a:schemeClr val="bg1"/>
          </a:solidFill>
          <a:ln w="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sp3d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rot="0" spcFirstLastPara="1" vertOverflow="overflow" horzOverflow="overflow" vert="horz" wrap="square" lIns="36820" tIns="36820" rIns="36820" bIns="36820" numCol="1" spcCol="38100" rtlCol="0" anchor="ctr" anchorCtr="0">
            <a:noAutofit/>
          </a:bodyPr>
          <a:lstStyle>
            <a:lvl1pPr defTabSz="825500">
              <a:defRPr sz="1800" b="0" spc="18">
                <a:latin typeface="Chronicle Display Black"/>
                <a:ea typeface="Chronicle Display Black"/>
                <a:cs typeface="Chronicle Display Black"/>
                <a:sym typeface="Chronicle Display Black"/>
              </a:defRPr>
            </a:lvl1pPr>
          </a:lstStyle>
          <a:p>
            <a:r>
              <a:rPr lang="en-GB" sz="900" spc="0">
                <a:solidFill>
                  <a:schemeClr val="tx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Tester(s)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332AFB28-567F-0018-70FF-85E4DC0D04BE}"/>
              </a:ext>
            </a:extLst>
          </p:cNvPr>
          <p:cNvSpPr txBox="1">
            <a:spLocks/>
          </p:cNvSpPr>
          <p:nvPr/>
        </p:nvSpPr>
        <p:spPr>
          <a:xfrm>
            <a:off x="501650" y="170822"/>
            <a:ext cx="11188700" cy="26386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  <a:defRPr sz="1000" b="1" kern="1200" cap="all" spc="300" baseline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1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1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1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1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ysClr val="window" lastClr="FFFFFF">
                    <a:lumMod val="65000"/>
                  </a:sysClr>
                </a:solidFill>
              </a:rPr>
              <a:t>OUR approach</a:t>
            </a:r>
          </a:p>
        </p:txBody>
      </p:sp>
    </p:spTree>
    <p:extLst>
      <p:ext uri="{BB962C8B-B14F-4D97-AF65-F5344CB8AC3E}">
        <p14:creationId xmlns:p14="http://schemas.microsoft.com/office/powerpoint/2010/main" val="1338500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7E552F-1814-A72F-166A-722371DB2BB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64C797-FFA9-FC27-11E5-7EF8A943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87A030-036B-8915-7E12-2C0BA5E50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878012"/>
            <a:ext cx="5943600" cy="310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5979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37ED94-42A9-1BC1-9BD2-CB33D2D12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FDCB7E-9692-B0B5-654E-8BA3DB49A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4467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645</Words>
  <Application>Microsoft Macintosh PowerPoint</Application>
  <PresentationFormat>Widescreen</PresentationFormat>
  <Paragraphs>94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think-cell Slide</vt:lpstr>
      <vt:lpstr>2. Migration – Agile Pod-Based Delivery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Pawar, AMIT</dc:creator>
  <cp:lastModifiedBy>Pawar, AMIT</cp:lastModifiedBy>
  <cp:revision>5</cp:revision>
  <dcterms:created xsi:type="dcterms:W3CDTF">2026-08-02T14:41:13Z</dcterms:created>
  <dcterms:modified xsi:type="dcterms:W3CDTF">2026-08-02T19:57:26Z</dcterms:modified>
</cp:coreProperties>
</file>