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147483356" r:id="rId4"/>
    <p:sldId id="214748353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56FD-2D21-1643-9643-0F2FE4569B4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FEE6-F60B-9642-9D02-935F2D13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2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31F2-C9B4-08D2-0413-DF913299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24631-378A-1937-4907-F7B2035BD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69F88-A443-57BB-2933-76EDD5312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 share with business users to set engagement expectations.</a:t>
            </a:r>
            <a:endParaRPr lang="en-US" sz="10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B09B-CD1A-8DF7-64DD-88FD0B45A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2422BB-7879-42DB-B63A-D859F0EF42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87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CB4A-F3B4-9FC2-250E-81177FE56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6F386-D39F-FE1E-D287-517C7F0A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474-23B1-16D3-91F8-54C8A5B0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A3D2-689D-4FA5-7A05-A1565C3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7133-1FC0-1D4D-37D3-351C5BB1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80E7-FC37-323F-F0E8-352BB0CC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BAE8-6B13-C941-0954-11C445A7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2F40-E4F3-7E3B-2F3A-2DA5C25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CCC-404E-5032-486F-683E1860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F549-5B00-2D70-7575-BBF26E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C11-C234-A4AF-47C6-621280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335C-35FD-738E-7374-C38D1C26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C08-CC12-333A-112C-7C83067F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FEA4-8487-3B1B-8CF4-E5032BE9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CB2E-AAD1-6BC3-F132-D93EC013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5CC0-4DAE-01E8-479D-6120FF9C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6A37-C2A6-109E-9115-E312C13F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5660-2430-0744-C4FF-DD85C96C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E4A67-3118-DE6B-9D4F-5098065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59D74-306C-824A-5B1E-B26D6C09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D74B-A7BE-592C-E3E6-92A0C10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B31-473B-8178-49A0-9A492A5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B877-5595-A731-341E-82F8907A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312E-A817-9CCD-ADF2-813E5099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C0AB-DEB5-43FA-1198-1B79FD57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0DA-4194-4702-3195-D1156B48D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4DD94-B98C-C50F-5893-CEED927C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B1FB-F76E-F7ED-A7FC-B6E66194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3EC03-9694-6825-E1AF-3C3756EE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E4D-578F-DDFE-7DFC-90E692FF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47B20-66A9-28CD-C4D7-B99F3B37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93455-CFAA-4235-34E6-B965CB87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BE974-FD90-7505-FE96-927D23EA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793D-1D49-AA8A-BCE7-8FEBE0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022A8-1605-D56A-2549-BB2FC49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5488-00F4-8EC1-6CDB-8875D7F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AB7-BE99-C670-DD1D-143D559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2B8A-2D16-1E4C-D61D-BA866574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0938-AF01-B9EB-563E-A6372BE0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0DB0-6AD6-924A-432B-D6E758CC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A123A-98D7-6036-3C56-A2AB8C2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4FB5-E9DB-E2D8-5FDC-AEE504F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75A0-EA25-5329-B3E6-E5F8AE5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3C446-8555-795A-E658-0D0B438EA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28418-9CD9-EEB8-34CD-24F44ADA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0535-EAA3-2991-CCE1-9823CE93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8F88-B9BE-CE60-1D11-F79A58C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C5B46-04BD-634C-3D49-7F0A253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7FB7-593D-3839-2569-6D7EAA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9894-309C-1C9E-10AD-8E6A5C58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B08A-906E-920E-FE98-06CA380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3BF-2811-977B-F122-9B6BC9E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D908-D6A8-0FBF-3894-4CF9A14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AF5A1-14AF-6A25-2D5E-B00755E3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DE01-D41F-E373-D4DB-DC1FA8739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524C-C1F9-8099-0AC5-93E9E1E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D2E0-2C01-9DD8-C343-44D74DF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DFE-BE63-71EB-F4CD-D980D89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29362342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330746-A705-4B48-BFF1-928B3DA93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24" y="2080758"/>
            <a:ext cx="11747951" cy="45549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4DEECD-CE69-1049-8BD5-4D132F5BD9E0}"/>
              </a:ext>
            </a:extLst>
          </p:cNvPr>
          <p:cNvSpPr/>
          <p:nvPr/>
        </p:nvSpPr>
        <p:spPr>
          <a:xfrm>
            <a:off x="222025" y="222286"/>
            <a:ext cx="11747950" cy="1657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>
              <a:solidFill>
                <a:srgbClr val="1A1448"/>
              </a:solidFill>
            </a:endParaRPr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E80C29B3-534B-C14B-8683-7ABA1EE32538}"/>
              </a:ext>
            </a:extLst>
          </p:cNvPr>
          <p:cNvGrpSpPr/>
          <p:nvPr/>
        </p:nvGrpSpPr>
        <p:grpSpPr bwMode="gray">
          <a:xfrm>
            <a:off x="8401603" y="504376"/>
            <a:ext cx="3287799" cy="855272"/>
            <a:chOff x="3387726" y="2736850"/>
            <a:chExt cx="5411788" cy="1384300"/>
          </a:xfrm>
        </p:grpSpPr>
        <p:sp>
          <p:nvSpPr>
            <p:cNvPr id="248" name="Freeform 55">
              <a:extLst>
                <a:ext uri="{FF2B5EF4-FFF2-40B4-BE49-F238E27FC236}">
                  <a16:creationId xmlns:a16="http://schemas.microsoft.com/office/drawing/2014/main" id="{8EFD965A-5A5D-B34A-929D-118A9EA64F18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56">
              <a:extLst>
                <a:ext uri="{FF2B5EF4-FFF2-40B4-BE49-F238E27FC236}">
                  <a16:creationId xmlns:a16="http://schemas.microsoft.com/office/drawing/2014/main" id="{BC6C0B3B-F17F-AA49-8F3E-74B8CE3C584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57">
              <a:extLst>
                <a:ext uri="{FF2B5EF4-FFF2-40B4-BE49-F238E27FC236}">
                  <a16:creationId xmlns:a16="http://schemas.microsoft.com/office/drawing/2014/main" id="{5C8EFD35-A4BA-5F44-8D04-9225489CCB5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58">
              <a:extLst>
                <a:ext uri="{FF2B5EF4-FFF2-40B4-BE49-F238E27FC236}">
                  <a16:creationId xmlns:a16="http://schemas.microsoft.com/office/drawing/2014/main" id="{02E2FCB8-8536-6449-A4D0-7D2BFBECBFF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59">
              <a:extLst>
                <a:ext uri="{FF2B5EF4-FFF2-40B4-BE49-F238E27FC236}">
                  <a16:creationId xmlns:a16="http://schemas.microsoft.com/office/drawing/2014/main" id="{C70B10C1-A082-1748-8243-BE29F39DB380}"/>
                </a:ext>
              </a:extLst>
            </p:cNvPr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60">
              <a:extLst>
                <a:ext uri="{FF2B5EF4-FFF2-40B4-BE49-F238E27FC236}">
                  <a16:creationId xmlns:a16="http://schemas.microsoft.com/office/drawing/2014/main" id="{C3FC52C2-08E5-7F46-B57C-5B88856AACAF}"/>
                </a:ext>
              </a:extLst>
            </p:cNvPr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61">
              <a:extLst>
                <a:ext uri="{FF2B5EF4-FFF2-40B4-BE49-F238E27FC236}">
                  <a16:creationId xmlns:a16="http://schemas.microsoft.com/office/drawing/2014/main" id="{293BD66E-D129-2A4E-B493-440189CF2031}"/>
                </a:ext>
              </a:extLst>
            </p:cNvPr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62">
              <a:extLst>
                <a:ext uri="{FF2B5EF4-FFF2-40B4-BE49-F238E27FC236}">
                  <a16:creationId xmlns:a16="http://schemas.microsoft.com/office/drawing/2014/main" id="{95996993-E3DD-574C-AC53-41B28F458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63">
              <a:extLst>
                <a:ext uri="{FF2B5EF4-FFF2-40B4-BE49-F238E27FC236}">
                  <a16:creationId xmlns:a16="http://schemas.microsoft.com/office/drawing/2014/main" id="{DF266275-D95A-2D44-A5FC-189164C5869B}"/>
                </a:ext>
              </a:extLst>
            </p:cNvPr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64">
              <a:extLst>
                <a:ext uri="{FF2B5EF4-FFF2-40B4-BE49-F238E27FC236}">
                  <a16:creationId xmlns:a16="http://schemas.microsoft.com/office/drawing/2014/main" id="{5C0BA037-2B16-444B-AE2F-260E175BCE2B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65">
              <a:extLst>
                <a:ext uri="{FF2B5EF4-FFF2-40B4-BE49-F238E27FC236}">
                  <a16:creationId xmlns:a16="http://schemas.microsoft.com/office/drawing/2014/main" id="{AF133747-0B75-9842-82C2-89F76B5C06F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66">
              <a:extLst>
                <a:ext uri="{FF2B5EF4-FFF2-40B4-BE49-F238E27FC236}">
                  <a16:creationId xmlns:a16="http://schemas.microsoft.com/office/drawing/2014/main" id="{35CD8CE3-4C2D-F042-A6E2-D9BAE638C099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67">
              <a:extLst>
                <a:ext uri="{FF2B5EF4-FFF2-40B4-BE49-F238E27FC236}">
                  <a16:creationId xmlns:a16="http://schemas.microsoft.com/office/drawing/2014/main" id="{B1C53B7E-8F08-744E-9469-ABE3B393809C}"/>
                </a:ext>
              </a:extLst>
            </p:cNvPr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68">
              <a:extLst>
                <a:ext uri="{FF2B5EF4-FFF2-40B4-BE49-F238E27FC236}">
                  <a16:creationId xmlns:a16="http://schemas.microsoft.com/office/drawing/2014/main" id="{2B69127C-AEEB-B048-899D-C0305085EFF1}"/>
                </a:ext>
              </a:extLst>
            </p:cNvPr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69">
              <a:extLst>
                <a:ext uri="{FF2B5EF4-FFF2-40B4-BE49-F238E27FC236}">
                  <a16:creationId xmlns:a16="http://schemas.microsoft.com/office/drawing/2014/main" id="{BF46ED60-9F9E-EB4B-9059-1B4E75AD823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70">
              <a:extLst>
                <a:ext uri="{FF2B5EF4-FFF2-40B4-BE49-F238E27FC236}">
                  <a16:creationId xmlns:a16="http://schemas.microsoft.com/office/drawing/2014/main" id="{CB1A4F84-53A6-EF42-AA7A-3D16B7FE904C}"/>
                </a:ext>
              </a:extLst>
            </p:cNvPr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71">
              <a:extLst>
                <a:ext uri="{FF2B5EF4-FFF2-40B4-BE49-F238E27FC236}">
                  <a16:creationId xmlns:a16="http://schemas.microsoft.com/office/drawing/2014/main" id="{02B732E8-3752-8B49-A684-89F198E02D4C}"/>
                </a:ext>
              </a:extLst>
            </p:cNvPr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72">
              <a:extLst>
                <a:ext uri="{FF2B5EF4-FFF2-40B4-BE49-F238E27FC236}">
                  <a16:creationId xmlns:a16="http://schemas.microsoft.com/office/drawing/2014/main" id="{16849665-9D05-854F-8F41-34BFA30DA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73">
              <a:extLst>
                <a:ext uri="{FF2B5EF4-FFF2-40B4-BE49-F238E27FC236}">
                  <a16:creationId xmlns:a16="http://schemas.microsoft.com/office/drawing/2014/main" id="{A7E97FEA-70CA-424A-881E-130F40946FB8}"/>
                </a:ext>
              </a:extLst>
            </p:cNvPr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74">
              <a:extLst>
                <a:ext uri="{FF2B5EF4-FFF2-40B4-BE49-F238E27FC236}">
                  <a16:creationId xmlns:a16="http://schemas.microsoft.com/office/drawing/2014/main" id="{7DDCBFD7-D3D7-8F48-A762-1B1BCA760D38}"/>
                </a:ext>
              </a:extLst>
            </p:cNvPr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75">
              <a:extLst>
                <a:ext uri="{FF2B5EF4-FFF2-40B4-BE49-F238E27FC236}">
                  <a16:creationId xmlns:a16="http://schemas.microsoft.com/office/drawing/2014/main" id="{9A2D7E05-82A0-0842-85E3-E877A2F361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76">
              <a:extLst>
                <a:ext uri="{FF2B5EF4-FFF2-40B4-BE49-F238E27FC236}">
                  <a16:creationId xmlns:a16="http://schemas.microsoft.com/office/drawing/2014/main" id="{CA47EA89-319A-0F49-AB89-E400BCFCC93F}"/>
                </a:ext>
              </a:extLst>
            </p:cNvPr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77">
              <a:extLst>
                <a:ext uri="{FF2B5EF4-FFF2-40B4-BE49-F238E27FC236}">
                  <a16:creationId xmlns:a16="http://schemas.microsoft.com/office/drawing/2014/main" id="{B47594F2-1279-4949-ABFD-663C70ACD8FB}"/>
                </a:ext>
              </a:extLst>
            </p:cNvPr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78">
              <a:extLst>
                <a:ext uri="{FF2B5EF4-FFF2-40B4-BE49-F238E27FC236}">
                  <a16:creationId xmlns:a16="http://schemas.microsoft.com/office/drawing/2014/main" id="{234F7FF3-D497-0A47-97C2-C5CF5E31390D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79">
              <a:extLst>
                <a:ext uri="{FF2B5EF4-FFF2-40B4-BE49-F238E27FC236}">
                  <a16:creationId xmlns:a16="http://schemas.microsoft.com/office/drawing/2014/main" id="{E45DFA89-2E13-6847-8ED1-3D043C784802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80">
              <a:extLst>
                <a:ext uri="{FF2B5EF4-FFF2-40B4-BE49-F238E27FC236}">
                  <a16:creationId xmlns:a16="http://schemas.microsoft.com/office/drawing/2014/main" id="{68DB269A-457A-2140-A00F-202DD57878E0}"/>
                </a:ext>
              </a:extLst>
            </p:cNvPr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81">
              <a:extLst>
                <a:ext uri="{FF2B5EF4-FFF2-40B4-BE49-F238E27FC236}">
                  <a16:creationId xmlns:a16="http://schemas.microsoft.com/office/drawing/2014/main" id="{FBCA4B20-9088-E045-AD8F-D7122579F535}"/>
                </a:ext>
              </a:extLst>
            </p:cNvPr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82">
              <a:extLst>
                <a:ext uri="{FF2B5EF4-FFF2-40B4-BE49-F238E27FC236}">
                  <a16:creationId xmlns:a16="http://schemas.microsoft.com/office/drawing/2014/main" id="{6443656E-1C83-EB4F-A313-8EBE67908B6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83">
              <a:extLst>
                <a:ext uri="{FF2B5EF4-FFF2-40B4-BE49-F238E27FC236}">
                  <a16:creationId xmlns:a16="http://schemas.microsoft.com/office/drawing/2014/main" id="{50C99B15-8689-084D-9DA2-5C37245B7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84">
              <a:extLst>
                <a:ext uri="{FF2B5EF4-FFF2-40B4-BE49-F238E27FC236}">
                  <a16:creationId xmlns:a16="http://schemas.microsoft.com/office/drawing/2014/main" id="{D525A4DB-4DD4-0247-9D56-754EA563147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Rectangle 85">
              <a:extLst>
                <a:ext uri="{FF2B5EF4-FFF2-40B4-BE49-F238E27FC236}">
                  <a16:creationId xmlns:a16="http://schemas.microsoft.com/office/drawing/2014/main" id="{25914BBA-072E-2E45-B822-BAB4C8C0C9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Rectangle 86">
              <a:extLst>
                <a:ext uri="{FF2B5EF4-FFF2-40B4-BE49-F238E27FC236}">
                  <a16:creationId xmlns:a16="http://schemas.microsoft.com/office/drawing/2014/main" id="{3DFC358F-7F33-BB4B-A12E-52FA8B9903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Rectangle 87">
              <a:extLst>
                <a:ext uri="{FF2B5EF4-FFF2-40B4-BE49-F238E27FC236}">
                  <a16:creationId xmlns:a16="http://schemas.microsoft.com/office/drawing/2014/main" id="{B2631BA0-1F32-574F-93A3-A1A23DE970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88">
              <a:extLst>
                <a:ext uri="{FF2B5EF4-FFF2-40B4-BE49-F238E27FC236}">
                  <a16:creationId xmlns:a16="http://schemas.microsoft.com/office/drawing/2014/main" id="{1451C5A3-EE83-6943-97E5-5B400B54961A}"/>
                </a:ext>
              </a:extLst>
            </p:cNvPr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Freeform 89">
              <a:extLst>
                <a:ext uri="{FF2B5EF4-FFF2-40B4-BE49-F238E27FC236}">
                  <a16:creationId xmlns:a16="http://schemas.microsoft.com/office/drawing/2014/main" id="{E744295C-1D5D-8D41-9DF6-74C56415E59E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90">
              <a:extLst>
                <a:ext uri="{FF2B5EF4-FFF2-40B4-BE49-F238E27FC236}">
                  <a16:creationId xmlns:a16="http://schemas.microsoft.com/office/drawing/2014/main" id="{DC6FDDF1-34FE-0940-A76C-8F3C43239461}"/>
                </a:ext>
              </a:extLst>
            </p:cNvPr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91">
              <a:extLst>
                <a:ext uri="{FF2B5EF4-FFF2-40B4-BE49-F238E27FC236}">
                  <a16:creationId xmlns:a16="http://schemas.microsoft.com/office/drawing/2014/main" id="{A9CCEB23-2E74-4646-8168-7A36D387F3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Freeform 92">
              <a:extLst>
                <a:ext uri="{FF2B5EF4-FFF2-40B4-BE49-F238E27FC236}">
                  <a16:creationId xmlns:a16="http://schemas.microsoft.com/office/drawing/2014/main" id="{61921E90-DC7F-494C-8303-2928EB863F7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Freeform 93">
              <a:extLst>
                <a:ext uri="{FF2B5EF4-FFF2-40B4-BE49-F238E27FC236}">
                  <a16:creationId xmlns:a16="http://schemas.microsoft.com/office/drawing/2014/main" id="{8E45D8C6-1442-EA49-BB8A-9DA07FB1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Freeform 94">
              <a:extLst>
                <a:ext uri="{FF2B5EF4-FFF2-40B4-BE49-F238E27FC236}">
                  <a16:creationId xmlns:a16="http://schemas.microsoft.com/office/drawing/2014/main" id="{5505C1B4-718A-2641-990D-6A231F4F9814}"/>
                </a:ext>
              </a:extLst>
            </p:cNvPr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Freeform 95">
              <a:extLst>
                <a:ext uri="{FF2B5EF4-FFF2-40B4-BE49-F238E27FC236}">
                  <a16:creationId xmlns:a16="http://schemas.microsoft.com/office/drawing/2014/main" id="{7C0299B0-68CF-684C-86FF-140EEDA95B8D}"/>
                </a:ext>
              </a:extLst>
            </p:cNvPr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E365AB72-24AA-5247-A027-7D755379D8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3672" y="2683780"/>
            <a:ext cx="7786303" cy="1750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0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3F5533B-F6F4-1E4B-ABE7-E543280908D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183672" y="4536426"/>
            <a:ext cx="7786303" cy="65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370378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2">
          <p15:clr>
            <a:srgbClr val="FBAE40"/>
          </p15:clr>
        </p15:guide>
        <p15:guide id="2" pos="1536">
          <p15:clr>
            <a:srgbClr val="FBAE40"/>
          </p15:clr>
        </p15:guide>
        <p15:guide id="3" orient="horz" pos="3072">
          <p15:clr>
            <a:srgbClr val="FBAE40"/>
          </p15:clr>
        </p15:guide>
        <p15:guide id="4" pos="2688">
          <p15:clr>
            <a:srgbClr val="FBAE40"/>
          </p15:clr>
        </p15:guide>
        <p15:guide id="5" orient="horz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raft Stamp">
            <a:extLst>
              <a:ext uri="{FF2B5EF4-FFF2-40B4-BE49-F238E27FC236}">
                <a16:creationId xmlns:a16="http://schemas.microsoft.com/office/drawing/2014/main" id="{31C204F0-A218-40DB-2C0D-75E68E5B165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55418760"/>
              </p:ext>
            </p:extLst>
          </p:nvPr>
        </p:nvGraphicFramePr>
        <p:xfrm>
          <a:off x="10922000" y="10364"/>
          <a:ext cx="1270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82344436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CC3300"/>
                          </a:solidFill>
                          <a:latin typeface="Calibri" panose="020F0502020204030204" pitchFamily="34" charset="0"/>
                        </a:rPr>
                        <a:t>DRAFT</a:t>
                      </a:r>
                    </a:p>
                  </a:txBody>
                  <a:tcPr marT="0" marB="0" anchorCtr="1">
                    <a:lnT w="12700" cmpd="sng">
                      <a:solidFill>
                        <a:srgbClr val="CC3300"/>
                      </a:solidFill>
                    </a:lnT>
                    <a:lnB w="38100" cmpd="sng">
                      <a:solidFill>
                        <a:srgbClr val="CC33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81996"/>
                  </a:ext>
                </a:extLst>
              </a:tr>
            </a:tbl>
          </a:graphicData>
        </a:graphic>
      </p:graphicFrame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514350" indent="-514350">
              <a:buClr>
                <a:schemeClr val="bg1">
                  <a:lumMod val="10000"/>
                </a:schemeClr>
              </a:buClr>
              <a:buFont typeface="+mj-lt"/>
              <a:buAutoNum type="arabicParenR"/>
              <a:defRPr sz="1200">
                <a:solidFill>
                  <a:schemeClr val="bg1">
                    <a:lumMod val="10000"/>
                  </a:schemeClr>
                </a:solidFill>
              </a:defRPr>
            </a:lvl1pPr>
            <a:lvl2pPr marL="723900" indent="-457200">
              <a:buClr>
                <a:schemeClr val="bg1">
                  <a:lumMod val="10000"/>
                </a:schemeClr>
              </a:buClr>
              <a:buFont typeface="+mj-lt"/>
              <a:buAutoNum type="arabicParenR"/>
              <a:defRPr sz="1200">
                <a:solidFill>
                  <a:schemeClr val="bg1">
                    <a:lumMod val="10000"/>
                  </a:schemeClr>
                </a:solidFill>
              </a:defRPr>
            </a:lvl2pPr>
            <a:lvl3pPr>
              <a:defRPr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0B0B0"/>
              </a:buClr>
              <a:buSzTx/>
              <a:buFont typeface="Wingdings 2" panose="05020102010507070707" pitchFamily="18" charset="2"/>
              <a:buChar char="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Click to edit Master text styles</a:t>
            </a:r>
          </a:p>
          <a:p>
            <a:pPr marL="266700" marR="0" lvl="1" indent="-2667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0B0B0"/>
              </a:buClr>
              <a:buSzTx/>
              <a:buFont typeface="Wingdings 2" panose="05020102010507070707" pitchFamily="18" charset="2"/>
              <a:buChar char="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to add subtitle</a:t>
            </a:r>
            <a:endParaRPr lang="en-GB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02920" y="315122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F8D1E6-182F-E7C6-30BE-98DCE34527E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4898E91-5E6C-B9FF-7897-8DEE52D275D7}"/>
              </a:ext>
            </a:extLst>
          </p:cNvPr>
          <p:cNvSpPr txBox="1">
            <a:spLocks/>
          </p:cNvSpPr>
          <p:nvPr userDrawn="1"/>
        </p:nvSpPr>
        <p:spPr>
          <a:xfrm>
            <a:off x="10858501" y="64849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8C7C74-4731-4319-8F3B-1BBB12C4DB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B0B0B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B0B0B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20807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raft Stamp">
            <a:extLst>
              <a:ext uri="{FF2B5EF4-FFF2-40B4-BE49-F238E27FC236}">
                <a16:creationId xmlns:a16="http://schemas.microsoft.com/office/drawing/2014/main" id="{EF24CEB8-E325-AAF7-7114-85BBEC810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5297676"/>
              </p:ext>
            </p:extLst>
          </p:nvPr>
        </p:nvGraphicFramePr>
        <p:xfrm>
          <a:off x="10922000" y="10364"/>
          <a:ext cx="1270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82344436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CC3300"/>
                          </a:solidFill>
                          <a:latin typeface="Calibri" panose="020F0502020204030204" pitchFamily="34" charset="0"/>
                        </a:rPr>
                        <a:t>DRAFT</a:t>
                      </a:r>
                    </a:p>
                  </a:txBody>
                  <a:tcPr marT="0" marB="0" anchorCtr="1">
                    <a:lnT w="12700" cmpd="sng">
                      <a:solidFill>
                        <a:srgbClr val="CC3300"/>
                      </a:solidFill>
                    </a:lnT>
                    <a:lnB w="38100" cmpd="sng">
                      <a:solidFill>
                        <a:srgbClr val="CC33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81996"/>
                  </a:ext>
                </a:extLst>
              </a:tr>
            </a:tbl>
          </a:graphicData>
        </a:graphic>
      </p:graphicFrame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to add subtitle</a:t>
            </a:r>
            <a:endParaRPr lang="en-GB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02920" y="315122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380610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raft Stamp">
            <a:extLst>
              <a:ext uri="{FF2B5EF4-FFF2-40B4-BE49-F238E27FC236}">
                <a16:creationId xmlns:a16="http://schemas.microsoft.com/office/drawing/2014/main" id="{EF24CEB8-E325-AAF7-7114-85BBEC8107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5297676"/>
              </p:ext>
            </p:extLst>
          </p:nvPr>
        </p:nvGraphicFramePr>
        <p:xfrm>
          <a:off x="10922000" y="10364"/>
          <a:ext cx="1270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82344436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CC3300"/>
                          </a:solidFill>
                          <a:latin typeface="Calibri" panose="020F0502020204030204" pitchFamily="34" charset="0"/>
                        </a:rPr>
                        <a:t>DRAFT</a:t>
                      </a:r>
                    </a:p>
                  </a:txBody>
                  <a:tcPr marT="0" marB="0" anchorCtr="1">
                    <a:lnT w="12700" cmpd="sng">
                      <a:solidFill>
                        <a:srgbClr val="CC3300"/>
                      </a:solidFill>
                    </a:lnT>
                    <a:lnB w="38100" cmpd="sng">
                      <a:solidFill>
                        <a:srgbClr val="CC33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8199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0A4A4-157E-8113-609E-35EDB89C8A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22F7F7-928F-45A2-B5CD-889D6F08C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2314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C5F0F-C3E8-8655-894C-825C6A3155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58501" y="6370639"/>
            <a:ext cx="628656" cy="2769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7852161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E8B8B9-5014-4945-A83B-72F6A0359603}"/>
              </a:ext>
            </a:extLst>
          </p:cNvPr>
          <p:cNvSpPr/>
          <p:nvPr/>
        </p:nvSpPr>
        <p:spPr>
          <a:xfrm>
            <a:off x="222025" y="222286"/>
            <a:ext cx="11747950" cy="6413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>
              <a:solidFill>
                <a:srgbClr val="1A144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75653E-2723-4FA3-99EC-36181208674F}"/>
              </a:ext>
            </a:extLst>
          </p:cNvPr>
          <p:cNvCxnSpPr>
            <a:cxnSpLocks/>
          </p:cNvCxnSpPr>
          <p:nvPr userDrawn="1"/>
        </p:nvCxnSpPr>
        <p:spPr>
          <a:xfrm>
            <a:off x="222024" y="2568539"/>
            <a:ext cx="3017520" cy="0"/>
          </a:xfrm>
          <a:prstGeom prst="line">
            <a:avLst/>
          </a:prstGeom>
          <a:ln w="762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42C3EA-82B3-47C8-89AB-FAC7A3528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2024" y="2683781"/>
            <a:ext cx="11747951" cy="942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 spc="3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114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E8B8B9-5014-4945-A83B-72F6A0359603}"/>
              </a:ext>
            </a:extLst>
          </p:cNvPr>
          <p:cNvSpPr/>
          <p:nvPr/>
        </p:nvSpPr>
        <p:spPr>
          <a:xfrm>
            <a:off x="222025" y="222286"/>
            <a:ext cx="11747950" cy="64134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>
              <a:solidFill>
                <a:srgbClr val="1A144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75653E-2723-4FA3-99EC-36181208674F}"/>
              </a:ext>
            </a:extLst>
          </p:cNvPr>
          <p:cNvCxnSpPr>
            <a:cxnSpLocks/>
          </p:cNvCxnSpPr>
          <p:nvPr userDrawn="1"/>
        </p:nvCxnSpPr>
        <p:spPr>
          <a:xfrm>
            <a:off x="222024" y="2568539"/>
            <a:ext cx="3017520" cy="0"/>
          </a:xfrm>
          <a:prstGeom prst="line">
            <a:avLst/>
          </a:prstGeom>
          <a:ln w="762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42C3EA-82B3-47C8-89AB-FAC7A3528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2024" y="2683781"/>
            <a:ext cx="11747951" cy="942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 spc="3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4844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raft Stamp">
            <a:extLst>
              <a:ext uri="{FF2B5EF4-FFF2-40B4-BE49-F238E27FC236}">
                <a16:creationId xmlns:a16="http://schemas.microsoft.com/office/drawing/2014/main" id="{B9609233-84F4-6B58-612B-0C0AF9A205C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1589956"/>
              </p:ext>
            </p:extLst>
          </p:nvPr>
        </p:nvGraphicFramePr>
        <p:xfrm>
          <a:off x="10922000" y="10364"/>
          <a:ext cx="12700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82344436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CC3300"/>
                          </a:solidFill>
                          <a:latin typeface="Calibri" panose="020F0502020204030204" pitchFamily="34" charset="0"/>
                        </a:rPr>
                        <a:t>DRAFT</a:t>
                      </a:r>
                    </a:p>
                  </a:txBody>
                  <a:tcPr marT="0" marB="0" anchorCtr="1">
                    <a:lnT w="12700" cmpd="sng">
                      <a:solidFill>
                        <a:srgbClr val="CC3300"/>
                      </a:solidFill>
                    </a:lnT>
                    <a:lnB w="38100" cmpd="sng">
                      <a:solidFill>
                        <a:srgbClr val="CC33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81996"/>
                  </a:ext>
                </a:extLst>
              </a:tr>
            </a:tbl>
          </a:graphicData>
        </a:graphic>
      </p:graphicFrame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3736" indent="-173736">
              <a:buClrTx/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>
                    <a:lumMod val="10000"/>
                  </a:schemeClr>
                </a:solidFill>
              </a:defRPr>
            </a:lvl1pPr>
            <a:lvl2pPr marL="533400" indent="-173736">
              <a:buClrTx/>
              <a:buSzPct val="100000"/>
              <a:buFont typeface="Arial" panose="020B0604020202020204" pitchFamily="34" charset="0"/>
              <a:buChar char="–"/>
              <a:defRPr sz="1400">
                <a:solidFill>
                  <a:schemeClr val="bg1">
                    <a:lumMod val="10000"/>
                  </a:schemeClr>
                </a:solidFill>
              </a:defRPr>
            </a:lvl2pPr>
            <a:lvl3pPr marL="647700" indent="-152400">
              <a:buClrTx/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>
                    <a:lumMod val="10000"/>
                  </a:schemeClr>
                </a:solidFill>
              </a:defRPr>
            </a:lvl3pPr>
            <a:lvl4pPr marL="819150" indent="-230188">
              <a:buClrTx/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>
                    <a:lumMod val="10000"/>
                  </a:schemeClr>
                </a:solidFill>
              </a:defRPr>
            </a:lvl4pPr>
            <a:lvl5pPr marL="950913" indent="-157163">
              <a:buClrTx/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  <a:endParaRPr lang="en-GB"/>
          </a:p>
          <a:p>
            <a:pPr lvl="1"/>
            <a:r>
              <a:rPr lang="en-GB" noProof="0"/>
              <a:t>Second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to add subtitle</a:t>
            </a:r>
            <a:endParaRPr lang="en-GB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02920" y="315122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51833-788A-482B-B620-EFF48BAE2B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6486525"/>
            <a:ext cx="10169525" cy="276225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266700" indent="0">
              <a:buNone/>
              <a:defRPr sz="800"/>
            </a:lvl2pPr>
            <a:lvl3pPr marL="495300" indent="0">
              <a:buNone/>
              <a:defRPr sz="800"/>
            </a:lvl3pPr>
            <a:lvl4pPr marL="588962" indent="0">
              <a:buNone/>
              <a:defRPr sz="800"/>
            </a:lvl4pPr>
            <a:lvl5pPr marL="793750" indent="0">
              <a:buNone/>
              <a:defRPr sz="800"/>
            </a:lvl5pPr>
          </a:lstStyle>
          <a:p>
            <a:pPr lvl="0"/>
            <a:r>
              <a:rPr lang="en-US"/>
              <a:t>[placeholder for footer / footnote]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37A0FC6-CD63-B533-183F-93D8EAB63C59}"/>
              </a:ext>
            </a:extLst>
          </p:cNvPr>
          <p:cNvSpPr txBox="1">
            <a:spLocks/>
          </p:cNvSpPr>
          <p:nvPr userDrawn="1"/>
        </p:nvSpPr>
        <p:spPr>
          <a:xfrm>
            <a:off x="10858501" y="64849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8C7C74-4731-4319-8F3B-1BBB12C4DB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B0B0B0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B0B0B0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95586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667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6F980-44D2-D9E9-4758-88789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B68E-E18E-B807-1296-83F2FBB9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8C81-68DB-6FDD-B8F0-90A33336B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3A25-9078-CD5A-5A9A-E87D3FF3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6686-C24F-375E-CEF4-6057F93EC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D88C03E-4AC0-4EE4-B759-89C55C725973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349096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95" imgH="396" progId="TCLayout.ActiveDocument.1">
                  <p:embed/>
                </p:oleObj>
              </mc:Choice>
              <mc:Fallback>
                <p:oleObj name="think-cell Slide" r:id="rId13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D88C03E-4AC0-4EE4-B759-89C55C725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758CF56-30EA-4402-B31A-F47096ABEC7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4000" b="0" i="0" baseline="0">
              <a:solidFill>
                <a:srgbClr val="1A1448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DB5BD-5652-4CE6-AF15-1F1D286F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8682" y="6325035"/>
            <a:ext cx="5934636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en-US" sz="1400" dirty="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37E5C-E878-46AB-9E8B-4290B755A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8501" y="63706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1200" smtClean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AC22F7F7-928F-45A2-B5CD-889D6F08CAC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973" y="168443"/>
            <a:ext cx="11579334" cy="120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973" y="1446122"/>
            <a:ext cx="11579334" cy="4723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16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cxnSp>
        <p:nvCxnSpPr>
          <p:cNvPr id="18" name="Straight Connector 17"/>
          <p:cNvCxnSpPr/>
          <p:nvPr/>
        </p:nvCxnSpPr>
        <p:spPr>
          <a:xfrm>
            <a:off x="132969" y="6223139"/>
            <a:ext cx="1192606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46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>
              <a:lumMod val="10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Font typeface="Wingdings 2" panose="05020102010507070707" pitchFamily="18" charset="2"/>
        <a:buChar char=""/>
        <a:tabLst/>
        <a:defRPr sz="28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1pPr>
      <a:lvl2pPr marL="5334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4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2pPr>
      <a:lvl3pPr marL="647700" indent="-1524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22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3pPr>
      <a:lvl4pPr marL="819150" indent="-230188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0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4pPr>
      <a:lvl5pPr marL="950913" indent="-157163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8.jpeg"/><Relationship Id="rId5" Type="http://schemas.openxmlformats.org/officeDocument/2006/relationships/image" Target="../media/image13.svg"/><Relationship Id="rId10" Type="http://schemas.openxmlformats.org/officeDocument/2006/relationships/image" Target="../media/image17.png"/><Relationship Id="rId4" Type="http://schemas.openxmlformats.org/officeDocument/2006/relationships/image" Target="../media/image12.sv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8161-649D-DFDA-EA21-E73695F30F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A59B4-4480-13BC-4D88-2F2135CCFA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3D49C-3C0D-C61D-D3A7-F203CBA4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B1C6462F-5CA3-B5FE-084D-12FE9867FCE1}"/>
              </a:ext>
            </a:extLst>
          </p:cNvPr>
          <p:cNvSpPr/>
          <p:nvPr/>
        </p:nvSpPr>
        <p:spPr>
          <a:xfrm>
            <a:off x="410843" y="1168106"/>
            <a:ext cx="2503064" cy="5446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1B1931-17BF-DD37-D78D-3A19B8922C82}"/>
              </a:ext>
            </a:extLst>
          </p:cNvPr>
          <p:cNvCxnSpPr>
            <a:cxnSpLocks/>
          </p:cNvCxnSpPr>
          <p:nvPr/>
        </p:nvCxnSpPr>
        <p:spPr>
          <a:xfrm>
            <a:off x="794545" y="3707762"/>
            <a:ext cx="2080846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urved Connector 39">
            <a:extLst>
              <a:ext uri="{FF2B5EF4-FFF2-40B4-BE49-F238E27FC236}">
                <a16:creationId xmlns:a16="http://schemas.microsoft.com/office/drawing/2014/main" id="{FEA862B4-52A3-65D7-0956-445766624EC9}"/>
              </a:ext>
            </a:extLst>
          </p:cNvPr>
          <p:cNvCxnSpPr>
            <a:cxnSpLocks/>
            <a:endCxn id="261" idx="2"/>
          </p:cNvCxnSpPr>
          <p:nvPr/>
        </p:nvCxnSpPr>
        <p:spPr>
          <a:xfrm flipV="1">
            <a:off x="4959533" y="3690232"/>
            <a:ext cx="2079654" cy="992932"/>
          </a:xfrm>
          <a:prstGeom prst="curvedConnector3">
            <a:avLst>
              <a:gd name="adj1" fmla="val 79866"/>
            </a:avLst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urved Connector 39">
            <a:extLst>
              <a:ext uri="{FF2B5EF4-FFF2-40B4-BE49-F238E27FC236}">
                <a16:creationId xmlns:a16="http://schemas.microsoft.com/office/drawing/2014/main" id="{A7DA066A-F16F-8144-0215-EC3CE3A60F4C}"/>
              </a:ext>
            </a:extLst>
          </p:cNvPr>
          <p:cNvCxnSpPr>
            <a:cxnSpLocks/>
          </p:cNvCxnSpPr>
          <p:nvPr/>
        </p:nvCxnSpPr>
        <p:spPr>
          <a:xfrm>
            <a:off x="4163432" y="3059773"/>
            <a:ext cx="701562" cy="637318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urved Connector 39">
            <a:extLst>
              <a:ext uri="{FF2B5EF4-FFF2-40B4-BE49-F238E27FC236}">
                <a16:creationId xmlns:a16="http://schemas.microsoft.com/office/drawing/2014/main" id="{5DA36DE8-3895-B42A-2FE4-80BC7BF89BCD}"/>
              </a:ext>
            </a:extLst>
          </p:cNvPr>
          <p:cNvCxnSpPr>
            <a:cxnSpLocks/>
          </p:cNvCxnSpPr>
          <p:nvPr/>
        </p:nvCxnSpPr>
        <p:spPr>
          <a:xfrm flipH="1">
            <a:off x="3024638" y="3061297"/>
            <a:ext cx="727437" cy="634876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F9841C49-C8A6-2DEE-DA73-D3B69B2A4961}"/>
              </a:ext>
            </a:extLst>
          </p:cNvPr>
          <p:cNvCxnSpPr>
            <a:cxnSpLocks/>
          </p:cNvCxnSpPr>
          <p:nvPr/>
        </p:nvCxnSpPr>
        <p:spPr>
          <a:xfrm flipV="1">
            <a:off x="4837938" y="3690523"/>
            <a:ext cx="7078068" cy="565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General_Fill_87">
            <a:extLst>
              <a:ext uri="{FF2B5EF4-FFF2-40B4-BE49-F238E27FC236}">
                <a16:creationId xmlns:a16="http://schemas.microsoft.com/office/drawing/2014/main" id="{A8D830E4-8CAF-DFEA-6EA5-FA1EBDE05D1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0" y="0"/>
            <a:ext cx="0" cy="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81 w 512"/>
              <a:gd name="T11" fmla="*/ 221 h 512"/>
              <a:gd name="T12" fmla="*/ 274 w 512"/>
              <a:gd name="T13" fmla="*/ 327 h 512"/>
              <a:gd name="T14" fmla="*/ 262 w 512"/>
              <a:gd name="T15" fmla="*/ 330 h 512"/>
              <a:gd name="T16" fmla="*/ 256 w 512"/>
              <a:gd name="T17" fmla="*/ 320 h 512"/>
              <a:gd name="T18" fmla="*/ 256 w 512"/>
              <a:gd name="T19" fmla="*/ 266 h 512"/>
              <a:gd name="T20" fmla="*/ 181 w 512"/>
              <a:gd name="T21" fmla="*/ 341 h 512"/>
              <a:gd name="T22" fmla="*/ 209 w 512"/>
              <a:gd name="T23" fmla="*/ 397 h 512"/>
              <a:gd name="T24" fmla="*/ 211 w 512"/>
              <a:gd name="T25" fmla="*/ 411 h 512"/>
              <a:gd name="T26" fmla="*/ 202 w 512"/>
              <a:gd name="T27" fmla="*/ 416 h 512"/>
              <a:gd name="T28" fmla="*/ 198 w 512"/>
              <a:gd name="T29" fmla="*/ 415 h 512"/>
              <a:gd name="T30" fmla="*/ 117 w 512"/>
              <a:gd name="T31" fmla="*/ 288 h 512"/>
              <a:gd name="T32" fmla="*/ 256 w 512"/>
              <a:gd name="T33" fmla="*/ 149 h 512"/>
              <a:gd name="T34" fmla="*/ 256 w 512"/>
              <a:gd name="T35" fmla="*/ 106 h 512"/>
              <a:gd name="T36" fmla="*/ 262 w 512"/>
              <a:gd name="T37" fmla="*/ 96 h 512"/>
              <a:gd name="T38" fmla="*/ 274 w 512"/>
              <a:gd name="T39" fmla="*/ 99 h 512"/>
              <a:gd name="T40" fmla="*/ 381 w 512"/>
              <a:gd name="T41" fmla="*/ 205 h 512"/>
              <a:gd name="T42" fmla="*/ 381 w 512"/>
              <a:gd name="T43" fmla="*/ 221 h 512"/>
              <a:gd name="T44" fmla="*/ 277 w 512"/>
              <a:gd name="T45" fmla="*/ 132 h 512"/>
              <a:gd name="T46" fmla="*/ 358 w 512"/>
              <a:gd name="T47" fmla="*/ 213 h 512"/>
              <a:gd name="T48" fmla="*/ 277 w 512"/>
              <a:gd name="T49" fmla="*/ 294 h 512"/>
              <a:gd name="T50" fmla="*/ 277 w 512"/>
              <a:gd name="T51" fmla="*/ 256 h 512"/>
              <a:gd name="T52" fmla="*/ 266 w 512"/>
              <a:gd name="T53" fmla="*/ 245 h 512"/>
              <a:gd name="T54" fmla="*/ 256 w 512"/>
              <a:gd name="T55" fmla="*/ 245 h 512"/>
              <a:gd name="T56" fmla="*/ 160 w 512"/>
              <a:gd name="T57" fmla="*/ 341 h 512"/>
              <a:gd name="T58" fmla="*/ 162 w 512"/>
              <a:gd name="T59" fmla="*/ 360 h 512"/>
              <a:gd name="T60" fmla="*/ 138 w 512"/>
              <a:gd name="T61" fmla="*/ 288 h 512"/>
              <a:gd name="T62" fmla="*/ 256 w 512"/>
              <a:gd name="T63" fmla="*/ 170 h 512"/>
              <a:gd name="T64" fmla="*/ 266 w 512"/>
              <a:gd name="T65" fmla="*/ 170 h 512"/>
              <a:gd name="T66" fmla="*/ 277 w 512"/>
              <a:gd name="T67" fmla="*/ 160 h 512"/>
              <a:gd name="T68" fmla="*/ 277 w 512"/>
              <a:gd name="T69" fmla="*/ 13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81" y="221"/>
                </a:moveTo>
                <a:cubicBezTo>
                  <a:pt x="274" y="327"/>
                  <a:pt x="274" y="327"/>
                  <a:pt x="274" y="327"/>
                </a:cubicBezTo>
                <a:cubicBezTo>
                  <a:pt x="271" y="330"/>
                  <a:pt x="266" y="331"/>
                  <a:pt x="262" y="330"/>
                </a:cubicBezTo>
                <a:cubicBezTo>
                  <a:pt x="258" y="328"/>
                  <a:pt x="256" y="324"/>
                  <a:pt x="256" y="320"/>
                </a:cubicBezTo>
                <a:cubicBezTo>
                  <a:pt x="256" y="266"/>
                  <a:pt x="256" y="266"/>
                  <a:pt x="256" y="266"/>
                </a:cubicBezTo>
                <a:cubicBezTo>
                  <a:pt x="204" y="266"/>
                  <a:pt x="181" y="304"/>
                  <a:pt x="181" y="341"/>
                </a:cubicBezTo>
                <a:cubicBezTo>
                  <a:pt x="181" y="362"/>
                  <a:pt x="191" y="382"/>
                  <a:pt x="209" y="397"/>
                </a:cubicBezTo>
                <a:cubicBezTo>
                  <a:pt x="213" y="400"/>
                  <a:pt x="214" y="406"/>
                  <a:pt x="211" y="411"/>
                </a:cubicBezTo>
                <a:cubicBezTo>
                  <a:pt x="209" y="414"/>
                  <a:pt x="206" y="416"/>
                  <a:pt x="202" y="416"/>
                </a:cubicBezTo>
                <a:cubicBezTo>
                  <a:pt x="201" y="416"/>
                  <a:pt x="199" y="415"/>
                  <a:pt x="198" y="415"/>
                </a:cubicBezTo>
                <a:cubicBezTo>
                  <a:pt x="149" y="393"/>
                  <a:pt x="117" y="343"/>
                  <a:pt x="117" y="288"/>
                </a:cubicBezTo>
                <a:cubicBezTo>
                  <a:pt x="117" y="211"/>
                  <a:pt x="179" y="149"/>
                  <a:pt x="256" y="149"/>
                </a:cubicBezTo>
                <a:cubicBezTo>
                  <a:pt x="256" y="106"/>
                  <a:pt x="256" y="106"/>
                  <a:pt x="256" y="106"/>
                </a:cubicBezTo>
                <a:cubicBezTo>
                  <a:pt x="256" y="102"/>
                  <a:pt x="258" y="98"/>
                  <a:pt x="262" y="96"/>
                </a:cubicBezTo>
                <a:cubicBezTo>
                  <a:pt x="266" y="95"/>
                  <a:pt x="271" y="96"/>
                  <a:pt x="274" y="99"/>
                </a:cubicBezTo>
                <a:cubicBezTo>
                  <a:pt x="381" y="205"/>
                  <a:pt x="381" y="205"/>
                  <a:pt x="381" y="205"/>
                </a:cubicBezTo>
                <a:cubicBezTo>
                  <a:pt x="385" y="210"/>
                  <a:pt x="385" y="216"/>
                  <a:pt x="381" y="221"/>
                </a:cubicBezTo>
                <a:close/>
                <a:moveTo>
                  <a:pt x="277" y="132"/>
                </a:moveTo>
                <a:cubicBezTo>
                  <a:pt x="358" y="213"/>
                  <a:pt x="358" y="213"/>
                  <a:pt x="358" y="213"/>
                </a:cubicBezTo>
                <a:cubicBezTo>
                  <a:pt x="277" y="294"/>
                  <a:pt x="277" y="294"/>
                  <a:pt x="277" y="294"/>
                </a:cubicBezTo>
                <a:cubicBezTo>
                  <a:pt x="277" y="256"/>
                  <a:pt x="277" y="256"/>
                  <a:pt x="277" y="256"/>
                </a:cubicBezTo>
                <a:cubicBezTo>
                  <a:pt x="277" y="250"/>
                  <a:pt x="272" y="245"/>
                  <a:pt x="266" y="245"/>
                </a:cubicBezTo>
                <a:cubicBezTo>
                  <a:pt x="256" y="245"/>
                  <a:pt x="256" y="245"/>
                  <a:pt x="256" y="245"/>
                </a:cubicBezTo>
                <a:cubicBezTo>
                  <a:pt x="199" y="245"/>
                  <a:pt x="160" y="284"/>
                  <a:pt x="160" y="341"/>
                </a:cubicBezTo>
                <a:cubicBezTo>
                  <a:pt x="160" y="348"/>
                  <a:pt x="161" y="354"/>
                  <a:pt x="162" y="360"/>
                </a:cubicBezTo>
                <a:cubicBezTo>
                  <a:pt x="147" y="340"/>
                  <a:pt x="138" y="315"/>
                  <a:pt x="138" y="288"/>
                </a:cubicBezTo>
                <a:cubicBezTo>
                  <a:pt x="138" y="223"/>
                  <a:pt x="191" y="170"/>
                  <a:pt x="256" y="170"/>
                </a:cubicBezTo>
                <a:cubicBezTo>
                  <a:pt x="266" y="170"/>
                  <a:pt x="266" y="170"/>
                  <a:pt x="266" y="170"/>
                </a:cubicBezTo>
                <a:cubicBezTo>
                  <a:pt x="272" y="170"/>
                  <a:pt x="277" y="166"/>
                  <a:pt x="277" y="160"/>
                </a:cubicBezTo>
                <a:lnTo>
                  <a:pt x="277" y="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entagon 168">
            <a:extLst>
              <a:ext uri="{FF2B5EF4-FFF2-40B4-BE49-F238E27FC236}">
                <a16:creationId xmlns:a16="http://schemas.microsoft.com/office/drawing/2014/main" id="{EF773F30-5637-F523-2A5F-14C80C748F27}"/>
              </a:ext>
            </a:extLst>
          </p:cNvPr>
          <p:cNvSpPr/>
          <p:nvPr/>
        </p:nvSpPr>
        <p:spPr>
          <a:xfrm>
            <a:off x="573797" y="1479605"/>
            <a:ext cx="2490234" cy="38472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Mobilization (~8 Weeks)</a:t>
            </a:r>
          </a:p>
        </p:txBody>
      </p:sp>
      <p:sp>
        <p:nvSpPr>
          <p:cNvPr id="12" name="Chevron 114">
            <a:extLst>
              <a:ext uri="{FF2B5EF4-FFF2-40B4-BE49-F238E27FC236}">
                <a16:creationId xmlns:a16="http://schemas.microsoft.com/office/drawing/2014/main" id="{7059093D-6182-F89D-A49D-C3C17A029177}"/>
              </a:ext>
            </a:extLst>
          </p:cNvPr>
          <p:cNvSpPr/>
          <p:nvPr/>
        </p:nvSpPr>
        <p:spPr>
          <a:xfrm>
            <a:off x="9994138" y="1479605"/>
            <a:ext cx="2037011" cy="384728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Decommission </a:t>
            </a:r>
          </a:p>
        </p:txBody>
      </p:sp>
      <p:sp>
        <p:nvSpPr>
          <p:cNvPr id="15" name="Chevron 114">
            <a:extLst>
              <a:ext uri="{FF2B5EF4-FFF2-40B4-BE49-F238E27FC236}">
                <a16:creationId xmlns:a16="http://schemas.microsoft.com/office/drawing/2014/main" id="{C3A3A884-B984-0B42-E292-825EF802EEED}"/>
              </a:ext>
            </a:extLst>
          </p:cNvPr>
          <p:cNvSpPr/>
          <p:nvPr/>
        </p:nvSpPr>
        <p:spPr>
          <a:xfrm>
            <a:off x="2996511" y="1476853"/>
            <a:ext cx="3606425" cy="375424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Technical Modernization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26D9E-025E-D0BB-9745-2A5A33C63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649225"/>
            <a:ext cx="11252200" cy="405134"/>
          </a:xfrm>
        </p:spPr>
        <p:txBody>
          <a:bodyPr/>
          <a:lstStyle/>
          <a:p>
            <a:r>
              <a:rPr lang="en-US" sz="1400" noProof="0"/>
              <a:t>A proven approach that combines technical modernization, user migration, and compliance-led decommissioning executed in parallel to accelerate value realization and minimize disruption.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11F8BBE4-D80D-AD32-2AE6-F6693280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Our Approach For Teradata Modernization</a:t>
            </a:r>
            <a:endParaRPr lang="en-US" noProof="0">
              <a:cs typeface="Arial"/>
            </a:endParaRPr>
          </a:p>
        </p:txBody>
      </p:sp>
      <p:sp>
        <p:nvSpPr>
          <p:cNvPr id="66" name="Chevron 114">
            <a:extLst>
              <a:ext uri="{FF2B5EF4-FFF2-40B4-BE49-F238E27FC236}">
                <a16:creationId xmlns:a16="http://schemas.microsoft.com/office/drawing/2014/main" id="{42A14C60-DA8B-4034-ADDD-C6A8A0A2885C}"/>
              </a:ext>
            </a:extLst>
          </p:cNvPr>
          <p:cNvSpPr/>
          <p:nvPr/>
        </p:nvSpPr>
        <p:spPr>
          <a:xfrm>
            <a:off x="6484211" y="1477226"/>
            <a:ext cx="3606424" cy="382967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User Migration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0E87B3F-8E81-5CFA-4075-162E6F8492B7}"/>
              </a:ext>
            </a:extLst>
          </p:cNvPr>
          <p:cNvSpPr/>
          <p:nvPr/>
        </p:nvSpPr>
        <p:spPr>
          <a:xfrm>
            <a:off x="410843" y="1902433"/>
            <a:ext cx="2490234" cy="540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6748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Establish foundation through environment readiness, asset inventory, and decommissioning alignment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4E3FE7F-EA8E-8296-B755-2AEABC848E14}"/>
              </a:ext>
            </a:extLst>
          </p:cNvPr>
          <p:cNvSpPr/>
          <p:nvPr/>
        </p:nvSpPr>
        <p:spPr>
          <a:xfrm>
            <a:off x="326002" y="5228686"/>
            <a:ext cx="2698635" cy="1378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Environment provisioning and readiness validated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Inventory of assets completed and prioritized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Disposition of unused/legacy assets confirmed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Deliver a refreshed project plan to guide modernization efforts and share with business users to set engagement expectations.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5F5F5">
                  <a:lumMod val="1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5F5F5">
                  <a:lumMod val="1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61ADC37-66E4-0459-FD53-814A1B1A6DA5}"/>
              </a:ext>
            </a:extLst>
          </p:cNvPr>
          <p:cNvSpPr/>
          <p:nvPr/>
        </p:nvSpPr>
        <p:spPr bwMode="gray">
          <a:xfrm>
            <a:off x="812386" y="361086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817C43D3-DCBC-4DBC-F39B-0CE6D462B082}"/>
              </a:ext>
            </a:extLst>
          </p:cNvPr>
          <p:cNvSpPr/>
          <p:nvPr/>
        </p:nvSpPr>
        <p:spPr bwMode="gray">
          <a:xfrm>
            <a:off x="1208849" y="361086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F6C77B4-7228-A516-C56F-9B441256F37A}"/>
              </a:ext>
            </a:extLst>
          </p:cNvPr>
          <p:cNvSpPr/>
          <p:nvPr/>
        </p:nvSpPr>
        <p:spPr bwMode="gray">
          <a:xfrm>
            <a:off x="1605312" y="361086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37997EE-315F-DF36-A9B4-15E05CA1E203}"/>
              </a:ext>
            </a:extLst>
          </p:cNvPr>
          <p:cNvCxnSpPr>
            <a:cxnSpLocks/>
            <a:stCxn id="244" idx="6"/>
            <a:endCxn id="294" idx="2"/>
          </p:cNvCxnSpPr>
          <p:nvPr/>
        </p:nvCxnSpPr>
        <p:spPr>
          <a:xfrm>
            <a:off x="3821717" y="3059773"/>
            <a:ext cx="31062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4788192-1B98-028D-2793-04060049BF4B}"/>
              </a:ext>
            </a:extLst>
          </p:cNvPr>
          <p:cNvSpPr/>
          <p:nvPr/>
        </p:nvSpPr>
        <p:spPr>
          <a:xfrm>
            <a:off x="2940772" y="1902433"/>
            <a:ext cx="4012883" cy="540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6748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Modernize data platforms by re-architecting, re-platforming, and enabling seamless downstream integration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22F3188-5239-E69E-0153-1011B50E5C2B}"/>
              </a:ext>
            </a:extLst>
          </p:cNvPr>
          <p:cNvSpPr/>
          <p:nvPr/>
        </p:nvSpPr>
        <p:spPr>
          <a:xfrm>
            <a:off x="6953656" y="1902433"/>
            <a:ext cx="3021828" cy="540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6748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Transition users to the new system with access setup, parallel testing, UAT, and go-live support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23A8B0B-3895-902A-C5F9-B37A657F36CE}"/>
              </a:ext>
            </a:extLst>
          </p:cNvPr>
          <p:cNvSpPr/>
          <p:nvPr/>
        </p:nvSpPr>
        <p:spPr>
          <a:xfrm>
            <a:off x="9994138" y="1902433"/>
            <a:ext cx="1921868" cy="540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6748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Retire legacy systems and access in alignment with compliance and business readiness.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AB96640-6534-A58C-4CBA-FAC2004C2937}"/>
              </a:ext>
            </a:extLst>
          </p:cNvPr>
          <p:cNvSpPr txBox="1"/>
          <p:nvPr/>
        </p:nvSpPr>
        <p:spPr>
          <a:xfrm>
            <a:off x="9906364" y="4039979"/>
            <a:ext cx="119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4A.Start execution of change activities for decommission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ACA72B7-C7C7-5FF7-0D7C-36A2387B202F}"/>
              </a:ext>
            </a:extLst>
          </p:cNvPr>
          <p:cNvSpPr txBox="1"/>
          <p:nvPr/>
        </p:nvSpPr>
        <p:spPr>
          <a:xfrm>
            <a:off x="10229668" y="2703768"/>
            <a:ext cx="1213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4B.Revoke accesses &amp; disable integrations once all dependencies are moved to SF</a:t>
            </a:r>
          </a:p>
        </p:txBody>
      </p:sp>
      <p:cxnSp>
        <p:nvCxnSpPr>
          <p:cNvPr id="173" name="iBar:31/138">
            <a:extLst>
              <a:ext uri="{FF2B5EF4-FFF2-40B4-BE49-F238E27FC236}">
                <a16:creationId xmlns:a16="http://schemas.microsoft.com/office/drawing/2014/main" id="{612FCF96-2AA9-3BAE-664D-3D09E3945CF6}"/>
              </a:ext>
            </a:extLst>
          </p:cNvPr>
          <p:cNvCxnSpPr>
            <a:cxnSpLocks/>
          </p:cNvCxnSpPr>
          <p:nvPr/>
        </p:nvCxnSpPr>
        <p:spPr>
          <a:xfrm>
            <a:off x="536806" y="1324256"/>
            <a:ext cx="2255325" cy="7618"/>
          </a:xfrm>
          <a:prstGeom prst="line">
            <a:avLst/>
          </a:prstGeom>
          <a:ln w="12700">
            <a:solidFill>
              <a:srgbClr val="7B7B7B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xtBox:31/138">
            <a:extLst>
              <a:ext uri="{FF2B5EF4-FFF2-40B4-BE49-F238E27FC236}">
                <a16:creationId xmlns:a16="http://schemas.microsoft.com/office/drawing/2014/main" id="{8D9613F3-891B-1509-FD9A-917E87F51775}"/>
              </a:ext>
            </a:extLst>
          </p:cNvPr>
          <p:cNvSpPr/>
          <p:nvPr/>
        </p:nvSpPr>
        <p:spPr>
          <a:xfrm>
            <a:off x="864646" y="1231923"/>
            <a:ext cx="1599644" cy="1846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One Time Activity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711F623-CE82-A0DA-BE08-73C309352904}"/>
              </a:ext>
            </a:extLst>
          </p:cNvPr>
          <p:cNvSpPr txBox="1"/>
          <p:nvPr/>
        </p:nvSpPr>
        <p:spPr>
          <a:xfrm>
            <a:off x="468921" y="2812505"/>
            <a:ext cx="8751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1A. Environment readiness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2DBFC8C-03F8-6EE6-DFA3-8FA9C5826140}"/>
              </a:ext>
            </a:extLst>
          </p:cNvPr>
          <p:cNvSpPr txBox="1"/>
          <p:nvPr/>
        </p:nvSpPr>
        <p:spPr>
          <a:xfrm>
            <a:off x="714364" y="3886346"/>
            <a:ext cx="1169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1B. Report Landscape discovery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59014A6-68BD-FE4B-84BD-5CD5CAA78F86}"/>
              </a:ext>
            </a:extLst>
          </p:cNvPr>
          <p:cNvSpPr txBox="1"/>
          <p:nvPr/>
        </p:nvSpPr>
        <p:spPr>
          <a:xfrm>
            <a:off x="1032624" y="2490058"/>
            <a:ext cx="132564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1C. Confirm Disposition &amp; prioritize assets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91B41F1-0737-0EFE-522E-AB17FEFEF7FE}"/>
              </a:ext>
            </a:extLst>
          </p:cNvPr>
          <p:cNvSpPr txBox="1"/>
          <p:nvPr/>
        </p:nvSpPr>
        <p:spPr>
          <a:xfrm>
            <a:off x="1828350" y="2857844"/>
            <a:ext cx="107972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1E</a:t>
            </a:r>
            <a:r>
              <a:rPr kumimoji="0" lang="en-US" sz="800" b="0" i="1" u="none" strike="noStrike" kern="100" cap="none" spc="0" normalizeH="0" baseline="30000" noProof="0">
                <a:ln>
                  <a:noFill/>
                </a:ln>
                <a:solidFill>
                  <a:srgbClr val="1A1446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 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Finalizing list of unused objects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0AF022B-1273-7565-3970-866B8FBB309E}"/>
              </a:ext>
            </a:extLst>
          </p:cNvPr>
          <p:cNvSpPr/>
          <p:nvPr/>
        </p:nvSpPr>
        <p:spPr bwMode="gray">
          <a:xfrm>
            <a:off x="2415105" y="361086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41EC5BF-91F8-F896-A412-336435D69B40}"/>
              </a:ext>
            </a:extLst>
          </p:cNvPr>
          <p:cNvCxnSpPr>
            <a:cxnSpLocks/>
            <a:stCxn id="181" idx="2"/>
            <a:endCxn id="129" idx="0"/>
          </p:cNvCxnSpPr>
          <p:nvPr/>
        </p:nvCxnSpPr>
        <p:spPr>
          <a:xfrm flipH="1">
            <a:off x="902518" y="3274170"/>
            <a:ext cx="3966" cy="3366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AE24481-3040-07AE-BE75-888B4D278499}"/>
              </a:ext>
            </a:extLst>
          </p:cNvPr>
          <p:cNvCxnSpPr>
            <a:cxnSpLocks/>
            <a:stCxn id="182" idx="0"/>
            <a:endCxn id="135" idx="4"/>
          </p:cNvCxnSpPr>
          <p:nvPr/>
        </p:nvCxnSpPr>
        <p:spPr>
          <a:xfrm flipV="1">
            <a:off x="1298981" y="3793740"/>
            <a:ext cx="0" cy="926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205DFA7-416B-04FB-F56F-203C94AD82E2}"/>
              </a:ext>
            </a:extLst>
          </p:cNvPr>
          <p:cNvCxnSpPr>
            <a:cxnSpLocks/>
            <a:stCxn id="183" idx="2"/>
            <a:endCxn id="136" idx="0"/>
          </p:cNvCxnSpPr>
          <p:nvPr/>
        </p:nvCxnSpPr>
        <p:spPr>
          <a:xfrm>
            <a:off x="1695444" y="2828612"/>
            <a:ext cx="0" cy="7822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277059CA-64CB-5AC8-8C45-FE0F09284B7E}"/>
              </a:ext>
            </a:extLst>
          </p:cNvPr>
          <p:cNvCxnSpPr>
            <a:cxnSpLocks/>
            <a:stCxn id="186" idx="0"/>
          </p:cNvCxnSpPr>
          <p:nvPr/>
        </p:nvCxnSpPr>
        <p:spPr>
          <a:xfrm flipV="1">
            <a:off x="2505237" y="3204555"/>
            <a:ext cx="0" cy="4063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C3CDC1B-8E6D-4D22-0CD1-4CEA7137355C}"/>
              </a:ext>
            </a:extLst>
          </p:cNvPr>
          <p:cNvSpPr/>
          <p:nvPr/>
        </p:nvSpPr>
        <p:spPr>
          <a:xfrm>
            <a:off x="3008369" y="3207585"/>
            <a:ext cx="872869" cy="291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srgbClr val="FFD000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Rearchitect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BBF3CCA1-E4AF-F163-2F7E-1EE8B1721E8B}"/>
              </a:ext>
            </a:extLst>
          </p:cNvPr>
          <p:cNvCxnSpPr>
            <a:cxnSpLocks/>
          </p:cNvCxnSpPr>
          <p:nvPr/>
        </p:nvCxnSpPr>
        <p:spPr>
          <a:xfrm flipV="1">
            <a:off x="4164775" y="4684672"/>
            <a:ext cx="794758" cy="6311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DBD2B161-3390-CE8E-934D-9AEDFC38199B}"/>
              </a:ext>
            </a:extLst>
          </p:cNvPr>
          <p:cNvSpPr txBox="1"/>
          <p:nvPr/>
        </p:nvSpPr>
        <p:spPr>
          <a:xfrm>
            <a:off x="6592951" y="3058857"/>
            <a:ext cx="1072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3A.Business User Onboarding by Domain/segment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8F1B9C9-AE89-A6A2-456C-69CC90DC991C}"/>
              </a:ext>
            </a:extLst>
          </p:cNvPr>
          <p:cNvSpPr txBox="1"/>
          <p:nvPr/>
        </p:nvSpPr>
        <p:spPr>
          <a:xfrm>
            <a:off x="8138214" y="2946090"/>
            <a:ext cx="110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3D.Parallel Runs and UAT Recon to start UAT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4FF7FBC2-5D65-5DB5-03F0-5D372D4EA755}"/>
              </a:ext>
            </a:extLst>
          </p:cNvPr>
          <p:cNvSpPr txBox="1"/>
          <p:nvPr/>
        </p:nvSpPr>
        <p:spPr>
          <a:xfrm>
            <a:off x="9045930" y="4008031"/>
            <a:ext cx="88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3F.Signoff from the Business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6725F22-CEF5-4F2B-4C2C-6068B1E93DF4}"/>
              </a:ext>
            </a:extLst>
          </p:cNvPr>
          <p:cNvSpPr txBox="1"/>
          <p:nvPr/>
        </p:nvSpPr>
        <p:spPr>
          <a:xfrm>
            <a:off x="7739369" y="3898006"/>
            <a:ext cx="1128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3C. Execute Change Activities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746E847-6253-727A-0172-C01DFDEE2AF1}"/>
              </a:ext>
            </a:extLst>
          </p:cNvPr>
          <p:cNvSpPr txBox="1"/>
          <p:nvPr/>
        </p:nvSpPr>
        <p:spPr>
          <a:xfrm>
            <a:off x="9516110" y="3116307"/>
            <a:ext cx="733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3G.Go-Live</a:t>
            </a: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EE46F11D-FBDF-406A-F5C3-AA1A512DA242}"/>
              </a:ext>
            </a:extLst>
          </p:cNvPr>
          <p:cNvSpPr/>
          <p:nvPr/>
        </p:nvSpPr>
        <p:spPr bwMode="gray">
          <a:xfrm>
            <a:off x="3641453" y="2968333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7916C7DE-04B5-6330-426E-48C6F8E4A9BB}"/>
              </a:ext>
            </a:extLst>
          </p:cNvPr>
          <p:cNvSpPr/>
          <p:nvPr/>
        </p:nvSpPr>
        <p:spPr>
          <a:xfrm>
            <a:off x="4252723" y="4499111"/>
            <a:ext cx="694490" cy="180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Retire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7A17FE72-AEB6-A0F9-6E9E-256C97AF8668}"/>
              </a:ext>
            </a:extLst>
          </p:cNvPr>
          <p:cNvSpPr/>
          <p:nvPr/>
        </p:nvSpPr>
        <p:spPr bwMode="gray">
          <a:xfrm>
            <a:off x="7039187" y="3598792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9D75D235-F582-37CD-2F79-4F6E40235BCD}"/>
              </a:ext>
            </a:extLst>
          </p:cNvPr>
          <p:cNvSpPr/>
          <p:nvPr/>
        </p:nvSpPr>
        <p:spPr bwMode="gray">
          <a:xfrm>
            <a:off x="8113156" y="3590293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F2602CE4-A9C4-7A49-6A86-8CCEF519A285}"/>
              </a:ext>
            </a:extLst>
          </p:cNvPr>
          <p:cNvSpPr/>
          <p:nvPr/>
        </p:nvSpPr>
        <p:spPr bwMode="gray">
          <a:xfrm>
            <a:off x="8572039" y="3590293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47E25F59-4A9A-B577-5AE2-32703D13BD54}"/>
              </a:ext>
            </a:extLst>
          </p:cNvPr>
          <p:cNvSpPr/>
          <p:nvPr/>
        </p:nvSpPr>
        <p:spPr bwMode="gray">
          <a:xfrm>
            <a:off x="9404509" y="3581327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FB98775-AD92-01F2-76E6-E6E6F50D2028}"/>
              </a:ext>
            </a:extLst>
          </p:cNvPr>
          <p:cNvCxnSpPr>
            <a:cxnSpLocks/>
            <a:stCxn id="237" idx="2"/>
            <a:endCxn id="261" idx="0"/>
          </p:cNvCxnSpPr>
          <p:nvPr/>
        </p:nvCxnSpPr>
        <p:spPr>
          <a:xfrm>
            <a:off x="7129319" y="3520522"/>
            <a:ext cx="0" cy="78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45C7CE9-82B4-155B-4100-E539394F7C06}"/>
              </a:ext>
            </a:extLst>
          </p:cNvPr>
          <p:cNvCxnSpPr>
            <a:cxnSpLocks/>
            <a:stCxn id="262" idx="4"/>
          </p:cNvCxnSpPr>
          <p:nvPr/>
        </p:nvCxnSpPr>
        <p:spPr>
          <a:xfrm>
            <a:off x="8203288" y="3773173"/>
            <a:ext cx="1376" cy="18065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E8D9E4DB-D642-170C-9F9D-96D42C482EC3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662171" y="3355848"/>
            <a:ext cx="0" cy="2344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35E1AA56-EA25-FF8F-A7FB-38E0855E031E}"/>
              </a:ext>
            </a:extLst>
          </p:cNvPr>
          <p:cNvCxnSpPr>
            <a:cxnSpLocks/>
            <a:stCxn id="264" idx="4"/>
            <a:endCxn id="239" idx="0"/>
          </p:cNvCxnSpPr>
          <p:nvPr/>
        </p:nvCxnSpPr>
        <p:spPr>
          <a:xfrm flipH="1">
            <a:off x="9486608" y="3764207"/>
            <a:ext cx="8033" cy="2438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550CD15E-0616-2783-4B2D-E8409154A99F}"/>
              </a:ext>
            </a:extLst>
          </p:cNvPr>
          <p:cNvCxnSpPr>
            <a:cxnSpLocks/>
            <a:stCxn id="241" idx="2"/>
          </p:cNvCxnSpPr>
          <p:nvPr/>
        </p:nvCxnSpPr>
        <p:spPr>
          <a:xfrm>
            <a:off x="9882875" y="3331751"/>
            <a:ext cx="0" cy="2606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C2A5BA64-B841-BFF5-874D-7520BA816CEC}"/>
              </a:ext>
            </a:extLst>
          </p:cNvPr>
          <p:cNvSpPr txBox="1"/>
          <p:nvPr/>
        </p:nvSpPr>
        <p:spPr>
          <a:xfrm>
            <a:off x="4589130" y="3156835"/>
            <a:ext cx="1025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2D. Target State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Design</a:t>
            </a:r>
          </a:p>
        </p:txBody>
      </p: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5B23FBAB-2D34-19C4-ABFE-23C28EA25B27}"/>
              </a:ext>
            </a:extLst>
          </p:cNvPr>
          <p:cNvCxnSpPr>
            <a:cxnSpLocks/>
          </p:cNvCxnSpPr>
          <p:nvPr/>
        </p:nvCxnSpPr>
        <p:spPr>
          <a:xfrm>
            <a:off x="536806" y="5082923"/>
            <a:ext cx="222734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8BFDD4A-29FE-C9DA-60A4-A0146444B40B}"/>
              </a:ext>
            </a:extLst>
          </p:cNvPr>
          <p:cNvSpPr/>
          <p:nvPr/>
        </p:nvSpPr>
        <p:spPr>
          <a:xfrm>
            <a:off x="682742" y="4937161"/>
            <a:ext cx="1870988" cy="291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srgbClr val="1A1446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Mobilization Outcomes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801B48-B97A-4418-3F74-C6C342713411}"/>
              </a:ext>
            </a:extLst>
          </p:cNvPr>
          <p:cNvGrpSpPr/>
          <p:nvPr/>
        </p:nvGrpSpPr>
        <p:grpSpPr>
          <a:xfrm>
            <a:off x="3059842" y="4937161"/>
            <a:ext cx="3424369" cy="1931056"/>
            <a:chOff x="2880088" y="4522587"/>
            <a:chExt cx="2783282" cy="1931056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6E48702-C51D-711F-7470-9138EA7008EB}"/>
                </a:ext>
              </a:extLst>
            </p:cNvPr>
            <p:cNvSpPr/>
            <p:nvPr/>
          </p:nvSpPr>
          <p:spPr>
            <a:xfrm>
              <a:off x="2880088" y="4814112"/>
              <a:ext cx="2783282" cy="16395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Target-state architecture design finalized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Data models and pipelines (incremental and historical) are configured, modernizing and optimizing Teradata data foundations.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Legacy reports/extracts/semantic models/DB views transformed for SF compatibility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Make downstream(like SAS) connections compatible to SF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Downstream systems integrated and validated through SIT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1" i="0" u="none" strike="noStrike" kern="1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C234EAE0-0167-0C90-819E-A4626532625D}"/>
                </a:ext>
              </a:extLst>
            </p:cNvPr>
            <p:cNvCxnSpPr>
              <a:cxnSpLocks/>
            </p:cNvCxnSpPr>
            <p:nvPr/>
          </p:nvCxnSpPr>
          <p:spPr>
            <a:xfrm>
              <a:off x="2892314" y="4668349"/>
              <a:ext cx="2719029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0655C5D-F0F9-4261-D4C3-5BDAE897DF85}"/>
                </a:ext>
              </a:extLst>
            </p:cNvPr>
            <p:cNvSpPr/>
            <p:nvPr/>
          </p:nvSpPr>
          <p:spPr>
            <a:xfrm>
              <a:off x="3357668" y="4522587"/>
              <a:ext cx="1851777" cy="2915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00" cap="none" spc="0" normalizeH="0" baseline="0" noProof="0">
                  <a:ln>
                    <a:noFill/>
                  </a:ln>
                  <a:solidFill>
                    <a:srgbClr val="1A14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Times New Roman" panose="02020603050405020304" pitchFamily="18" charset="0"/>
                </a:rPr>
                <a:t>Technical Modernization Outcomes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B94A23-8CEE-088D-1BAD-BF4669809561}"/>
              </a:ext>
            </a:extLst>
          </p:cNvPr>
          <p:cNvGrpSpPr/>
          <p:nvPr/>
        </p:nvGrpSpPr>
        <p:grpSpPr>
          <a:xfrm>
            <a:off x="6341656" y="4948460"/>
            <a:ext cx="3469512" cy="1919757"/>
            <a:chOff x="5954329" y="4533886"/>
            <a:chExt cx="2934842" cy="1919757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3F1132A-2FB6-A853-2BCB-E100E771C100}"/>
                </a:ext>
              </a:extLst>
            </p:cNvPr>
            <p:cNvSpPr/>
            <p:nvPr/>
          </p:nvSpPr>
          <p:spPr>
            <a:xfrm>
              <a:off x="6267344" y="4814112"/>
              <a:ext cx="2621827" cy="16395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Users onboarded with SF access/roles and trained.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Parallel runs between Teradata and SF and reconciliation/regression testing continues until UAT sign-off 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UAT signed off at domain/segment level.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Go-live readiness approved and executed at domain level.</a:t>
              </a:r>
            </a:p>
          </p:txBody>
        </p: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5E0BC6D5-04B4-BF07-2631-44DE936472A9}"/>
                </a:ext>
              </a:extLst>
            </p:cNvPr>
            <p:cNvCxnSpPr>
              <a:cxnSpLocks/>
            </p:cNvCxnSpPr>
            <p:nvPr/>
          </p:nvCxnSpPr>
          <p:spPr>
            <a:xfrm>
              <a:off x="5954329" y="4668349"/>
              <a:ext cx="2894396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46BBBA9-B565-CDD2-5917-9409977AC141}"/>
                </a:ext>
              </a:extLst>
            </p:cNvPr>
            <p:cNvSpPr/>
            <p:nvPr/>
          </p:nvSpPr>
          <p:spPr>
            <a:xfrm>
              <a:off x="6443924" y="4533886"/>
              <a:ext cx="1848328" cy="2689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00" cap="none" spc="0" normalizeH="0" baseline="0" noProof="0">
                  <a:ln>
                    <a:noFill/>
                  </a:ln>
                  <a:solidFill>
                    <a:srgbClr val="1A14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Times New Roman" panose="02020603050405020304" pitchFamily="18" charset="0"/>
                </a:rPr>
                <a:t>Business User Migration Outcomes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5B79D6-EB3A-E149-44CD-36E04707ECED}"/>
              </a:ext>
            </a:extLst>
          </p:cNvPr>
          <p:cNvGrpSpPr/>
          <p:nvPr/>
        </p:nvGrpSpPr>
        <p:grpSpPr>
          <a:xfrm>
            <a:off x="9747504" y="4937161"/>
            <a:ext cx="2339033" cy="1931056"/>
            <a:chOff x="9223718" y="4522587"/>
            <a:chExt cx="2771845" cy="1931056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6D542D3-8417-86AD-C35A-A0F5A58B878A}"/>
                </a:ext>
              </a:extLst>
            </p:cNvPr>
            <p:cNvSpPr/>
            <p:nvPr/>
          </p:nvSpPr>
          <p:spPr>
            <a:xfrm>
              <a:off x="9223718" y="4814112"/>
              <a:ext cx="2771845" cy="16395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All Domains/segments marked "Ready for Decommission“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Decommission change activities started, access revoked, and integrations disabled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Compliance closure completed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5F5F5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Final decommissioning sign-off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A210A5F3-75BF-9337-93C5-10979F97FD53}"/>
                </a:ext>
              </a:extLst>
            </p:cNvPr>
            <p:cNvCxnSpPr>
              <a:cxnSpLocks/>
            </p:cNvCxnSpPr>
            <p:nvPr/>
          </p:nvCxnSpPr>
          <p:spPr>
            <a:xfrm>
              <a:off x="9318584" y="4668349"/>
              <a:ext cx="2535299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7495A8A-D3B4-1821-5FB4-AFA98CA9D406}"/>
                </a:ext>
              </a:extLst>
            </p:cNvPr>
            <p:cNvSpPr/>
            <p:nvPr/>
          </p:nvSpPr>
          <p:spPr>
            <a:xfrm>
              <a:off x="9649441" y="4522587"/>
              <a:ext cx="1908417" cy="2915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00" cap="none" spc="0" normalizeH="0" baseline="0" noProof="0">
                  <a:ln>
                    <a:noFill/>
                  </a:ln>
                  <a:solidFill>
                    <a:srgbClr val="1A14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Times New Roman" panose="02020603050405020304" pitchFamily="18" charset="0"/>
                </a:rPr>
                <a:t>Decommission Outcomes</a:t>
              </a:r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E277CDA6-31C4-F56C-6AFB-486B59E1C75D}"/>
              </a:ext>
            </a:extLst>
          </p:cNvPr>
          <p:cNvSpPr/>
          <p:nvPr/>
        </p:nvSpPr>
        <p:spPr bwMode="gray">
          <a:xfrm>
            <a:off x="4862460" y="3593975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55C2DEB5-5D02-1716-F781-B58A4BF4310D}"/>
              </a:ext>
            </a:extLst>
          </p:cNvPr>
          <p:cNvSpPr/>
          <p:nvPr/>
        </p:nvSpPr>
        <p:spPr bwMode="gray">
          <a:xfrm>
            <a:off x="5349787" y="3593975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2DAA8C2C-95B5-D097-BF15-3BF3250465CA}"/>
              </a:ext>
            </a:extLst>
          </p:cNvPr>
          <p:cNvSpPr/>
          <p:nvPr/>
        </p:nvSpPr>
        <p:spPr bwMode="gray">
          <a:xfrm>
            <a:off x="8925239" y="358752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B99CCAEB-A693-AF12-F45F-89E887D66AF7}"/>
              </a:ext>
            </a:extLst>
          </p:cNvPr>
          <p:cNvSpPr/>
          <p:nvPr/>
        </p:nvSpPr>
        <p:spPr>
          <a:xfrm>
            <a:off x="3483596" y="3753168"/>
            <a:ext cx="830516" cy="207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00" cap="none" spc="0" normalizeH="0" baseline="0" noProof="0">
                <a:ln>
                  <a:noFill/>
                </a:ln>
                <a:solidFill>
                  <a:srgbClr val="06748C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Replatform</a:t>
            </a: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ECF75EAF-F0FE-B437-0A33-20C36C6837AC}"/>
              </a:ext>
            </a:extLst>
          </p:cNvPr>
          <p:cNvSpPr/>
          <p:nvPr/>
        </p:nvSpPr>
        <p:spPr bwMode="gray">
          <a:xfrm>
            <a:off x="4132337" y="2968333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9B5B5AC1-E3B9-DF80-66B9-653A79594206}"/>
              </a:ext>
            </a:extLst>
          </p:cNvPr>
          <p:cNvSpPr/>
          <p:nvPr/>
        </p:nvSpPr>
        <p:spPr bwMode="gray">
          <a:xfrm>
            <a:off x="5770210" y="3602583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2D89704D-C7B6-8784-ACE8-03950C3880CC}"/>
              </a:ext>
            </a:extLst>
          </p:cNvPr>
          <p:cNvSpPr/>
          <p:nvPr/>
        </p:nvSpPr>
        <p:spPr bwMode="gray">
          <a:xfrm>
            <a:off x="6341656" y="3604734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0AFC9C89-E4EC-9CE2-7FD7-389AF1CE047A}"/>
              </a:ext>
            </a:extLst>
          </p:cNvPr>
          <p:cNvSpPr txBox="1"/>
          <p:nvPr/>
        </p:nvSpPr>
        <p:spPr>
          <a:xfrm>
            <a:off x="4830545" y="3879254"/>
            <a:ext cx="1015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2E.Design, Configure History Data Pipeline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266808C8-A8A5-0F25-36EA-C855F0B63C7D}"/>
              </a:ext>
            </a:extLst>
          </p:cNvPr>
          <p:cNvSpPr txBox="1"/>
          <p:nvPr/>
        </p:nvSpPr>
        <p:spPr>
          <a:xfrm>
            <a:off x="5169552" y="2837062"/>
            <a:ext cx="1378914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2F. Design, Configure Incremental Data Pipeline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5F5F5">
                  <a:lumMod val="1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FC4C321E-470F-7374-9D56-6A1B271A7AEE}"/>
              </a:ext>
            </a:extLst>
          </p:cNvPr>
          <p:cNvSpPr txBox="1"/>
          <p:nvPr/>
        </p:nvSpPr>
        <p:spPr>
          <a:xfrm>
            <a:off x="8575750" y="4369098"/>
            <a:ext cx="9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3E.UAT by domain/segment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6A61BB-77D3-1ABC-55B9-CA9388042A0A}"/>
              </a:ext>
            </a:extLst>
          </p:cNvPr>
          <p:cNvGrpSpPr/>
          <p:nvPr/>
        </p:nvGrpSpPr>
        <p:grpSpPr>
          <a:xfrm>
            <a:off x="9789248" y="3566720"/>
            <a:ext cx="253050" cy="253050"/>
            <a:chOff x="9469391" y="3358881"/>
            <a:chExt cx="253050" cy="2530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899F69A-897D-0668-35A1-0F0D4A09D81B}"/>
                </a:ext>
              </a:extLst>
            </p:cNvPr>
            <p:cNvSpPr/>
            <p:nvPr/>
          </p:nvSpPr>
          <p:spPr bwMode="gray">
            <a:xfrm>
              <a:off x="9506672" y="3390795"/>
              <a:ext cx="180264" cy="182880"/>
            </a:xfrm>
            <a:prstGeom prst="ellipse">
              <a:avLst/>
            </a:prstGeom>
            <a:solidFill>
              <a:schemeClr val="bg1"/>
            </a:solidFill>
            <a:ln w="22225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292" name="Graphic 291" descr="Badge Tick with solid fill">
              <a:extLst>
                <a:ext uri="{FF2B5EF4-FFF2-40B4-BE49-F238E27FC236}">
                  <a16:creationId xmlns:a16="http://schemas.microsoft.com/office/drawing/2014/main" id="{6A4AE03E-91B0-A3CD-7F8A-3F65BC1BD4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9391" y="3358881"/>
              <a:ext cx="253050" cy="25305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0BA746-3816-4B7E-81DB-474FF19207CC}"/>
              </a:ext>
            </a:extLst>
          </p:cNvPr>
          <p:cNvSpPr txBox="1"/>
          <p:nvPr/>
        </p:nvSpPr>
        <p:spPr>
          <a:xfrm>
            <a:off x="4001834" y="2409722"/>
            <a:ext cx="80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2C. Design new data model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37EDD2-FC4E-2B31-6899-3529C9836762}"/>
              </a:ext>
            </a:extLst>
          </p:cNvPr>
          <p:cNvSpPr/>
          <p:nvPr/>
        </p:nvSpPr>
        <p:spPr bwMode="gray">
          <a:xfrm>
            <a:off x="2886680" y="3604734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793AA-A6A2-A2EE-F084-336F5F01BFDF}"/>
              </a:ext>
            </a:extLst>
          </p:cNvPr>
          <p:cNvSpPr txBox="1"/>
          <p:nvPr/>
        </p:nvSpPr>
        <p:spPr>
          <a:xfrm>
            <a:off x="2544306" y="3755989"/>
            <a:ext cx="637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2A. Logical grouping of 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6A609-6B85-17F9-DAEF-6EB4A6FD6832}"/>
              </a:ext>
            </a:extLst>
          </p:cNvPr>
          <p:cNvSpPr txBox="1"/>
          <p:nvPr/>
        </p:nvSpPr>
        <p:spPr>
          <a:xfrm>
            <a:off x="5961584" y="2458892"/>
            <a:ext cx="1462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2G.System Integration Testing/Performance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E089B-04C3-3C7C-626E-FC0EBBD3A528}"/>
              </a:ext>
            </a:extLst>
          </p:cNvPr>
          <p:cNvSpPr txBox="1"/>
          <p:nvPr/>
        </p:nvSpPr>
        <p:spPr>
          <a:xfrm>
            <a:off x="2817746" y="2388385"/>
            <a:ext cx="129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2B. Document rationale &amp; data points to support data model change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9F8F9A-CA30-89B5-037E-E2CC5F19C92F}"/>
              </a:ext>
            </a:extLst>
          </p:cNvPr>
          <p:cNvGrpSpPr/>
          <p:nvPr/>
        </p:nvGrpSpPr>
        <p:grpSpPr>
          <a:xfrm>
            <a:off x="11692867" y="3563200"/>
            <a:ext cx="253050" cy="253050"/>
            <a:chOff x="9469391" y="3358881"/>
            <a:chExt cx="253050" cy="2530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A8ED90-62AF-FCAC-A8A6-1CFD2AAF61B9}"/>
                </a:ext>
              </a:extLst>
            </p:cNvPr>
            <p:cNvSpPr/>
            <p:nvPr/>
          </p:nvSpPr>
          <p:spPr bwMode="gray">
            <a:xfrm>
              <a:off x="9506672" y="3390795"/>
              <a:ext cx="180264" cy="182880"/>
            </a:xfrm>
            <a:prstGeom prst="ellipse">
              <a:avLst/>
            </a:prstGeom>
            <a:solidFill>
              <a:schemeClr val="bg1"/>
            </a:solidFill>
            <a:ln w="22225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9" name="Graphic 18" descr="Badge Tick with solid fill">
              <a:extLst>
                <a:ext uri="{FF2B5EF4-FFF2-40B4-BE49-F238E27FC236}">
                  <a16:creationId xmlns:a16="http://schemas.microsoft.com/office/drawing/2014/main" id="{A4F7117E-0635-C4F7-7D4E-60EB2E9167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9391" y="3358881"/>
              <a:ext cx="253050" cy="25305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4CA07C8-5A92-E8FB-E7E1-F61C498BBD14}"/>
              </a:ext>
            </a:extLst>
          </p:cNvPr>
          <p:cNvSpPr txBox="1"/>
          <p:nvPr/>
        </p:nvSpPr>
        <p:spPr>
          <a:xfrm>
            <a:off x="11196999" y="3106754"/>
            <a:ext cx="1101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4D.Decommission Teradata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FB0B5-C81B-F976-6FA2-1F91FC622685}"/>
              </a:ext>
            </a:extLst>
          </p:cNvPr>
          <p:cNvCxnSpPr/>
          <p:nvPr/>
        </p:nvCxnSpPr>
        <p:spPr>
          <a:xfrm>
            <a:off x="11804029" y="3413509"/>
            <a:ext cx="0" cy="1716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698A74C-7B09-019C-FA6B-A206CE57DEC2}"/>
              </a:ext>
            </a:extLst>
          </p:cNvPr>
          <p:cNvSpPr/>
          <p:nvPr/>
        </p:nvSpPr>
        <p:spPr bwMode="gray">
          <a:xfrm>
            <a:off x="7522012" y="361086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0E714E-FA8D-A729-6FEF-D47E6D0910C0}"/>
              </a:ext>
            </a:extLst>
          </p:cNvPr>
          <p:cNvSpPr txBox="1"/>
          <p:nvPr/>
        </p:nvSpPr>
        <p:spPr>
          <a:xfrm>
            <a:off x="6842293" y="4396407"/>
            <a:ext cx="1524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3B. Migrate Business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User Consumption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5F5F5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Domain/segment wise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360BC2-FDFB-D621-8923-A35543D1D1B5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 flipH="1">
            <a:off x="7604315" y="3793740"/>
            <a:ext cx="7829" cy="6026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DDE7B5-5F7C-291F-4544-68CDBBF0B387}"/>
              </a:ext>
            </a:extLst>
          </p:cNvPr>
          <p:cNvCxnSpPr>
            <a:cxnSpLocks/>
          </p:cNvCxnSpPr>
          <p:nvPr/>
        </p:nvCxnSpPr>
        <p:spPr>
          <a:xfrm flipV="1">
            <a:off x="6443707" y="2797446"/>
            <a:ext cx="10117" cy="808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B25D00-CFB7-9E77-96BF-F003B1C9AE7C}"/>
              </a:ext>
            </a:extLst>
          </p:cNvPr>
          <p:cNvCxnSpPr>
            <a:cxnSpLocks/>
            <a:stCxn id="352" idx="0"/>
            <a:endCxn id="355" idx="2"/>
          </p:cNvCxnSpPr>
          <p:nvPr/>
        </p:nvCxnSpPr>
        <p:spPr>
          <a:xfrm flipH="1" flipV="1">
            <a:off x="5859009" y="3175616"/>
            <a:ext cx="1333" cy="4269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0AA327-80B8-1FF6-F297-803104A3E107}"/>
              </a:ext>
            </a:extLst>
          </p:cNvPr>
          <p:cNvCxnSpPr>
            <a:cxnSpLocks/>
          </p:cNvCxnSpPr>
          <p:nvPr/>
        </p:nvCxnSpPr>
        <p:spPr>
          <a:xfrm>
            <a:off x="5433030" y="3768713"/>
            <a:ext cx="0" cy="1851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287254-01CA-923B-EA70-FA03296B3A9F}"/>
              </a:ext>
            </a:extLst>
          </p:cNvPr>
          <p:cNvCxnSpPr>
            <a:cxnSpLocks/>
            <a:endCxn id="337" idx="0"/>
          </p:cNvCxnSpPr>
          <p:nvPr/>
        </p:nvCxnSpPr>
        <p:spPr>
          <a:xfrm>
            <a:off x="4952592" y="3487432"/>
            <a:ext cx="0" cy="1065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4A038EF-3AA8-6A01-E988-42E59A29E1E1}"/>
              </a:ext>
            </a:extLst>
          </p:cNvPr>
          <p:cNvCxnSpPr>
            <a:cxnSpLocks/>
          </p:cNvCxnSpPr>
          <p:nvPr/>
        </p:nvCxnSpPr>
        <p:spPr>
          <a:xfrm flipH="1">
            <a:off x="4229585" y="2799736"/>
            <a:ext cx="469" cy="169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AB8BB26-51F7-F0D0-97C1-D55CDBD7B0DB}"/>
              </a:ext>
            </a:extLst>
          </p:cNvPr>
          <p:cNvCxnSpPr>
            <a:cxnSpLocks/>
          </p:cNvCxnSpPr>
          <p:nvPr/>
        </p:nvCxnSpPr>
        <p:spPr>
          <a:xfrm flipH="1">
            <a:off x="3731116" y="2787039"/>
            <a:ext cx="469" cy="1694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Clipboard Checked with solid fill">
            <a:extLst>
              <a:ext uri="{FF2B5EF4-FFF2-40B4-BE49-F238E27FC236}">
                <a16:creationId xmlns:a16="http://schemas.microsoft.com/office/drawing/2014/main" id="{210B416B-BA6B-CA14-C4CE-4A6B4A35C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108" y="1520445"/>
            <a:ext cx="303048" cy="303048"/>
          </a:xfrm>
          <a:prstGeom prst="rect">
            <a:avLst/>
          </a:prstGeom>
        </p:spPr>
      </p:pic>
      <p:pic>
        <p:nvPicPr>
          <p:cNvPr id="28" name="Graphic 27" descr="Tools with solid fill">
            <a:extLst>
              <a:ext uri="{FF2B5EF4-FFF2-40B4-BE49-F238E27FC236}">
                <a16:creationId xmlns:a16="http://schemas.microsoft.com/office/drawing/2014/main" id="{E6462C5B-AF5F-69B2-324E-CFCBDB1AF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2118" y="1520445"/>
            <a:ext cx="303048" cy="303048"/>
          </a:xfrm>
          <a:prstGeom prst="rect">
            <a:avLst/>
          </a:prstGeom>
        </p:spPr>
      </p:pic>
      <p:pic>
        <p:nvPicPr>
          <p:cNvPr id="29" name="Graphic 28" descr="Handshake with solid fill">
            <a:extLst>
              <a:ext uri="{FF2B5EF4-FFF2-40B4-BE49-F238E27FC236}">
                <a16:creationId xmlns:a16="http://schemas.microsoft.com/office/drawing/2014/main" id="{1E9A7D97-4B58-F9FA-9140-1500C691F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8621" y="1521380"/>
            <a:ext cx="303048" cy="303048"/>
          </a:xfrm>
          <a:prstGeom prst="rect">
            <a:avLst/>
          </a:prstGeom>
        </p:spPr>
      </p:pic>
      <p:pic>
        <p:nvPicPr>
          <p:cNvPr id="30" name="Graphic 29" descr="Box with solid fill">
            <a:extLst>
              <a:ext uri="{FF2B5EF4-FFF2-40B4-BE49-F238E27FC236}">
                <a16:creationId xmlns:a16="http://schemas.microsoft.com/office/drawing/2014/main" id="{33B4C944-B6F8-B48B-7E29-DFBC4BF6F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42784" y="1520445"/>
            <a:ext cx="303048" cy="30304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D78664D-2FE0-317E-27D9-96E0FC65BA1F}"/>
              </a:ext>
            </a:extLst>
          </p:cNvPr>
          <p:cNvSpPr/>
          <p:nvPr/>
        </p:nvSpPr>
        <p:spPr>
          <a:xfrm>
            <a:off x="502920" y="6596375"/>
            <a:ext cx="8977413" cy="277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00" cap="none" spc="0" normalizeH="0" baseline="0" noProof="0">
                <a:ln>
                  <a:noFill/>
                </a:ln>
                <a:solidFill>
                  <a:srgbClr val="1A144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See Appendix for Detailed Assumptions                </a:t>
            </a:r>
            <a:r>
              <a:rPr kumimoji="0" lang="en-US" sz="800" b="0" i="1" u="none" strike="noStrike" kern="100" cap="none" spc="0" normalizeH="0" baseline="30000" noProof="0">
                <a:ln>
                  <a:noFill/>
                </a:ln>
                <a:solidFill>
                  <a:srgbClr val="1A1446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1 </a:t>
            </a:r>
            <a:r>
              <a:rPr kumimoji="0" lang="en-US" sz="900" b="0" i="1" u="none" strike="noStrike" kern="100" cap="none" spc="0" normalizeH="0" baseline="0" noProof="0">
                <a:ln>
                  <a:noFill/>
                </a:ln>
                <a:solidFill>
                  <a:srgbClr val="1A144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This is not a critical path for existing mobilization and starting tech modernization phase.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2B60672-F556-04DA-742C-938FDB2E7BF4}"/>
              </a:ext>
            </a:extLst>
          </p:cNvPr>
          <p:cNvCxnSpPr>
            <a:cxnSpLocks/>
            <a:stCxn id="339" idx="4"/>
          </p:cNvCxnSpPr>
          <p:nvPr/>
        </p:nvCxnSpPr>
        <p:spPr>
          <a:xfrm>
            <a:off x="9015371" y="3770400"/>
            <a:ext cx="5987" cy="6481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F5FE647-65D6-215A-6E96-B678CA2E7675}"/>
              </a:ext>
            </a:extLst>
          </p:cNvPr>
          <p:cNvSpPr/>
          <p:nvPr/>
        </p:nvSpPr>
        <p:spPr bwMode="gray">
          <a:xfrm>
            <a:off x="1958408" y="3620255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tx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3A5C90-1EB8-D497-6717-E31AE2A178AD}"/>
              </a:ext>
            </a:extLst>
          </p:cNvPr>
          <p:cNvCxnSpPr>
            <a:cxnSpLocks/>
          </p:cNvCxnSpPr>
          <p:nvPr/>
        </p:nvCxnSpPr>
        <p:spPr>
          <a:xfrm>
            <a:off x="2045068" y="3811632"/>
            <a:ext cx="0" cy="5574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D1F7D4C-A274-F4F7-6D20-FCE6C446AD1D}"/>
              </a:ext>
            </a:extLst>
          </p:cNvPr>
          <p:cNvSpPr txBox="1"/>
          <p:nvPr/>
        </p:nvSpPr>
        <p:spPr>
          <a:xfrm>
            <a:off x="1495371" y="4328519"/>
            <a:ext cx="107972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1D. High-Level Modernization &amp; Architecture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497038B-E6B8-0BB3-CAD4-D6AFEA12EAD2}"/>
              </a:ext>
            </a:extLst>
          </p:cNvPr>
          <p:cNvSpPr/>
          <p:nvPr/>
        </p:nvSpPr>
        <p:spPr>
          <a:xfrm>
            <a:off x="2152650" y="3665542"/>
            <a:ext cx="1066800" cy="722323"/>
          </a:xfrm>
          <a:custGeom>
            <a:avLst/>
            <a:gdLst>
              <a:gd name="connsiteX0" fmla="*/ 0 w 1066800"/>
              <a:gd name="connsiteY0" fmla="*/ 87308 h 722323"/>
              <a:gd name="connsiteX1" fmla="*/ 349250 w 1066800"/>
              <a:gd name="connsiteY1" fmla="*/ 722308 h 722323"/>
              <a:gd name="connsiteX2" fmla="*/ 914400 w 1066800"/>
              <a:gd name="connsiteY2" fmla="*/ 106358 h 722323"/>
              <a:gd name="connsiteX3" fmla="*/ 1066800 w 1066800"/>
              <a:gd name="connsiteY3" fmla="*/ 4758 h 72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00" h="722323">
                <a:moveTo>
                  <a:pt x="0" y="87308"/>
                </a:moveTo>
                <a:cubicBezTo>
                  <a:pt x="98425" y="403220"/>
                  <a:pt x="196850" y="719133"/>
                  <a:pt x="349250" y="722308"/>
                </a:cubicBezTo>
                <a:cubicBezTo>
                  <a:pt x="501650" y="725483"/>
                  <a:pt x="794808" y="225950"/>
                  <a:pt x="914400" y="106358"/>
                </a:cubicBezTo>
                <a:cubicBezTo>
                  <a:pt x="1033992" y="-13234"/>
                  <a:pt x="1050396" y="-4238"/>
                  <a:pt x="1066800" y="4758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528405C-2EAA-018A-1F84-757843C2E412}"/>
              </a:ext>
            </a:extLst>
          </p:cNvPr>
          <p:cNvSpPr/>
          <p:nvPr/>
        </p:nvSpPr>
        <p:spPr>
          <a:xfrm>
            <a:off x="2438400" y="3724080"/>
            <a:ext cx="3423599" cy="2042838"/>
          </a:xfrm>
          <a:custGeom>
            <a:avLst/>
            <a:gdLst>
              <a:gd name="connsiteX0" fmla="*/ 114300 w 3423599"/>
              <a:gd name="connsiteY0" fmla="*/ 3370 h 2042838"/>
              <a:gd name="connsiteX1" fmla="*/ 730250 w 3423599"/>
              <a:gd name="connsiteY1" fmla="*/ 35120 h 2042838"/>
              <a:gd name="connsiteX2" fmla="*/ 44450 w 3423599"/>
              <a:gd name="connsiteY2" fmla="*/ 47820 h 2042838"/>
              <a:gd name="connsiteX3" fmla="*/ 279400 w 3423599"/>
              <a:gd name="connsiteY3" fmla="*/ 657420 h 2042838"/>
              <a:gd name="connsiteX4" fmla="*/ 704850 w 3423599"/>
              <a:gd name="connsiteY4" fmla="*/ 22420 h 2042838"/>
              <a:gd name="connsiteX5" fmla="*/ 768350 w 3423599"/>
              <a:gd name="connsiteY5" fmla="*/ 1368620 h 2042838"/>
              <a:gd name="connsiteX6" fmla="*/ 2641600 w 3423599"/>
              <a:gd name="connsiteY6" fmla="*/ 1762320 h 2042838"/>
              <a:gd name="connsiteX7" fmla="*/ 450850 w 3423599"/>
              <a:gd name="connsiteY7" fmla="*/ 1730570 h 2042838"/>
              <a:gd name="connsiteX8" fmla="*/ 349250 w 3423599"/>
              <a:gd name="connsiteY8" fmla="*/ 2041720 h 2042838"/>
              <a:gd name="connsiteX9" fmla="*/ 3422650 w 3423599"/>
              <a:gd name="connsiteY9" fmla="*/ 1603570 h 2042838"/>
              <a:gd name="connsiteX10" fmla="*/ 0 w 3423599"/>
              <a:gd name="connsiteY10" fmla="*/ 1476570 h 204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23599" h="2042838">
                <a:moveTo>
                  <a:pt x="114300" y="3370"/>
                </a:moveTo>
                <a:cubicBezTo>
                  <a:pt x="428096" y="15541"/>
                  <a:pt x="741892" y="27712"/>
                  <a:pt x="730250" y="35120"/>
                </a:cubicBezTo>
                <a:cubicBezTo>
                  <a:pt x="718608" y="42528"/>
                  <a:pt x="119592" y="-55897"/>
                  <a:pt x="44450" y="47820"/>
                </a:cubicBezTo>
                <a:cubicBezTo>
                  <a:pt x="-30692" y="151537"/>
                  <a:pt x="169333" y="661653"/>
                  <a:pt x="279400" y="657420"/>
                </a:cubicBezTo>
                <a:cubicBezTo>
                  <a:pt x="389467" y="653187"/>
                  <a:pt x="623358" y="-96113"/>
                  <a:pt x="704850" y="22420"/>
                </a:cubicBezTo>
                <a:cubicBezTo>
                  <a:pt x="786342" y="140953"/>
                  <a:pt x="445558" y="1078637"/>
                  <a:pt x="768350" y="1368620"/>
                </a:cubicBezTo>
                <a:cubicBezTo>
                  <a:pt x="1091142" y="1658603"/>
                  <a:pt x="2694517" y="1701995"/>
                  <a:pt x="2641600" y="1762320"/>
                </a:cubicBezTo>
                <a:cubicBezTo>
                  <a:pt x="2588683" y="1822645"/>
                  <a:pt x="832908" y="1684003"/>
                  <a:pt x="450850" y="1730570"/>
                </a:cubicBezTo>
                <a:cubicBezTo>
                  <a:pt x="68792" y="1777137"/>
                  <a:pt x="-146050" y="2062887"/>
                  <a:pt x="349250" y="2041720"/>
                </a:cubicBezTo>
                <a:cubicBezTo>
                  <a:pt x="844550" y="2020553"/>
                  <a:pt x="3480858" y="1697762"/>
                  <a:pt x="3422650" y="1603570"/>
                </a:cubicBezTo>
                <a:cubicBezTo>
                  <a:pt x="3364442" y="1509378"/>
                  <a:pt x="1682221" y="1492974"/>
                  <a:pt x="0" y="147657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09FFA5-B424-F5D1-7735-14D8F36A6A82}"/>
              </a:ext>
            </a:extLst>
          </p:cNvPr>
          <p:cNvSpPr/>
          <p:nvPr/>
        </p:nvSpPr>
        <p:spPr bwMode="gray">
          <a:xfrm>
            <a:off x="10927660" y="3592320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B6A6B69-ACE1-54DA-E064-CBD0FF830259}"/>
              </a:ext>
            </a:extLst>
          </p:cNvPr>
          <p:cNvCxnSpPr>
            <a:cxnSpLocks/>
          </p:cNvCxnSpPr>
          <p:nvPr/>
        </p:nvCxnSpPr>
        <p:spPr>
          <a:xfrm>
            <a:off x="10371103" y="3752581"/>
            <a:ext cx="0" cy="2454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A71B03F7-9E0D-8782-3AAF-5C68FC3BC7D2}"/>
              </a:ext>
            </a:extLst>
          </p:cNvPr>
          <p:cNvSpPr/>
          <p:nvPr/>
        </p:nvSpPr>
        <p:spPr>
          <a:xfrm>
            <a:off x="2212848" y="3659112"/>
            <a:ext cx="664078" cy="473976"/>
          </a:xfrm>
          <a:custGeom>
            <a:avLst/>
            <a:gdLst>
              <a:gd name="connsiteX0" fmla="*/ 0 w 664078"/>
              <a:gd name="connsiteY0" fmla="*/ 44208 h 473976"/>
              <a:gd name="connsiteX1" fmla="*/ 521208 w 664078"/>
              <a:gd name="connsiteY1" fmla="*/ 464832 h 473976"/>
              <a:gd name="connsiteX2" fmla="*/ 658368 w 664078"/>
              <a:gd name="connsiteY2" fmla="*/ 35064 h 473976"/>
              <a:gd name="connsiteX3" fmla="*/ 640080 w 664078"/>
              <a:gd name="connsiteY3" fmla="*/ 25920 h 473976"/>
              <a:gd name="connsiteX4" fmla="*/ 640080 w 664078"/>
              <a:gd name="connsiteY4" fmla="*/ 25920 h 473976"/>
              <a:gd name="connsiteX5" fmla="*/ 292608 w 664078"/>
              <a:gd name="connsiteY5" fmla="*/ 473976 h 47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4078" h="473976">
                <a:moveTo>
                  <a:pt x="0" y="44208"/>
                </a:moveTo>
                <a:cubicBezTo>
                  <a:pt x="205740" y="255282"/>
                  <a:pt x="411480" y="466356"/>
                  <a:pt x="521208" y="464832"/>
                </a:cubicBezTo>
                <a:cubicBezTo>
                  <a:pt x="630936" y="463308"/>
                  <a:pt x="638556" y="108216"/>
                  <a:pt x="658368" y="35064"/>
                </a:cubicBezTo>
                <a:cubicBezTo>
                  <a:pt x="678180" y="-38088"/>
                  <a:pt x="640080" y="25920"/>
                  <a:pt x="640080" y="25920"/>
                </a:cubicBezTo>
                <a:lnTo>
                  <a:pt x="640080" y="25920"/>
                </a:lnTo>
                <a:lnTo>
                  <a:pt x="292608" y="473976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6" name="iBar:31/138">
            <a:extLst>
              <a:ext uri="{FF2B5EF4-FFF2-40B4-BE49-F238E27FC236}">
                <a16:creationId xmlns:a16="http://schemas.microsoft.com/office/drawing/2014/main" id="{565A5CDB-2DCF-085F-A4FC-04F83BDFA53F}"/>
              </a:ext>
            </a:extLst>
          </p:cNvPr>
          <p:cNvCxnSpPr>
            <a:cxnSpLocks/>
          </p:cNvCxnSpPr>
          <p:nvPr/>
        </p:nvCxnSpPr>
        <p:spPr>
          <a:xfrm>
            <a:off x="2940772" y="1335680"/>
            <a:ext cx="3642464" cy="6063"/>
          </a:xfrm>
          <a:prstGeom prst="line">
            <a:avLst/>
          </a:prstGeom>
          <a:ln w="12700">
            <a:solidFill>
              <a:srgbClr val="7B7B7B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xtBox:31/138">
            <a:extLst>
              <a:ext uri="{FF2B5EF4-FFF2-40B4-BE49-F238E27FC236}">
                <a16:creationId xmlns:a16="http://schemas.microsoft.com/office/drawing/2014/main" id="{F671ED78-9353-726A-E459-72B052FFD9C0}"/>
              </a:ext>
            </a:extLst>
          </p:cNvPr>
          <p:cNvSpPr/>
          <p:nvPr/>
        </p:nvSpPr>
        <p:spPr>
          <a:xfrm>
            <a:off x="3795381" y="1230780"/>
            <a:ext cx="1966447" cy="18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Activity for Each Asset</a:t>
            </a:r>
          </a:p>
        </p:txBody>
      </p:sp>
      <p:cxnSp>
        <p:nvCxnSpPr>
          <p:cNvPr id="55" name="iBar:31/138">
            <a:extLst>
              <a:ext uri="{FF2B5EF4-FFF2-40B4-BE49-F238E27FC236}">
                <a16:creationId xmlns:a16="http://schemas.microsoft.com/office/drawing/2014/main" id="{58F0B3C0-FB81-84BA-1AC2-F3FFFFA89CBF}"/>
              </a:ext>
            </a:extLst>
          </p:cNvPr>
          <p:cNvCxnSpPr>
            <a:cxnSpLocks/>
          </p:cNvCxnSpPr>
          <p:nvPr/>
        </p:nvCxnSpPr>
        <p:spPr>
          <a:xfrm flipV="1">
            <a:off x="6691432" y="1331588"/>
            <a:ext cx="5240259" cy="11946"/>
          </a:xfrm>
          <a:prstGeom prst="line">
            <a:avLst/>
          </a:prstGeom>
          <a:ln w="12700">
            <a:solidFill>
              <a:srgbClr val="7B7B7B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xtBox:31/138">
            <a:extLst>
              <a:ext uri="{FF2B5EF4-FFF2-40B4-BE49-F238E27FC236}">
                <a16:creationId xmlns:a16="http://schemas.microsoft.com/office/drawing/2014/main" id="{62B86A88-F4EC-0525-1F16-D7978FB1A252}"/>
              </a:ext>
            </a:extLst>
          </p:cNvPr>
          <p:cNvSpPr/>
          <p:nvPr/>
        </p:nvSpPr>
        <p:spPr>
          <a:xfrm>
            <a:off x="7692335" y="1241059"/>
            <a:ext cx="3186606" cy="18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anose="02020603050405020304" pitchFamily="18" charset="0"/>
              </a:rPr>
              <a:t>Recurring Activity by Domain/Segment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8472CA-4FDB-F8F7-E09F-00EF9B32CD40}"/>
              </a:ext>
            </a:extLst>
          </p:cNvPr>
          <p:cNvSpPr/>
          <p:nvPr/>
        </p:nvSpPr>
        <p:spPr bwMode="gray">
          <a:xfrm>
            <a:off x="10276976" y="3601597"/>
            <a:ext cx="180264" cy="182880"/>
          </a:xfrm>
          <a:prstGeom prst="ellipse">
            <a:avLst/>
          </a:prstGeom>
          <a:solidFill>
            <a:schemeClr val="bg1"/>
          </a:solidFill>
          <a:ln w="22225" algn="ctr">
            <a:solidFill>
              <a:schemeClr val="bg1">
                <a:lumMod val="1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345C51-113E-8618-92F6-EFC72C0CA5B7}"/>
              </a:ext>
            </a:extLst>
          </p:cNvPr>
          <p:cNvCxnSpPr>
            <a:cxnSpLocks/>
          </p:cNvCxnSpPr>
          <p:nvPr/>
        </p:nvCxnSpPr>
        <p:spPr>
          <a:xfrm>
            <a:off x="11013286" y="3301270"/>
            <a:ext cx="0" cy="26064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urved Connector 39">
            <a:extLst>
              <a:ext uri="{FF2B5EF4-FFF2-40B4-BE49-F238E27FC236}">
                <a16:creationId xmlns:a16="http://schemas.microsoft.com/office/drawing/2014/main" id="{1985EF0D-7730-ECF7-DB91-BFCC7E520C6F}"/>
              </a:ext>
            </a:extLst>
          </p:cNvPr>
          <p:cNvCxnSpPr>
            <a:cxnSpLocks/>
            <a:endCxn id="5" idx="6"/>
          </p:cNvCxnSpPr>
          <p:nvPr/>
        </p:nvCxnSpPr>
        <p:spPr>
          <a:xfrm rot="10800000">
            <a:off x="3066944" y="3696175"/>
            <a:ext cx="1118788" cy="994811"/>
          </a:xfrm>
          <a:prstGeom prst="curvedConnector3">
            <a:avLst>
              <a:gd name="adj1" fmla="val 98319"/>
            </a:avLst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50">
            <a:extLst>
              <a:ext uri="{FF2B5EF4-FFF2-40B4-BE49-F238E27FC236}">
                <a16:creationId xmlns:a16="http://schemas.microsoft.com/office/drawing/2014/main" id="{0820A084-B3ED-567E-FF65-F249947CE815}"/>
              </a:ext>
            </a:extLst>
          </p:cNvPr>
          <p:cNvSpPr/>
          <p:nvPr/>
        </p:nvSpPr>
        <p:spPr>
          <a:xfrm>
            <a:off x="-1190445" y="614311"/>
            <a:ext cx="1817298" cy="254491"/>
          </a:xfrm>
          <a:custGeom>
            <a:avLst/>
            <a:gdLst>
              <a:gd name="connsiteX0" fmla="*/ 0 w 1817298"/>
              <a:gd name="connsiteY0" fmla="*/ 0 h 254491"/>
              <a:gd name="connsiteX1" fmla="*/ 385313 w 1817298"/>
              <a:gd name="connsiteY1" fmla="*/ 189781 h 254491"/>
              <a:gd name="connsiteX2" fmla="*/ 540589 w 1817298"/>
              <a:gd name="connsiteY2" fmla="*/ 247290 h 254491"/>
              <a:gd name="connsiteX3" fmla="*/ 1420483 w 1817298"/>
              <a:gd name="connsiteY3" fmla="*/ 241539 h 254491"/>
              <a:gd name="connsiteX4" fmla="*/ 1685026 w 1817298"/>
              <a:gd name="connsiteY4" fmla="*/ 138022 h 254491"/>
              <a:gd name="connsiteX5" fmla="*/ 1817298 w 1817298"/>
              <a:gd name="connsiteY5" fmla="*/ 11501 h 254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7298" h="254491">
                <a:moveTo>
                  <a:pt x="0" y="0"/>
                </a:moveTo>
                <a:cubicBezTo>
                  <a:pt x="147607" y="74283"/>
                  <a:pt x="295215" y="148566"/>
                  <a:pt x="385313" y="189781"/>
                </a:cubicBezTo>
                <a:cubicBezTo>
                  <a:pt x="475411" y="230996"/>
                  <a:pt x="368061" y="238664"/>
                  <a:pt x="540589" y="247290"/>
                </a:cubicBezTo>
                <a:cubicBezTo>
                  <a:pt x="713117" y="255916"/>
                  <a:pt x="1229744" y="259750"/>
                  <a:pt x="1420483" y="241539"/>
                </a:cubicBezTo>
                <a:cubicBezTo>
                  <a:pt x="1611223" y="223328"/>
                  <a:pt x="1618890" y="176362"/>
                  <a:pt x="1685026" y="138022"/>
                </a:cubicBezTo>
                <a:cubicBezTo>
                  <a:pt x="1751162" y="99682"/>
                  <a:pt x="1784230" y="55591"/>
                  <a:pt x="1817298" y="11501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DC6FA1EA-2C50-3DB7-59CF-84159901180B}"/>
              </a:ext>
            </a:extLst>
          </p:cNvPr>
          <p:cNvSpPr/>
          <p:nvPr/>
        </p:nvSpPr>
        <p:spPr>
          <a:xfrm>
            <a:off x="3072641" y="3692238"/>
            <a:ext cx="1783914" cy="250068"/>
          </a:xfrm>
          <a:custGeom>
            <a:avLst/>
            <a:gdLst>
              <a:gd name="connsiteX0" fmla="*/ 0 w 1826271"/>
              <a:gd name="connsiteY0" fmla="*/ 15929 h 230083"/>
              <a:gd name="connsiteX1" fmla="*/ 356558 w 1826271"/>
              <a:gd name="connsiteY1" fmla="*/ 211462 h 230083"/>
              <a:gd name="connsiteX2" fmla="*/ 1593011 w 1826271"/>
              <a:gd name="connsiteY2" fmla="*/ 199960 h 230083"/>
              <a:gd name="connsiteX3" fmla="*/ 1805796 w 1826271"/>
              <a:gd name="connsiteY3" fmla="*/ 15929 h 230083"/>
              <a:gd name="connsiteX4" fmla="*/ 1805796 w 1826271"/>
              <a:gd name="connsiteY4" fmla="*/ 21680 h 230083"/>
              <a:gd name="connsiteX0" fmla="*/ 0 w 1826271"/>
              <a:gd name="connsiteY0" fmla="*/ 15929 h 242986"/>
              <a:gd name="connsiteX1" fmla="*/ 356558 w 1826271"/>
              <a:gd name="connsiteY1" fmla="*/ 211462 h 242986"/>
              <a:gd name="connsiteX2" fmla="*/ 1339969 w 1826271"/>
              <a:gd name="connsiteY2" fmla="*/ 222964 h 242986"/>
              <a:gd name="connsiteX3" fmla="*/ 1805796 w 1826271"/>
              <a:gd name="connsiteY3" fmla="*/ 15929 h 242986"/>
              <a:gd name="connsiteX4" fmla="*/ 1805796 w 1826271"/>
              <a:gd name="connsiteY4" fmla="*/ 21680 h 242986"/>
              <a:gd name="connsiteX0" fmla="*/ 0 w 1826271"/>
              <a:gd name="connsiteY0" fmla="*/ 15929 h 259820"/>
              <a:gd name="connsiteX1" fmla="*/ 569343 w 1826271"/>
              <a:gd name="connsiteY1" fmla="*/ 240217 h 259820"/>
              <a:gd name="connsiteX2" fmla="*/ 1339969 w 1826271"/>
              <a:gd name="connsiteY2" fmla="*/ 222964 h 259820"/>
              <a:gd name="connsiteX3" fmla="*/ 1805796 w 1826271"/>
              <a:gd name="connsiteY3" fmla="*/ 15929 h 259820"/>
              <a:gd name="connsiteX4" fmla="*/ 1805796 w 1826271"/>
              <a:gd name="connsiteY4" fmla="*/ 21680 h 259820"/>
              <a:gd name="connsiteX0" fmla="*/ 0 w 1826271"/>
              <a:gd name="connsiteY0" fmla="*/ 15929 h 250068"/>
              <a:gd name="connsiteX1" fmla="*/ 569343 w 1826271"/>
              <a:gd name="connsiteY1" fmla="*/ 240217 h 250068"/>
              <a:gd name="connsiteX2" fmla="*/ 1339969 w 1826271"/>
              <a:gd name="connsiteY2" fmla="*/ 222964 h 250068"/>
              <a:gd name="connsiteX3" fmla="*/ 1805796 w 1826271"/>
              <a:gd name="connsiteY3" fmla="*/ 15929 h 250068"/>
              <a:gd name="connsiteX4" fmla="*/ 1805796 w 1826271"/>
              <a:gd name="connsiteY4" fmla="*/ 21680 h 2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6271" h="250068">
                <a:moveTo>
                  <a:pt x="0" y="15929"/>
                </a:moveTo>
                <a:cubicBezTo>
                  <a:pt x="45528" y="98359"/>
                  <a:pt x="288505" y="228715"/>
                  <a:pt x="569343" y="240217"/>
                </a:cubicBezTo>
                <a:cubicBezTo>
                  <a:pt x="850181" y="251719"/>
                  <a:pt x="1133894" y="260345"/>
                  <a:pt x="1339969" y="222964"/>
                </a:cubicBezTo>
                <a:cubicBezTo>
                  <a:pt x="1546044" y="185583"/>
                  <a:pt x="1805796" y="15929"/>
                  <a:pt x="1805796" y="15929"/>
                </a:cubicBezTo>
                <a:cubicBezTo>
                  <a:pt x="1841260" y="-13784"/>
                  <a:pt x="1823528" y="3948"/>
                  <a:pt x="1805796" y="21680"/>
                </a:cubicBezTo>
              </a:path>
            </a:pathLst>
          </a:custGeom>
          <a:ln w="31750">
            <a:solidFill>
              <a:srgbClr val="0874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83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39329D-BA0C-025C-2259-28B54B5E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101">
            <a:extLst>
              <a:ext uri="{FF2B5EF4-FFF2-40B4-BE49-F238E27FC236}">
                <a16:creationId xmlns:a16="http://schemas.microsoft.com/office/drawing/2014/main" id="{BE78A603-DFF4-9C18-F6BC-FF0DA12FCE2C}"/>
              </a:ext>
            </a:extLst>
          </p:cNvPr>
          <p:cNvSpPr/>
          <p:nvPr/>
        </p:nvSpPr>
        <p:spPr>
          <a:xfrm>
            <a:off x="2585128" y="3396023"/>
            <a:ext cx="5192656" cy="460222"/>
          </a:xfrm>
          <a:prstGeom prst="roundRect">
            <a:avLst>
              <a:gd name="adj" fmla="val 7166"/>
            </a:avLst>
          </a:prstGeom>
          <a:solidFill>
            <a:srgbClr val="6A97DF">
              <a:alpha val="29804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 lang="en-GB" sz="875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B88E49-0A71-2042-C4F8-55F6D9A6ADAB}"/>
              </a:ext>
            </a:extLst>
          </p:cNvPr>
          <p:cNvSpPr/>
          <p:nvPr/>
        </p:nvSpPr>
        <p:spPr>
          <a:xfrm>
            <a:off x="3520676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DDL Migrator Agent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0850F0-ECB5-152C-F2A0-CF59BE2EAB7B}"/>
              </a:ext>
            </a:extLst>
          </p:cNvPr>
          <p:cNvSpPr/>
          <p:nvPr/>
        </p:nvSpPr>
        <p:spPr>
          <a:xfrm>
            <a:off x="4424565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Code Converter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431B74-2657-F404-FCB8-1435988EC92D}"/>
              </a:ext>
            </a:extLst>
          </p:cNvPr>
          <p:cNvSpPr/>
          <p:nvPr/>
        </p:nvSpPr>
        <p:spPr>
          <a:xfrm>
            <a:off x="5321883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Migration Agent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37418D2-117F-102C-C286-1D263F5DE019}"/>
              </a:ext>
            </a:extLst>
          </p:cNvPr>
          <p:cNvSpPr/>
          <p:nvPr/>
        </p:nvSpPr>
        <p:spPr>
          <a:xfrm>
            <a:off x="1790359" y="2809442"/>
            <a:ext cx="188953" cy="1046803"/>
          </a:xfrm>
          <a:prstGeom prst="leftBrace">
            <a:avLst>
              <a:gd name="adj1" fmla="val 8333"/>
              <a:gd name="adj2" fmla="val 4768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sz="1750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3475E0B-1194-74B6-E3E8-66873AA7DCE8}"/>
              </a:ext>
            </a:extLst>
          </p:cNvPr>
          <p:cNvSpPr/>
          <p:nvPr/>
        </p:nvSpPr>
        <p:spPr>
          <a:xfrm flipH="1">
            <a:off x="8076140" y="2788891"/>
            <a:ext cx="218003" cy="1079554"/>
          </a:xfrm>
          <a:prstGeom prst="leftBrace">
            <a:avLst>
              <a:gd name="adj1" fmla="val 8333"/>
              <a:gd name="adj2" fmla="val 4768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GB" sz="1750" kern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7311B-7D97-140A-40F9-D478E9234C5E}"/>
              </a:ext>
            </a:extLst>
          </p:cNvPr>
          <p:cNvSpPr txBox="1"/>
          <p:nvPr/>
        </p:nvSpPr>
        <p:spPr>
          <a:xfrm>
            <a:off x="8339909" y="3120939"/>
            <a:ext cx="902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Team of helper agents &amp; tools</a:t>
            </a:r>
          </a:p>
        </p:txBody>
      </p:sp>
      <p:sp>
        <p:nvSpPr>
          <p:cNvPr id="12" name="Rectangle: Rounded Corners 128">
            <a:extLst>
              <a:ext uri="{FF2B5EF4-FFF2-40B4-BE49-F238E27FC236}">
                <a16:creationId xmlns:a16="http://schemas.microsoft.com/office/drawing/2014/main" id="{0679DE49-65DB-9DB6-47F7-DD931810C160}"/>
              </a:ext>
            </a:extLst>
          </p:cNvPr>
          <p:cNvSpPr/>
          <p:nvPr/>
        </p:nvSpPr>
        <p:spPr>
          <a:xfrm>
            <a:off x="3638587" y="1804314"/>
            <a:ext cx="2976104" cy="430024"/>
          </a:xfrm>
          <a:prstGeom prst="roundRect">
            <a:avLst/>
          </a:prstGeom>
          <a:solidFill>
            <a:schemeClr val="tx1">
              <a:lumMod val="20000"/>
              <a:lumOff val="80000"/>
              <a:alpha val="29804"/>
            </a:schemeClr>
          </a:solidFill>
          <a:ln w="19050"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Assist- Migration Agents </a:t>
            </a:r>
          </a:p>
        </p:txBody>
      </p:sp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BD6D1261-4043-40B7-F041-2CF594966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0015" y="1883064"/>
            <a:ext cx="272523" cy="272523"/>
          </a:xfrm>
          <a:prstGeom prst="rect">
            <a:avLst/>
          </a:prstGeom>
        </p:spPr>
      </p:pic>
      <p:cxnSp>
        <p:nvCxnSpPr>
          <p:cNvPr id="14" name="Connector: Elbow 130">
            <a:extLst>
              <a:ext uri="{FF2B5EF4-FFF2-40B4-BE49-F238E27FC236}">
                <a16:creationId xmlns:a16="http://schemas.microsoft.com/office/drawing/2014/main" id="{AF0B5B31-7071-F826-F2F0-778401103431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 rot="5400000">
            <a:off x="4239434" y="1935795"/>
            <a:ext cx="588662" cy="118574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C3E3FE-211E-002E-D7D3-95A7517649E8}"/>
              </a:ext>
            </a:extLst>
          </p:cNvPr>
          <p:cNvCxnSpPr>
            <a:cxnSpLocks/>
          </p:cNvCxnSpPr>
          <p:nvPr/>
        </p:nvCxnSpPr>
        <p:spPr>
          <a:xfrm>
            <a:off x="4861858" y="2230981"/>
            <a:ext cx="1186" cy="54908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25" name="Rounded Rectangle 636">
            <a:extLst>
              <a:ext uri="{FF2B5EF4-FFF2-40B4-BE49-F238E27FC236}">
                <a16:creationId xmlns:a16="http://schemas.microsoft.com/office/drawing/2014/main" id="{96078489-3639-95EA-B554-BE68BB2CEE27}"/>
              </a:ext>
            </a:extLst>
          </p:cNvPr>
          <p:cNvSpPr/>
          <p:nvPr/>
        </p:nvSpPr>
        <p:spPr>
          <a:xfrm>
            <a:off x="6218440" y="2832961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Testing Agent: Data &amp; Reports</a:t>
            </a:r>
          </a:p>
        </p:txBody>
      </p:sp>
      <p:cxnSp>
        <p:nvCxnSpPr>
          <p:cNvPr id="26" name="Connector: Elbow 130">
            <a:extLst>
              <a:ext uri="{FF2B5EF4-FFF2-40B4-BE49-F238E27FC236}">
                <a16:creationId xmlns:a16="http://schemas.microsoft.com/office/drawing/2014/main" id="{095D1B32-EEC1-4C4B-3D95-7AD06A325126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rot="16200000" flipH="1">
            <a:off x="5140037" y="2220940"/>
            <a:ext cx="588662" cy="61545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27" name="Connector: Elbow 130">
            <a:extLst>
              <a:ext uri="{FF2B5EF4-FFF2-40B4-BE49-F238E27FC236}">
                <a16:creationId xmlns:a16="http://schemas.microsoft.com/office/drawing/2014/main" id="{01FB2BFF-A16E-9669-CE19-E8D880867DC1}"/>
              </a:ext>
            </a:extLst>
          </p:cNvPr>
          <p:cNvCxnSpPr>
            <a:cxnSpLocks/>
            <a:stCxn id="12" idx="2"/>
            <a:endCxn id="25" idx="0"/>
          </p:cNvCxnSpPr>
          <p:nvPr/>
        </p:nvCxnSpPr>
        <p:spPr>
          <a:xfrm rot="16200000" flipH="1">
            <a:off x="5583335" y="1777641"/>
            <a:ext cx="598623" cy="151201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CDB2-CF9B-BFB8-506D-7BEC93E7FB89}"/>
              </a:ext>
            </a:extLst>
          </p:cNvPr>
          <p:cNvSpPr/>
          <p:nvPr/>
        </p:nvSpPr>
        <p:spPr>
          <a:xfrm>
            <a:off x="757044" y="1606152"/>
            <a:ext cx="1728504" cy="333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7FE64-CC97-52A7-5CBB-CB6AF5963968}"/>
              </a:ext>
            </a:extLst>
          </p:cNvPr>
          <p:cNvSpPr/>
          <p:nvPr/>
        </p:nvSpPr>
        <p:spPr>
          <a:xfrm>
            <a:off x="3653749" y="1608542"/>
            <a:ext cx="5486400" cy="285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A42C0-2D54-8F59-E293-32ADD7C5AC38}"/>
              </a:ext>
            </a:extLst>
          </p:cNvPr>
          <p:cNvSpPr txBox="1"/>
          <p:nvPr/>
        </p:nvSpPr>
        <p:spPr>
          <a:xfrm>
            <a:off x="697641" y="1248854"/>
            <a:ext cx="2198768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Rationalization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232E2-C14F-869A-E929-C2532A1C0FA9}"/>
              </a:ext>
            </a:extLst>
          </p:cNvPr>
          <p:cNvSpPr txBox="1"/>
          <p:nvPr/>
        </p:nvSpPr>
        <p:spPr>
          <a:xfrm>
            <a:off x="5788290" y="1238271"/>
            <a:ext cx="1745771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Migration Phase</a:t>
            </a:r>
          </a:p>
        </p:txBody>
      </p:sp>
      <p:sp>
        <p:nvSpPr>
          <p:cNvPr id="32" name="Rounded Rectangle 636">
            <a:extLst>
              <a:ext uri="{FF2B5EF4-FFF2-40B4-BE49-F238E27FC236}">
                <a16:creationId xmlns:a16="http://schemas.microsoft.com/office/drawing/2014/main" id="{F1FADD8F-F744-307A-6C2A-A30D477AEDA1}"/>
              </a:ext>
            </a:extLst>
          </p:cNvPr>
          <p:cNvSpPr/>
          <p:nvPr/>
        </p:nvSpPr>
        <p:spPr>
          <a:xfrm>
            <a:off x="7119875" y="2841471"/>
            <a:ext cx="860403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Code Optimization Agent</a:t>
            </a:r>
          </a:p>
        </p:txBody>
      </p:sp>
      <p:sp>
        <p:nvSpPr>
          <p:cNvPr id="33" name="Rounded Rectangle 635">
            <a:extLst>
              <a:ext uri="{FF2B5EF4-FFF2-40B4-BE49-F238E27FC236}">
                <a16:creationId xmlns:a16="http://schemas.microsoft.com/office/drawing/2014/main" id="{96319E52-3B1F-CE11-9ECD-4555BA75256A}"/>
              </a:ext>
            </a:extLst>
          </p:cNvPr>
          <p:cNvSpPr/>
          <p:nvPr/>
        </p:nvSpPr>
        <p:spPr>
          <a:xfrm>
            <a:off x="2896409" y="3432928"/>
            <a:ext cx="4549461" cy="36825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/>
                <a:cs typeface="Calibri" panose="020F0502020204030204" pitchFamily="34" charset="0"/>
              </a:rPr>
              <a:t>Data Assist </a:t>
            </a:r>
            <a:endParaRPr lang="en-GB" sz="875" b="1" kern="0" dirty="0">
              <a:solidFill>
                <a:schemeClr val="accent1">
                  <a:lumMod val="75000"/>
                </a:schemeClr>
              </a:solidFill>
              <a:ea typeface="Calibri"/>
              <a:cs typeface="Calibri" panose="020F0502020204030204" pitchFamily="34" charset="0"/>
            </a:endParaRPr>
          </a:p>
          <a:p>
            <a:pPr algn="ctr"/>
            <a:r>
              <a:rPr lang="en-GB" sz="688" b="1" i="1" kern="0" dirty="0">
                <a:solidFill>
                  <a:schemeClr val="accent1">
                    <a:lumMod val="75000"/>
                  </a:schemeClr>
                </a:solidFill>
                <a:ea typeface="Calibri"/>
                <a:cs typeface="Calibri" panose="020F0502020204030204" pitchFamily="34" charset="0"/>
              </a:rPr>
              <a:t>(Code Converter, Travis, etc.,)</a:t>
            </a:r>
            <a:endParaRPr lang="en-GB" sz="688" b="1" i="1" kern="0" dirty="0">
              <a:solidFill>
                <a:schemeClr val="accent1">
                  <a:lumMod val="7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Connector: Elbow 130">
            <a:extLst>
              <a:ext uri="{FF2B5EF4-FFF2-40B4-BE49-F238E27FC236}">
                <a16:creationId xmlns:a16="http://schemas.microsoft.com/office/drawing/2014/main" id="{844439BB-7652-EB67-3304-DDE92E608AAC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6034792" y="1326185"/>
            <a:ext cx="607133" cy="242343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pic>
        <p:nvPicPr>
          <p:cNvPr id="37" name="Graphic 36" descr="Robot outline">
            <a:extLst>
              <a:ext uri="{FF2B5EF4-FFF2-40B4-BE49-F238E27FC236}">
                <a16:creationId xmlns:a16="http://schemas.microsoft.com/office/drawing/2014/main" id="{8615FC3D-2273-B8CE-EF06-77D86A9F1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9360" y="3161459"/>
            <a:ext cx="248153" cy="259385"/>
          </a:xfrm>
          <a:prstGeom prst="rect">
            <a:avLst/>
          </a:prstGeom>
        </p:spPr>
      </p:pic>
      <p:pic>
        <p:nvPicPr>
          <p:cNvPr id="38" name="Graphic 37" descr="Mining tools with solid fill">
            <a:extLst>
              <a:ext uri="{FF2B5EF4-FFF2-40B4-BE49-F238E27FC236}">
                <a16:creationId xmlns:a16="http://schemas.microsoft.com/office/drawing/2014/main" id="{2E4B4C98-BBA4-C07F-C00E-1B14352B1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9521" y="3416267"/>
            <a:ext cx="172899" cy="1728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F36AEFF-2798-7552-F6A2-B169BF8A3A9A}"/>
              </a:ext>
            </a:extLst>
          </p:cNvPr>
          <p:cNvSpPr txBox="1"/>
          <p:nvPr/>
        </p:nvSpPr>
        <p:spPr>
          <a:xfrm>
            <a:off x="725942" y="2644861"/>
            <a:ext cx="760423" cy="5107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750" b="1" i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Identify reports which need to be considered for migration</a:t>
            </a:r>
          </a:p>
        </p:txBody>
      </p:sp>
      <p:sp>
        <p:nvSpPr>
          <p:cNvPr id="40" name="Rectangle: Rounded Corners 128">
            <a:extLst>
              <a:ext uri="{FF2B5EF4-FFF2-40B4-BE49-F238E27FC236}">
                <a16:creationId xmlns:a16="http://schemas.microsoft.com/office/drawing/2014/main" id="{89324DF8-428C-9087-60C8-93E75600FFE7}"/>
              </a:ext>
            </a:extLst>
          </p:cNvPr>
          <p:cNvSpPr/>
          <p:nvPr/>
        </p:nvSpPr>
        <p:spPr>
          <a:xfrm>
            <a:off x="698399" y="1804314"/>
            <a:ext cx="1787149" cy="430024"/>
          </a:xfrm>
          <a:prstGeom prst="roundRect">
            <a:avLst/>
          </a:prstGeom>
          <a:solidFill>
            <a:schemeClr val="bg1">
              <a:lumMod val="85000"/>
              <a:alpha val="29804"/>
            </a:schemeClr>
          </a:solidFill>
          <a:ln w="19050">
            <a:solidFill>
              <a:schemeClr val="bg1">
                <a:lumMod val="65000"/>
              </a:schemeClr>
            </a:solidFill>
          </a:ln>
          <a:effectLst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 - DRECT</a:t>
            </a:r>
            <a:endParaRPr lang="en-GB" sz="1125" kern="0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Graphic 40" descr="Robot with solid fill">
            <a:extLst>
              <a:ext uri="{FF2B5EF4-FFF2-40B4-BE49-F238E27FC236}">
                <a16:creationId xmlns:a16="http://schemas.microsoft.com/office/drawing/2014/main" id="{40487753-A5AD-568F-8F0F-484A97A56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907" y="1883064"/>
            <a:ext cx="272523" cy="272523"/>
          </a:xfrm>
          <a:prstGeom prst="rect">
            <a:avLst/>
          </a:prstGeom>
        </p:spPr>
      </p:pic>
      <p:sp>
        <p:nvSpPr>
          <p:cNvPr id="42" name="Rectangle: Rounded Corners 128">
            <a:extLst>
              <a:ext uri="{FF2B5EF4-FFF2-40B4-BE49-F238E27FC236}">
                <a16:creationId xmlns:a16="http://schemas.microsoft.com/office/drawing/2014/main" id="{BE5665AD-0264-91A6-18DF-68FB9748D8BA}"/>
              </a:ext>
            </a:extLst>
          </p:cNvPr>
          <p:cNvSpPr/>
          <p:nvPr/>
        </p:nvSpPr>
        <p:spPr>
          <a:xfrm>
            <a:off x="6989160" y="1780114"/>
            <a:ext cx="2252945" cy="430024"/>
          </a:xfrm>
          <a:prstGeom prst="roundRect">
            <a:avLst/>
          </a:prstGeom>
          <a:solidFill>
            <a:schemeClr val="accent1">
              <a:alpha val="14000"/>
            </a:schemeClr>
          </a:solidFill>
          <a:ln w="19050">
            <a:solidFill>
              <a:schemeClr val="tx1"/>
            </a:solidFill>
          </a:ln>
          <a:effectLst/>
        </p:spPr>
        <p:txBody>
          <a:bodyPr wrap="square" lIns="400050" tIns="114300" rIns="91440" bIns="45720" rtlCol="0" anchor="ctr" anchorCtr="0">
            <a:noAutofit/>
          </a:bodyPr>
          <a:lstStyle/>
          <a:p>
            <a:pPr algn="ctr">
              <a:defRPr/>
            </a:pPr>
            <a:endParaRPr lang="en-GB" sz="875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" name="Connector: Elbow 130">
            <a:extLst>
              <a:ext uri="{FF2B5EF4-FFF2-40B4-BE49-F238E27FC236}">
                <a16:creationId xmlns:a16="http://schemas.microsoft.com/office/drawing/2014/main" id="{8280336E-6712-8255-FEB7-8C844A9FE86E}"/>
              </a:ext>
            </a:extLst>
          </p:cNvPr>
          <p:cNvCxnSpPr>
            <a:cxnSpLocks/>
            <a:stCxn id="42" idx="2"/>
            <a:endCxn id="32" idx="3"/>
          </p:cNvCxnSpPr>
          <p:nvPr/>
        </p:nvCxnSpPr>
        <p:spPr>
          <a:xfrm rot="5400000">
            <a:off x="7595018" y="2595399"/>
            <a:ext cx="905876" cy="135355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44" name="Connector: Elbow 130">
            <a:extLst>
              <a:ext uri="{FF2B5EF4-FFF2-40B4-BE49-F238E27FC236}">
                <a16:creationId xmlns:a16="http://schemas.microsoft.com/office/drawing/2014/main" id="{EAFFD876-722B-BBD3-582E-99DFFF41FBB7}"/>
              </a:ext>
            </a:extLst>
          </p:cNvPr>
          <p:cNvCxnSpPr>
            <a:cxnSpLocks/>
            <a:stCxn id="42" idx="2"/>
            <a:endCxn id="25" idx="0"/>
          </p:cNvCxnSpPr>
          <p:nvPr/>
        </p:nvCxnSpPr>
        <p:spPr>
          <a:xfrm rot="5400000">
            <a:off x="7065733" y="1783060"/>
            <a:ext cx="622823" cy="14769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45" name="Flowchart: Connector 37">
            <a:extLst>
              <a:ext uri="{FF2B5EF4-FFF2-40B4-BE49-F238E27FC236}">
                <a16:creationId xmlns:a16="http://schemas.microsoft.com/office/drawing/2014/main" id="{09EBB974-252B-207F-24C0-3BD3D327F8C1}"/>
              </a:ext>
            </a:extLst>
          </p:cNvPr>
          <p:cNvSpPr/>
          <p:nvPr/>
        </p:nvSpPr>
        <p:spPr>
          <a:xfrm>
            <a:off x="3450028" y="2797196"/>
            <a:ext cx="187981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Flowchart: Connector 37">
            <a:extLst>
              <a:ext uri="{FF2B5EF4-FFF2-40B4-BE49-F238E27FC236}">
                <a16:creationId xmlns:a16="http://schemas.microsoft.com/office/drawing/2014/main" id="{04126FAB-7FB7-03CF-22AF-EA22114F7F7D}"/>
              </a:ext>
            </a:extLst>
          </p:cNvPr>
          <p:cNvSpPr/>
          <p:nvPr/>
        </p:nvSpPr>
        <p:spPr>
          <a:xfrm>
            <a:off x="4389237" y="2785810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Flowchart: Connector 37">
            <a:extLst>
              <a:ext uri="{FF2B5EF4-FFF2-40B4-BE49-F238E27FC236}">
                <a16:creationId xmlns:a16="http://schemas.microsoft.com/office/drawing/2014/main" id="{F95C5769-C8C8-4A63-9D8D-3C8CC96ABDCF}"/>
              </a:ext>
            </a:extLst>
          </p:cNvPr>
          <p:cNvSpPr/>
          <p:nvPr/>
        </p:nvSpPr>
        <p:spPr>
          <a:xfrm>
            <a:off x="5306135" y="2791988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lowchart: Connector 37">
            <a:extLst>
              <a:ext uri="{FF2B5EF4-FFF2-40B4-BE49-F238E27FC236}">
                <a16:creationId xmlns:a16="http://schemas.microsoft.com/office/drawing/2014/main" id="{F9F3BADD-442E-E9D6-7CD5-6613E8FB72E8}"/>
              </a:ext>
            </a:extLst>
          </p:cNvPr>
          <p:cNvSpPr/>
          <p:nvPr/>
        </p:nvSpPr>
        <p:spPr>
          <a:xfrm>
            <a:off x="6199735" y="2791052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Flowchart: Connector 37">
            <a:extLst>
              <a:ext uri="{FF2B5EF4-FFF2-40B4-BE49-F238E27FC236}">
                <a16:creationId xmlns:a16="http://schemas.microsoft.com/office/drawing/2014/main" id="{3E0A5F1E-0AA0-C051-F18C-9F43AA391704}"/>
              </a:ext>
            </a:extLst>
          </p:cNvPr>
          <p:cNvSpPr/>
          <p:nvPr/>
        </p:nvSpPr>
        <p:spPr>
          <a:xfrm>
            <a:off x="7093423" y="2797806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E0FBD4-C766-FA01-3F8F-889C214A4251}"/>
              </a:ext>
            </a:extLst>
          </p:cNvPr>
          <p:cNvSpPr txBox="1"/>
          <p:nvPr/>
        </p:nvSpPr>
        <p:spPr>
          <a:xfrm>
            <a:off x="7168274" y="1870186"/>
            <a:ext cx="22223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Assist-Optimization Agent </a:t>
            </a:r>
            <a:endParaRPr lang="en-GB" sz="1125" kern="0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or: Elbow 139">
            <a:extLst>
              <a:ext uri="{FF2B5EF4-FFF2-40B4-BE49-F238E27FC236}">
                <a16:creationId xmlns:a16="http://schemas.microsoft.com/office/drawing/2014/main" id="{B423A5FA-88FC-B76D-5305-F44880E789EC}"/>
              </a:ext>
            </a:extLst>
          </p:cNvPr>
          <p:cNvCxnSpPr>
            <a:cxnSpLocks/>
            <a:stCxn id="33" idx="1"/>
            <a:endCxn id="40" idx="2"/>
          </p:cNvCxnSpPr>
          <p:nvPr/>
        </p:nvCxnSpPr>
        <p:spPr>
          <a:xfrm rot="10800000">
            <a:off x="1591975" y="2234339"/>
            <a:ext cx="1304435" cy="1382719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52" name="Rounded Rectangle 634">
            <a:extLst>
              <a:ext uri="{FF2B5EF4-FFF2-40B4-BE49-F238E27FC236}">
                <a16:creationId xmlns:a16="http://schemas.microsoft.com/office/drawing/2014/main" id="{974F702A-015A-AF6D-E0D6-221EBC782269}"/>
              </a:ext>
            </a:extLst>
          </p:cNvPr>
          <p:cNvSpPr/>
          <p:nvPr/>
        </p:nvSpPr>
        <p:spPr>
          <a:xfrm>
            <a:off x="2211837" y="2816072"/>
            <a:ext cx="1219412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sz="875" b="1" kern="0" dirty="0">
                <a:solidFill>
                  <a:schemeClr val="tx2"/>
                </a:solidFill>
                <a:cs typeface="Calibri" panose="020F0502020204030204" pitchFamily="34" charset="0"/>
              </a:rPr>
              <a:t> Report Rationalization</a:t>
            </a:r>
          </a:p>
          <a:p>
            <a:pPr>
              <a:defRPr/>
            </a:pPr>
            <a:endParaRPr lang="en-US" sz="875" b="1" kern="0" dirty="0">
              <a:solidFill>
                <a:schemeClr val="tx2"/>
              </a:solidFill>
              <a:cs typeface="Calibri" panose="020F0502020204030204" pitchFamily="34" charset="0"/>
            </a:endParaRPr>
          </a:p>
        </p:txBody>
      </p:sp>
      <p:sp>
        <p:nvSpPr>
          <p:cNvPr id="53" name="Flowchart: Connector 37">
            <a:extLst>
              <a:ext uri="{FF2B5EF4-FFF2-40B4-BE49-F238E27FC236}">
                <a16:creationId xmlns:a16="http://schemas.microsoft.com/office/drawing/2014/main" id="{3423F235-0DA6-1957-D20E-C6904C4D4950}"/>
              </a:ext>
            </a:extLst>
          </p:cNvPr>
          <p:cNvSpPr/>
          <p:nvPr/>
        </p:nvSpPr>
        <p:spPr>
          <a:xfrm>
            <a:off x="2150500" y="2768881"/>
            <a:ext cx="182549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Connector: Elbow 139">
            <a:extLst>
              <a:ext uri="{FF2B5EF4-FFF2-40B4-BE49-F238E27FC236}">
                <a16:creationId xmlns:a16="http://schemas.microsoft.com/office/drawing/2014/main" id="{03F47956-0C0E-E368-0AB8-595635F1DDA2}"/>
              </a:ext>
            </a:extLst>
          </p:cNvPr>
          <p:cNvCxnSpPr>
            <a:cxnSpLocks/>
            <a:stCxn id="52" idx="0"/>
            <a:endCxn id="40" idx="2"/>
          </p:cNvCxnSpPr>
          <p:nvPr/>
        </p:nvCxnSpPr>
        <p:spPr>
          <a:xfrm rot="16200000" flipV="1">
            <a:off x="1915892" y="1910420"/>
            <a:ext cx="581734" cy="122956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56" name="Connector: Elbow 139">
            <a:extLst>
              <a:ext uri="{FF2B5EF4-FFF2-40B4-BE49-F238E27FC236}">
                <a16:creationId xmlns:a16="http://schemas.microsoft.com/office/drawing/2014/main" id="{5F68B834-3736-9646-3866-D356E23F2456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551237" y="2841784"/>
            <a:ext cx="660600" cy="2488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pic>
        <p:nvPicPr>
          <p:cNvPr id="69" name="Graphic 68" descr="Robot with solid fill">
            <a:extLst>
              <a:ext uri="{FF2B5EF4-FFF2-40B4-BE49-F238E27FC236}">
                <a16:creationId xmlns:a16="http://schemas.microsoft.com/office/drawing/2014/main" id="{5549B64D-B6AB-25B8-DE24-86658B312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1752" y="1858865"/>
            <a:ext cx="272523" cy="27252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C339B16C-302C-DEF1-B6E4-C44620BDDC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942" y="4146191"/>
            <a:ext cx="1468809" cy="1236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99120CC-14D9-0A12-8556-9DE2D46079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202" y="4101759"/>
            <a:ext cx="1667518" cy="10517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5637A560-DE81-9379-4B66-22236120D2AA}"/>
              </a:ext>
            </a:extLst>
          </p:cNvPr>
          <p:cNvSpPr txBox="1"/>
          <p:nvPr/>
        </p:nvSpPr>
        <p:spPr>
          <a:xfrm>
            <a:off x="196462" y="5125179"/>
            <a:ext cx="1398863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75" b="1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Inventory Dependency Tracker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198908-BA0D-3996-EB04-FC395C2445C8}"/>
              </a:ext>
            </a:extLst>
          </p:cNvPr>
          <p:cNvSpPr txBox="1"/>
          <p:nvPr/>
        </p:nvSpPr>
        <p:spPr>
          <a:xfrm>
            <a:off x="1546801" y="5425711"/>
            <a:ext cx="1398863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75" b="1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Track Agentic Conversion Progress</a:t>
            </a:r>
          </a:p>
        </p:txBody>
      </p:sp>
      <p:cxnSp>
        <p:nvCxnSpPr>
          <p:cNvPr id="74" name="Connector: Elbow 139">
            <a:extLst>
              <a:ext uri="{FF2B5EF4-FFF2-40B4-BE49-F238E27FC236}">
                <a16:creationId xmlns:a16="http://schemas.microsoft.com/office/drawing/2014/main" id="{7920714F-87FB-F8A6-F040-BC8B42C30FE3}"/>
              </a:ext>
            </a:extLst>
          </p:cNvPr>
          <p:cNvCxnSpPr>
            <a:cxnSpLocks/>
            <a:endCxn id="39" idx="2"/>
          </p:cNvCxnSpPr>
          <p:nvPr/>
        </p:nvCxnSpPr>
        <p:spPr>
          <a:xfrm rot="16200000" flipV="1">
            <a:off x="634383" y="3627410"/>
            <a:ext cx="943546" cy="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75" name="Connector: Elbow 139">
            <a:extLst>
              <a:ext uri="{FF2B5EF4-FFF2-40B4-BE49-F238E27FC236}">
                <a16:creationId xmlns:a16="http://schemas.microsoft.com/office/drawing/2014/main" id="{C831AC0A-3311-7848-968A-14CA022D9F4B}"/>
              </a:ext>
            </a:extLst>
          </p:cNvPr>
          <p:cNvCxnSpPr>
            <a:cxnSpLocks/>
            <a:stCxn id="70" idx="0"/>
          </p:cNvCxnSpPr>
          <p:nvPr/>
        </p:nvCxnSpPr>
        <p:spPr>
          <a:xfrm rot="5400000" flipH="1" flipV="1">
            <a:off x="2710150" y="3504932"/>
            <a:ext cx="167457" cy="111506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76" name="Connector: Elbow 139">
            <a:extLst>
              <a:ext uri="{FF2B5EF4-FFF2-40B4-BE49-F238E27FC236}">
                <a16:creationId xmlns:a16="http://schemas.microsoft.com/office/drawing/2014/main" id="{9243CF9F-25E4-6073-0C70-0A41E51E15AA}"/>
              </a:ext>
            </a:extLst>
          </p:cNvPr>
          <p:cNvCxnSpPr>
            <a:cxnSpLocks/>
          </p:cNvCxnSpPr>
          <p:nvPr/>
        </p:nvCxnSpPr>
        <p:spPr>
          <a:xfrm rot="5400000">
            <a:off x="3396932" y="3733329"/>
            <a:ext cx="1050153" cy="3447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grpSp>
        <p:nvGrpSpPr>
          <p:cNvPr id="77" name="Graphic 4">
            <a:extLst>
              <a:ext uri="{FF2B5EF4-FFF2-40B4-BE49-F238E27FC236}">
                <a16:creationId xmlns:a16="http://schemas.microsoft.com/office/drawing/2014/main" id="{D093A592-2F5D-7843-AD49-96096C841434}"/>
              </a:ext>
            </a:extLst>
          </p:cNvPr>
          <p:cNvGrpSpPr/>
          <p:nvPr/>
        </p:nvGrpSpPr>
        <p:grpSpPr>
          <a:xfrm>
            <a:off x="3607356" y="5673367"/>
            <a:ext cx="159469" cy="183749"/>
            <a:chOff x="4746445" y="988403"/>
            <a:chExt cx="191697" cy="220885"/>
          </a:xfrm>
          <a:solidFill>
            <a:schemeClr val="bg1"/>
          </a:solidFill>
        </p:grpSpPr>
        <p:sp>
          <p:nvSpPr>
            <p:cNvPr id="78" name="Graphic 4">
              <a:extLst>
                <a:ext uri="{FF2B5EF4-FFF2-40B4-BE49-F238E27FC236}">
                  <a16:creationId xmlns:a16="http://schemas.microsoft.com/office/drawing/2014/main" id="{23CA28E8-616A-D47B-5E2C-A01C2E971480}"/>
                </a:ext>
              </a:extLst>
            </p:cNvPr>
            <p:cNvSpPr/>
            <p:nvPr/>
          </p:nvSpPr>
          <p:spPr>
            <a:xfrm>
              <a:off x="4746445" y="988403"/>
              <a:ext cx="58787" cy="220885"/>
            </a:xfrm>
            <a:custGeom>
              <a:avLst/>
              <a:gdLst>
                <a:gd name="connsiteX0" fmla="*/ 35784 w 58787"/>
                <a:gd name="connsiteY0" fmla="*/ 29366 h 220885"/>
                <a:gd name="connsiteX1" fmla="*/ 35784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29366 h 220885"/>
                <a:gd name="connsiteX5" fmla="*/ 0 w 58787"/>
                <a:gd name="connsiteY5" fmla="*/ 58094 h 220885"/>
                <a:gd name="connsiteX6" fmla="*/ 23004 w 58787"/>
                <a:gd name="connsiteY6" fmla="*/ 86822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4 w 58787"/>
                <a:gd name="connsiteY9" fmla="*/ 214502 h 220885"/>
                <a:gd name="connsiteX10" fmla="*/ 35784 w 58787"/>
                <a:gd name="connsiteY10" fmla="*/ 86822 h 220885"/>
                <a:gd name="connsiteX11" fmla="*/ 58788 w 58787"/>
                <a:gd name="connsiteY11" fmla="*/ 58094 h 220885"/>
                <a:gd name="connsiteX12" fmla="*/ 35784 w 58787"/>
                <a:gd name="connsiteY12" fmla="*/ 29366 h 220885"/>
                <a:gd name="connsiteX13" fmla="*/ 29394 w 58787"/>
                <a:gd name="connsiteY13" fmla="*/ 74693 h 220885"/>
                <a:gd name="connsiteX14" fmla="*/ 12780 w 58787"/>
                <a:gd name="connsiteY14" fmla="*/ 58094 h 220885"/>
                <a:gd name="connsiteX15" fmla="*/ 29394 w 58787"/>
                <a:gd name="connsiteY15" fmla="*/ 41496 h 220885"/>
                <a:gd name="connsiteX16" fmla="*/ 46008 w 58787"/>
                <a:gd name="connsiteY16" fmla="*/ 58094 h 220885"/>
                <a:gd name="connsiteX17" fmla="*/ 29394 w 58787"/>
                <a:gd name="connsiteY17" fmla="*/ 74693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4" y="29366"/>
                  </a:moveTo>
                  <a:lnTo>
                    <a:pt x="35784" y="6384"/>
                  </a:lnTo>
                  <a:cubicBezTo>
                    <a:pt x="35784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29366"/>
                  </a:lnTo>
                  <a:cubicBezTo>
                    <a:pt x="9585" y="32558"/>
                    <a:pt x="0" y="44050"/>
                    <a:pt x="0" y="58094"/>
                  </a:cubicBezTo>
                  <a:cubicBezTo>
                    <a:pt x="0" y="72139"/>
                    <a:pt x="10224" y="84269"/>
                    <a:pt x="23004" y="86822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4" y="218332"/>
                    <a:pt x="35784" y="214502"/>
                  </a:cubicBezTo>
                  <a:lnTo>
                    <a:pt x="35784" y="86822"/>
                  </a:lnTo>
                  <a:cubicBezTo>
                    <a:pt x="49203" y="83630"/>
                    <a:pt x="58788" y="72139"/>
                    <a:pt x="58788" y="58094"/>
                  </a:cubicBezTo>
                  <a:cubicBezTo>
                    <a:pt x="58788" y="44050"/>
                    <a:pt x="49203" y="32558"/>
                    <a:pt x="35784" y="29366"/>
                  </a:cubicBezTo>
                  <a:close/>
                  <a:moveTo>
                    <a:pt x="29394" y="74693"/>
                  </a:moveTo>
                  <a:cubicBezTo>
                    <a:pt x="20448" y="74693"/>
                    <a:pt x="12780" y="67032"/>
                    <a:pt x="12780" y="58094"/>
                  </a:cubicBezTo>
                  <a:cubicBezTo>
                    <a:pt x="12780" y="49157"/>
                    <a:pt x="20448" y="41496"/>
                    <a:pt x="29394" y="41496"/>
                  </a:cubicBezTo>
                  <a:cubicBezTo>
                    <a:pt x="38340" y="41496"/>
                    <a:pt x="46008" y="49157"/>
                    <a:pt x="46008" y="58094"/>
                  </a:cubicBezTo>
                  <a:cubicBezTo>
                    <a:pt x="46008" y="67032"/>
                    <a:pt x="38340" y="74693"/>
                    <a:pt x="29394" y="74693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79" name="Graphic 4">
              <a:extLst>
                <a:ext uri="{FF2B5EF4-FFF2-40B4-BE49-F238E27FC236}">
                  <a16:creationId xmlns:a16="http://schemas.microsoft.com/office/drawing/2014/main" id="{71D3C1CB-1259-706C-9643-53D2CCE015BF}"/>
                </a:ext>
              </a:extLst>
            </p:cNvPr>
            <p:cNvSpPr/>
            <p:nvPr/>
          </p:nvSpPr>
          <p:spPr>
            <a:xfrm>
              <a:off x="4879355" y="988403"/>
              <a:ext cx="58787" cy="220885"/>
            </a:xfrm>
            <a:custGeom>
              <a:avLst/>
              <a:gdLst>
                <a:gd name="connsiteX0" fmla="*/ 35784 w 58787"/>
                <a:gd name="connsiteY0" fmla="*/ 66393 h 220885"/>
                <a:gd name="connsiteX1" fmla="*/ 35784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66393 h 220885"/>
                <a:gd name="connsiteX5" fmla="*/ 0 w 58787"/>
                <a:gd name="connsiteY5" fmla="*/ 95121 h 220885"/>
                <a:gd name="connsiteX6" fmla="*/ 23004 w 58787"/>
                <a:gd name="connsiteY6" fmla="*/ 123849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4 w 58787"/>
                <a:gd name="connsiteY9" fmla="*/ 214502 h 220885"/>
                <a:gd name="connsiteX10" fmla="*/ 35784 w 58787"/>
                <a:gd name="connsiteY10" fmla="*/ 123849 h 220885"/>
                <a:gd name="connsiteX11" fmla="*/ 58788 w 58787"/>
                <a:gd name="connsiteY11" fmla="*/ 95121 h 220885"/>
                <a:gd name="connsiteX12" fmla="*/ 35784 w 58787"/>
                <a:gd name="connsiteY12" fmla="*/ 66393 h 220885"/>
                <a:gd name="connsiteX13" fmla="*/ 29394 w 58787"/>
                <a:gd name="connsiteY13" fmla="*/ 111720 h 220885"/>
                <a:gd name="connsiteX14" fmla="*/ 12780 w 58787"/>
                <a:gd name="connsiteY14" fmla="*/ 95121 h 220885"/>
                <a:gd name="connsiteX15" fmla="*/ 29394 w 58787"/>
                <a:gd name="connsiteY15" fmla="*/ 78523 h 220885"/>
                <a:gd name="connsiteX16" fmla="*/ 46008 w 58787"/>
                <a:gd name="connsiteY16" fmla="*/ 95121 h 220885"/>
                <a:gd name="connsiteX17" fmla="*/ 29394 w 58787"/>
                <a:gd name="connsiteY17" fmla="*/ 111720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4" y="66393"/>
                  </a:moveTo>
                  <a:lnTo>
                    <a:pt x="35784" y="6384"/>
                  </a:lnTo>
                  <a:cubicBezTo>
                    <a:pt x="35784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66393"/>
                  </a:lnTo>
                  <a:cubicBezTo>
                    <a:pt x="9585" y="69585"/>
                    <a:pt x="0" y="81077"/>
                    <a:pt x="0" y="95121"/>
                  </a:cubicBezTo>
                  <a:cubicBezTo>
                    <a:pt x="0" y="109166"/>
                    <a:pt x="10224" y="121296"/>
                    <a:pt x="23004" y="123849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4" y="218332"/>
                    <a:pt x="35784" y="214502"/>
                  </a:cubicBezTo>
                  <a:lnTo>
                    <a:pt x="35784" y="123849"/>
                  </a:lnTo>
                  <a:cubicBezTo>
                    <a:pt x="49203" y="120657"/>
                    <a:pt x="58788" y="109166"/>
                    <a:pt x="58788" y="95121"/>
                  </a:cubicBezTo>
                  <a:cubicBezTo>
                    <a:pt x="58788" y="81077"/>
                    <a:pt x="49203" y="69585"/>
                    <a:pt x="35784" y="66393"/>
                  </a:cubicBezTo>
                  <a:close/>
                  <a:moveTo>
                    <a:pt x="29394" y="111720"/>
                  </a:moveTo>
                  <a:cubicBezTo>
                    <a:pt x="20448" y="111720"/>
                    <a:pt x="12780" y="104059"/>
                    <a:pt x="12780" y="95121"/>
                  </a:cubicBezTo>
                  <a:cubicBezTo>
                    <a:pt x="12780" y="86184"/>
                    <a:pt x="20448" y="78523"/>
                    <a:pt x="29394" y="78523"/>
                  </a:cubicBezTo>
                  <a:cubicBezTo>
                    <a:pt x="38340" y="78523"/>
                    <a:pt x="46008" y="86184"/>
                    <a:pt x="46008" y="95121"/>
                  </a:cubicBezTo>
                  <a:cubicBezTo>
                    <a:pt x="46647" y="104697"/>
                    <a:pt x="38979" y="111720"/>
                    <a:pt x="29394" y="111720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80" name="Graphic 4">
              <a:extLst>
                <a:ext uri="{FF2B5EF4-FFF2-40B4-BE49-F238E27FC236}">
                  <a16:creationId xmlns:a16="http://schemas.microsoft.com/office/drawing/2014/main" id="{D21C75F6-ADCE-BE34-77C3-6A71BE71D117}"/>
                </a:ext>
              </a:extLst>
            </p:cNvPr>
            <p:cNvSpPr/>
            <p:nvPr/>
          </p:nvSpPr>
          <p:spPr>
            <a:xfrm>
              <a:off x="4812900" y="988403"/>
              <a:ext cx="58787" cy="220885"/>
            </a:xfrm>
            <a:custGeom>
              <a:avLst/>
              <a:gdLst>
                <a:gd name="connsiteX0" fmla="*/ 35783 w 58787"/>
                <a:gd name="connsiteY0" fmla="*/ 132787 h 220885"/>
                <a:gd name="connsiteX1" fmla="*/ 35783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132787 h 220885"/>
                <a:gd name="connsiteX5" fmla="*/ 0 w 58787"/>
                <a:gd name="connsiteY5" fmla="*/ 161515 h 220885"/>
                <a:gd name="connsiteX6" fmla="*/ 23004 w 58787"/>
                <a:gd name="connsiteY6" fmla="*/ 190243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3 w 58787"/>
                <a:gd name="connsiteY9" fmla="*/ 214502 h 220885"/>
                <a:gd name="connsiteX10" fmla="*/ 35783 w 58787"/>
                <a:gd name="connsiteY10" fmla="*/ 190243 h 220885"/>
                <a:gd name="connsiteX11" fmla="*/ 58788 w 58787"/>
                <a:gd name="connsiteY11" fmla="*/ 161515 h 220885"/>
                <a:gd name="connsiteX12" fmla="*/ 35783 w 58787"/>
                <a:gd name="connsiteY12" fmla="*/ 132787 h 220885"/>
                <a:gd name="connsiteX13" fmla="*/ 29394 w 58787"/>
                <a:gd name="connsiteY13" fmla="*/ 178752 h 220885"/>
                <a:gd name="connsiteX14" fmla="*/ 12780 w 58787"/>
                <a:gd name="connsiteY14" fmla="*/ 162153 h 220885"/>
                <a:gd name="connsiteX15" fmla="*/ 29394 w 58787"/>
                <a:gd name="connsiteY15" fmla="*/ 145555 h 220885"/>
                <a:gd name="connsiteX16" fmla="*/ 46008 w 58787"/>
                <a:gd name="connsiteY16" fmla="*/ 162153 h 220885"/>
                <a:gd name="connsiteX17" fmla="*/ 29394 w 58787"/>
                <a:gd name="connsiteY17" fmla="*/ 178752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3" y="132787"/>
                  </a:moveTo>
                  <a:lnTo>
                    <a:pt x="35783" y="6384"/>
                  </a:lnTo>
                  <a:cubicBezTo>
                    <a:pt x="35783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132787"/>
                  </a:lnTo>
                  <a:cubicBezTo>
                    <a:pt x="9585" y="135979"/>
                    <a:pt x="0" y="147470"/>
                    <a:pt x="0" y="161515"/>
                  </a:cubicBezTo>
                  <a:cubicBezTo>
                    <a:pt x="0" y="175560"/>
                    <a:pt x="10224" y="187689"/>
                    <a:pt x="23004" y="190243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3" y="218332"/>
                    <a:pt x="35783" y="214502"/>
                  </a:cubicBezTo>
                  <a:lnTo>
                    <a:pt x="35783" y="190243"/>
                  </a:lnTo>
                  <a:cubicBezTo>
                    <a:pt x="49203" y="187051"/>
                    <a:pt x="58788" y="175560"/>
                    <a:pt x="58788" y="161515"/>
                  </a:cubicBezTo>
                  <a:cubicBezTo>
                    <a:pt x="58788" y="147470"/>
                    <a:pt x="49203" y="135979"/>
                    <a:pt x="35783" y="132787"/>
                  </a:cubicBezTo>
                  <a:close/>
                  <a:moveTo>
                    <a:pt x="29394" y="178752"/>
                  </a:moveTo>
                  <a:cubicBezTo>
                    <a:pt x="20448" y="178752"/>
                    <a:pt x="12780" y="171091"/>
                    <a:pt x="12780" y="162153"/>
                  </a:cubicBezTo>
                  <a:cubicBezTo>
                    <a:pt x="12780" y="153216"/>
                    <a:pt x="20448" y="145555"/>
                    <a:pt x="29394" y="145555"/>
                  </a:cubicBezTo>
                  <a:cubicBezTo>
                    <a:pt x="38340" y="145555"/>
                    <a:pt x="46008" y="153216"/>
                    <a:pt x="46008" y="162153"/>
                  </a:cubicBezTo>
                  <a:cubicBezTo>
                    <a:pt x="46008" y="171091"/>
                    <a:pt x="38340" y="178752"/>
                    <a:pt x="29394" y="178752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A6F3AE-0466-BBB7-3A40-A4F35C9E20B7}"/>
              </a:ext>
            </a:extLst>
          </p:cNvPr>
          <p:cNvCxnSpPr/>
          <p:nvPr/>
        </p:nvCxnSpPr>
        <p:spPr>
          <a:xfrm flipV="1">
            <a:off x="3355524" y="3856245"/>
            <a:ext cx="0" cy="122297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072A6E3A-0980-38F0-F356-DAF7E87BAB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535" y="4095389"/>
            <a:ext cx="2824872" cy="1727658"/>
          </a:xfrm>
          <a:prstGeom prst="rect">
            <a:avLst/>
          </a:prstGeom>
        </p:spPr>
      </p:pic>
      <p:pic>
        <p:nvPicPr>
          <p:cNvPr id="105" name="Picture 10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DADA14EF-9B49-F386-E201-C39D6AF4AB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t="64968" r="11017" b="5750"/>
          <a:stretch>
            <a:fillRect/>
          </a:stretch>
        </p:blipFill>
        <p:spPr>
          <a:xfrm flipH="1">
            <a:off x="9405119" y="919587"/>
            <a:ext cx="2786881" cy="5386620"/>
          </a:xfrm>
          <a:prstGeom prst="roundRect">
            <a:avLst>
              <a:gd name="adj" fmla="val 3594"/>
            </a:avLst>
          </a:prstGeom>
        </p:spPr>
      </p:pic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A83E53EE-3BDA-35D5-0B51-30E13EE93FC7}"/>
              </a:ext>
            </a:extLst>
          </p:cNvPr>
          <p:cNvSpPr/>
          <p:nvPr/>
        </p:nvSpPr>
        <p:spPr>
          <a:xfrm>
            <a:off x="9406642" y="956629"/>
            <a:ext cx="2778944" cy="5349578"/>
          </a:xfrm>
          <a:prstGeom prst="roundRect">
            <a:avLst>
              <a:gd name="adj" fmla="val 3306"/>
            </a:avLst>
          </a:prstGeom>
          <a:gradFill flip="none" rotWithShape="1">
            <a:gsLst>
              <a:gs pos="30000">
                <a:srgbClr val="1A3673">
                  <a:alpha val="90000"/>
                </a:srgbClr>
              </a:gs>
              <a:gs pos="80000">
                <a:schemeClr val="bg2">
                  <a:lumMod val="10000"/>
                  <a:alpha val="8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30000"/>
          </a:p>
        </p:txBody>
      </p:sp>
      <p:sp>
        <p:nvSpPr>
          <p:cNvPr id="107" name="Rectangle: Rounded Corners 96">
            <a:extLst>
              <a:ext uri="{FF2B5EF4-FFF2-40B4-BE49-F238E27FC236}">
                <a16:creationId xmlns:a16="http://schemas.microsoft.com/office/drawing/2014/main" id="{AA7FC481-2E1D-F8D3-2886-34B9C175787D}"/>
              </a:ext>
            </a:extLst>
          </p:cNvPr>
          <p:cNvSpPr/>
          <p:nvPr/>
        </p:nvSpPr>
        <p:spPr>
          <a:xfrm>
            <a:off x="9756966" y="1233695"/>
            <a:ext cx="2292641" cy="4862870"/>
          </a:xfrm>
          <a:prstGeom prst="roundRect">
            <a:avLst>
              <a:gd name="adj" fmla="val 2593"/>
            </a:avLst>
          </a:prstGeom>
          <a:solidFill>
            <a:srgbClr val="6A97DF">
              <a:alpha val="20000"/>
            </a:srgbClr>
          </a:solidFill>
          <a:ln>
            <a:noFill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Report Rationalization Data Assist - DRECT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Reverse engineers the BTEQ, Informatica code, Control-M and database metadata to identify object dependency, generate source to target mapping and lineage.</a:t>
            </a: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endParaRPr lang="en-US" sz="1000" b="1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DDL Migrator Agent 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Converts Teradata DDL scripts into Snowflake DDL scripts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Code Converter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Converts BTEQ, Informatica code into Snow-SQL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Data Migration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Generates configuration for the bulk upload to Elevance Health built data ingestion framework Falcon</a:t>
            </a:r>
          </a:p>
          <a:p>
            <a:pPr>
              <a:defRPr/>
            </a:pPr>
            <a:endParaRPr lang="en-US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Testing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Generates and executes test cases for DDL, BI/SAS reports,  data  during SIT, UAT and Regression testing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ea typeface="Calibri"/>
                <a:cs typeface="Calibri" panose="020F0502020204030204" pitchFamily="34" charset="0"/>
              </a:rPr>
              <a:t>Code Optimization Agent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ea typeface="Calibri"/>
                <a:cs typeface="Calibri" panose="020F0502020204030204" pitchFamily="34" charset="0"/>
              </a:rPr>
              <a:t> Code optimization agents monitors queries and recommends ways to optimize for performance and cost.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8" name="Flowchart: Connector 37">
            <a:extLst>
              <a:ext uri="{FF2B5EF4-FFF2-40B4-BE49-F238E27FC236}">
                <a16:creationId xmlns:a16="http://schemas.microsoft.com/office/drawing/2014/main" id="{F807D348-2589-EF24-ECBC-CAF6309E399C}"/>
              </a:ext>
            </a:extLst>
          </p:cNvPr>
          <p:cNvSpPr/>
          <p:nvPr/>
        </p:nvSpPr>
        <p:spPr>
          <a:xfrm>
            <a:off x="9582378" y="1287766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lowchart: Connector 37">
            <a:extLst>
              <a:ext uri="{FF2B5EF4-FFF2-40B4-BE49-F238E27FC236}">
                <a16:creationId xmlns:a16="http://schemas.microsoft.com/office/drawing/2014/main" id="{3B15A3F0-A0A9-13FD-6743-3FE05953BBD0}"/>
              </a:ext>
            </a:extLst>
          </p:cNvPr>
          <p:cNvSpPr/>
          <p:nvPr/>
        </p:nvSpPr>
        <p:spPr>
          <a:xfrm>
            <a:off x="9575906" y="2352045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Flowchart: Connector 37">
            <a:extLst>
              <a:ext uri="{FF2B5EF4-FFF2-40B4-BE49-F238E27FC236}">
                <a16:creationId xmlns:a16="http://schemas.microsoft.com/office/drawing/2014/main" id="{63F4AE63-68EC-F581-16E6-E428D8B4559D}"/>
              </a:ext>
            </a:extLst>
          </p:cNvPr>
          <p:cNvSpPr/>
          <p:nvPr/>
        </p:nvSpPr>
        <p:spPr>
          <a:xfrm>
            <a:off x="9566208" y="3000423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Flowchart: Connector 37">
            <a:extLst>
              <a:ext uri="{FF2B5EF4-FFF2-40B4-BE49-F238E27FC236}">
                <a16:creationId xmlns:a16="http://schemas.microsoft.com/office/drawing/2014/main" id="{065E4B50-2661-A561-B65E-C5A4DC558997}"/>
              </a:ext>
            </a:extLst>
          </p:cNvPr>
          <p:cNvSpPr/>
          <p:nvPr/>
        </p:nvSpPr>
        <p:spPr>
          <a:xfrm>
            <a:off x="9567752" y="3622472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Flowchart: Connector 37">
            <a:extLst>
              <a:ext uri="{FF2B5EF4-FFF2-40B4-BE49-F238E27FC236}">
                <a16:creationId xmlns:a16="http://schemas.microsoft.com/office/drawing/2014/main" id="{DD6D50D0-6506-0871-BB2B-3348A9EF081C}"/>
              </a:ext>
            </a:extLst>
          </p:cNvPr>
          <p:cNvSpPr/>
          <p:nvPr/>
        </p:nvSpPr>
        <p:spPr>
          <a:xfrm>
            <a:off x="9579109" y="4334579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Flowchart: Connector 37">
            <a:extLst>
              <a:ext uri="{FF2B5EF4-FFF2-40B4-BE49-F238E27FC236}">
                <a16:creationId xmlns:a16="http://schemas.microsoft.com/office/drawing/2014/main" id="{FEC3972E-FEEB-95A0-316A-AA13C4333992}"/>
              </a:ext>
            </a:extLst>
          </p:cNvPr>
          <p:cNvSpPr/>
          <p:nvPr/>
        </p:nvSpPr>
        <p:spPr>
          <a:xfrm>
            <a:off x="9561657" y="5120420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6D47FE3-B809-7222-A02B-64B6CC39568C}"/>
              </a:ext>
            </a:extLst>
          </p:cNvPr>
          <p:cNvSpPr txBox="1"/>
          <p:nvPr/>
        </p:nvSpPr>
        <p:spPr>
          <a:xfrm>
            <a:off x="3302707" y="4410797"/>
            <a:ext cx="1192229" cy="8771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50" b="0" dirty="0">
                <a:solidFill>
                  <a:srgbClr val="353533"/>
                </a:solidFill>
                <a:latin typeface="Open Sans"/>
              </a:rPr>
              <a:t>Convert table, views DDL definitions of of the </a:t>
            </a:r>
            <a:r>
              <a:rPr lang="en-US" sz="850" dirty="0">
                <a:solidFill>
                  <a:srgbClr val="353533"/>
                </a:solidFill>
                <a:latin typeface="Open Sans"/>
              </a:rPr>
              <a:t>custom objects required by reports finalized by 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42D987-7CDB-ABDF-0FFB-50EF945BA7D3}"/>
              </a:ext>
            </a:extLst>
          </p:cNvPr>
          <p:cNvSpPr txBox="1"/>
          <p:nvPr/>
        </p:nvSpPr>
        <p:spPr>
          <a:xfrm>
            <a:off x="4600635" y="4425497"/>
            <a:ext cx="1192229" cy="1007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50" b="0" dirty="0">
                <a:solidFill>
                  <a:srgbClr val="353533"/>
                </a:solidFill>
                <a:latin typeface="Open Sans"/>
              </a:rPr>
              <a:t>Convert SQLs, Stored procedures, Packages, Triggers from custom data layer set up for reports to target MS SQL platform</a:t>
            </a:r>
            <a:endParaRPr lang="en-US" dirty="0"/>
          </a:p>
        </p:txBody>
      </p:sp>
      <p:cxnSp>
        <p:nvCxnSpPr>
          <p:cNvPr id="128" name="Connector: Elbow 139">
            <a:extLst>
              <a:ext uri="{FF2B5EF4-FFF2-40B4-BE49-F238E27FC236}">
                <a16:creationId xmlns:a16="http://schemas.microsoft.com/office/drawing/2014/main" id="{A3BF17A3-56D3-E066-4118-F75AE0DFF6AF}"/>
              </a:ext>
            </a:extLst>
          </p:cNvPr>
          <p:cNvCxnSpPr>
            <a:cxnSpLocks/>
          </p:cNvCxnSpPr>
          <p:nvPr/>
        </p:nvCxnSpPr>
        <p:spPr>
          <a:xfrm rot="5400000">
            <a:off x="4462385" y="3865037"/>
            <a:ext cx="1023876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6704958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mqhxrjj_ZpBEgZL7BNF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GSR Business Master (USE THIS)_v1">
  <a:themeElements>
    <a:clrScheme name="LM FINAL 2018 pallet">
      <a:dk1>
        <a:srgbClr val="F5F5F5"/>
      </a:dk1>
      <a:lt1>
        <a:srgbClr val="F5F5F5"/>
      </a:lt1>
      <a:dk2>
        <a:srgbClr val="FFFFFF"/>
      </a:dk2>
      <a:lt2>
        <a:srgbClr val="1A1446"/>
      </a:lt2>
      <a:accent1>
        <a:srgbClr val="FFD000"/>
      </a:accent1>
      <a:accent2>
        <a:srgbClr val="07B8C1"/>
      </a:accent2>
      <a:accent3>
        <a:srgbClr val="78E1E1"/>
      </a:accent3>
      <a:accent4>
        <a:srgbClr val="06748C"/>
      </a:accent4>
      <a:accent5>
        <a:srgbClr val="B0B0B0"/>
      </a:accent5>
      <a:accent6>
        <a:srgbClr val="6B6B6B"/>
      </a:accent6>
      <a:hlink>
        <a:srgbClr val="06748C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1DEF6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sz="900" b="1" kern="100">
            <a:solidFill>
              <a:schemeClr val="bg2"/>
            </a:solidFill>
            <a:latin typeface="Aptos" panose="020B0004020202020204" pitchFamily="34" charset="0"/>
            <a:cs typeface="Times New Roman" panose="020206030504050203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95F633AA-5662-46EC-97DB-43EB4D840DB2}" vid="{49CF1C88-D596-4C5F-BB69-E4E0013BA5C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708</Words>
  <Application>Microsoft Macintosh PowerPoint</Application>
  <PresentationFormat>Widescreen</PresentationFormat>
  <Paragraphs>111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Open Sans</vt:lpstr>
      <vt:lpstr>Wingdings 2</vt:lpstr>
      <vt:lpstr>Office Theme</vt:lpstr>
      <vt:lpstr>1_GSR Business Master (USE THIS)_v1</vt:lpstr>
      <vt:lpstr>think-cell Slide</vt:lpstr>
      <vt:lpstr>PowerPoint Presentation</vt:lpstr>
      <vt:lpstr>Our Approach For Teradata Modernization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Pawar, AMIT</dc:creator>
  <cp:lastModifiedBy>Pawar, AMIT</cp:lastModifiedBy>
  <cp:revision>2</cp:revision>
  <dcterms:created xsi:type="dcterms:W3CDTF">2026-08-02T14:41:13Z</dcterms:created>
  <dcterms:modified xsi:type="dcterms:W3CDTF">2026-08-02T14:52:41Z</dcterms:modified>
</cp:coreProperties>
</file>