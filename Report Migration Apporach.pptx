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6"/>
  </p:notesMasterIdLst>
  <p:sldIdLst>
    <p:sldId id="256" r:id="rId3"/>
    <p:sldId id="2147483357" r:id="rId4"/>
    <p:sldId id="21474833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0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2956FD-2D21-1643-9643-0F2FE4569B42}" type="datetimeFigureOut">
              <a:rPr lang="en-US" smtClean="0"/>
              <a:t>8/2/26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FDFEE6-F60B-9642-9D02-935F2D136C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10295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631F2-C9B4-08D2-0413-DF9132998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C24631-378A-1937-4907-F7B2035BD6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9F88-A443-57BB-2933-76EDD5312E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and share with business users to set engagement expectations.</a:t>
            </a:r>
            <a:endParaRPr lang="en-US" sz="100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60B09B-CD1A-8DF7-64DD-88FD0B45AA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A2422BB-7879-42DB-B63A-D859F0EF4270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88785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9CB4A-F3B4-9FC2-250E-81177FE56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26F386-D39F-FE1E-D287-517C7F0A68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08474-23B1-16D3-91F8-54C8A5B06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CA3D2-689D-4FA5-7A05-A1565C3B6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07133-1FC0-1D4D-37D3-351C5BB1C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785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980E7-FC37-323F-F0E8-352BB0CC2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1BAE8-6B13-C941-0954-11C445A71E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512F40-E4F3-7E3B-2F3A-2DA5C2571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106CCC-404E-5032-486F-683E1860D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79F549-5B00-2D70-7575-BBF26E592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5184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05C11-C234-A4AF-47C6-6212800C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50335C-35FD-738E-7374-C38D1C263A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B1C08-CC12-333A-112C-7C83067FF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BFEA4-8487-3B1B-8CF4-E5032BE913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A1CB2E-AAD1-6BC3-F132-D93EC013F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3290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05CC0-4DAE-01E8-479D-6120FF9C3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366A37-C2A6-109E-9115-E312C13F97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445660-2430-0744-C4FF-DD85C96C0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0E4A67-3118-DE6B-9D4F-50980655A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E59D74-306C-824A-5B1E-B26D6C09D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ED74B-A7BE-592C-E3E6-92A0C1089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007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E19B31-473B-8178-49A0-9A492A539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77B877-5595-A731-341E-82F8907ABA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90312E-A817-9CCD-ADF2-813E5099E5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B8C0AB-DEB5-43FA-1198-1B79FD5720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613D0DA-4194-4702-3195-D1156B48D7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74DD94-B98C-C50F-5893-CEED927C4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F1B1FB-F76E-F7ED-A7FC-B6E66194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E3EC03-9694-6825-E1AF-3C3756EE2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496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871E4D-578F-DDFE-7DFC-90E692FF7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647B20-66A9-28CD-C4D7-B99F3B370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493455-CFAA-4235-34E6-B965CB8705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DBE974-FD90-7505-FE96-927D23EA3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928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B4793D-1D49-AA8A-BCE7-8FEBE0A49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C022A8-1605-D56A-2549-BB2FC4962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85488-00F4-8EC1-6CDB-8875D7F30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693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EEAB7-BE99-C670-DD1D-143D55994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22B8A-2D16-1E4C-D61D-BA86657421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A70938-AF01-B9EB-563E-A6372BE09E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270DB0-6AD6-924A-432B-D6E758CCB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A123A-98D7-6036-3C56-A2AB8C297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484FB5-E9DB-E2D8-5FDC-AEE504F15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5693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275A0-EA25-5329-B3E6-E5F8AE589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83C446-8555-795A-E658-0D0B438EA9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828418-9CD9-EEB8-34CD-24F44ADADDB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D50535-EAA3-2991-CCE1-9823CE9370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008F88-B9BE-CE60-1D11-F79A58CFCB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9C5B46-04BD-634C-3D49-7F0A2530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929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77FB7-593D-3839-2569-6D7EAA473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759894-309C-1C9E-10AD-8E6A5C58B1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AB08A-906E-920E-FE98-06CA3801D6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7B3BF-2811-977B-F122-9B6BC9E20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1D908-D6A8-0FBF-3894-4CF9A147A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34464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81AF5A1-14AF-6A25-2D5E-B00755E34E6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CDE01-D41F-E373-D4DB-DC1FA87397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D524C-C1F9-8099-0AC5-93E9E1EB18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ED2E0-2C01-9DD8-C343-44D74DF39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A85DFE-BE63-71EB-F4CD-D980D89F9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4880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330746-A705-4B48-BFF1-928B3DA93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024" y="2080758"/>
            <a:ext cx="11747951" cy="455495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D4DEECD-CE69-1049-8BD5-4D132F5BD9E0}"/>
              </a:ext>
            </a:extLst>
          </p:cNvPr>
          <p:cNvSpPr/>
          <p:nvPr/>
        </p:nvSpPr>
        <p:spPr>
          <a:xfrm>
            <a:off x="222025" y="222286"/>
            <a:ext cx="11747950" cy="16573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>
              <a:solidFill>
                <a:srgbClr val="1A1448"/>
              </a:solidFill>
            </a:endParaRPr>
          </a:p>
        </p:txBody>
      </p: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E80C29B3-534B-C14B-8683-7ABA1EE32538}"/>
              </a:ext>
            </a:extLst>
          </p:cNvPr>
          <p:cNvGrpSpPr/>
          <p:nvPr/>
        </p:nvGrpSpPr>
        <p:grpSpPr bwMode="gray">
          <a:xfrm>
            <a:off x="8401603" y="504376"/>
            <a:ext cx="3287799" cy="855272"/>
            <a:chOff x="3387726" y="2736850"/>
            <a:chExt cx="5411788" cy="1384300"/>
          </a:xfrm>
        </p:grpSpPr>
        <p:sp>
          <p:nvSpPr>
            <p:cNvPr id="248" name="Freeform 55">
              <a:extLst>
                <a:ext uri="{FF2B5EF4-FFF2-40B4-BE49-F238E27FC236}">
                  <a16:creationId xmlns:a16="http://schemas.microsoft.com/office/drawing/2014/main" id="{8EFD965A-5A5D-B34A-929D-118A9EA64F18}"/>
                </a:ext>
              </a:extLst>
            </p:cNvPr>
            <p:cNvSpPr>
              <a:spLocks/>
            </p:cNvSpPr>
            <p:nvPr/>
          </p:nvSpPr>
          <p:spPr bwMode="gray">
            <a:xfrm>
              <a:off x="4462463" y="3157538"/>
              <a:ext cx="331788" cy="419100"/>
            </a:xfrm>
            <a:custGeom>
              <a:avLst/>
              <a:gdLst>
                <a:gd name="T0" fmla="*/ 39 w 88"/>
                <a:gd name="T1" fmla="*/ 92 h 111"/>
                <a:gd name="T2" fmla="*/ 56 w 88"/>
                <a:gd name="T3" fmla="*/ 104 h 111"/>
                <a:gd name="T4" fmla="*/ 85 w 88"/>
                <a:gd name="T5" fmla="*/ 82 h 111"/>
                <a:gd name="T6" fmla="*/ 88 w 88"/>
                <a:gd name="T7" fmla="*/ 82 h 111"/>
                <a:gd name="T8" fmla="*/ 85 w 88"/>
                <a:gd name="T9" fmla="*/ 111 h 111"/>
                <a:gd name="T10" fmla="*/ 0 w 88"/>
                <a:gd name="T11" fmla="*/ 111 h 111"/>
                <a:gd name="T12" fmla="*/ 0 w 88"/>
                <a:gd name="T13" fmla="*/ 107 h 111"/>
                <a:gd name="T14" fmla="*/ 14 w 88"/>
                <a:gd name="T15" fmla="*/ 89 h 111"/>
                <a:gd name="T16" fmla="*/ 14 w 88"/>
                <a:gd name="T17" fmla="*/ 18 h 111"/>
                <a:gd name="T18" fmla="*/ 0 w 88"/>
                <a:gd name="T19" fmla="*/ 3 h 111"/>
                <a:gd name="T20" fmla="*/ 0 w 88"/>
                <a:gd name="T21" fmla="*/ 0 h 111"/>
                <a:gd name="T22" fmla="*/ 53 w 88"/>
                <a:gd name="T23" fmla="*/ 0 h 111"/>
                <a:gd name="T24" fmla="*/ 53 w 88"/>
                <a:gd name="T25" fmla="*/ 3 h 111"/>
                <a:gd name="T26" fmla="*/ 39 w 88"/>
                <a:gd name="T27" fmla="*/ 18 h 111"/>
                <a:gd name="T28" fmla="*/ 39 w 88"/>
                <a:gd name="T29" fmla="*/ 92 h 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8" h="111">
                  <a:moveTo>
                    <a:pt x="39" y="92"/>
                  </a:moveTo>
                  <a:cubicBezTo>
                    <a:pt x="39" y="102"/>
                    <a:pt x="43" y="104"/>
                    <a:pt x="56" y="104"/>
                  </a:cubicBezTo>
                  <a:cubicBezTo>
                    <a:pt x="70" y="104"/>
                    <a:pt x="76" y="100"/>
                    <a:pt x="85" y="82"/>
                  </a:cubicBezTo>
                  <a:cubicBezTo>
                    <a:pt x="88" y="82"/>
                    <a:pt x="88" y="82"/>
                    <a:pt x="88" y="82"/>
                  </a:cubicBezTo>
                  <a:cubicBezTo>
                    <a:pt x="85" y="111"/>
                    <a:pt x="85" y="111"/>
                    <a:pt x="85" y="111"/>
                  </a:cubicBezTo>
                  <a:cubicBezTo>
                    <a:pt x="0" y="111"/>
                    <a:pt x="0" y="111"/>
                    <a:pt x="0" y="111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13" y="104"/>
                    <a:pt x="14" y="101"/>
                    <a:pt x="14" y="89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4" y="9"/>
                    <a:pt x="12" y="6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42" y="6"/>
                    <a:pt x="39" y="8"/>
                    <a:pt x="39" y="18"/>
                  </a:cubicBezTo>
                  <a:lnTo>
                    <a:pt x="39" y="92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9" name="Freeform 56">
              <a:extLst>
                <a:ext uri="{FF2B5EF4-FFF2-40B4-BE49-F238E27FC236}">
                  <a16:creationId xmlns:a16="http://schemas.microsoft.com/office/drawing/2014/main" id="{BC6C0B3B-F17F-AA49-8F3E-74B8CE3C5842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4800601" y="3125788"/>
              <a:ext cx="173038" cy="450850"/>
            </a:xfrm>
            <a:custGeom>
              <a:avLst/>
              <a:gdLst>
                <a:gd name="T0" fmla="*/ 34 w 46"/>
                <a:gd name="T1" fmla="*/ 103 h 119"/>
                <a:gd name="T2" fmla="*/ 46 w 46"/>
                <a:gd name="T3" fmla="*/ 115 h 119"/>
                <a:gd name="T4" fmla="*/ 46 w 46"/>
                <a:gd name="T5" fmla="*/ 119 h 119"/>
                <a:gd name="T6" fmla="*/ 1 w 46"/>
                <a:gd name="T7" fmla="*/ 119 h 119"/>
                <a:gd name="T8" fmla="*/ 1 w 46"/>
                <a:gd name="T9" fmla="*/ 115 h 119"/>
                <a:gd name="T10" fmla="*/ 13 w 46"/>
                <a:gd name="T11" fmla="*/ 102 h 119"/>
                <a:gd name="T12" fmla="*/ 13 w 46"/>
                <a:gd name="T13" fmla="*/ 64 h 119"/>
                <a:gd name="T14" fmla="*/ 0 w 46"/>
                <a:gd name="T15" fmla="*/ 50 h 119"/>
                <a:gd name="T16" fmla="*/ 0 w 46"/>
                <a:gd name="T17" fmla="*/ 47 h 119"/>
                <a:gd name="T18" fmla="*/ 31 w 46"/>
                <a:gd name="T19" fmla="*/ 44 h 119"/>
                <a:gd name="T20" fmla="*/ 34 w 46"/>
                <a:gd name="T21" fmla="*/ 44 h 119"/>
                <a:gd name="T22" fmla="*/ 34 w 46"/>
                <a:gd name="T23" fmla="*/ 103 h 119"/>
                <a:gd name="T24" fmla="*/ 23 w 46"/>
                <a:gd name="T25" fmla="*/ 0 h 119"/>
                <a:gd name="T26" fmla="*/ 36 w 46"/>
                <a:gd name="T27" fmla="*/ 12 h 119"/>
                <a:gd name="T28" fmla="*/ 23 w 46"/>
                <a:gd name="T29" fmla="*/ 25 h 119"/>
                <a:gd name="T30" fmla="*/ 11 w 46"/>
                <a:gd name="T31" fmla="*/ 12 h 119"/>
                <a:gd name="T32" fmla="*/ 23 w 46"/>
                <a:gd name="T33" fmla="*/ 0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119">
                  <a:moveTo>
                    <a:pt x="34" y="103"/>
                  </a:moveTo>
                  <a:cubicBezTo>
                    <a:pt x="34" y="110"/>
                    <a:pt x="38" y="114"/>
                    <a:pt x="46" y="115"/>
                  </a:cubicBezTo>
                  <a:cubicBezTo>
                    <a:pt x="46" y="119"/>
                    <a:pt x="46" y="119"/>
                    <a:pt x="46" y="119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1" y="115"/>
                    <a:pt x="1" y="115"/>
                    <a:pt x="1" y="115"/>
                  </a:cubicBezTo>
                  <a:cubicBezTo>
                    <a:pt x="10" y="114"/>
                    <a:pt x="13" y="111"/>
                    <a:pt x="13" y="102"/>
                  </a:cubicBezTo>
                  <a:cubicBezTo>
                    <a:pt x="13" y="64"/>
                    <a:pt x="13" y="64"/>
                    <a:pt x="13" y="64"/>
                  </a:cubicBezTo>
                  <a:cubicBezTo>
                    <a:pt x="13" y="55"/>
                    <a:pt x="10" y="52"/>
                    <a:pt x="0" y="5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4" y="44"/>
                    <a:pt x="34" y="44"/>
                    <a:pt x="34" y="44"/>
                  </a:cubicBezTo>
                  <a:lnTo>
                    <a:pt x="34" y="103"/>
                  </a:lnTo>
                  <a:close/>
                  <a:moveTo>
                    <a:pt x="23" y="0"/>
                  </a:moveTo>
                  <a:cubicBezTo>
                    <a:pt x="30" y="0"/>
                    <a:pt x="36" y="5"/>
                    <a:pt x="36" y="12"/>
                  </a:cubicBezTo>
                  <a:cubicBezTo>
                    <a:pt x="36" y="19"/>
                    <a:pt x="30" y="25"/>
                    <a:pt x="23" y="25"/>
                  </a:cubicBezTo>
                  <a:cubicBezTo>
                    <a:pt x="17" y="25"/>
                    <a:pt x="11" y="19"/>
                    <a:pt x="11" y="12"/>
                  </a:cubicBezTo>
                  <a:cubicBezTo>
                    <a:pt x="11" y="5"/>
                    <a:pt x="17" y="0"/>
                    <a:pt x="23" y="0"/>
                  </a:cubicBezTo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0" name="Freeform 57">
              <a:extLst>
                <a:ext uri="{FF2B5EF4-FFF2-40B4-BE49-F238E27FC236}">
                  <a16:creationId xmlns:a16="http://schemas.microsoft.com/office/drawing/2014/main" id="{5C8EFD35-A4BA-5F44-8D04-9225489CCB52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4984751" y="3125788"/>
              <a:ext cx="354013" cy="458788"/>
            </a:xfrm>
            <a:custGeom>
              <a:avLst/>
              <a:gdLst>
                <a:gd name="T0" fmla="*/ 32 w 94"/>
                <a:gd name="T1" fmla="*/ 62 h 121"/>
                <a:gd name="T2" fmla="*/ 49 w 94"/>
                <a:gd name="T3" fmla="*/ 54 h 121"/>
                <a:gd name="T4" fmla="*/ 70 w 94"/>
                <a:gd name="T5" fmla="*/ 84 h 121"/>
                <a:gd name="T6" fmla="*/ 43 w 94"/>
                <a:gd name="T7" fmla="*/ 116 h 121"/>
                <a:gd name="T8" fmla="*/ 32 w 94"/>
                <a:gd name="T9" fmla="*/ 104 h 121"/>
                <a:gd name="T10" fmla="*/ 32 w 94"/>
                <a:gd name="T11" fmla="*/ 62 h 121"/>
                <a:gd name="T12" fmla="*/ 32 w 94"/>
                <a:gd name="T13" fmla="*/ 0 h 121"/>
                <a:gd name="T14" fmla="*/ 29 w 94"/>
                <a:gd name="T15" fmla="*/ 0 h 121"/>
                <a:gd name="T16" fmla="*/ 0 w 94"/>
                <a:gd name="T17" fmla="*/ 2 h 121"/>
                <a:gd name="T18" fmla="*/ 0 w 94"/>
                <a:gd name="T19" fmla="*/ 5 h 121"/>
                <a:gd name="T20" fmla="*/ 10 w 94"/>
                <a:gd name="T21" fmla="*/ 16 h 121"/>
                <a:gd name="T22" fmla="*/ 10 w 94"/>
                <a:gd name="T23" fmla="*/ 119 h 121"/>
                <a:gd name="T24" fmla="*/ 45 w 94"/>
                <a:gd name="T25" fmla="*/ 121 h 121"/>
                <a:gd name="T26" fmla="*/ 94 w 94"/>
                <a:gd name="T27" fmla="*/ 81 h 121"/>
                <a:gd name="T28" fmla="*/ 59 w 94"/>
                <a:gd name="T29" fmla="*/ 44 h 121"/>
                <a:gd name="T30" fmla="*/ 32 w 94"/>
                <a:gd name="T31" fmla="*/ 57 h 121"/>
                <a:gd name="T32" fmla="*/ 32 w 94"/>
                <a:gd name="T33" fmla="*/ 0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4" h="121">
                  <a:moveTo>
                    <a:pt x="32" y="62"/>
                  </a:moveTo>
                  <a:cubicBezTo>
                    <a:pt x="39" y="56"/>
                    <a:pt x="43" y="54"/>
                    <a:pt x="49" y="54"/>
                  </a:cubicBezTo>
                  <a:cubicBezTo>
                    <a:pt x="61" y="54"/>
                    <a:pt x="70" y="66"/>
                    <a:pt x="70" y="84"/>
                  </a:cubicBezTo>
                  <a:cubicBezTo>
                    <a:pt x="70" y="107"/>
                    <a:pt x="59" y="116"/>
                    <a:pt x="43" y="116"/>
                  </a:cubicBezTo>
                  <a:cubicBezTo>
                    <a:pt x="35" y="116"/>
                    <a:pt x="32" y="113"/>
                    <a:pt x="32" y="104"/>
                  </a:cubicBezTo>
                  <a:lnTo>
                    <a:pt x="32" y="62"/>
                  </a:lnTo>
                  <a:close/>
                  <a:moveTo>
                    <a:pt x="32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6" y="6"/>
                    <a:pt x="10" y="10"/>
                    <a:pt x="10" y="16"/>
                  </a:cubicBezTo>
                  <a:cubicBezTo>
                    <a:pt x="10" y="119"/>
                    <a:pt x="10" y="119"/>
                    <a:pt x="10" y="119"/>
                  </a:cubicBezTo>
                  <a:cubicBezTo>
                    <a:pt x="21" y="121"/>
                    <a:pt x="32" y="121"/>
                    <a:pt x="45" y="121"/>
                  </a:cubicBezTo>
                  <a:cubicBezTo>
                    <a:pt x="80" y="121"/>
                    <a:pt x="94" y="103"/>
                    <a:pt x="94" y="81"/>
                  </a:cubicBezTo>
                  <a:cubicBezTo>
                    <a:pt x="94" y="60"/>
                    <a:pt x="79" y="44"/>
                    <a:pt x="59" y="44"/>
                  </a:cubicBezTo>
                  <a:cubicBezTo>
                    <a:pt x="49" y="44"/>
                    <a:pt x="40" y="48"/>
                    <a:pt x="32" y="57"/>
                  </a:cubicBezTo>
                  <a:lnTo>
                    <a:pt x="32" y="0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1" name="Freeform 58">
              <a:extLst>
                <a:ext uri="{FF2B5EF4-FFF2-40B4-BE49-F238E27FC236}">
                  <a16:creationId xmlns:a16="http://schemas.microsoft.com/office/drawing/2014/main" id="{02E2FCB8-8536-6449-A4D0-7D2BFBECBFF6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5368926" y="3292475"/>
              <a:ext cx="288925" cy="292100"/>
            </a:xfrm>
            <a:custGeom>
              <a:avLst/>
              <a:gdLst>
                <a:gd name="T0" fmla="*/ 23 w 77"/>
                <a:gd name="T1" fmla="*/ 28 h 77"/>
                <a:gd name="T2" fmla="*/ 38 w 77"/>
                <a:gd name="T3" fmla="*/ 5 h 77"/>
                <a:gd name="T4" fmla="*/ 54 w 77"/>
                <a:gd name="T5" fmla="*/ 28 h 77"/>
                <a:gd name="T6" fmla="*/ 23 w 77"/>
                <a:gd name="T7" fmla="*/ 28 h 77"/>
                <a:gd name="T8" fmla="*/ 77 w 77"/>
                <a:gd name="T9" fmla="*/ 33 h 77"/>
                <a:gd name="T10" fmla="*/ 40 w 77"/>
                <a:gd name="T11" fmla="*/ 0 h 77"/>
                <a:gd name="T12" fmla="*/ 0 w 77"/>
                <a:gd name="T13" fmla="*/ 39 h 77"/>
                <a:gd name="T14" fmla="*/ 39 w 77"/>
                <a:gd name="T15" fmla="*/ 77 h 77"/>
                <a:gd name="T16" fmla="*/ 77 w 77"/>
                <a:gd name="T17" fmla="*/ 53 h 77"/>
                <a:gd name="T18" fmla="*/ 74 w 77"/>
                <a:gd name="T19" fmla="*/ 53 h 77"/>
                <a:gd name="T20" fmla="*/ 48 w 77"/>
                <a:gd name="T21" fmla="*/ 68 h 77"/>
                <a:gd name="T22" fmla="*/ 23 w 77"/>
                <a:gd name="T23" fmla="*/ 33 h 77"/>
                <a:gd name="T24" fmla="*/ 77 w 77"/>
                <a:gd name="T25" fmla="*/ 33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7" h="77">
                  <a:moveTo>
                    <a:pt x="23" y="28"/>
                  </a:moveTo>
                  <a:cubicBezTo>
                    <a:pt x="24" y="14"/>
                    <a:pt x="29" y="5"/>
                    <a:pt x="38" y="5"/>
                  </a:cubicBezTo>
                  <a:cubicBezTo>
                    <a:pt x="47" y="5"/>
                    <a:pt x="53" y="15"/>
                    <a:pt x="54" y="28"/>
                  </a:cubicBezTo>
                  <a:lnTo>
                    <a:pt x="23" y="28"/>
                  </a:lnTo>
                  <a:close/>
                  <a:moveTo>
                    <a:pt x="77" y="33"/>
                  </a:moveTo>
                  <a:cubicBezTo>
                    <a:pt x="75" y="13"/>
                    <a:pt x="60" y="0"/>
                    <a:pt x="40" y="0"/>
                  </a:cubicBezTo>
                  <a:cubicBezTo>
                    <a:pt x="17" y="0"/>
                    <a:pt x="0" y="17"/>
                    <a:pt x="0" y="39"/>
                  </a:cubicBezTo>
                  <a:cubicBezTo>
                    <a:pt x="0" y="61"/>
                    <a:pt x="17" y="77"/>
                    <a:pt x="39" y="77"/>
                  </a:cubicBezTo>
                  <a:cubicBezTo>
                    <a:pt x="56" y="77"/>
                    <a:pt x="71" y="68"/>
                    <a:pt x="77" y="53"/>
                  </a:cubicBezTo>
                  <a:cubicBezTo>
                    <a:pt x="74" y="53"/>
                    <a:pt x="74" y="53"/>
                    <a:pt x="74" y="53"/>
                  </a:cubicBezTo>
                  <a:cubicBezTo>
                    <a:pt x="67" y="63"/>
                    <a:pt x="59" y="68"/>
                    <a:pt x="48" y="68"/>
                  </a:cubicBezTo>
                  <a:cubicBezTo>
                    <a:pt x="35" y="68"/>
                    <a:pt x="22" y="56"/>
                    <a:pt x="23" y="33"/>
                  </a:cubicBezTo>
                  <a:lnTo>
                    <a:pt x="77" y="33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2" name="Freeform 59">
              <a:extLst>
                <a:ext uri="{FF2B5EF4-FFF2-40B4-BE49-F238E27FC236}">
                  <a16:creationId xmlns:a16="http://schemas.microsoft.com/office/drawing/2014/main" id="{C70B10C1-A082-1748-8243-BE29F39DB380}"/>
                </a:ext>
              </a:extLst>
            </p:cNvPr>
            <p:cNvSpPr>
              <a:spLocks/>
            </p:cNvSpPr>
            <p:nvPr/>
          </p:nvSpPr>
          <p:spPr bwMode="gray">
            <a:xfrm>
              <a:off x="5665788" y="3292475"/>
              <a:ext cx="269875" cy="284163"/>
            </a:xfrm>
            <a:custGeom>
              <a:avLst/>
              <a:gdLst>
                <a:gd name="T0" fmla="*/ 67 w 72"/>
                <a:gd name="T1" fmla="*/ 28 h 75"/>
                <a:gd name="T2" fmla="*/ 51 w 72"/>
                <a:gd name="T3" fmla="*/ 19 h 75"/>
                <a:gd name="T4" fmla="*/ 35 w 72"/>
                <a:gd name="T5" fmla="*/ 29 h 75"/>
                <a:gd name="T6" fmla="*/ 35 w 72"/>
                <a:gd name="T7" fmla="*/ 58 h 75"/>
                <a:gd name="T8" fmla="*/ 47 w 72"/>
                <a:gd name="T9" fmla="*/ 71 h 75"/>
                <a:gd name="T10" fmla="*/ 47 w 72"/>
                <a:gd name="T11" fmla="*/ 75 h 75"/>
                <a:gd name="T12" fmla="*/ 2 w 72"/>
                <a:gd name="T13" fmla="*/ 75 h 75"/>
                <a:gd name="T14" fmla="*/ 2 w 72"/>
                <a:gd name="T15" fmla="*/ 71 h 75"/>
                <a:gd name="T16" fmla="*/ 14 w 72"/>
                <a:gd name="T17" fmla="*/ 58 h 75"/>
                <a:gd name="T18" fmla="*/ 14 w 72"/>
                <a:gd name="T19" fmla="*/ 20 h 75"/>
                <a:gd name="T20" fmla="*/ 0 w 72"/>
                <a:gd name="T21" fmla="*/ 6 h 75"/>
                <a:gd name="T22" fmla="*/ 0 w 72"/>
                <a:gd name="T23" fmla="*/ 3 h 75"/>
                <a:gd name="T24" fmla="*/ 32 w 72"/>
                <a:gd name="T25" fmla="*/ 0 h 75"/>
                <a:gd name="T26" fmla="*/ 35 w 72"/>
                <a:gd name="T27" fmla="*/ 0 h 75"/>
                <a:gd name="T28" fmla="*/ 35 w 72"/>
                <a:gd name="T29" fmla="*/ 23 h 75"/>
                <a:gd name="T30" fmla="*/ 35 w 72"/>
                <a:gd name="T31" fmla="*/ 23 h 75"/>
                <a:gd name="T32" fmla="*/ 59 w 72"/>
                <a:gd name="T33" fmla="*/ 0 h 75"/>
                <a:gd name="T34" fmla="*/ 72 w 72"/>
                <a:gd name="T35" fmla="*/ 6 h 75"/>
                <a:gd name="T36" fmla="*/ 67 w 72"/>
                <a:gd name="T37" fmla="*/ 2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72" h="75">
                  <a:moveTo>
                    <a:pt x="67" y="28"/>
                  </a:moveTo>
                  <a:cubicBezTo>
                    <a:pt x="61" y="22"/>
                    <a:pt x="56" y="19"/>
                    <a:pt x="51" y="19"/>
                  </a:cubicBezTo>
                  <a:cubicBezTo>
                    <a:pt x="44" y="19"/>
                    <a:pt x="40" y="21"/>
                    <a:pt x="35" y="29"/>
                  </a:cubicBezTo>
                  <a:cubicBezTo>
                    <a:pt x="35" y="58"/>
                    <a:pt x="35" y="58"/>
                    <a:pt x="35" y="58"/>
                  </a:cubicBezTo>
                  <a:cubicBezTo>
                    <a:pt x="35" y="67"/>
                    <a:pt x="37" y="69"/>
                    <a:pt x="47" y="71"/>
                  </a:cubicBezTo>
                  <a:cubicBezTo>
                    <a:pt x="47" y="75"/>
                    <a:pt x="47" y="75"/>
                    <a:pt x="47" y="75"/>
                  </a:cubicBezTo>
                  <a:cubicBezTo>
                    <a:pt x="2" y="75"/>
                    <a:pt x="2" y="75"/>
                    <a:pt x="2" y="75"/>
                  </a:cubicBezTo>
                  <a:cubicBezTo>
                    <a:pt x="2" y="71"/>
                    <a:pt x="2" y="71"/>
                    <a:pt x="2" y="71"/>
                  </a:cubicBezTo>
                  <a:cubicBezTo>
                    <a:pt x="11" y="69"/>
                    <a:pt x="14" y="66"/>
                    <a:pt x="14" y="58"/>
                  </a:cubicBezTo>
                  <a:cubicBezTo>
                    <a:pt x="14" y="20"/>
                    <a:pt x="14" y="20"/>
                    <a:pt x="14" y="20"/>
                  </a:cubicBezTo>
                  <a:cubicBezTo>
                    <a:pt x="14" y="11"/>
                    <a:pt x="10" y="7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42" y="7"/>
                    <a:pt x="50" y="0"/>
                    <a:pt x="59" y="0"/>
                  </a:cubicBezTo>
                  <a:cubicBezTo>
                    <a:pt x="64" y="0"/>
                    <a:pt x="68" y="2"/>
                    <a:pt x="72" y="6"/>
                  </a:cubicBezTo>
                  <a:lnTo>
                    <a:pt x="67" y="28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3" name="Freeform 60">
              <a:extLst>
                <a:ext uri="{FF2B5EF4-FFF2-40B4-BE49-F238E27FC236}">
                  <a16:creationId xmlns:a16="http://schemas.microsoft.com/office/drawing/2014/main" id="{C3FC52C2-08E5-7F46-B57C-5B88856AACAF}"/>
                </a:ext>
              </a:extLst>
            </p:cNvPr>
            <p:cNvSpPr>
              <a:spLocks/>
            </p:cNvSpPr>
            <p:nvPr/>
          </p:nvSpPr>
          <p:spPr bwMode="gray">
            <a:xfrm>
              <a:off x="5943601" y="3198813"/>
              <a:ext cx="541338" cy="588963"/>
            </a:xfrm>
            <a:custGeom>
              <a:avLst/>
              <a:gdLst>
                <a:gd name="T0" fmla="*/ 114 w 144"/>
                <a:gd name="T1" fmla="*/ 28 h 156"/>
                <a:gd name="T2" fmla="*/ 114 w 144"/>
                <a:gd name="T3" fmla="*/ 31 h 156"/>
                <a:gd name="T4" fmla="*/ 119 w 144"/>
                <a:gd name="T5" fmla="*/ 54 h 156"/>
                <a:gd name="T6" fmla="*/ 109 w 144"/>
                <a:gd name="T7" fmla="*/ 77 h 156"/>
                <a:gd name="T8" fmla="*/ 94 w 144"/>
                <a:gd name="T9" fmla="*/ 46 h 156"/>
                <a:gd name="T10" fmla="*/ 97 w 144"/>
                <a:gd name="T11" fmla="*/ 31 h 156"/>
                <a:gd name="T12" fmla="*/ 97 w 144"/>
                <a:gd name="T13" fmla="*/ 28 h 156"/>
                <a:gd name="T14" fmla="*/ 56 w 144"/>
                <a:gd name="T15" fmla="*/ 28 h 156"/>
                <a:gd name="T16" fmla="*/ 55 w 144"/>
                <a:gd name="T17" fmla="*/ 28 h 156"/>
                <a:gd name="T18" fmla="*/ 34 w 144"/>
                <a:gd name="T19" fmla="*/ 28 h 156"/>
                <a:gd name="T20" fmla="*/ 34 w 144"/>
                <a:gd name="T21" fmla="*/ 0 h 156"/>
                <a:gd name="T22" fmla="*/ 30 w 144"/>
                <a:gd name="T23" fmla="*/ 0 h 156"/>
                <a:gd name="T24" fmla="*/ 0 w 144"/>
                <a:gd name="T25" fmla="*/ 30 h 156"/>
                <a:gd name="T26" fmla="*/ 0 w 144"/>
                <a:gd name="T27" fmla="*/ 34 h 156"/>
                <a:gd name="T28" fmla="*/ 13 w 144"/>
                <a:gd name="T29" fmla="*/ 34 h 156"/>
                <a:gd name="T30" fmla="*/ 13 w 144"/>
                <a:gd name="T31" fmla="*/ 80 h 156"/>
                <a:gd name="T32" fmla="*/ 37 w 144"/>
                <a:gd name="T33" fmla="*/ 102 h 156"/>
                <a:gd name="T34" fmla="*/ 60 w 144"/>
                <a:gd name="T35" fmla="*/ 90 h 156"/>
                <a:gd name="T36" fmla="*/ 58 w 144"/>
                <a:gd name="T37" fmla="*/ 88 h 156"/>
                <a:gd name="T38" fmla="*/ 47 w 144"/>
                <a:gd name="T39" fmla="*/ 93 h 156"/>
                <a:gd name="T40" fmla="*/ 34 w 144"/>
                <a:gd name="T41" fmla="*/ 75 h 156"/>
                <a:gd name="T42" fmla="*/ 34 w 144"/>
                <a:gd name="T43" fmla="*/ 34 h 156"/>
                <a:gd name="T44" fmla="*/ 53 w 144"/>
                <a:gd name="T45" fmla="*/ 34 h 156"/>
                <a:gd name="T46" fmla="*/ 71 w 144"/>
                <a:gd name="T47" fmla="*/ 47 h 156"/>
                <a:gd name="T48" fmla="*/ 97 w 144"/>
                <a:gd name="T49" fmla="*/ 102 h 156"/>
                <a:gd name="T50" fmla="*/ 68 w 144"/>
                <a:gd name="T51" fmla="*/ 136 h 156"/>
                <a:gd name="T52" fmla="*/ 58 w 144"/>
                <a:gd name="T53" fmla="*/ 134 h 156"/>
                <a:gd name="T54" fmla="*/ 54 w 144"/>
                <a:gd name="T55" fmla="*/ 155 h 156"/>
                <a:gd name="T56" fmla="*/ 60 w 144"/>
                <a:gd name="T57" fmla="*/ 156 h 156"/>
                <a:gd name="T58" fmla="*/ 90 w 144"/>
                <a:gd name="T59" fmla="*/ 132 h 156"/>
                <a:gd name="T60" fmla="*/ 127 w 144"/>
                <a:gd name="T61" fmla="*/ 50 h 156"/>
                <a:gd name="T62" fmla="*/ 144 w 144"/>
                <a:gd name="T63" fmla="*/ 31 h 156"/>
                <a:gd name="T64" fmla="*/ 144 w 144"/>
                <a:gd name="T65" fmla="*/ 28 h 156"/>
                <a:gd name="T66" fmla="*/ 114 w 144"/>
                <a:gd name="T67" fmla="*/ 28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44" h="156">
                  <a:moveTo>
                    <a:pt x="114" y="28"/>
                  </a:moveTo>
                  <a:cubicBezTo>
                    <a:pt x="114" y="31"/>
                    <a:pt x="114" y="31"/>
                    <a:pt x="114" y="31"/>
                  </a:cubicBezTo>
                  <a:cubicBezTo>
                    <a:pt x="123" y="33"/>
                    <a:pt x="125" y="39"/>
                    <a:pt x="119" y="54"/>
                  </a:cubicBezTo>
                  <a:cubicBezTo>
                    <a:pt x="109" y="77"/>
                    <a:pt x="109" y="77"/>
                    <a:pt x="109" y="77"/>
                  </a:cubicBezTo>
                  <a:cubicBezTo>
                    <a:pt x="94" y="46"/>
                    <a:pt x="94" y="46"/>
                    <a:pt x="94" y="46"/>
                  </a:cubicBezTo>
                  <a:cubicBezTo>
                    <a:pt x="89" y="37"/>
                    <a:pt x="89" y="32"/>
                    <a:pt x="97" y="31"/>
                  </a:cubicBezTo>
                  <a:cubicBezTo>
                    <a:pt x="97" y="28"/>
                    <a:pt x="97" y="28"/>
                    <a:pt x="97" y="28"/>
                  </a:cubicBezTo>
                  <a:cubicBezTo>
                    <a:pt x="56" y="28"/>
                    <a:pt x="56" y="28"/>
                    <a:pt x="56" y="28"/>
                  </a:cubicBezTo>
                  <a:cubicBezTo>
                    <a:pt x="55" y="28"/>
                    <a:pt x="55" y="28"/>
                    <a:pt x="55" y="28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20" y="13"/>
                    <a:pt x="9" y="25"/>
                    <a:pt x="0" y="30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3" y="80"/>
                    <a:pt x="13" y="80"/>
                    <a:pt x="13" y="80"/>
                  </a:cubicBezTo>
                  <a:cubicBezTo>
                    <a:pt x="13" y="96"/>
                    <a:pt x="23" y="102"/>
                    <a:pt x="37" y="102"/>
                  </a:cubicBezTo>
                  <a:cubicBezTo>
                    <a:pt x="48" y="102"/>
                    <a:pt x="55" y="99"/>
                    <a:pt x="60" y="90"/>
                  </a:cubicBezTo>
                  <a:cubicBezTo>
                    <a:pt x="58" y="88"/>
                    <a:pt x="58" y="88"/>
                    <a:pt x="58" y="88"/>
                  </a:cubicBezTo>
                  <a:cubicBezTo>
                    <a:pt x="54" y="92"/>
                    <a:pt x="51" y="93"/>
                    <a:pt x="47" y="93"/>
                  </a:cubicBezTo>
                  <a:cubicBezTo>
                    <a:pt x="37" y="93"/>
                    <a:pt x="34" y="87"/>
                    <a:pt x="34" y="75"/>
                  </a:cubicBezTo>
                  <a:cubicBezTo>
                    <a:pt x="34" y="34"/>
                    <a:pt x="34" y="34"/>
                    <a:pt x="34" y="34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64" y="34"/>
                    <a:pt x="67" y="38"/>
                    <a:pt x="71" y="47"/>
                  </a:cubicBezTo>
                  <a:cubicBezTo>
                    <a:pt x="97" y="102"/>
                    <a:pt x="97" y="102"/>
                    <a:pt x="97" y="102"/>
                  </a:cubicBezTo>
                  <a:cubicBezTo>
                    <a:pt x="89" y="126"/>
                    <a:pt x="81" y="136"/>
                    <a:pt x="68" y="136"/>
                  </a:cubicBezTo>
                  <a:cubicBezTo>
                    <a:pt x="65" y="136"/>
                    <a:pt x="63" y="135"/>
                    <a:pt x="58" y="134"/>
                  </a:cubicBezTo>
                  <a:cubicBezTo>
                    <a:pt x="54" y="155"/>
                    <a:pt x="54" y="155"/>
                    <a:pt x="54" y="155"/>
                  </a:cubicBezTo>
                  <a:cubicBezTo>
                    <a:pt x="56" y="156"/>
                    <a:pt x="58" y="156"/>
                    <a:pt x="60" y="156"/>
                  </a:cubicBezTo>
                  <a:cubicBezTo>
                    <a:pt x="75" y="156"/>
                    <a:pt x="83" y="150"/>
                    <a:pt x="90" y="132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32" y="36"/>
                    <a:pt x="135" y="34"/>
                    <a:pt x="144" y="31"/>
                  </a:cubicBezTo>
                  <a:cubicBezTo>
                    <a:pt x="144" y="28"/>
                    <a:pt x="144" y="28"/>
                    <a:pt x="144" y="28"/>
                  </a:cubicBezTo>
                  <a:lnTo>
                    <a:pt x="114" y="28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4" name="Freeform 61">
              <a:extLst>
                <a:ext uri="{FF2B5EF4-FFF2-40B4-BE49-F238E27FC236}">
                  <a16:creationId xmlns:a16="http://schemas.microsoft.com/office/drawing/2014/main" id="{293BD66E-D129-2A4E-B493-440189CF2031}"/>
                </a:ext>
              </a:extLst>
            </p:cNvPr>
            <p:cNvSpPr>
              <a:spLocks/>
            </p:cNvSpPr>
            <p:nvPr/>
          </p:nvSpPr>
          <p:spPr bwMode="gray">
            <a:xfrm>
              <a:off x="6594476" y="3157538"/>
              <a:ext cx="619125" cy="419100"/>
            </a:xfrm>
            <a:custGeom>
              <a:avLst/>
              <a:gdLst>
                <a:gd name="T0" fmla="*/ 148 w 165"/>
                <a:gd name="T1" fmla="*/ 91 h 111"/>
                <a:gd name="T2" fmla="*/ 165 w 165"/>
                <a:gd name="T3" fmla="*/ 108 h 111"/>
                <a:gd name="T4" fmla="*/ 165 w 165"/>
                <a:gd name="T5" fmla="*/ 111 h 111"/>
                <a:gd name="T6" fmla="*/ 110 w 165"/>
                <a:gd name="T7" fmla="*/ 111 h 111"/>
                <a:gd name="T8" fmla="*/ 110 w 165"/>
                <a:gd name="T9" fmla="*/ 108 h 111"/>
                <a:gd name="T10" fmla="*/ 122 w 165"/>
                <a:gd name="T11" fmla="*/ 84 h 111"/>
                <a:gd name="T12" fmla="*/ 113 w 165"/>
                <a:gd name="T13" fmla="*/ 20 h 111"/>
                <a:gd name="T14" fmla="*/ 113 w 165"/>
                <a:gd name="T15" fmla="*/ 20 h 111"/>
                <a:gd name="T16" fmla="*/ 77 w 165"/>
                <a:gd name="T17" fmla="*/ 111 h 111"/>
                <a:gd name="T18" fmla="*/ 73 w 165"/>
                <a:gd name="T19" fmla="*/ 111 h 111"/>
                <a:gd name="T20" fmla="*/ 37 w 165"/>
                <a:gd name="T21" fmla="*/ 20 h 111"/>
                <a:gd name="T22" fmla="*/ 37 w 165"/>
                <a:gd name="T23" fmla="*/ 20 h 111"/>
                <a:gd name="T24" fmla="*/ 27 w 165"/>
                <a:gd name="T25" fmla="*/ 85 h 111"/>
                <a:gd name="T26" fmla="*/ 40 w 165"/>
                <a:gd name="T27" fmla="*/ 108 h 111"/>
                <a:gd name="T28" fmla="*/ 40 w 165"/>
                <a:gd name="T29" fmla="*/ 111 h 111"/>
                <a:gd name="T30" fmla="*/ 0 w 165"/>
                <a:gd name="T31" fmla="*/ 111 h 111"/>
                <a:gd name="T32" fmla="*/ 0 w 165"/>
                <a:gd name="T33" fmla="*/ 108 h 111"/>
                <a:gd name="T34" fmla="*/ 20 w 165"/>
                <a:gd name="T35" fmla="*/ 84 h 111"/>
                <a:gd name="T36" fmla="*/ 31 w 165"/>
                <a:gd name="T37" fmla="*/ 11 h 111"/>
                <a:gd name="T38" fmla="*/ 15 w 165"/>
                <a:gd name="T39" fmla="*/ 3 h 111"/>
                <a:gd name="T40" fmla="*/ 15 w 165"/>
                <a:gd name="T41" fmla="*/ 0 h 111"/>
                <a:gd name="T42" fmla="*/ 55 w 165"/>
                <a:gd name="T43" fmla="*/ 0 h 111"/>
                <a:gd name="T44" fmla="*/ 84 w 165"/>
                <a:gd name="T45" fmla="*/ 74 h 111"/>
                <a:gd name="T46" fmla="*/ 113 w 165"/>
                <a:gd name="T47" fmla="*/ 0 h 111"/>
                <a:gd name="T48" fmla="*/ 151 w 165"/>
                <a:gd name="T49" fmla="*/ 0 h 111"/>
                <a:gd name="T50" fmla="*/ 151 w 165"/>
                <a:gd name="T51" fmla="*/ 3 h 111"/>
                <a:gd name="T52" fmla="*/ 138 w 165"/>
                <a:gd name="T53" fmla="*/ 22 h 111"/>
                <a:gd name="T54" fmla="*/ 148 w 165"/>
                <a:gd name="T55" fmla="*/ 91 h 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65" h="111">
                  <a:moveTo>
                    <a:pt x="148" y="91"/>
                  </a:moveTo>
                  <a:cubicBezTo>
                    <a:pt x="150" y="100"/>
                    <a:pt x="154" y="106"/>
                    <a:pt x="165" y="108"/>
                  </a:cubicBezTo>
                  <a:cubicBezTo>
                    <a:pt x="165" y="111"/>
                    <a:pt x="165" y="111"/>
                    <a:pt x="165" y="111"/>
                  </a:cubicBezTo>
                  <a:cubicBezTo>
                    <a:pt x="110" y="111"/>
                    <a:pt x="110" y="111"/>
                    <a:pt x="110" y="111"/>
                  </a:cubicBezTo>
                  <a:cubicBezTo>
                    <a:pt x="110" y="108"/>
                    <a:pt x="110" y="108"/>
                    <a:pt x="110" y="108"/>
                  </a:cubicBezTo>
                  <a:cubicBezTo>
                    <a:pt x="122" y="105"/>
                    <a:pt x="124" y="98"/>
                    <a:pt x="122" y="84"/>
                  </a:cubicBezTo>
                  <a:cubicBezTo>
                    <a:pt x="113" y="20"/>
                    <a:pt x="113" y="20"/>
                    <a:pt x="113" y="20"/>
                  </a:cubicBezTo>
                  <a:cubicBezTo>
                    <a:pt x="113" y="20"/>
                    <a:pt x="113" y="20"/>
                    <a:pt x="113" y="20"/>
                  </a:cubicBezTo>
                  <a:cubicBezTo>
                    <a:pt x="77" y="111"/>
                    <a:pt x="77" y="111"/>
                    <a:pt x="77" y="111"/>
                  </a:cubicBezTo>
                  <a:cubicBezTo>
                    <a:pt x="73" y="111"/>
                    <a:pt x="73" y="111"/>
                    <a:pt x="73" y="111"/>
                  </a:cubicBezTo>
                  <a:cubicBezTo>
                    <a:pt x="37" y="20"/>
                    <a:pt x="37" y="20"/>
                    <a:pt x="37" y="20"/>
                  </a:cubicBezTo>
                  <a:cubicBezTo>
                    <a:pt x="37" y="20"/>
                    <a:pt x="37" y="20"/>
                    <a:pt x="37" y="20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5" y="98"/>
                    <a:pt x="28" y="107"/>
                    <a:pt x="40" y="108"/>
                  </a:cubicBezTo>
                  <a:cubicBezTo>
                    <a:pt x="40" y="111"/>
                    <a:pt x="40" y="111"/>
                    <a:pt x="40" y="111"/>
                  </a:cubicBezTo>
                  <a:cubicBezTo>
                    <a:pt x="0" y="111"/>
                    <a:pt x="0" y="111"/>
                    <a:pt x="0" y="111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12" y="108"/>
                    <a:pt x="17" y="101"/>
                    <a:pt x="20" y="84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26" y="7"/>
                    <a:pt x="20" y="4"/>
                    <a:pt x="15" y="3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84" y="74"/>
                    <a:pt x="84" y="74"/>
                    <a:pt x="84" y="74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51" y="0"/>
                    <a:pt x="151" y="0"/>
                    <a:pt x="151" y="0"/>
                  </a:cubicBezTo>
                  <a:cubicBezTo>
                    <a:pt x="151" y="3"/>
                    <a:pt x="151" y="3"/>
                    <a:pt x="151" y="3"/>
                  </a:cubicBezTo>
                  <a:cubicBezTo>
                    <a:pt x="139" y="6"/>
                    <a:pt x="137" y="11"/>
                    <a:pt x="138" y="22"/>
                  </a:cubicBezTo>
                  <a:lnTo>
                    <a:pt x="148" y="91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5" name="Freeform 62">
              <a:extLst>
                <a:ext uri="{FF2B5EF4-FFF2-40B4-BE49-F238E27FC236}">
                  <a16:creationId xmlns:a16="http://schemas.microsoft.com/office/drawing/2014/main" id="{95996993-E3DD-574C-AC53-41B28F4582E2}"/>
                </a:ext>
              </a:extLst>
            </p:cNvPr>
            <p:cNvSpPr>
              <a:spLocks/>
            </p:cNvSpPr>
            <p:nvPr/>
          </p:nvSpPr>
          <p:spPr bwMode="gray">
            <a:xfrm>
              <a:off x="7207251" y="3297238"/>
              <a:ext cx="360363" cy="290513"/>
            </a:xfrm>
            <a:custGeom>
              <a:avLst/>
              <a:gdLst>
                <a:gd name="T0" fmla="*/ 11 w 96"/>
                <a:gd name="T1" fmla="*/ 18 h 77"/>
                <a:gd name="T2" fmla="*/ 0 w 96"/>
                <a:gd name="T3" fmla="*/ 6 h 77"/>
                <a:gd name="T4" fmla="*/ 0 w 96"/>
                <a:gd name="T5" fmla="*/ 3 h 77"/>
                <a:gd name="T6" fmla="*/ 29 w 96"/>
                <a:gd name="T7" fmla="*/ 0 h 77"/>
                <a:gd name="T8" fmla="*/ 32 w 96"/>
                <a:gd name="T9" fmla="*/ 0 h 77"/>
                <a:gd name="T10" fmla="*/ 32 w 96"/>
                <a:gd name="T11" fmla="*/ 53 h 77"/>
                <a:gd name="T12" fmla="*/ 46 w 96"/>
                <a:gd name="T13" fmla="*/ 65 h 77"/>
                <a:gd name="T14" fmla="*/ 63 w 96"/>
                <a:gd name="T15" fmla="*/ 52 h 77"/>
                <a:gd name="T16" fmla="*/ 63 w 96"/>
                <a:gd name="T17" fmla="*/ 17 h 77"/>
                <a:gd name="T18" fmla="*/ 52 w 96"/>
                <a:gd name="T19" fmla="*/ 6 h 77"/>
                <a:gd name="T20" fmla="*/ 52 w 96"/>
                <a:gd name="T21" fmla="*/ 3 h 77"/>
                <a:gd name="T22" fmla="*/ 82 w 96"/>
                <a:gd name="T23" fmla="*/ 0 h 77"/>
                <a:gd name="T24" fmla="*/ 85 w 96"/>
                <a:gd name="T25" fmla="*/ 0 h 77"/>
                <a:gd name="T26" fmla="*/ 85 w 96"/>
                <a:gd name="T27" fmla="*/ 57 h 77"/>
                <a:gd name="T28" fmla="*/ 96 w 96"/>
                <a:gd name="T29" fmla="*/ 71 h 77"/>
                <a:gd name="T30" fmla="*/ 96 w 96"/>
                <a:gd name="T31" fmla="*/ 74 h 77"/>
                <a:gd name="T32" fmla="*/ 63 w 96"/>
                <a:gd name="T33" fmla="*/ 77 h 77"/>
                <a:gd name="T34" fmla="*/ 63 w 96"/>
                <a:gd name="T35" fmla="*/ 60 h 77"/>
                <a:gd name="T36" fmla="*/ 63 w 96"/>
                <a:gd name="T37" fmla="*/ 60 h 77"/>
                <a:gd name="T38" fmla="*/ 35 w 96"/>
                <a:gd name="T39" fmla="*/ 77 h 77"/>
                <a:gd name="T40" fmla="*/ 11 w 96"/>
                <a:gd name="T41" fmla="*/ 55 h 77"/>
                <a:gd name="T42" fmla="*/ 11 w 96"/>
                <a:gd name="T43" fmla="*/ 18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96" h="77">
                  <a:moveTo>
                    <a:pt x="11" y="18"/>
                  </a:moveTo>
                  <a:cubicBezTo>
                    <a:pt x="11" y="10"/>
                    <a:pt x="8" y="7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61"/>
                    <a:pt x="38" y="65"/>
                    <a:pt x="46" y="65"/>
                  </a:cubicBezTo>
                  <a:cubicBezTo>
                    <a:pt x="53" y="65"/>
                    <a:pt x="57" y="62"/>
                    <a:pt x="63" y="52"/>
                  </a:cubicBezTo>
                  <a:cubicBezTo>
                    <a:pt x="63" y="17"/>
                    <a:pt x="63" y="17"/>
                    <a:pt x="63" y="17"/>
                  </a:cubicBezTo>
                  <a:cubicBezTo>
                    <a:pt x="63" y="11"/>
                    <a:pt x="60" y="7"/>
                    <a:pt x="52" y="6"/>
                  </a:cubicBezTo>
                  <a:cubicBezTo>
                    <a:pt x="52" y="3"/>
                    <a:pt x="52" y="3"/>
                    <a:pt x="52" y="3"/>
                  </a:cubicBezTo>
                  <a:cubicBezTo>
                    <a:pt x="82" y="0"/>
                    <a:pt x="82" y="0"/>
                    <a:pt x="82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5" y="57"/>
                    <a:pt x="85" y="57"/>
                    <a:pt x="85" y="57"/>
                  </a:cubicBezTo>
                  <a:cubicBezTo>
                    <a:pt x="85" y="66"/>
                    <a:pt x="87" y="69"/>
                    <a:pt x="96" y="71"/>
                  </a:cubicBezTo>
                  <a:cubicBezTo>
                    <a:pt x="96" y="74"/>
                    <a:pt x="96" y="74"/>
                    <a:pt x="96" y="74"/>
                  </a:cubicBezTo>
                  <a:cubicBezTo>
                    <a:pt x="63" y="77"/>
                    <a:pt x="63" y="77"/>
                    <a:pt x="63" y="77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5" y="72"/>
                    <a:pt x="46" y="77"/>
                    <a:pt x="35" y="77"/>
                  </a:cubicBezTo>
                  <a:cubicBezTo>
                    <a:pt x="20" y="77"/>
                    <a:pt x="11" y="69"/>
                    <a:pt x="11" y="55"/>
                  </a:cubicBezTo>
                  <a:lnTo>
                    <a:pt x="11" y="18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6" name="Freeform 63">
              <a:extLst>
                <a:ext uri="{FF2B5EF4-FFF2-40B4-BE49-F238E27FC236}">
                  <a16:creationId xmlns:a16="http://schemas.microsoft.com/office/drawing/2014/main" id="{DF266275-D95A-2D44-A5FC-189164C5869B}"/>
                </a:ext>
              </a:extLst>
            </p:cNvPr>
            <p:cNvSpPr>
              <a:spLocks/>
            </p:cNvSpPr>
            <p:nvPr/>
          </p:nvSpPr>
          <p:spPr bwMode="gray">
            <a:xfrm>
              <a:off x="7581901" y="3201988"/>
              <a:ext cx="225425" cy="385763"/>
            </a:xfrm>
            <a:custGeom>
              <a:avLst/>
              <a:gdLst>
                <a:gd name="T0" fmla="*/ 13 w 60"/>
                <a:gd name="T1" fmla="*/ 33 h 102"/>
                <a:gd name="T2" fmla="*/ 0 w 60"/>
                <a:gd name="T3" fmla="*/ 33 h 102"/>
                <a:gd name="T4" fmla="*/ 0 w 60"/>
                <a:gd name="T5" fmla="*/ 30 h 102"/>
                <a:gd name="T6" fmla="*/ 31 w 60"/>
                <a:gd name="T7" fmla="*/ 0 h 102"/>
                <a:gd name="T8" fmla="*/ 34 w 60"/>
                <a:gd name="T9" fmla="*/ 0 h 102"/>
                <a:gd name="T10" fmla="*/ 34 w 60"/>
                <a:gd name="T11" fmla="*/ 28 h 102"/>
                <a:gd name="T12" fmla="*/ 58 w 60"/>
                <a:gd name="T13" fmla="*/ 28 h 102"/>
                <a:gd name="T14" fmla="*/ 58 w 60"/>
                <a:gd name="T15" fmla="*/ 33 h 102"/>
                <a:gd name="T16" fmla="*/ 34 w 60"/>
                <a:gd name="T17" fmla="*/ 33 h 102"/>
                <a:gd name="T18" fmla="*/ 34 w 60"/>
                <a:gd name="T19" fmla="*/ 75 h 102"/>
                <a:gd name="T20" fmla="*/ 47 w 60"/>
                <a:gd name="T21" fmla="*/ 93 h 102"/>
                <a:gd name="T22" fmla="*/ 58 w 60"/>
                <a:gd name="T23" fmla="*/ 87 h 102"/>
                <a:gd name="T24" fmla="*/ 60 w 60"/>
                <a:gd name="T25" fmla="*/ 89 h 102"/>
                <a:gd name="T26" fmla="*/ 37 w 60"/>
                <a:gd name="T27" fmla="*/ 102 h 102"/>
                <a:gd name="T28" fmla="*/ 13 w 60"/>
                <a:gd name="T29" fmla="*/ 79 h 102"/>
                <a:gd name="T30" fmla="*/ 13 w 60"/>
                <a:gd name="T31" fmla="*/ 33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102">
                  <a:moveTo>
                    <a:pt x="13" y="33"/>
                  </a:moveTo>
                  <a:cubicBezTo>
                    <a:pt x="0" y="33"/>
                    <a:pt x="0" y="33"/>
                    <a:pt x="0" y="33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9" y="24"/>
                    <a:pt x="21" y="13"/>
                    <a:pt x="31" y="0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58" y="28"/>
                    <a:pt x="58" y="28"/>
                    <a:pt x="58" y="28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34" y="33"/>
                    <a:pt x="34" y="33"/>
                    <a:pt x="34" y="33"/>
                  </a:cubicBezTo>
                  <a:cubicBezTo>
                    <a:pt x="34" y="75"/>
                    <a:pt x="34" y="75"/>
                    <a:pt x="34" y="75"/>
                  </a:cubicBezTo>
                  <a:cubicBezTo>
                    <a:pt x="34" y="86"/>
                    <a:pt x="37" y="93"/>
                    <a:pt x="47" y="93"/>
                  </a:cubicBezTo>
                  <a:cubicBezTo>
                    <a:pt x="51" y="93"/>
                    <a:pt x="54" y="91"/>
                    <a:pt x="58" y="87"/>
                  </a:cubicBezTo>
                  <a:cubicBezTo>
                    <a:pt x="60" y="89"/>
                    <a:pt x="60" y="89"/>
                    <a:pt x="60" y="89"/>
                  </a:cubicBezTo>
                  <a:cubicBezTo>
                    <a:pt x="55" y="98"/>
                    <a:pt x="48" y="102"/>
                    <a:pt x="37" y="102"/>
                  </a:cubicBezTo>
                  <a:cubicBezTo>
                    <a:pt x="24" y="102"/>
                    <a:pt x="13" y="96"/>
                    <a:pt x="13" y="79"/>
                  </a:cubicBezTo>
                  <a:lnTo>
                    <a:pt x="13" y="33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7" name="Freeform 64">
              <a:extLst>
                <a:ext uri="{FF2B5EF4-FFF2-40B4-BE49-F238E27FC236}">
                  <a16:creationId xmlns:a16="http://schemas.microsoft.com/office/drawing/2014/main" id="{5C0BA037-2B16-444B-AE2F-260E175BCE2B}"/>
                </a:ext>
              </a:extLst>
            </p:cNvPr>
            <p:cNvSpPr>
              <a:spLocks/>
            </p:cNvSpPr>
            <p:nvPr/>
          </p:nvSpPr>
          <p:spPr bwMode="gray">
            <a:xfrm>
              <a:off x="7807326" y="3297238"/>
              <a:ext cx="365125" cy="290513"/>
            </a:xfrm>
            <a:custGeom>
              <a:avLst/>
              <a:gdLst>
                <a:gd name="T0" fmla="*/ 12 w 97"/>
                <a:gd name="T1" fmla="*/ 18 h 77"/>
                <a:gd name="T2" fmla="*/ 0 w 97"/>
                <a:gd name="T3" fmla="*/ 6 h 77"/>
                <a:gd name="T4" fmla="*/ 0 w 97"/>
                <a:gd name="T5" fmla="*/ 3 h 77"/>
                <a:gd name="T6" fmla="*/ 30 w 97"/>
                <a:gd name="T7" fmla="*/ 0 h 77"/>
                <a:gd name="T8" fmla="*/ 33 w 97"/>
                <a:gd name="T9" fmla="*/ 0 h 77"/>
                <a:gd name="T10" fmla="*/ 33 w 97"/>
                <a:gd name="T11" fmla="*/ 53 h 77"/>
                <a:gd name="T12" fmla="*/ 46 w 97"/>
                <a:gd name="T13" fmla="*/ 65 h 77"/>
                <a:gd name="T14" fmla="*/ 64 w 97"/>
                <a:gd name="T15" fmla="*/ 52 h 77"/>
                <a:gd name="T16" fmla="*/ 64 w 97"/>
                <a:gd name="T17" fmla="*/ 17 h 77"/>
                <a:gd name="T18" fmla="*/ 53 w 97"/>
                <a:gd name="T19" fmla="*/ 6 h 77"/>
                <a:gd name="T20" fmla="*/ 53 w 97"/>
                <a:gd name="T21" fmla="*/ 3 h 77"/>
                <a:gd name="T22" fmla="*/ 82 w 97"/>
                <a:gd name="T23" fmla="*/ 0 h 77"/>
                <a:gd name="T24" fmla="*/ 86 w 97"/>
                <a:gd name="T25" fmla="*/ 0 h 77"/>
                <a:gd name="T26" fmla="*/ 86 w 97"/>
                <a:gd name="T27" fmla="*/ 57 h 77"/>
                <a:gd name="T28" fmla="*/ 97 w 97"/>
                <a:gd name="T29" fmla="*/ 71 h 77"/>
                <a:gd name="T30" fmla="*/ 97 w 97"/>
                <a:gd name="T31" fmla="*/ 74 h 77"/>
                <a:gd name="T32" fmla="*/ 64 w 97"/>
                <a:gd name="T33" fmla="*/ 77 h 77"/>
                <a:gd name="T34" fmla="*/ 64 w 97"/>
                <a:gd name="T35" fmla="*/ 60 h 77"/>
                <a:gd name="T36" fmla="*/ 64 w 97"/>
                <a:gd name="T37" fmla="*/ 60 h 77"/>
                <a:gd name="T38" fmla="*/ 35 w 97"/>
                <a:gd name="T39" fmla="*/ 77 h 77"/>
                <a:gd name="T40" fmla="*/ 12 w 97"/>
                <a:gd name="T41" fmla="*/ 55 h 77"/>
                <a:gd name="T42" fmla="*/ 12 w 97"/>
                <a:gd name="T43" fmla="*/ 18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97" h="77">
                  <a:moveTo>
                    <a:pt x="12" y="18"/>
                  </a:moveTo>
                  <a:cubicBezTo>
                    <a:pt x="12" y="10"/>
                    <a:pt x="9" y="7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61"/>
                    <a:pt x="39" y="65"/>
                    <a:pt x="46" y="65"/>
                  </a:cubicBezTo>
                  <a:cubicBezTo>
                    <a:pt x="54" y="65"/>
                    <a:pt x="58" y="62"/>
                    <a:pt x="64" y="52"/>
                  </a:cubicBezTo>
                  <a:cubicBezTo>
                    <a:pt x="64" y="17"/>
                    <a:pt x="64" y="17"/>
                    <a:pt x="64" y="17"/>
                  </a:cubicBezTo>
                  <a:cubicBezTo>
                    <a:pt x="64" y="11"/>
                    <a:pt x="60" y="7"/>
                    <a:pt x="53" y="6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82" y="0"/>
                    <a:pt x="82" y="0"/>
                    <a:pt x="82" y="0"/>
                  </a:cubicBezTo>
                  <a:cubicBezTo>
                    <a:pt x="86" y="0"/>
                    <a:pt x="86" y="0"/>
                    <a:pt x="86" y="0"/>
                  </a:cubicBezTo>
                  <a:cubicBezTo>
                    <a:pt x="86" y="57"/>
                    <a:pt x="86" y="57"/>
                    <a:pt x="86" y="57"/>
                  </a:cubicBezTo>
                  <a:cubicBezTo>
                    <a:pt x="86" y="66"/>
                    <a:pt x="88" y="69"/>
                    <a:pt x="97" y="71"/>
                  </a:cubicBezTo>
                  <a:cubicBezTo>
                    <a:pt x="97" y="74"/>
                    <a:pt x="97" y="74"/>
                    <a:pt x="97" y="74"/>
                  </a:cubicBezTo>
                  <a:cubicBezTo>
                    <a:pt x="64" y="77"/>
                    <a:pt x="64" y="77"/>
                    <a:pt x="64" y="77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56" y="72"/>
                    <a:pt x="47" y="77"/>
                    <a:pt x="35" y="77"/>
                  </a:cubicBezTo>
                  <a:cubicBezTo>
                    <a:pt x="21" y="77"/>
                    <a:pt x="12" y="69"/>
                    <a:pt x="12" y="55"/>
                  </a:cubicBezTo>
                  <a:lnTo>
                    <a:pt x="12" y="18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8" name="Freeform 65">
              <a:extLst>
                <a:ext uri="{FF2B5EF4-FFF2-40B4-BE49-F238E27FC236}">
                  <a16:creationId xmlns:a16="http://schemas.microsoft.com/office/drawing/2014/main" id="{AF133747-0B75-9842-82C2-89F76B5C06F4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8183563" y="3297238"/>
              <a:ext cx="304800" cy="290513"/>
            </a:xfrm>
            <a:custGeom>
              <a:avLst/>
              <a:gdLst>
                <a:gd name="T0" fmla="*/ 46 w 81"/>
                <a:gd name="T1" fmla="*/ 62 h 77"/>
                <a:gd name="T2" fmla="*/ 33 w 81"/>
                <a:gd name="T3" fmla="*/ 69 h 77"/>
                <a:gd name="T4" fmla="*/ 23 w 81"/>
                <a:gd name="T5" fmla="*/ 56 h 77"/>
                <a:gd name="T6" fmla="*/ 46 w 81"/>
                <a:gd name="T7" fmla="*/ 35 h 77"/>
                <a:gd name="T8" fmla="*/ 46 w 81"/>
                <a:gd name="T9" fmla="*/ 62 h 77"/>
                <a:gd name="T10" fmla="*/ 68 w 81"/>
                <a:gd name="T11" fmla="*/ 27 h 77"/>
                <a:gd name="T12" fmla="*/ 36 w 81"/>
                <a:gd name="T13" fmla="*/ 0 h 77"/>
                <a:gd name="T14" fmla="*/ 4 w 81"/>
                <a:gd name="T15" fmla="*/ 24 h 77"/>
                <a:gd name="T16" fmla="*/ 7 w 81"/>
                <a:gd name="T17" fmla="*/ 24 h 77"/>
                <a:gd name="T18" fmla="*/ 28 w 81"/>
                <a:gd name="T19" fmla="*/ 12 h 77"/>
                <a:gd name="T20" fmla="*/ 46 w 81"/>
                <a:gd name="T21" fmla="*/ 31 h 77"/>
                <a:gd name="T22" fmla="*/ 0 w 81"/>
                <a:gd name="T23" fmla="*/ 58 h 77"/>
                <a:gd name="T24" fmla="*/ 22 w 81"/>
                <a:gd name="T25" fmla="*/ 77 h 77"/>
                <a:gd name="T26" fmla="*/ 44 w 81"/>
                <a:gd name="T27" fmla="*/ 69 h 77"/>
                <a:gd name="T28" fmla="*/ 46 w 81"/>
                <a:gd name="T29" fmla="*/ 67 h 77"/>
                <a:gd name="T30" fmla="*/ 63 w 81"/>
                <a:gd name="T31" fmla="*/ 77 h 77"/>
                <a:gd name="T32" fmla="*/ 81 w 81"/>
                <a:gd name="T33" fmla="*/ 63 h 77"/>
                <a:gd name="T34" fmla="*/ 78 w 81"/>
                <a:gd name="T35" fmla="*/ 63 h 77"/>
                <a:gd name="T36" fmla="*/ 72 w 81"/>
                <a:gd name="T37" fmla="*/ 70 h 77"/>
                <a:gd name="T38" fmla="*/ 68 w 81"/>
                <a:gd name="T39" fmla="*/ 60 h 77"/>
                <a:gd name="T40" fmla="*/ 68 w 81"/>
                <a:gd name="T41" fmla="*/ 27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1" h="77">
                  <a:moveTo>
                    <a:pt x="46" y="62"/>
                  </a:moveTo>
                  <a:cubicBezTo>
                    <a:pt x="41" y="67"/>
                    <a:pt x="37" y="69"/>
                    <a:pt x="33" y="69"/>
                  </a:cubicBezTo>
                  <a:cubicBezTo>
                    <a:pt x="27" y="69"/>
                    <a:pt x="23" y="64"/>
                    <a:pt x="23" y="56"/>
                  </a:cubicBezTo>
                  <a:cubicBezTo>
                    <a:pt x="23" y="47"/>
                    <a:pt x="28" y="42"/>
                    <a:pt x="46" y="35"/>
                  </a:cubicBezTo>
                  <a:lnTo>
                    <a:pt x="46" y="62"/>
                  </a:lnTo>
                  <a:close/>
                  <a:moveTo>
                    <a:pt x="68" y="27"/>
                  </a:moveTo>
                  <a:cubicBezTo>
                    <a:pt x="68" y="7"/>
                    <a:pt x="52" y="0"/>
                    <a:pt x="36" y="0"/>
                  </a:cubicBezTo>
                  <a:cubicBezTo>
                    <a:pt x="19" y="0"/>
                    <a:pt x="8" y="9"/>
                    <a:pt x="4" y="24"/>
                  </a:cubicBezTo>
                  <a:cubicBezTo>
                    <a:pt x="7" y="24"/>
                    <a:pt x="7" y="24"/>
                    <a:pt x="7" y="24"/>
                  </a:cubicBezTo>
                  <a:cubicBezTo>
                    <a:pt x="12" y="16"/>
                    <a:pt x="19" y="12"/>
                    <a:pt x="28" y="12"/>
                  </a:cubicBezTo>
                  <a:cubicBezTo>
                    <a:pt x="41" y="12"/>
                    <a:pt x="46" y="18"/>
                    <a:pt x="46" y="31"/>
                  </a:cubicBezTo>
                  <a:cubicBezTo>
                    <a:pt x="29" y="37"/>
                    <a:pt x="0" y="39"/>
                    <a:pt x="0" y="58"/>
                  </a:cubicBezTo>
                  <a:cubicBezTo>
                    <a:pt x="0" y="69"/>
                    <a:pt x="10" y="77"/>
                    <a:pt x="22" y="77"/>
                  </a:cubicBezTo>
                  <a:cubicBezTo>
                    <a:pt x="31" y="77"/>
                    <a:pt x="37" y="75"/>
                    <a:pt x="44" y="69"/>
                  </a:cubicBezTo>
                  <a:cubicBezTo>
                    <a:pt x="46" y="67"/>
                    <a:pt x="46" y="67"/>
                    <a:pt x="46" y="67"/>
                  </a:cubicBezTo>
                  <a:cubicBezTo>
                    <a:pt x="50" y="74"/>
                    <a:pt x="55" y="77"/>
                    <a:pt x="63" y="77"/>
                  </a:cubicBezTo>
                  <a:cubicBezTo>
                    <a:pt x="74" y="77"/>
                    <a:pt x="80" y="72"/>
                    <a:pt x="81" y="63"/>
                  </a:cubicBezTo>
                  <a:cubicBezTo>
                    <a:pt x="78" y="63"/>
                    <a:pt x="78" y="63"/>
                    <a:pt x="78" y="63"/>
                  </a:cubicBezTo>
                  <a:cubicBezTo>
                    <a:pt x="77" y="68"/>
                    <a:pt x="75" y="70"/>
                    <a:pt x="72" y="70"/>
                  </a:cubicBezTo>
                  <a:cubicBezTo>
                    <a:pt x="69" y="70"/>
                    <a:pt x="68" y="67"/>
                    <a:pt x="68" y="60"/>
                  </a:cubicBezTo>
                  <a:lnTo>
                    <a:pt x="68" y="27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59" name="Freeform 66">
              <a:extLst>
                <a:ext uri="{FF2B5EF4-FFF2-40B4-BE49-F238E27FC236}">
                  <a16:creationId xmlns:a16="http://schemas.microsoft.com/office/drawing/2014/main" id="{35CD8CE3-4C2D-F042-A6E2-D9BAE638C099}"/>
                </a:ext>
              </a:extLst>
            </p:cNvPr>
            <p:cNvSpPr>
              <a:spLocks/>
            </p:cNvSpPr>
            <p:nvPr/>
          </p:nvSpPr>
          <p:spPr bwMode="gray">
            <a:xfrm>
              <a:off x="8491538" y="3125788"/>
              <a:ext cx="180975" cy="450850"/>
            </a:xfrm>
            <a:custGeom>
              <a:avLst/>
              <a:gdLst>
                <a:gd name="T0" fmla="*/ 14 w 48"/>
                <a:gd name="T1" fmla="*/ 20 h 119"/>
                <a:gd name="T2" fmla="*/ 0 w 48"/>
                <a:gd name="T3" fmla="*/ 6 h 119"/>
                <a:gd name="T4" fmla="*/ 0 w 48"/>
                <a:gd name="T5" fmla="*/ 3 h 119"/>
                <a:gd name="T6" fmla="*/ 32 w 48"/>
                <a:gd name="T7" fmla="*/ 0 h 119"/>
                <a:gd name="T8" fmla="*/ 35 w 48"/>
                <a:gd name="T9" fmla="*/ 0 h 119"/>
                <a:gd name="T10" fmla="*/ 35 w 48"/>
                <a:gd name="T11" fmla="*/ 102 h 119"/>
                <a:gd name="T12" fmla="*/ 48 w 48"/>
                <a:gd name="T13" fmla="*/ 116 h 119"/>
                <a:gd name="T14" fmla="*/ 48 w 48"/>
                <a:gd name="T15" fmla="*/ 119 h 119"/>
                <a:gd name="T16" fmla="*/ 0 w 48"/>
                <a:gd name="T17" fmla="*/ 119 h 119"/>
                <a:gd name="T18" fmla="*/ 0 w 48"/>
                <a:gd name="T19" fmla="*/ 116 h 119"/>
                <a:gd name="T20" fmla="*/ 14 w 48"/>
                <a:gd name="T21" fmla="*/ 102 h 119"/>
                <a:gd name="T22" fmla="*/ 14 w 48"/>
                <a:gd name="T23" fmla="*/ 20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8" h="119">
                  <a:moveTo>
                    <a:pt x="14" y="20"/>
                  </a:moveTo>
                  <a:cubicBezTo>
                    <a:pt x="14" y="10"/>
                    <a:pt x="10" y="6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35" y="102"/>
                    <a:pt x="35" y="102"/>
                    <a:pt x="35" y="102"/>
                  </a:cubicBezTo>
                  <a:cubicBezTo>
                    <a:pt x="35" y="111"/>
                    <a:pt x="37" y="114"/>
                    <a:pt x="48" y="116"/>
                  </a:cubicBezTo>
                  <a:cubicBezTo>
                    <a:pt x="48" y="119"/>
                    <a:pt x="48" y="119"/>
                    <a:pt x="48" y="119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16"/>
                    <a:pt x="0" y="116"/>
                    <a:pt x="0" y="116"/>
                  </a:cubicBezTo>
                  <a:cubicBezTo>
                    <a:pt x="11" y="114"/>
                    <a:pt x="14" y="111"/>
                    <a:pt x="14" y="102"/>
                  </a:cubicBezTo>
                  <a:lnTo>
                    <a:pt x="14" y="20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0" name="Freeform 67">
              <a:extLst>
                <a:ext uri="{FF2B5EF4-FFF2-40B4-BE49-F238E27FC236}">
                  <a16:creationId xmlns:a16="http://schemas.microsoft.com/office/drawing/2014/main" id="{B1C53B7E-8F08-744E-9469-ABE3B393809C}"/>
                </a:ext>
              </a:extLst>
            </p:cNvPr>
            <p:cNvSpPr>
              <a:spLocks/>
            </p:cNvSpPr>
            <p:nvPr/>
          </p:nvSpPr>
          <p:spPr bwMode="gray">
            <a:xfrm>
              <a:off x="3387726" y="2736850"/>
              <a:ext cx="981075" cy="1308100"/>
            </a:xfrm>
            <a:custGeom>
              <a:avLst/>
              <a:gdLst>
                <a:gd name="T0" fmla="*/ 258 w 261"/>
                <a:gd name="T1" fmla="*/ 146 h 346"/>
                <a:gd name="T2" fmla="*/ 215 w 261"/>
                <a:gd name="T3" fmla="*/ 141 h 346"/>
                <a:gd name="T4" fmla="*/ 226 w 261"/>
                <a:gd name="T5" fmla="*/ 107 h 346"/>
                <a:gd name="T6" fmla="*/ 203 w 261"/>
                <a:gd name="T7" fmla="*/ 125 h 346"/>
                <a:gd name="T8" fmla="*/ 164 w 261"/>
                <a:gd name="T9" fmla="*/ 101 h 346"/>
                <a:gd name="T10" fmla="*/ 156 w 261"/>
                <a:gd name="T11" fmla="*/ 75 h 346"/>
                <a:gd name="T12" fmla="*/ 150 w 261"/>
                <a:gd name="T13" fmla="*/ 98 h 346"/>
                <a:gd name="T14" fmla="*/ 98 w 261"/>
                <a:gd name="T15" fmla="*/ 105 h 346"/>
                <a:gd name="T16" fmla="*/ 82 w 261"/>
                <a:gd name="T17" fmla="*/ 115 h 346"/>
                <a:gd name="T18" fmla="*/ 82 w 261"/>
                <a:gd name="T19" fmla="*/ 79 h 346"/>
                <a:gd name="T20" fmla="*/ 78 w 261"/>
                <a:gd name="T21" fmla="*/ 53 h 346"/>
                <a:gd name="T22" fmla="*/ 76 w 261"/>
                <a:gd name="T23" fmla="*/ 45 h 346"/>
                <a:gd name="T24" fmla="*/ 71 w 261"/>
                <a:gd name="T25" fmla="*/ 42 h 346"/>
                <a:gd name="T26" fmla="*/ 98 w 261"/>
                <a:gd name="T27" fmla="*/ 16 h 346"/>
                <a:gd name="T28" fmla="*/ 83 w 261"/>
                <a:gd name="T29" fmla="*/ 9 h 346"/>
                <a:gd name="T30" fmla="*/ 68 w 261"/>
                <a:gd name="T31" fmla="*/ 0 h 346"/>
                <a:gd name="T32" fmla="*/ 40 w 261"/>
                <a:gd name="T33" fmla="*/ 3 h 346"/>
                <a:gd name="T34" fmla="*/ 19 w 261"/>
                <a:gd name="T35" fmla="*/ 40 h 346"/>
                <a:gd name="T36" fmla="*/ 6 w 261"/>
                <a:gd name="T37" fmla="*/ 45 h 346"/>
                <a:gd name="T38" fmla="*/ 1 w 261"/>
                <a:gd name="T39" fmla="*/ 69 h 346"/>
                <a:gd name="T40" fmla="*/ 13 w 261"/>
                <a:gd name="T41" fmla="*/ 99 h 346"/>
                <a:gd name="T42" fmla="*/ 16 w 261"/>
                <a:gd name="T43" fmla="*/ 108 h 346"/>
                <a:gd name="T44" fmla="*/ 24 w 261"/>
                <a:gd name="T45" fmla="*/ 124 h 346"/>
                <a:gd name="T46" fmla="*/ 28 w 261"/>
                <a:gd name="T47" fmla="*/ 137 h 346"/>
                <a:gd name="T48" fmla="*/ 34 w 261"/>
                <a:gd name="T49" fmla="*/ 146 h 346"/>
                <a:gd name="T50" fmla="*/ 47 w 261"/>
                <a:gd name="T51" fmla="*/ 148 h 346"/>
                <a:gd name="T52" fmla="*/ 37 w 261"/>
                <a:gd name="T53" fmla="*/ 229 h 346"/>
                <a:gd name="T54" fmla="*/ 73 w 261"/>
                <a:gd name="T55" fmla="*/ 333 h 346"/>
                <a:gd name="T56" fmla="*/ 96 w 261"/>
                <a:gd name="T57" fmla="*/ 311 h 346"/>
                <a:gd name="T58" fmla="*/ 121 w 261"/>
                <a:gd name="T59" fmla="*/ 288 h 346"/>
                <a:gd name="T60" fmla="*/ 123 w 261"/>
                <a:gd name="T61" fmla="*/ 296 h 346"/>
                <a:gd name="T62" fmla="*/ 94 w 261"/>
                <a:gd name="T63" fmla="*/ 346 h 346"/>
                <a:gd name="T64" fmla="*/ 235 w 261"/>
                <a:gd name="T65" fmla="*/ 259 h 346"/>
                <a:gd name="T66" fmla="*/ 231 w 261"/>
                <a:gd name="T67" fmla="*/ 181 h 346"/>
                <a:gd name="T68" fmla="*/ 261 w 261"/>
                <a:gd name="T69" fmla="*/ 146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61" h="346">
                  <a:moveTo>
                    <a:pt x="261" y="146"/>
                  </a:moveTo>
                  <a:cubicBezTo>
                    <a:pt x="260" y="145"/>
                    <a:pt x="258" y="146"/>
                    <a:pt x="258" y="146"/>
                  </a:cubicBezTo>
                  <a:cubicBezTo>
                    <a:pt x="224" y="158"/>
                    <a:pt x="224" y="158"/>
                    <a:pt x="224" y="158"/>
                  </a:cubicBezTo>
                  <a:cubicBezTo>
                    <a:pt x="222" y="152"/>
                    <a:pt x="219" y="146"/>
                    <a:pt x="215" y="141"/>
                  </a:cubicBezTo>
                  <a:cubicBezTo>
                    <a:pt x="226" y="111"/>
                    <a:pt x="226" y="111"/>
                    <a:pt x="226" y="111"/>
                  </a:cubicBezTo>
                  <a:cubicBezTo>
                    <a:pt x="226" y="111"/>
                    <a:pt x="227" y="108"/>
                    <a:pt x="226" y="107"/>
                  </a:cubicBezTo>
                  <a:cubicBezTo>
                    <a:pt x="225" y="107"/>
                    <a:pt x="223" y="109"/>
                    <a:pt x="223" y="109"/>
                  </a:cubicBezTo>
                  <a:cubicBezTo>
                    <a:pt x="203" y="125"/>
                    <a:pt x="203" y="125"/>
                    <a:pt x="203" y="125"/>
                  </a:cubicBezTo>
                  <a:cubicBezTo>
                    <a:pt x="196" y="117"/>
                    <a:pt x="187" y="110"/>
                    <a:pt x="176" y="105"/>
                  </a:cubicBezTo>
                  <a:cubicBezTo>
                    <a:pt x="173" y="104"/>
                    <a:pt x="169" y="102"/>
                    <a:pt x="164" y="101"/>
                  </a:cubicBezTo>
                  <a:cubicBezTo>
                    <a:pt x="158" y="78"/>
                    <a:pt x="158" y="78"/>
                    <a:pt x="158" y="78"/>
                  </a:cubicBezTo>
                  <a:cubicBezTo>
                    <a:pt x="158" y="78"/>
                    <a:pt x="158" y="75"/>
                    <a:pt x="156" y="75"/>
                  </a:cubicBezTo>
                  <a:cubicBezTo>
                    <a:pt x="155" y="75"/>
                    <a:pt x="154" y="77"/>
                    <a:pt x="154" y="77"/>
                  </a:cubicBezTo>
                  <a:cubicBezTo>
                    <a:pt x="150" y="98"/>
                    <a:pt x="150" y="98"/>
                    <a:pt x="150" y="98"/>
                  </a:cubicBezTo>
                  <a:cubicBezTo>
                    <a:pt x="146" y="98"/>
                    <a:pt x="142" y="97"/>
                    <a:pt x="137" y="97"/>
                  </a:cubicBezTo>
                  <a:cubicBezTo>
                    <a:pt x="122" y="97"/>
                    <a:pt x="109" y="100"/>
                    <a:pt x="98" y="105"/>
                  </a:cubicBezTo>
                  <a:cubicBezTo>
                    <a:pt x="93" y="107"/>
                    <a:pt x="89" y="110"/>
                    <a:pt x="84" y="113"/>
                  </a:cubicBezTo>
                  <a:cubicBezTo>
                    <a:pt x="84" y="113"/>
                    <a:pt x="83" y="114"/>
                    <a:pt x="82" y="115"/>
                  </a:cubicBezTo>
                  <a:cubicBezTo>
                    <a:pt x="78" y="104"/>
                    <a:pt x="75" y="96"/>
                    <a:pt x="74" y="93"/>
                  </a:cubicBezTo>
                  <a:cubicBezTo>
                    <a:pt x="77" y="91"/>
                    <a:pt x="81" y="84"/>
                    <a:pt x="82" y="79"/>
                  </a:cubicBezTo>
                  <a:cubicBezTo>
                    <a:pt x="84" y="72"/>
                    <a:pt x="84" y="68"/>
                    <a:pt x="82" y="63"/>
                  </a:cubicBezTo>
                  <a:cubicBezTo>
                    <a:pt x="81" y="59"/>
                    <a:pt x="78" y="55"/>
                    <a:pt x="78" y="53"/>
                  </a:cubicBezTo>
                  <a:cubicBezTo>
                    <a:pt x="79" y="51"/>
                    <a:pt x="79" y="50"/>
                    <a:pt x="80" y="49"/>
                  </a:cubicBezTo>
                  <a:cubicBezTo>
                    <a:pt x="80" y="46"/>
                    <a:pt x="78" y="45"/>
                    <a:pt x="76" y="45"/>
                  </a:cubicBezTo>
                  <a:cubicBezTo>
                    <a:pt x="74" y="45"/>
                    <a:pt x="73" y="45"/>
                    <a:pt x="71" y="45"/>
                  </a:cubicBezTo>
                  <a:cubicBezTo>
                    <a:pt x="71" y="45"/>
                    <a:pt x="70" y="45"/>
                    <a:pt x="71" y="42"/>
                  </a:cubicBezTo>
                  <a:cubicBezTo>
                    <a:pt x="72" y="38"/>
                    <a:pt x="79" y="36"/>
                    <a:pt x="86" y="34"/>
                  </a:cubicBezTo>
                  <a:cubicBezTo>
                    <a:pt x="94" y="31"/>
                    <a:pt x="98" y="25"/>
                    <a:pt x="98" y="16"/>
                  </a:cubicBezTo>
                  <a:cubicBezTo>
                    <a:pt x="99" y="9"/>
                    <a:pt x="95" y="4"/>
                    <a:pt x="90" y="2"/>
                  </a:cubicBezTo>
                  <a:cubicBezTo>
                    <a:pt x="89" y="4"/>
                    <a:pt x="85" y="8"/>
                    <a:pt x="83" y="9"/>
                  </a:cubicBezTo>
                  <a:cubicBezTo>
                    <a:pt x="80" y="11"/>
                    <a:pt x="76" y="11"/>
                    <a:pt x="74" y="11"/>
                  </a:cubicBezTo>
                  <a:cubicBezTo>
                    <a:pt x="74" y="6"/>
                    <a:pt x="72" y="2"/>
                    <a:pt x="68" y="0"/>
                  </a:cubicBezTo>
                  <a:cubicBezTo>
                    <a:pt x="67" y="2"/>
                    <a:pt x="63" y="5"/>
                    <a:pt x="56" y="5"/>
                  </a:cubicBezTo>
                  <a:cubicBezTo>
                    <a:pt x="50" y="5"/>
                    <a:pt x="49" y="3"/>
                    <a:pt x="40" y="3"/>
                  </a:cubicBezTo>
                  <a:cubicBezTo>
                    <a:pt x="27" y="3"/>
                    <a:pt x="16" y="11"/>
                    <a:pt x="15" y="23"/>
                  </a:cubicBezTo>
                  <a:cubicBezTo>
                    <a:pt x="14" y="30"/>
                    <a:pt x="17" y="36"/>
                    <a:pt x="19" y="40"/>
                  </a:cubicBezTo>
                  <a:cubicBezTo>
                    <a:pt x="17" y="41"/>
                    <a:pt x="14" y="45"/>
                    <a:pt x="13" y="46"/>
                  </a:cubicBezTo>
                  <a:cubicBezTo>
                    <a:pt x="12" y="45"/>
                    <a:pt x="9" y="43"/>
                    <a:pt x="6" y="45"/>
                  </a:cubicBezTo>
                  <a:cubicBezTo>
                    <a:pt x="7" y="47"/>
                    <a:pt x="7" y="49"/>
                    <a:pt x="7" y="51"/>
                  </a:cubicBezTo>
                  <a:cubicBezTo>
                    <a:pt x="6" y="53"/>
                    <a:pt x="1" y="62"/>
                    <a:pt x="1" y="69"/>
                  </a:cubicBezTo>
                  <a:cubicBezTo>
                    <a:pt x="0" y="82"/>
                    <a:pt x="7" y="91"/>
                    <a:pt x="13" y="93"/>
                  </a:cubicBezTo>
                  <a:cubicBezTo>
                    <a:pt x="12" y="95"/>
                    <a:pt x="12" y="97"/>
                    <a:pt x="13" y="99"/>
                  </a:cubicBezTo>
                  <a:cubicBezTo>
                    <a:pt x="13" y="100"/>
                    <a:pt x="14" y="101"/>
                    <a:pt x="17" y="101"/>
                  </a:cubicBezTo>
                  <a:cubicBezTo>
                    <a:pt x="16" y="103"/>
                    <a:pt x="15" y="105"/>
                    <a:pt x="16" y="108"/>
                  </a:cubicBezTo>
                  <a:cubicBezTo>
                    <a:pt x="17" y="111"/>
                    <a:pt x="20" y="115"/>
                    <a:pt x="23" y="115"/>
                  </a:cubicBezTo>
                  <a:cubicBezTo>
                    <a:pt x="23" y="117"/>
                    <a:pt x="24" y="122"/>
                    <a:pt x="24" y="124"/>
                  </a:cubicBezTo>
                  <a:cubicBezTo>
                    <a:pt x="23" y="126"/>
                    <a:pt x="22" y="128"/>
                    <a:pt x="23" y="131"/>
                  </a:cubicBezTo>
                  <a:cubicBezTo>
                    <a:pt x="23" y="134"/>
                    <a:pt x="25" y="137"/>
                    <a:pt x="28" y="137"/>
                  </a:cubicBezTo>
                  <a:cubicBezTo>
                    <a:pt x="28" y="139"/>
                    <a:pt x="29" y="141"/>
                    <a:pt x="30" y="142"/>
                  </a:cubicBezTo>
                  <a:cubicBezTo>
                    <a:pt x="31" y="143"/>
                    <a:pt x="32" y="144"/>
                    <a:pt x="34" y="146"/>
                  </a:cubicBezTo>
                  <a:cubicBezTo>
                    <a:pt x="36" y="147"/>
                    <a:pt x="38" y="148"/>
                    <a:pt x="41" y="148"/>
                  </a:cubicBezTo>
                  <a:cubicBezTo>
                    <a:pt x="43" y="148"/>
                    <a:pt x="46" y="148"/>
                    <a:pt x="47" y="148"/>
                  </a:cubicBezTo>
                  <a:cubicBezTo>
                    <a:pt x="47" y="149"/>
                    <a:pt x="47" y="156"/>
                    <a:pt x="48" y="164"/>
                  </a:cubicBezTo>
                  <a:cubicBezTo>
                    <a:pt x="41" y="183"/>
                    <a:pt x="37" y="205"/>
                    <a:pt x="37" y="229"/>
                  </a:cubicBezTo>
                  <a:cubicBezTo>
                    <a:pt x="37" y="229"/>
                    <a:pt x="37" y="229"/>
                    <a:pt x="37" y="229"/>
                  </a:cubicBezTo>
                  <a:cubicBezTo>
                    <a:pt x="37" y="271"/>
                    <a:pt x="50" y="309"/>
                    <a:pt x="73" y="333"/>
                  </a:cubicBezTo>
                  <a:cubicBezTo>
                    <a:pt x="73" y="333"/>
                    <a:pt x="74" y="335"/>
                    <a:pt x="78" y="338"/>
                  </a:cubicBezTo>
                  <a:cubicBezTo>
                    <a:pt x="78" y="338"/>
                    <a:pt x="85" y="325"/>
                    <a:pt x="96" y="311"/>
                  </a:cubicBezTo>
                  <a:cubicBezTo>
                    <a:pt x="99" y="308"/>
                    <a:pt x="102" y="304"/>
                    <a:pt x="105" y="301"/>
                  </a:cubicBezTo>
                  <a:cubicBezTo>
                    <a:pt x="111" y="296"/>
                    <a:pt x="116" y="292"/>
                    <a:pt x="121" y="288"/>
                  </a:cubicBezTo>
                  <a:cubicBezTo>
                    <a:pt x="135" y="278"/>
                    <a:pt x="152" y="271"/>
                    <a:pt x="167" y="268"/>
                  </a:cubicBezTo>
                  <a:cubicBezTo>
                    <a:pt x="150" y="277"/>
                    <a:pt x="140" y="282"/>
                    <a:pt x="123" y="296"/>
                  </a:cubicBezTo>
                  <a:cubicBezTo>
                    <a:pt x="113" y="305"/>
                    <a:pt x="96" y="320"/>
                    <a:pt x="85" y="342"/>
                  </a:cubicBezTo>
                  <a:cubicBezTo>
                    <a:pt x="87" y="344"/>
                    <a:pt x="91" y="346"/>
                    <a:pt x="94" y="346"/>
                  </a:cubicBezTo>
                  <a:cubicBezTo>
                    <a:pt x="97" y="343"/>
                    <a:pt x="109" y="321"/>
                    <a:pt x="128" y="303"/>
                  </a:cubicBezTo>
                  <a:cubicBezTo>
                    <a:pt x="166" y="267"/>
                    <a:pt x="211" y="259"/>
                    <a:pt x="235" y="259"/>
                  </a:cubicBezTo>
                  <a:cubicBezTo>
                    <a:pt x="236" y="249"/>
                    <a:pt x="237" y="239"/>
                    <a:pt x="237" y="229"/>
                  </a:cubicBezTo>
                  <a:cubicBezTo>
                    <a:pt x="237" y="212"/>
                    <a:pt x="235" y="195"/>
                    <a:pt x="231" y="181"/>
                  </a:cubicBezTo>
                  <a:cubicBezTo>
                    <a:pt x="259" y="149"/>
                    <a:pt x="259" y="149"/>
                    <a:pt x="259" y="149"/>
                  </a:cubicBezTo>
                  <a:cubicBezTo>
                    <a:pt x="259" y="149"/>
                    <a:pt x="261" y="147"/>
                    <a:pt x="261" y="146"/>
                  </a:cubicBezTo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1" name="Freeform 68">
              <a:extLst>
                <a:ext uri="{FF2B5EF4-FFF2-40B4-BE49-F238E27FC236}">
                  <a16:creationId xmlns:a16="http://schemas.microsoft.com/office/drawing/2014/main" id="{2B69127C-AEEB-B048-899D-C0305085EFF1}"/>
                </a:ext>
              </a:extLst>
            </p:cNvPr>
            <p:cNvSpPr>
              <a:spLocks/>
            </p:cNvSpPr>
            <p:nvPr/>
          </p:nvSpPr>
          <p:spPr bwMode="gray">
            <a:xfrm>
              <a:off x="3505201" y="3119438"/>
              <a:ext cx="82550" cy="117475"/>
            </a:xfrm>
            <a:custGeom>
              <a:avLst/>
              <a:gdLst>
                <a:gd name="T0" fmla="*/ 20 w 22"/>
                <a:gd name="T1" fmla="*/ 31 h 31"/>
                <a:gd name="T2" fmla="*/ 11 w 22"/>
                <a:gd name="T3" fmla="*/ 28 h 31"/>
                <a:gd name="T4" fmla="*/ 1 w 22"/>
                <a:gd name="T5" fmla="*/ 31 h 31"/>
                <a:gd name="T6" fmla="*/ 0 w 22"/>
                <a:gd name="T7" fmla="*/ 26 h 31"/>
                <a:gd name="T8" fmla="*/ 2 w 22"/>
                <a:gd name="T9" fmla="*/ 24 h 31"/>
                <a:gd name="T10" fmla="*/ 1 w 22"/>
                <a:gd name="T11" fmla="*/ 6 h 31"/>
                <a:gd name="T12" fmla="*/ 8 w 22"/>
                <a:gd name="T13" fmla="*/ 2 h 31"/>
                <a:gd name="T14" fmla="*/ 10 w 22"/>
                <a:gd name="T15" fmla="*/ 0 h 31"/>
                <a:gd name="T16" fmla="*/ 17 w 22"/>
                <a:gd name="T17" fmla="*/ 7 h 31"/>
                <a:gd name="T18" fmla="*/ 19 w 22"/>
                <a:gd name="T19" fmla="*/ 15 h 31"/>
                <a:gd name="T20" fmla="*/ 19 w 22"/>
                <a:gd name="T21" fmla="*/ 25 h 31"/>
                <a:gd name="T22" fmla="*/ 21 w 22"/>
                <a:gd name="T23" fmla="*/ 28 h 31"/>
                <a:gd name="T24" fmla="*/ 20 w 22"/>
                <a:gd name="T25" fmla="*/ 31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" h="31">
                  <a:moveTo>
                    <a:pt x="20" y="31"/>
                  </a:moveTo>
                  <a:cubicBezTo>
                    <a:pt x="19" y="30"/>
                    <a:pt x="14" y="28"/>
                    <a:pt x="11" y="28"/>
                  </a:cubicBezTo>
                  <a:cubicBezTo>
                    <a:pt x="7" y="28"/>
                    <a:pt x="4" y="29"/>
                    <a:pt x="1" y="31"/>
                  </a:cubicBezTo>
                  <a:cubicBezTo>
                    <a:pt x="0" y="30"/>
                    <a:pt x="0" y="28"/>
                    <a:pt x="0" y="26"/>
                  </a:cubicBezTo>
                  <a:cubicBezTo>
                    <a:pt x="1" y="25"/>
                    <a:pt x="2" y="24"/>
                    <a:pt x="2" y="24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1" y="6"/>
                    <a:pt x="6" y="3"/>
                    <a:pt x="8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2" y="1"/>
                    <a:pt x="15" y="4"/>
                    <a:pt x="17" y="7"/>
                  </a:cubicBezTo>
                  <a:cubicBezTo>
                    <a:pt x="18" y="9"/>
                    <a:pt x="19" y="12"/>
                    <a:pt x="19" y="15"/>
                  </a:cubicBezTo>
                  <a:cubicBezTo>
                    <a:pt x="20" y="18"/>
                    <a:pt x="20" y="21"/>
                    <a:pt x="19" y="25"/>
                  </a:cubicBezTo>
                  <a:cubicBezTo>
                    <a:pt x="20" y="25"/>
                    <a:pt x="21" y="26"/>
                    <a:pt x="21" y="28"/>
                  </a:cubicBezTo>
                  <a:cubicBezTo>
                    <a:pt x="22" y="29"/>
                    <a:pt x="21" y="30"/>
                    <a:pt x="20" y="31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2" name="Freeform 69">
              <a:extLst>
                <a:ext uri="{FF2B5EF4-FFF2-40B4-BE49-F238E27FC236}">
                  <a16:creationId xmlns:a16="http://schemas.microsoft.com/office/drawing/2014/main" id="{BF46ED60-9F9E-EB4B-9059-1B4E75AD823F}"/>
                </a:ext>
              </a:extLst>
            </p:cNvPr>
            <p:cNvSpPr>
              <a:spLocks/>
            </p:cNvSpPr>
            <p:nvPr/>
          </p:nvSpPr>
          <p:spPr bwMode="gray">
            <a:xfrm>
              <a:off x="4165601" y="3319463"/>
              <a:ext cx="161925" cy="128588"/>
            </a:xfrm>
            <a:custGeom>
              <a:avLst/>
              <a:gdLst>
                <a:gd name="T0" fmla="*/ 7 w 43"/>
                <a:gd name="T1" fmla="*/ 34 h 34"/>
                <a:gd name="T2" fmla="*/ 0 w 43"/>
                <a:gd name="T3" fmla="*/ 19 h 34"/>
                <a:gd name="T4" fmla="*/ 43 w 43"/>
                <a:gd name="T5" fmla="*/ 0 h 34"/>
                <a:gd name="T6" fmla="*/ 7 w 43"/>
                <a:gd name="T7" fmla="*/ 34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3" h="34">
                  <a:moveTo>
                    <a:pt x="7" y="34"/>
                  </a:moveTo>
                  <a:cubicBezTo>
                    <a:pt x="7" y="30"/>
                    <a:pt x="3" y="21"/>
                    <a:pt x="0" y="19"/>
                  </a:cubicBezTo>
                  <a:cubicBezTo>
                    <a:pt x="43" y="0"/>
                    <a:pt x="43" y="0"/>
                    <a:pt x="43" y="0"/>
                  </a:cubicBezTo>
                  <a:lnTo>
                    <a:pt x="7" y="3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3" name="Freeform 70">
              <a:extLst>
                <a:ext uri="{FF2B5EF4-FFF2-40B4-BE49-F238E27FC236}">
                  <a16:creationId xmlns:a16="http://schemas.microsoft.com/office/drawing/2014/main" id="{CB1A4F84-53A6-EF42-AA7A-3D16B7FE904C}"/>
                </a:ext>
              </a:extLst>
            </p:cNvPr>
            <p:cNvSpPr>
              <a:spLocks/>
            </p:cNvSpPr>
            <p:nvPr/>
          </p:nvSpPr>
          <p:spPr bwMode="gray">
            <a:xfrm>
              <a:off x="3756026" y="3179763"/>
              <a:ext cx="136525" cy="166688"/>
            </a:xfrm>
            <a:custGeom>
              <a:avLst/>
              <a:gdLst>
                <a:gd name="T0" fmla="*/ 0 w 36"/>
                <a:gd name="T1" fmla="*/ 0 h 44"/>
                <a:gd name="T2" fmla="*/ 36 w 36"/>
                <a:gd name="T3" fmla="*/ 33 h 44"/>
                <a:gd name="T4" fmla="*/ 26 w 36"/>
                <a:gd name="T5" fmla="*/ 44 h 44"/>
                <a:gd name="T6" fmla="*/ 0 w 36"/>
                <a:gd name="T7" fmla="*/ 0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44">
                  <a:moveTo>
                    <a:pt x="0" y="0"/>
                  </a:moveTo>
                  <a:cubicBezTo>
                    <a:pt x="36" y="33"/>
                    <a:pt x="36" y="33"/>
                    <a:pt x="36" y="33"/>
                  </a:cubicBezTo>
                  <a:cubicBezTo>
                    <a:pt x="32" y="35"/>
                    <a:pt x="27" y="40"/>
                    <a:pt x="26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4" name="Freeform 71">
              <a:extLst>
                <a:ext uri="{FF2B5EF4-FFF2-40B4-BE49-F238E27FC236}">
                  <a16:creationId xmlns:a16="http://schemas.microsoft.com/office/drawing/2014/main" id="{02B732E8-3752-8B49-A684-89F198E02D4C}"/>
                </a:ext>
              </a:extLst>
            </p:cNvPr>
            <p:cNvSpPr>
              <a:spLocks/>
            </p:cNvSpPr>
            <p:nvPr/>
          </p:nvSpPr>
          <p:spPr bwMode="gray">
            <a:xfrm>
              <a:off x="3783013" y="3398838"/>
              <a:ext cx="52388" cy="68263"/>
            </a:xfrm>
            <a:custGeom>
              <a:avLst/>
              <a:gdLst>
                <a:gd name="T0" fmla="*/ 14 w 14"/>
                <a:gd name="T1" fmla="*/ 7 h 18"/>
                <a:gd name="T2" fmla="*/ 12 w 14"/>
                <a:gd name="T3" fmla="*/ 12 h 18"/>
                <a:gd name="T4" fmla="*/ 12 w 14"/>
                <a:gd name="T5" fmla="*/ 18 h 18"/>
                <a:gd name="T6" fmla="*/ 1 w 14"/>
                <a:gd name="T7" fmla="*/ 10 h 18"/>
                <a:gd name="T8" fmla="*/ 0 w 14"/>
                <a:gd name="T9" fmla="*/ 1 h 18"/>
                <a:gd name="T10" fmla="*/ 0 w 14"/>
                <a:gd name="T11" fmla="*/ 0 h 18"/>
                <a:gd name="T12" fmla="*/ 14 w 14"/>
                <a:gd name="T13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" h="18">
                  <a:moveTo>
                    <a:pt x="14" y="7"/>
                  </a:moveTo>
                  <a:cubicBezTo>
                    <a:pt x="13" y="9"/>
                    <a:pt x="12" y="10"/>
                    <a:pt x="12" y="12"/>
                  </a:cubicBezTo>
                  <a:cubicBezTo>
                    <a:pt x="11" y="15"/>
                    <a:pt x="12" y="16"/>
                    <a:pt x="12" y="18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8"/>
                    <a:pt x="0" y="3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lnTo>
                    <a:pt x="14" y="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5" name="Freeform 72">
              <a:extLst>
                <a:ext uri="{FF2B5EF4-FFF2-40B4-BE49-F238E27FC236}">
                  <a16:creationId xmlns:a16="http://schemas.microsoft.com/office/drawing/2014/main" id="{16849665-9D05-854F-8F41-34BFA30DAE99}"/>
                </a:ext>
              </a:extLst>
            </p:cNvPr>
            <p:cNvSpPr>
              <a:spLocks/>
            </p:cNvSpPr>
            <p:nvPr/>
          </p:nvSpPr>
          <p:spPr bwMode="gray">
            <a:xfrm>
              <a:off x="3535363" y="3035300"/>
              <a:ext cx="247650" cy="601663"/>
            </a:xfrm>
            <a:custGeom>
              <a:avLst/>
              <a:gdLst>
                <a:gd name="T0" fmla="*/ 19 w 66"/>
                <a:gd name="T1" fmla="*/ 106 h 159"/>
                <a:gd name="T2" fmla="*/ 15 w 66"/>
                <a:gd name="T3" fmla="*/ 36 h 159"/>
                <a:gd name="T4" fmla="*/ 19 w 66"/>
                <a:gd name="T5" fmla="*/ 34 h 159"/>
                <a:gd name="T6" fmla="*/ 19 w 66"/>
                <a:gd name="T7" fmla="*/ 33 h 159"/>
                <a:gd name="T8" fmla="*/ 12 w 66"/>
                <a:gd name="T9" fmla="*/ 30 h 159"/>
                <a:gd name="T10" fmla="*/ 11 w 66"/>
                <a:gd name="T11" fmla="*/ 10 h 159"/>
                <a:gd name="T12" fmla="*/ 3 w 66"/>
                <a:gd name="T13" fmla="*/ 7 h 159"/>
                <a:gd name="T14" fmla="*/ 2 w 66"/>
                <a:gd name="T15" fmla="*/ 0 h 159"/>
                <a:gd name="T16" fmla="*/ 13 w 66"/>
                <a:gd name="T17" fmla="*/ 3 h 159"/>
                <a:gd name="T18" fmla="*/ 17 w 66"/>
                <a:gd name="T19" fmla="*/ 5 h 159"/>
                <a:gd name="T20" fmla="*/ 22 w 66"/>
                <a:gd name="T21" fmla="*/ 7 h 159"/>
                <a:gd name="T22" fmla="*/ 23 w 66"/>
                <a:gd name="T23" fmla="*/ 11 h 159"/>
                <a:gd name="T24" fmla="*/ 57 w 66"/>
                <a:gd name="T25" fmla="*/ 98 h 159"/>
                <a:gd name="T26" fmla="*/ 60 w 66"/>
                <a:gd name="T27" fmla="*/ 114 h 159"/>
                <a:gd name="T28" fmla="*/ 66 w 66"/>
                <a:gd name="T29" fmla="*/ 128 h 159"/>
                <a:gd name="T30" fmla="*/ 48 w 66"/>
                <a:gd name="T31" fmla="*/ 136 h 159"/>
                <a:gd name="T32" fmla="*/ 36 w 66"/>
                <a:gd name="T33" fmla="*/ 159 h 159"/>
                <a:gd name="T34" fmla="*/ 19 w 66"/>
                <a:gd name="T35" fmla="*/ 106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6" h="159">
                  <a:moveTo>
                    <a:pt x="19" y="106"/>
                  </a:moveTo>
                  <a:cubicBezTo>
                    <a:pt x="19" y="105"/>
                    <a:pt x="15" y="39"/>
                    <a:pt x="15" y="36"/>
                  </a:cubicBezTo>
                  <a:cubicBezTo>
                    <a:pt x="19" y="34"/>
                    <a:pt x="19" y="34"/>
                    <a:pt x="19" y="34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6" y="33"/>
                    <a:pt x="13" y="32"/>
                    <a:pt x="12" y="30"/>
                  </a:cubicBezTo>
                  <a:cubicBezTo>
                    <a:pt x="11" y="10"/>
                    <a:pt x="11" y="10"/>
                    <a:pt x="11" y="10"/>
                  </a:cubicBezTo>
                  <a:cubicBezTo>
                    <a:pt x="8" y="10"/>
                    <a:pt x="4" y="9"/>
                    <a:pt x="3" y="7"/>
                  </a:cubicBezTo>
                  <a:cubicBezTo>
                    <a:pt x="1" y="6"/>
                    <a:pt x="0" y="4"/>
                    <a:pt x="2" y="0"/>
                  </a:cubicBezTo>
                  <a:cubicBezTo>
                    <a:pt x="3" y="1"/>
                    <a:pt x="9" y="3"/>
                    <a:pt x="13" y="3"/>
                  </a:cubicBezTo>
                  <a:cubicBezTo>
                    <a:pt x="14" y="3"/>
                    <a:pt x="16" y="5"/>
                    <a:pt x="17" y="5"/>
                  </a:cubicBezTo>
                  <a:cubicBezTo>
                    <a:pt x="18" y="6"/>
                    <a:pt x="21" y="7"/>
                    <a:pt x="22" y="7"/>
                  </a:cubicBezTo>
                  <a:cubicBezTo>
                    <a:pt x="23" y="8"/>
                    <a:pt x="23" y="10"/>
                    <a:pt x="23" y="11"/>
                  </a:cubicBezTo>
                  <a:cubicBezTo>
                    <a:pt x="24" y="12"/>
                    <a:pt x="57" y="97"/>
                    <a:pt x="57" y="98"/>
                  </a:cubicBezTo>
                  <a:cubicBezTo>
                    <a:pt x="58" y="99"/>
                    <a:pt x="60" y="113"/>
                    <a:pt x="60" y="114"/>
                  </a:cubicBezTo>
                  <a:cubicBezTo>
                    <a:pt x="60" y="115"/>
                    <a:pt x="65" y="127"/>
                    <a:pt x="66" y="128"/>
                  </a:cubicBezTo>
                  <a:cubicBezTo>
                    <a:pt x="61" y="128"/>
                    <a:pt x="54" y="130"/>
                    <a:pt x="48" y="136"/>
                  </a:cubicBezTo>
                  <a:cubicBezTo>
                    <a:pt x="43" y="141"/>
                    <a:pt x="38" y="154"/>
                    <a:pt x="36" y="159"/>
                  </a:cubicBezTo>
                  <a:cubicBezTo>
                    <a:pt x="36" y="156"/>
                    <a:pt x="20" y="107"/>
                    <a:pt x="19" y="106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6" name="Freeform 73">
              <a:extLst>
                <a:ext uri="{FF2B5EF4-FFF2-40B4-BE49-F238E27FC236}">
                  <a16:creationId xmlns:a16="http://schemas.microsoft.com/office/drawing/2014/main" id="{A7E97FEA-70CA-424A-881E-130F40946FB8}"/>
                </a:ext>
              </a:extLst>
            </p:cNvPr>
            <p:cNvSpPr>
              <a:spLocks/>
            </p:cNvSpPr>
            <p:nvPr/>
          </p:nvSpPr>
          <p:spPr bwMode="gray">
            <a:xfrm>
              <a:off x="3673476" y="3535363"/>
              <a:ext cx="206375" cy="407988"/>
            </a:xfrm>
            <a:custGeom>
              <a:avLst/>
              <a:gdLst>
                <a:gd name="T0" fmla="*/ 24 w 55"/>
                <a:gd name="T1" fmla="*/ 55 h 108"/>
                <a:gd name="T2" fmla="*/ 14 w 55"/>
                <a:gd name="T3" fmla="*/ 88 h 108"/>
                <a:gd name="T4" fmla="*/ 0 w 55"/>
                <a:gd name="T5" fmla="*/ 108 h 108"/>
                <a:gd name="T6" fmla="*/ 5 w 55"/>
                <a:gd name="T7" fmla="*/ 73 h 108"/>
                <a:gd name="T8" fmla="*/ 5 w 55"/>
                <a:gd name="T9" fmla="*/ 36 h 108"/>
                <a:gd name="T10" fmla="*/ 19 w 55"/>
                <a:gd name="T11" fmla="*/ 9 h 108"/>
                <a:gd name="T12" fmla="*/ 44 w 55"/>
                <a:gd name="T13" fmla="*/ 3 h 108"/>
                <a:gd name="T14" fmla="*/ 55 w 55"/>
                <a:gd name="T15" fmla="*/ 22 h 108"/>
                <a:gd name="T16" fmla="*/ 37 w 55"/>
                <a:gd name="T17" fmla="*/ 26 h 108"/>
                <a:gd name="T18" fmla="*/ 24 w 55"/>
                <a:gd name="T19" fmla="*/ 55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5" h="108">
                  <a:moveTo>
                    <a:pt x="24" y="55"/>
                  </a:moveTo>
                  <a:cubicBezTo>
                    <a:pt x="22" y="68"/>
                    <a:pt x="19" y="80"/>
                    <a:pt x="14" y="88"/>
                  </a:cubicBezTo>
                  <a:cubicBezTo>
                    <a:pt x="11" y="93"/>
                    <a:pt x="3" y="104"/>
                    <a:pt x="0" y="108"/>
                  </a:cubicBezTo>
                  <a:cubicBezTo>
                    <a:pt x="3" y="101"/>
                    <a:pt x="6" y="85"/>
                    <a:pt x="5" y="73"/>
                  </a:cubicBezTo>
                  <a:cubicBezTo>
                    <a:pt x="5" y="65"/>
                    <a:pt x="3" y="48"/>
                    <a:pt x="5" y="36"/>
                  </a:cubicBezTo>
                  <a:cubicBezTo>
                    <a:pt x="7" y="24"/>
                    <a:pt x="11" y="17"/>
                    <a:pt x="19" y="9"/>
                  </a:cubicBezTo>
                  <a:cubicBezTo>
                    <a:pt x="23" y="5"/>
                    <a:pt x="32" y="0"/>
                    <a:pt x="44" y="3"/>
                  </a:cubicBezTo>
                  <a:cubicBezTo>
                    <a:pt x="55" y="22"/>
                    <a:pt x="55" y="22"/>
                    <a:pt x="55" y="22"/>
                  </a:cubicBezTo>
                  <a:cubicBezTo>
                    <a:pt x="49" y="21"/>
                    <a:pt x="42" y="22"/>
                    <a:pt x="37" y="26"/>
                  </a:cubicBezTo>
                  <a:cubicBezTo>
                    <a:pt x="28" y="33"/>
                    <a:pt x="25" y="42"/>
                    <a:pt x="24" y="55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7" name="Freeform 74">
              <a:extLst>
                <a:ext uri="{FF2B5EF4-FFF2-40B4-BE49-F238E27FC236}">
                  <a16:creationId xmlns:a16="http://schemas.microsoft.com/office/drawing/2014/main" id="{7DDCBFD7-D3D7-8F48-A762-1B1BCA760D38}"/>
                </a:ext>
              </a:extLst>
            </p:cNvPr>
            <p:cNvSpPr>
              <a:spLocks/>
            </p:cNvSpPr>
            <p:nvPr/>
          </p:nvSpPr>
          <p:spPr bwMode="gray">
            <a:xfrm>
              <a:off x="3767138" y="3640138"/>
              <a:ext cx="180975" cy="201613"/>
            </a:xfrm>
            <a:custGeom>
              <a:avLst/>
              <a:gdLst>
                <a:gd name="T0" fmla="*/ 0 w 48"/>
                <a:gd name="T1" fmla="*/ 53 h 53"/>
                <a:gd name="T2" fmla="*/ 6 w 48"/>
                <a:gd name="T3" fmla="*/ 27 h 53"/>
                <a:gd name="T4" fmla="*/ 17 w 48"/>
                <a:gd name="T5" fmla="*/ 3 h 53"/>
                <a:gd name="T6" fmla="*/ 30 w 48"/>
                <a:gd name="T7" fmla="*/ 0 h 53"/>
                <a:gd name="T8" fmla="*/ 41 w 48"/>
                <a:gd name="T9" fmla="*/ 24 h 53"/>
                <a:gd name="T10" fmla="*/ 48 w 48"/>
                <a:gd name="T11" fmla="*/ 27 h 53"/>
                <a:gd name="T12" fmla="*/ 0 w 48"/>
                <a:gd name="T13" fmla="*/ 5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53">
                  <a:moveTo>
                    <a:pt x="0" y="53"/>
                  </a:moveTo>
                  <a:cubicBezTo>
                    <a:pt x="2" y="48"/>
                    <a:pt x="6" y="32"/>
                    <a:pt x="6" y="27"/>
                  </a:cubicBezTo>
                  <a:cubicBezTo>
                    <a:pt x="8" y="20"/>
                    <a:pt x="9" y="10"/>
                    <a:pt x="17" y="3"/>
                  </a:cubicBezTo>
                  <a:cubicBezTo>
                    <a:pt x="21" y="0"/>
                    <a:pt x="27" y="0"/>
                    <a:pt x="30" y="0"/>
                  </a:cubicBezTo>
                  <a:cubicBezTo>
                    <a:pt x="41" y="24"/>
                    <a:pt x="41" y="24"/>
                    <a:pt x="41" y="24"/>
                  </a:cubicBezTo>
                  <a:cubicBezTo>
                    <a:pt x="42" y="26"/>
                    <a:pt x="45" y="27"/>
                    <a:pt x="48" y="27"/>
                  </a:cubicBezTo>
                  <a:cubicBezTo>
                    <a:pt x="37" y="30"/>
                    <a:pt x="10" y="43"/>
                    <a:pt x="0" y="5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8" name="Freeform 75">
              <a:extLst>
                <a:ext uri="{FF2B5EF4-FFF2-40B4-BE49-F238E27FC236}">
                  <a16:creationId xmlns:a16="http://schemas.microsoft.com/office/drawing/2014/main" id="{9A2D7E05-82A0-0842-85E3-E877A2F361E2}"/>
                </a:ext>
              </a:extLst>
            </p:cNvPr>
            <p:cNvSpPr>
              <a:spLocks/>
            </p:cNvSpPr>
            <p:nvPr/>
          </p:nvSpPr>
          <p:spPr bwMode="gray">
            <a:xfrm>
              <a:off x="4124326" y="3530600"/>
              <a:ext cx="95250" cy="152400"/>
            </a:xfrm>
            <a:custGeom>
              <a:avLst/>
              <a:gdLst>
                <a:gd name="T0" fmla="*/ 2 w 25"/>
                <a:gd name="T1" fmla="*/ 8 h 40"/>
                <a:gd name="T2" fmla="*/ 2 w 25"/>
                <a:gd name="T3" fmla="*/ 16 h 40"/>
                <a:gd name="T4" fmla="*/ 9 w 25"/>
                <a:gd name="T5" fmla="*/ 29 h 40"/>
                <a:gd name="T6" fmla="*/ 14 w 25"/>
                <a:gd name="T7" fmla="*/ 40 h 40"/>
                <a:gd name="T8" fmla="*/ 25 w 25"/>
                <a:gd name="T9" fmla="*/ 40 h 40"/>
                <a:gd name="T10" fmla="*/ 11 w 25"/>
                <a:gd name="T11" fmla="*/ 14 h 40"/>
                <a:gd name="T12" fmla="*/ 11 w 25"/>
                <a:gd name="T13" fmla="*/ 0 h 40"/>
                <a:gd name="T14" fmla="*/ 2 w 25"/>
                <a:gd name="T15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5" h="40">
                  <a:moveTo>
                    <a:pt x="2" y="8"/>
                  </a:moveTo>
                  <a:cubicBezTo>
                    <a:pt x="0" y="11"/>
                    <a:pt x="1" y="14"/>
                    <a:pt x="2" y="16"/>
                  </a:cubicBezTo>
                  <a:cubicBezTo>
                    <a:pt x="3" y="18"/>
                    <a:pt x="9" y="29"/>
                    <a:pt x="9" y="29"/>
                  </a:cubicBezTo>
                  <a:cubicBezTo>
                    <a:pt x="11" y="34"/>
                    <a:pt x="12" y="36"/>
                    <a:pt x="14" y="40"/>
                  </a:cubicBezTo>
                  <a:cubicBezTo>
                    <a:pt x="17" y="40"/>
                    <a:pt x="21" y="40"/>
                    <a:pt x="25" y="40"/>
                  </a:cubicBezTo>
                  <a:cubicBezTo>
                    <a:pt x="21" y="31"/>
                    <a:pt x="11" y="14"/>
                    <a:pt x="11" y="14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8" y="1"/>
                    <a:pt x="4" y="5"/>
                    <a:pt x="2" y="8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9" name="Freeform 76">
              <a:extLst>
                <a:ext uri="{FF2B5EF4-FFF2-40B4-BE49-F238E27FC236}">
                  <a16:creationId xmlns:a16="http://schemas.microsoft.com/office/drawing/2014/main" id="{CA47EA89-319A-0F49-AB89-E400BCFCC93F}"/>
                </a:ext>
              </a:extLst>
            </p:cNvPr>
            <p:cNvSpPr>
              <a:spLocks/>
            </p:cNvSpPr>
            <p:nvPr/>
          </p:nvSpPr>
          <p:spPr bwMode="gray">
            <a:xfrm>
              <a:off x="3948113" y="3065463"/>
              <a:ext cx="68263" cy="223838"/>
            </a:xfrm>
            <a:custGeom>
              <a:avLst/>
              <a:gdLst>
                <a:gd name="T0" fmla="*/ 0 w 18"/>
                <a:gd name="T1" fmla="*/ 57 h 59"/>
                <a:gd name="T2" fmla="*/ 18 w 18"/>
                <a:gd name="T3" fmla="*/ 59 h 59"/>
                <a:gd name="T4" fmla="*/ 8 w 18"/>
                <a:gd name="T5" fmla="*/ 0 h 59"/>
                <a:gd name="T6" fmla="*/ 0 w 18"/>
                <a:gd name="T7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59">
                  <a:moveTo>
                    <a:pt x="0" y="57"/>
                  </a:moveTo>
                  <a:cubicBezTo>
                    <a:pt x="5" y="56"/>
                    <a:pt x="15" y="57"/>
                    <a:pt x="18" y="59"/>
                  </a:cubicBezTo>
                  <a:cubicBezTo>
                    <a:pt x="8" y="0"/>
                    <a:pt x="8" y="0"/>
                    <a:pt x="8" y="0"/>
                  </a:cubicBezTo>
                  <a:lnTo>
                    <a:pt x="0" y="5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0" name="Freeform 77">
              <a:extLst>
                <a:ext uri="{FF2B5EF4-FFF2-40B4-BE49-F238E27FC236}">
                  <a16:creationId xmlns:a16="http://schemas.microsoft.com/office/drawing/2014/main" id="{B47594F2-1279-4949-ABFD-663C70ACD8FB}"/>
                </a:ext>
              </a:extLst>
            </p:cNvPr>
            <p:cNvSpPr>
              <a:spLocks/>
            </p:cNvSpPr>
            <p:nvPr/>
          </p:nvSpPr>
          <p:spPr bwMode="gray">
            <a:xfrm>
              <a:off x="3535363" y="3035300"/>
              <a:ext cx="247650" cy="601663"/>
            </a:xfrm>
            <a:custGeom>
              <a:avLst/>
              <a:gdLst>
                <a:gd name="T0" fmla="*/ 23 w 66"/>
                <a:gd name="T1" fmla="*/ 11 h 159"/>
                <a:gd name="T2" fmla="*/ 22 w 66"/>
                <a:gd name="T3" fmla="*/ 7 h 159"/>
                <a:gd name="T4" fmla="*/ 17 w 66"/>
                <a:gd name="T5" fmla="*/ 5 h 159"/>
                <a:gd name="T6" fmla="*/ 13 w 66"/>
                <a:gd name="T7" fmla="*/ 3 h 159"/>
                <a:gd name="T8" fmla="*/ 2 w 66"/>
                <a:gd name="T9" fmla="*/ 0 h 159"/>
                <a:gd name="T10" fmla="*/ 3 w 66"/>
                <a:gd name="T11" fmla="*/ 7 h 159"/>
                <a:gd name="T12" fmla="*/ 11 w 66"/>
                <a:gd name="T13" fmla="*/ 10 h 159"/>
                <a:gd name="T14" fmla="*/ 12 w 66"/>
                <a:gd name="T15" fmla="*/ 30 h 159"/>
                <a:gd name="T16" fmla="*/ 19 w 66"/>
                <a:gd name="T17" fmla="*/ 33 h 159"/>
                <a:gd name="T18" fmla="*/ 19 w 66"/>
                <a:gd name="T19" fmla="*/ 34 h 159"/>
                <a:gd name="T20" fmla="*/ 15 w 66"/>
                <a:gd name="T21" fmla="*/ 36 h 159"/>
                <a:gd name="T22" fmla="*/ 19 w 66"/>
                <a:gd name="T23" fmla="*/ 106 h 159"/>
                <a:gd name="T24" fmla="*/ 36 w 66"/>
                <a:gd name="T25" fmla="*/ 159 h 159"/>
                <a:gd name="T26" fmla="*/ 48 w 66"/>
                <a:gd name="T27" fmla="*/ 136 h 159"/>
                <a:gd name="T28" fmla="*/ 66 w 66"/>
                <a:gd name="T29" fmla="*/ 128 h 159"/>
                <a:gd name="T30" fmla="*/ 60 w 66"/>
                <a:gd name="T31" fmla="*/ 114 h 159"/>
                <a:gd name="T32" fmla="*/ 57 w 66"/>
                <a:gd name="T33" fmla="*/ 98 h 159"/>
                <a:gd name="T34" fmla="*/ 23 w 66"/>
                <a:gd name="T35" fmla="*/ 11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6" h="159">
                  <a:moveTo>
                    <a:pt x="23" y="11"/>
                  </a:moveTo>
                  <a:cubicBezTo>
                    <a:pt x="23" y="10"/>
                    <a:pt x="23" y="8"/>
                    <a:pt x="22" y="7"/>
                  </a:cubicBezTo>
                  <a:cubicBezTo>
                    <a:pt x="21" y="7"/>
                    <a:pt x="18" y="6"/>
                    <a:pt x="17" y="5"/>
                  </a:cubicBezTo>
                  <a:cubicBezTo>
                    <a:pt x="16" y="5"/>
                    <a:pt x="14" y="3"/>
                    <a:pt x="13" y="3"/>
                  </a:cubicBezTo>
                  <a:cubicBezTo>
                    <a:pt x="9" y="3"/>
                    <a:pt x="3" y="1"/>
                    <a:pt x="2" y="0"/>
                  </a:cubicBezTo>
                  <a:cubicBezTo>
                    <a:pt x="0" y="4"/>
                    <a:pt x="1" y="6"/>
                    <a:pt x="3" y="7"/>
                  </a:cubicBezTo>
                  <a:cubicBezTo>
                    <a:pt x="4" y="9"/>
                    <a:pt x="8" y="10"/>
                    <a:pt x="11" y="10"/>
                  </a:cubicBezTo>
                  <a:cubicBezTo>
                    <a:pt x="12" y="30"/>
                    <a:pt x="12" y="30"/>
                    <a:pt x="12" y="30"/>
                  </a:cubicBezTo>
                  <a:cubicBezTo>
                    <a:pt x="13" y="32"/>
                    <a:pt x="16" y="33"/>
                    <a:pt x="19" y="33"/>
                  </a:cubicBezTo>
                  <a:cubicBezTo>
                    <a:pt x="19" y="34"/>
                    <a:pt x="19" y="34"/>
                    <a:pt x="19" y="34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9"/>
                    <a:pt x="19" y="105"/>
                    <a:pt x="19" y="106"/>
                  </a:cubicBezTo>
                  <a:cubicBezTo>
                    <a:pt x="20" y="107"/>
                    <a:pt x="36" y="156"/>
                    <a:pt x="36" y="159"/>
                  </a:cubicBezTo>
                  <a:cubicBezTo>
                    <a:pt x="38" y="154"/>
                    <a:pt x="43" y="141"/>
                    <a:pt x="48" y="136"/>
                  </a:cubicBezTo>
                  <a:cubicBezTo>
                    <a:pt x="54" y="130"/>
                    <a:pt x="61" y="128"/>
                    <a:pt x="66" y="128"/>
                  </a:cubicBezTo>
                  <a:cubicBezTo>
                    <a:pt x="65" y="127"/>
                    <a:pt x="60" y="115"/>
                    <a:pt x="60" y="114"/>
                  </a:cubicBezTo>
                  <a:cubicBezTo>
                    <a:pt x="60" y="113"/>
                    <a:pt x="58" y="99"/>
                    <a:pt x="57" y="98"/>
                  </a:cubicBezTo>
                  <a:cubicBezTo>
                    <a:pt x="57" y="97"/>
                    <a:pt x="24" y="12"/>
                    <a:pt x="23" y="11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1" name="Freeform 78">
              <a:extLst>
                <a:ext uri="{FF2B5EF4-FFF2-40B4-BE49-F238E27FC236}">
                  <a16:creationId xmlns:a16="http://schemas.microsoft.com/office/drawing/2014/main" id="{234F7FF3-D497-0A47-97C2-C5CF5E31390D}"/>
                </a:ext>
              </a:extLst>
            </p:cNvPr>
            <p:cNvSpPr>
              <a:spLocks/>
            </p:cNvSpPr>
            <p:nvPr/>
          </p:nvSpPr>
          <p:spPr bwMode="gray">
            <a:xfrm>
              <a:off x="3489326" y="2994025"/>
              <a:ext cx="117475" cy="46038"/>
            </a:xfrm>
            <a:custGeom>
              <a:avLst/>
              <a:gdLst>
                <a:gd name="T0" fmla="*/ 15 w 31"/>
                <a:gd name="T1" fmla="*/ 6 h 12"/>
                <a:gd name="T2" fmla="*/ 30 w 31"/>
                <a:gd name="T3" fmla="*/ 12 h 12"/>
                <a:gd name="T4" fmla="*/ 27 w 31"/>
                <a:gd name="T5" fmla="*/ 3 h 12"/>
                <a:gd name="T6" fmla="*/ 14 w 31"/>
                <a:gd name="T7" fmla="*/ 0 h 12"/>
                <a:gd name="T8" fmla="*/ 3 w 31"/>
                <a:gd name="T9" fmla="*/ 3 h 12"/>
                <a:gd name="T10" fmla="*/ 0 w 31"/>
                <a:gd name="T11" fmla="*/ 11 h 12"/>
                <a:gd name="T12" fmla="*/ 15 w 31"/>
                <a:gd name="T13" fmla="*/ 6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1" h="12">
                  <a:moveTo>
                    <a:pt x="15" y="6"/>
                  </a:moveTo>
                  <a:cubicBezTo>
                    <a:pt x="24" y="6"/>
                    <a:pt x="28" y="10"/>
                    <a:pt x="30" y="12"/>
                  </a:cubicBezTo>
                  <a:cubicBezTo>
                    <a:pt x="31" y="8"/>
                    <a:pt x="30" y="6"/>
                    <a:pt x="27" y="3"/>
                  </a:cubicBezTo>
                  <a:cubicBezTo>
                    <a:pt x="25" y="1"/>
                    <a:pt x="21" y="0"/>
                    <a:pt x="14" y="0"/>
                  </a:cubicBezTo>
                  <a:cubicBezTo>
                    <a:pt x="10" y="0"/>
                    <a:pt x="5" y="1"/>
                    <a:pt x="3" y="3"/>
                  </a:cubicBezTo>
                  <a:cubicBezTo>
                    <a:pt x="0" y="5"/>
                    <a:pt x="0" y="8"/>
                    <a:pt x="0" y="11"/>
                  </a:cubicBezTo>
                  <a:cubicBezTo>
                    <a:pt x="1" y="9"/>
                    <a:pt x="7" y="6"/>
                    <a:pt x="15" y="6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2" name="Freeform 79">
              <a:extLst>
                <a:ext uri="{FF2B5EF4-FFF2-40B4-BE49-F238E27FC236}">
                  <a16:creationId xmlns:a16="http://schemas.microsoft.com/office/drawing/2014/main" id="{E45DFA89-2E13-6847-8ED1-3D043C784802}"/>
                </a:ext>
              </a:extLst>
            </p:cNvPr>
            <p:cNvSpPr>
              <a:spLocks/>
            </p:cNvSpPr>
            <p:nvPr/>
          </p:nvSpPr>
          <p:spPr bwMode="gray">
            <a:xfrm>
              <a:off x="3482976" y="2778125"/>
              <a:ext cx="242888" cy="106363"/>
            </a:xfrm>
            <a:custGeom>
              <a:avLst/>
              <a:gdLst>
                <a:gd name="T0" fmla="*/ 0 w 65"/>
                <a:gd name="T1" fmla="*/ 14 h 28"/>
                <a:gd name="T2" fmla="*/ 2 w 65"/>
                <a:gd name="T3" fmla="*/ 24 h 28"/>
                <a:gd name="T4" fmla="*/ 7 w 65"/>
                <a:gd name="T5" fmla="*/ 27 h 28"/>
                <a:gd name="T6" fmla="*/ 17 w 65"/>
                <a:gd name="T7" fmla="*/ 23 h 28"/>
                <a:gd name="T8" fmla="*/ 26 w 65"/>
                <a:gd name="T9" fmla="*/ 28 h 28"/>
                <a:gd name="T10" fmla="*/ 32 w 65"/>
                <a:gd name="T11" fmla="*/ 26 h 28"/>
                <a:gd name="T12" fmla="*/ 36 w 65"/>
                <a:gd name="T13" fmla="*/ 28 h 28"/>
                <a:gd name="T14" fmla="*/ 41 w 65"/>
                <a:gd name="T15" fmla="*/ 22 h 28"/>
                <a:gd name="T16" fmla="*/ 62 w 65"/>
                <a:gd name="T17" fmla="*/ 12 h 28"/>
                <a:gd name="T18" fmla="*/ 65 w 65"/>
                <a:gd name="T19" fmla="*/ 2 h 28"/>
                <a:gd name="T20" fmla="*/ 52 w 65"/>
                <a:gd name="T21" fmla="*/ 8 h 28"/>
                <a:gd name="T22" fmla="*/ 40 w 65"/>
                <a:gd name="T23" fmla="*/ 6 h 28"/>
                <a:gd name="T24" fmla="*/ 41 w 65"/>
                <a:gd name="T25" fmla="*/ 0 h 28"/>
                <a:gd name="T26" fmla="*/ 28 w 65"/>
                <a:gd name="T27" fmla="*/ 2 h 28"/>
                <a:gd name="T28" fmla="*/ 15 w 65"/>
                <a:gd name="T29" fmla="*/ 1 h 28"/>
                <a:gd name="T30" fmla="*/ 0 w 65"/>
                <a:gd name="T31" fmla="*/ 14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5" h="28">
                  <a:moveTo>
                    <a:pt x="0" y="14"/>
                  </a:moveTo>
                  <a:cubicBezTo>
                    <a:pt x="0" y="18"/>
                    <a:pt x="1" y="21"/>
                    <a:pt x="2" y="24"/>
                  </a:cubicBezTo>
                  <a:cubicBezTo>
                    <a:pt x="3" y="25"/>
                    <a:pt x="5" y="27"/>
                    <a:pt x="7" y="27"/>
                  </a:cubicBezTo>
                  <a:cubicBezTo>
                    <a:pt x="9" y="27"/>
                    <a:pt x="12" y="22"/>
                    <a:pt x="17" y="23"/>
                  </a:cubicBezTo>
                  <a:cubicBezTo>
                    <a:pt x="21" y="23"/>
                    <a:pt x="23" y="28"/>
                    <a:pt x="26" y="28"/>
                  </a:cubicBezTo>
                  <a:cubicBezTo>
                    <a:pt x="28" y="28"/>
                    <a:pt x="29" y="26"/>
                    <a:pt x="32" y="26"/>
                  </a:cubicBezTo>
                  <a:cubicBezTo>
                    <a:pt x="34" y="25"/>
                    <a:pt x="34" y="26"/>
                    <a:pt x="36" y="28"/>
                  </a:cubicBezTo>
                  <a:cubicBezTo>
                    <a:pt x="36" y="26"/>
                    <a:pt x="38" y="24"/>
                    <a:pt x="41" y="22"/>
                  </a:cubicBezTo>
                  <a:cubicBezTo>
                    <a:pt x="44" y="19"/>
                    <a:pt x="57" y="17"/>
                    <a:pt x="62" y="12"/>
                  </a:cubicBezTo>
                  <a:cubicBezTo>
                    <a:pt x="65" y="10"/>
                    <a:pt x="65" y="5"/>
                    <a:pt x="65" y="2"/>
                  </a:cubicBezTo>
                  <a:cubicBezTo>
                    <a:pt x="63" y="5"/>
                    <a:pt x="57" y="8"/>
                    <a:pt x="52" y="8"/>
                  </a:cubicBezTo>
                  <a:cubicBezTo>
                    <a:pt x="49" y="9"/>
                    <a:pt x="42" y="7"/>
                    <a:pt x="40" y="6"/>
                  </a:cubicBezTo>
                  <a:cubicBezTo>
                    <a:pt x="41" y="4"/>
                    <a:pt x="42" y="2"/>
                    <a:pt x="41" y="0"/>
                  </a:cubicBezTo>
                  <a:cubicBezTo>
                    <a:pt x="39" y="1"/>
                    <a:pt x="31" y="2"/>
                    <a:pt x="28" y="2"/>
                  </a:cubicBezTo>
                  <a:cubicBezTo>
                    <a:pt x="25" y="2"/>
                    <a:pt x="19" y="1"/>
                    <a:pt x="15" y="1"/>
                  </a:cubicBezTo>
                  <a:cubicBezTo>
                    <a:pt x="5" y="1"/>
                    <a:pt x="0" y="8"/>
                    <a:pt x="0" y="1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3" name="Freeform 80">
              <a:extLst>
                <a:ext uri="{FF2B5EF4-FFF2-40B4-BE49-F238E27FC236}">
                  <a16:creationId xmlns:a16="http://schemas.microsoft.com/office/drawing/2014/main" id="{68DB269A-457A-2140-A00F-202DD57878E0}"/>
                </a:ext>
              </a:extLst>
            </p:cNvPr>
            <p:cNvSpPr>
              <a:spLocks/>
            </p:cNvSpPr>
            <p:nvPr/>
          </p:nvSpPr>
          <p:spPr bwMode="gray">
            <a:xfrm>
              <a:off x="3422651" y="2895600"/>
              <a:ext cx="247650" cy="125413"/>
            </a:xfrm>
            <a:custGeom>
              <a:avLst/>
              <a:gdLst>
                <a:gd name="T0" fmla="*/ 33 w 66"/>
                <a:gd name="T1" fmla="*/ 14 h 33"/>
                <a:gd name="T2" fmla="*/ 65 w 66"/>
                <a:gd name="T3" fmla="*/ 32 h 33"/>
                <a:gd name="T4" fmla="*/ 65 w 66"/>
                <a:gd name="T5" fmla="*/ 25 h 33"/>
                <a:gd name="T6" fmla="*/ 62 w 66"/>
                <a:gd name="T7" fmla="*/ 15 h 33"/>
                <a:gd name="T8" fmla="*/ 63 w 66"/>
                <a:gd name="T9" fmla="*/ 9 h 33"/>
                <a:gd name="T10" fmla="*/ 55 w 66"/>
                <a:gd name="T11" fmla="*/ 10 h 33"/>
                <a:gd name="T12" fmla="*/ 51 w 66"/>
                <a:gd name="T13" fmla="*/ 3 h 33"/>
                <a:gd name="T14" fmla="*/ 41 w 66"/>
                <a:gd name="T15" fmla="*/ 5 h 33"/>
                <a:gd name="T16" fmla="*/ 33 w 66"/>
                <a:gd name="T17" fmla="*/ 0 h 33"/>
                <a:gd name="T18" fmla="*/ 24 w 66"/>
                <a:gd name="T19" fmla="*/ 5 h 33"/>
                <a:gd name="T20" fmla="*/ 16 w 66"/>
                <a:gd name="T21" fmla="*/ 4 h 33"/>
                <a:gd name="T22" fmla="*/ 13 w 66"/>
                <a:gd name="T23" fmla="*/ 7 h 33"/>
                <a:gd name="T24" fmla="*/ 9 w 66"/>
                <a:gd name="T25" fmla="*/ 10 h 33"/>
                <a:gd name="T26" fmla="*/ 4 w 66"/>
                <a:gd name="T27" fmla="*/ 9 h 33"/>
                <a:gd name="T28" fmla="*/ 4 w 66"/>
                <a:gd name="T29" fmla="*/ 16 h 33"/>
                <a:gd name="T30" fmla="*/ 0 w 66"/>
                <a:gd name="T31" fmla="*/ 26 h 33"/>
                <a:gd name="T32" fmla="*/ 2 w 66"/>
                <a:gd name="T33" fmla="*/ 33 h 33"/>
                <a:gd name="T34" fmla="*/ 33 w 66"/>
                <a:gd name="T35" fmla="*/ 14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6" h="33">
                  <a:moveTo>
                    <a:pt x="33" y="14"/>
                  </a:moveTo>
                  <a:cubicBezTo>
                    <a:pt x="55" y="14"/>
                    <a:pt x="64" y="24"/>
                    <a:pt x="65" y="32"/>
                  </a:cubicBezTo>
                  <a:cubicBezTo>
                    <a:pt x="66" y="30"/>
                    <a:pt x="66" y="28"/>
                    <a:pt x="65" y="25"/>
                  </a:cubicBezTo>
                  <a:cubicBezTo>
                    <a:pt x="65" y="23"/>
                    <a:pt x="62" y="17"/>
                    <a:pt x="62" y="15"/>
                  </a:cubicBezTo>
                  <a:cubicBezTo>
                    <a:pt x="62" y="13"/>
                    <a:pt x="62" y="11"/>
                    <a:pt x="63" y="9"/>
                  </a:cubicBezTo>
                  <a:cubicBezTo>
                    <a:pt x="61" y="10"/>
                    <a:pt x="57" y="12"/>
                    <a:pt x="55" y="10"/>
                  </a:cubicBezTo>
                  <a:cubicBezTo>
                    <a:pt x="52" y="8"/>
                    <a:pt x="54" y="4"/>
                    <a:pt x="51" y="3"/>
                  </a:cubicBezTo>
                  <a:cubicBezTo>
                    <a:pt x="48" y="2"/>
                    <a:pt x="44" y="5"/>
                    <a:pt x="41" y="5"/>
                  </a:cubicBezTo>
                  <a:cubicBezTo>
                    <a:pt x="38" y="4"/>
                    <a:pt x="35" y="0"/>
                    <a:pt x="33" y="0"/>
                  </a:cubicBezTo>
                  <a:cubicBezTo>
                    <a:pt x="29" y="0"/>
                    <a:pt x="28" y="4"/>
                    <a:pt x="24" y="5"/>
                  </a:cubicBezTo>
                  <a:cubicBezTo>
                    <a:pt x="21" y="5"/>
                    <a:pt x="18" y="4"/>
                    <a:pt x="16" y="4"/>
                  </a:cubicBezTo>
                  <a:cubicBezTo>
                    <a:pt x="15" y="4"/>
                    <a:pt x="13" y="5"/>
                    <a:pt x="13" y="7"/>
                  </a:cubicBezTo>
                  <a:cubicBezTo>
                    <a:pt x="12" y="9"/>
                    <a:pt x="11" y="10"/>
                    <a:pt x="9" y="10"/>
                  </a:cubicBezTo>
                  <a:cubicBezTo>
                    <a:pt x="7" y="11"/>
                    <a:pt x="5" y="9"/>
                    <a:pt x="4" y="9"/>
                  </a:cubicBezTo>
                  <a:cubicBezTo>
                    <a:pt x="4" y="10"/>
                    <a:pt x="5" y="14"/>
                    <a:pt x="4" y="16"/>
                  </a:cubicBezTo>
                  <a:cubicBezTo>
                    <a:pt x="3" y="19"/>
                    <a:pt x="1" y="22"/>
                    <a:pt x="0" y="26"/>
                  </a:cubicBezTo>
                  <a:cubicBezTo>
                    <a:pt x="0" y="29"/>
                    <a:pt x="1" y="30"/>
                    <a:pt x="2" y="33"/>
                  </a:cubicBezTo>
                  <a:cubicBezTo>
                    <a:pt x="1" y="21"/>
                    <a:pt x="14" y="14"/>
                    <a:pt x="33" y="1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4" name="Freeform 81">
              <a:extLst>
                <a:ext uri="{FF2B5EF4-FFF2-40B4-BE49-F238E27FC236}">
                  <a16:creationId xmlns:a16="http://schemas.microsoft.com/office/drawing/2014/main" id="{FBCA4B20-9088-E045-AD8F-D7122579F535}"/>
                </a:ext>
              </a:extLst>
            </p:cNvPr>
            <p:cNvSpPr>
              <a:spLocks/>
            </p:cNvSpPr>
            <p:nvPr/>
          </p:nvSpPr>
          <p:spPr bwMode="gray">
            <a:xfrm>
              <a:off x="3463926" y="3046413"/>
              <a:ext cx="71438" cy="103188"/>
            </a:xfrm>
            <a:custGeom>
              <a:avLst/>
              <a:gdLst>
                <a:gd name="T0" fmla="*/ 9 w 19"/>
                <a:gd name="T1" fmla="*/ 15 h 27"/>
                <a:gd name="T2" fmla="*/ 2 w 19"/>
                <a:gd name="T3" fmla="*/ 20 h 27"/>
                <a:gd name="T4" fmla="*/ 6 w 19"/>
                <a:gd name="T5" fmla="*/ 27 h 27"/>
                <a:gd name="T6" fmla="*/ 10 w 19"/>
                <a:gd name="T7" fmla="*/ 22 h 27"/>
                <a:gd name="T8" fmla="*/ 13 w 19"/>
                <a:gd name="T9" fmla="*/ 19 h 27"/>
                <a:gd name="T10" fmla="*/ 15 w 19"/>
                <a:gd name="T11" fmla="*/ 17 h 27"/>
                <a:gd name="T12" fmla="*/ 14 w 19"/>
                <a:gd name="T13" fmla="*/ 14 h 27"/>
                <a:gd name="T14" fmla="*/ 18 w 19"/>
                <a:gd name="T15" fmla="*/ 13 h 27"/>
                <a:gd name="T16" fmla="*/ 19 w 19"/>
                <a:gd name="T17" fmla="*/ 10 h 27"/>
                <a:gd name="T18" fmla="*/ 17 w 19"/>
                <a:gd name="T19" fmla="*/ 8 h 27"/>
                <a:gd name="T20" fmla="*/ 11 w 19"/>
                <a:gd name="T21" fmla="*/ 8 h 27"/>
                <a:gd name="T22" fmla="*/ 14 w 19"/>
                <a:gd name="T23" fmla="*/ 6 h 27"/>
                <a:gd name="T24" fmla="*/ 16 w 19"/>
                <a:gd name="T25" fmla="*/ 4 h 27"/>
                <a:gd name="T26" fmla="*/ 15 w 19"/>
                <a:gd name="T27" fmla="*/ 0 h 27"/>
                <a:gd name="T28" fmla="*/ 2 w 19"/>
                <a:gd name="T29" fmla="*/ 6 h 27"/>
                <a:gd name="T30" fmla="*/ 4 w 19"/>
                <a:gd name="T31" fmla="*/ 9 h 27"/>
                <a:gd name="T32" fmla="*/ 1 w 19"/>
                <a:gd name="T33" fmla="*/ 9 h 27"/>
                <a:gd name="T34" fmla="*/ 1 w 19"/>
                <a:gd name="T35" fmla="*/ 16 h 27"/>
                <a:gd name="T36" fmla="*/ 9 w 19"/>
                <a:gd name="T37" fmla="*/ 1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9" h="27">
                  <a:moveTo>
                    <a:pt x="9" y="15"/>
                  </a:moveTo>
                  <a:cubicBezTo>
                    <a:pt x="7" y="16"/>
                    <a:pt x="4" y="18"/>
                    <a:pt x="2" y="20"/>
                  </a:cubicBezTo>
                  <a:cubicBezTo>
                    <a:pt x="3" y="22"/>
                    <a:pt x="5" y="26"/>
                    <a:pt x="6" y="27"/>
                  </a:cubicBezTo>
                  <a:cubicBezTo>
                    <a:pt x="7" y="25"/>
                    <a:pt x="9" y="22"/>
                    <a:pt x="10" y="22"/>
                  </a:cubicBezTo>
                  <a:cubicBezTo>
                    <a:pt x="11" y="21"/>
                    <a:pt x="12" y="20"/>
                    <a:pt x="13" y="19"/>
                  </a:cubicBezTo>
                  <a:cubicBezTo>
                    <a:pt x="15" y="19"/>
                    <a:pt x="15" y="18"/>
                    <a:pt x="15" y="17"/>
                  </a:cubicBezTo>
                  <a:cubicBezTo>
                    <a:pt x="15" y="16"/>
                    <a:pt x="15" y="15"/>
                    <a:pt x="14" y="14"/>
                  </a:cubicBezTo>
                  <a:cubicBezTo>
                    <a:pt x="15" y="14"/>
                    <a:pt x="17" y="14"/>
                    <a:pt x="18" y="13"/>
                  </a:cubicBezTo>
                  <a:cubicBezTo>
                    <a:pt x="19" y="12"/>
                    <a:pt x="19" y="11"/>
                    <a:pt x="19" y="10"/>
                  </a:cubicBezTo>
                  <a:cubicBezTo>
                    <a:pt x="19" y="9"/>
                    <a:pt x="18" y="8"/>
                    <a:pt x="17" y="8"/>
                  </a:cubicBezTo>
                  <a:cubicBezTo>
                    <a:pt x="16" y="8"/>
                    <a:pt x="12" y="8"/>
                    <a:pt x="11" y="8"/>
                  </a:cubicBezTo>
                  <a:cubicBezTo>
                    <a:pt x="11" y="8"/>
                    <a:pt x="13" y="7"/>
                    <a:pt x="14" y="6"/>
                  </a:cubicBezTo>
                  <a:cubicBezTo>
                    <a:pt x="15" y="6"/>
                    <a:pt x="15" y="5"/>
                    <a:pt x="16" y="4"/>
                  </a:cubicBezTo>
                  <a:cubicBezTo>
                    <a:pt x="16" y="4"/>
                    <a:pt x="16" y="2"/>
                    <a:pt x="15" y="0"/>
                  </a:cubicBezTo>
                  <a:cubicBezTo>
                    <a:pt x="11" y="0"/>
                    <a:pt x="4" y="4"/>
                    <a:pt x="2" y="6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11"/>
                    <a:pt x="1" y="14"/>
                    <a:pt x="1" y="16"/>
                  </a:cubicBezTo>
                  <a:cubicBezTo>
                    <a:pt x="4" y="15"/>
                    <a:pt x="7" y="15"/>
                    <a:pt x="9" y="15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5" name="Freeform 82">
              <a:extLst>
                <a:ext uri="{FF2B5EF4-FFF2-40B4-BE49-F238E27FC236}">
                  <a16:creationId xmlns:a16="http://schemas.microsoft.com/office/drawing/2014/main" id="{6443656E-1C83-EB4F-A313-8EBE67908B6D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3846513" y="3303588"/>
              <a:ext cx="312738" cy="431800"/>
            </a:xfrm>
            <a:custGeom>
              <a:avLst/>
              <a:gdLst>
                <a:gd name="T0" fmla="*/ 64 w 83"/>
                <a:gd name="T1" fmla="*/ 13 h 114"/>
                <a:gd name="T2" fmla="*/ 5 w 83"/>
                <a:gd name="T3" fmla="*/ 19 h 114"/>
                <a:gd name="T4" fmla="*/ 1 w 83"/>
                <a:gd name="T5" fmla="*/ 37 h 114"/>
                <a:gd name="T6" fmla="*/ 6 w 83"/>
                <a:gd name="T7" fmla="*/ 36 h 114"/>
                <a:gd name="T8" fmla="*/ 13 w 83"/>
                <a:gd name="T9" fmla="*/ 36 h 114"/>
                <a:gd name="T10" fmla="*/ 8 w 83"/>
                <a:gd name="T11" fmla="*/ 50 h 114"/>
                <a:gd name="T12" fmla="*/ 15 w 83"/>
                <a:gd name="T13" fmla="*/ 48 h 114"/>
                <a:gd name="T14" fmla="*/ 16 w 83"/>
                <a:gd name="T15" fmla="*/ 62 h 114"/>
                <a:gd name="T16" fmla="*/ 16 w 83"/>
                <a:gd name="T17" fmla="*/ 70 h 114"/>
                <a:gd name="T18" fmla="*/ 20 w 83"/>
                <a:gd name="T19" fmla="*/ 71 h 114"/>
                <a:gd name="T20" fmla="*/ 27 w 83"/>
                <a:gd name="T21" fmla="*/ 75 h 114"/>
                <a:gd name="T22" fmla="*/ 16 w 83"/>
                <a:gd name="T23" fmla="*/ 75 h 114"/>
                <a:gd name="T24" fmla="*/ 22 w 83"/>
                <a:gd name="T25" fmla="*/ 77 h 114"/>
                <a:gd name="T26" fmla="*/ 24 w 83"/>
                <a:gd name="T27" fmla="*/ 80 h 114"/>
                <a:gd name="T28" fmla="*/ 19 w 83"/>
                <a:gd name="T29" fmla="*/ 83 h 114"/>
                <a:gd name="T30" fmla="*/ 26 w 83"/>
                <a:gd name="T31" fmla="*/ 91 h 114"/>
                <a:gd name="T32" fmla="*/ 30 w 83"/>
                <a:gd name="T33" fmla="*/ 100 h 114"/>
                <a:gd name="T34" fmla="*/ 78 w 83"/>
                <a:gd name="T35" fmla="*/ 102 h 114"/>
                <a:gd name="T36" fmla="*/ 63 w 83"/>
                <a:gd name="T37" fmla="*/ 68 h 114"/>
                <a:gd name="T38" fmla="*/ 72 w 83"/>
                <a:gd name="T39" fmla="*/ 61 h 114"/>
                <a:gd name="T40" fmla="*/ 74 w 83"/>
                <a:gd name="T41" fmla="*/ 55 h 114"/>
                <a:gd name="T42" fmla="*/ 70 w 83"/>
                <a:gd name="T43" fmla="*/ 51 h 114"/>
                <a:gd name="T44" fmla="*/ 59 w 83"/>
                <a:gd name="T45" fmla="*/ 50 h 114"/>
                <a:gd name="T46" fmla="*/ 23 w 83"/>
                <a:gd name="T47" fmla="*/ 33 h 114"/>
                <a:gd name="T48" fmla="*/ 12 w 83"/>
                <a:gd name="T49" fmla="*/ 28 h 114"/>
                <a:gd name="T50" fmla="*/ 17 w 83"/>
                <a:gd name="T51" fmla="*/ 29 h 114"/>
                <a:gd name="T52" fmla="*/ 53 w 83"/>
                <a:gd name="T53" fmla="*/ 32 h 114"/>
                <a:gd name="T54" fmla="*/ 78 w 83"/>
                <a:gd name="T55" fmla="*/ 42 h 114"/>
                <a:gd name="T56" fmla="*/ 73 w 83"/>
                <a:gd name="T57" fmla="*/ 26 h 114"/>
                <a:gd name="T58" fmla="*/ 83 w 83"/>
                <a:gd name="T59" fmla="*/ 32 h 114"/>
                <a:gd name="T60" fmla="*/ 29 w 83"/>
                <a:gd name="T61" fmla="*/ 40 h 114"/>
                <a:gd name="T62" fmla="*/ 46 w 83"/>
                <a:gd name="T63" fmla="*/ 47 h 114"/>
                <a:gd name="T64" fmla="*/ 32 w 83"/>
                <a:gd name="T65" fmla="*/ 47 h 114"/>
                <a:gd name="T66" fmla="*/ 29 w 83"/>
                <a:gd name="T67" fmla="*/ 51 h 114"/>
                <a:gd name="T68" fmla="*/ 20 w 83"/>
                <a:gd name="T69" fmla="*/ 47 h 114"/>
                <a:gd name="T70" fmla="*/ 9 w 83"/>
                <a:gd name="T71" fmla="*/ 27 h 114"/>
                <a:gd name="T72" fmla="*/ 18 w 83"/>
                <a:gd name="T73" fmla="*/ 20 h 114"/>
                <a:gd name="T74" fmla="*/ 42 w 83"/>
                <a:gd name="T75" fmla="*/ 20 h 114"/>
                <a:gd name="T76" fmla="*/ 20 w 83"/>
                <a:gd name="T77" fmla="*/ 10 h 114"/>
                <a:gd name="T78" fmla="*/ 43 w 83"/>
                <a:gd name="T79" fmla="*/ 9 h 114"/>
                <a:gd name="T80" fmla="*/ 63 w 83"/>
                <a:gd name="T81" fmla="*/ 30 h 114"/>
                <a:gd name="T82" fmla="*/ 51 w 83"/>
                <a:gd name="T83" fmla="*/ 12 h 114"/>
                <a:gd name="T84" fmla="*/ 63 w 83"/>
                <a:gd name="T85" fmla="*/ 30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83" h="114">
                  <a:moveTo>
                    <a:pt x="83" y="32"/>
                  </a:moveTo>
                  <a:cubicBezTo>
                    <a:pt x="82" y="30"/>
                    <a:pt x="75" y="22"/>
                    <a:pt x="64" y="13"/>
                  </a:cubicBezTo>
                  <a:cubicBezTo>
                    <a:pt x="55" y="7"/>
                    <a:pt x="42" y="0"/>
                    <a:pt x="32" y="0"/>
                  </a:cubicBezTo>
                  <a:cubicBezTo>
                    <a:pt x="14" y="0"/>
                    <a:pt x="6" y="13"/>
                    <a:pt x="5" y="19"/>
                  </a:cubicBezTo>
                  <a:cubicBezTo>
                    <a:pt x="4" y="23"/>
                    <a:pt x="4" y="27"/>
                    <a:pt x="5" y="29"/>
                  </a:cubicBezTo>
                  <a:cubicBezTo>
                    <a:pt x="2" y="32"/>
                    <a:pt x="1" y="34"/>
                    <a:pt x="1" y="37"/>
                  </a:cubicBezTo>
                  <a:cubicBezTo>
                    <a:pt x="0" y="39"/>
                    <a:pt x="1" y="42"/>
                    <a:pt x="3" y="43"/>
                  </a:cubicBezTo>
                  <a:cubicBezTo>
                    <a:pt x="2" y="41"/>
                    <a:pt x="4" y="38"/>
                    <a:pt x="6" y="36"/>
                  </a:cubicBezTo>
                  <a:cubicBezTo>
                    <a:pt x="7" y="33"/>
                    <a:pt x="10" y="32"/>
                    <a:pt x="12" y="31"/>
                  </a:cubicBezTo>
                  <a:cubicBezTo>
                    <a:pt x="13" y="36"/>
                    <a:pt x="13" y="36"/>
                    <a:pt x="13" y="36"/>
                  </a:cubicBezTo>
                  <a:cubicBezTo>
                    <a:pt x="11" y="37"/>
                    <a:pt x="8" y="40"/>
                    <a:pt x="7" y="42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14" y="46"/>
                    <a:pt x="14" y="46"/>
                    <a:pt x="14" y="46"/>
                  </a:cubicBezTo>
                  <a:cubicBezTo>
                    <a:pt x="15" y="48"/>
                    <a:pt x="15" y="48"/>
                    <a:pt x="15" y="48"/>
                  </a:cubicBezTo>
                  <a:cubicBezTo>
                    <a:pt x="13" y="63"/>
                    <a:pt x="13" y="63"/>
                    <a:pt x="13" y="63"/>
                  </a:cubicBezTo>
                  <a:cubicBezTo>
                    <a:pt x="16" y="62"/>
                    <a:pt x="16" y="62"/>
                    <a:pt x="16" y="62"/>
                  </a:cubicBezTo>
                  <a:cubicBezTo>
                    <a:pt x="23" y="65"/>
                    <a:pt x="23" y="65"/>
                    <a:pt x="23" y="65"/>
                  </a:cubicBezTo>
                  <a:cubicBezTo>
                    <a:pt x="16" y="70"/>
                    <a:pt x="16" y="70"/>
                    <a:pt x="16" y="70"/>
                  </a:cubicBezTo>
                  <a:cubicBezTo>
                    <a:pt x="16" y="72"/>
                    <a:pt x="16" y="72"/>
                    <a:pt x="16" y="72"/>
                  </a:cubicBezTo>
                  <a:cubicBezTo>
                    <a:pt x="16" y="72"/>
                    <a:pt x="17" y="71"/>
                    <a:pt x="20" y="71"/>
                  </a:cubicBezTo>
                  <a:cubicBezTo>
                    <a:pt x="22" y="71"/>
                    <a:pt x="27" y="73"/>
                    <a:pt x="27" y="73"/>
                  </a:cubicBezTo>
                  <a:cubicBezTo>
                    <a:pt x="27" y="75"/>
                    <a:pt x="27" y="75"/>
                    <a:pt x="27" y="75"/>
                  </a:cubicBezTo>
                  <a:cubicBezTo>
                    <a:pt x="25" y="75"/>
                    <a:pt x="25" y="75"/>
                    <a:pt x="25" y="75"/>
                  </a:cubicBezTo>
                  <a:cubicBezTo>
                    <a:pt x="16" y="75"/>
                    <a:pt x="16" y="75"/>
                    <a:pt x="16" y="75"/>
                  </a:cubicBezTo>
                  <a:cubicBezTo>
                    <a:pt x="16" y="76"/>
                    <a:pt x="17" y="77"/>
                    <a:pt x="18" y="78"/>
                  </a:cubicBezTo>
                  <a:cubicBezTo>
                    <a:pt x="19" y="77"/>
                    <a:pt x="21" y="77"/>
                    <a:pt x="22" y="77"/>
                  </a:cubicBezTo>
                  <a:cubicBezTo>
                    <a:pt x="22" y="77"/>
                    <a:pt x="24" y="77"/>
                    <a:pt x="26" y="77"/>
                  </a:cubicBezTo>
                  <a:cubicBezTo>
                    <a:pt x="24" y="80"/>
                    <a:pt x="24" y="80"/>
                    <a:pt x="24" y="80"/>
                  </a:cubicBezTo>
                  <a:cubicBezTo>
                    <a:pt x="24" y="80"/>
                    <a:pt x="23" y="81"/>
                    <a:pt x="21" y="80"/>
                  </a:cubicBezTo>
                  <a:cubicBezTo>
                    <a:pt x="20" y="80"/>
                    <a:pt x="19" y="81"/>
                    <a:pt x="19" y="83"/>
                  </a:cubicBezTo>
                  <a:cubicBezTo>
                    <a:pt x="19" y="84"/>
                    <a:pt x="20" y="87"/>
                    <a:pt x="20" y="87"/>
                  </a:cubicBezTo>
                  <a:cubicBezTo>
                    <a:pt x="21" y="92"/>
                    <a:pt x="26" y="91"/>
                    <a:pt x="26" y="91"/>
                  </a:cubicBezTo>
                  <a:cubicBezTo>
                    <a:pt x="29" y="90"/>
                    <a:pt x="39" y="87"/>
                    <a:pt x="39" y="87"/>
                  </a:cubicBezTo>
                  <a:cubicBezTo>
                    <a:pt x="30" y="100"/>
                    <a:pt x="30" y="100"/>
                    <a:pt x="30" y="100"/>
                  </a:cubicBezTo>
                  <a:cubicBezTo>
                    <a:pt x="34" y="114"/>
                    <a:pt x="34" y="114"/>
                    <a:pt x="34" y="114"/>
                  </a:cubicBezTo>
                  <a:cubicBezTo>
                    <a:pt x="40" y="111"/>
                    <a:pt x="58" y="105"/>
                    <a:pt x="78" y="102"/>
                  </a:cubicBezTo>
                  <a:cubicBezTo>
                    <a:pt x="76" y="98"/>
                    <a:pt x="76" y="96"/>
                    <a:pt x="73" y="91"/>
                  </a:cubicBezTo>
                  <a:cubicBezTo>
                    <a:pt x="63" y="68"/>
                    <a:pt x="63" y="68"/>
                    <a:pt x="63" y="68"/>
                  </a:cubicBezTo>
                  <a:cubicBezTo>
                    <a:pt x="64" y="64"/>
                    <a:pt x="64" y="64"/>
                    <a:pt x="64" y="64"/>
                  </a:cubicBezTo>
                  <a:cubicBezTo>
                    <a:pt x="66" y="65"/>
                    <a:pt x="70" y="63"/>
                    <a:pt x="72" y="61"/>
                  </a:cubicBezTo>
                  <a:cubicBezTo>
                    <a:pt x="74" y="60"/>
                    <a:pt x="77" y="56"/>
                    <a:pt x="78" y="54"/>
                  </a:cubicBezTo>
                  <a:cubicBezTo>
                    <a:pt x="77" y="54"/>
                    <a:pt x="75" y="54"/>
                    <a:pt x="74" y="55"/>
                  </a:cubicBezTo>
                  <a:cubicBezTo>
                    <a:pt x="73" y="55"/>
                    <a:pt x="72" y="57"/>
                    <a:pt x="70" y="56"/>
                  </a:cubicBezTo>
                  <a:cubicBezTo>
                    <a:pt x="68" y="55"/>
                    <a:pt x="69" y="53"/>
                    <a:pt x="70" y="51"/>
                  </a:cubicBezTo>
                  <a:cubicBezTo>
                    <a:pt x="70" y="50"/>
                    <a:pt x="67" y="50"/>
                    <a:pt x="66" y="51"/>
                  </a:cubicBezTo>
                  <a:cubicBezTo>
                    <a:pt x="64" y="52"/>
                    <a:pt x="61" y="52"/>
                    <a:pt x="59" y="50"/>
                  </a:cubicBezTo>
                  <a:cubicBezTo>
                    <a:pt x="56" y="47"/>
                    <a:pt x="45" y="38"/>
                    <a:pt x="42" y="36"/>
                  </a:cubicBezTo>
                  <a:cubicBezTo>
                    <a:pt x="36" y="33"/>
                    <a:pt x="28" y="32"/>
                    <a:pt x="23" y="33"/>
                  </a:cubicBezTo>
                  <a:cubicBezTo>
                    <a:pt x="20" y="34"/>
                    <a:pt x="17" y="35"/>
                    <a:pt x="16" y="35"/>
                  </a:cubicBezTo>
                  <a:cubicBezTo>
                    <a:pt x="12" y="28"/>
                    <a:pt x="12" y="28"/>
                    <a:pt x="12" y="28"/>
                  </a:cubicBezTo>
                  <a:cubicBezTo>
                    <a:pt x="13" y="28"/>
                    <a:pt x="13" y="28"/>
                    <a:pt x="13" y="28"/>
                  </a:cubicBezTo>
                  <a:cubicBezTo>
                    <a:pt x="14" y="28"/>
                    <a:pt x="16" y="30"/>
                    <a:pt x="17" y="29"/>
                  </a:cubicBezTo>
                  <a:cubicBezTo>
                    <a:pt x="19" y="28"/>
                    <a:pt x="25" y="27"/>
                    <a:pt x="31" y="27"/>
                  </a:cubicBezTo>
                  <a:cubicBezTo>
                    <a:pt x="39" y="27"/>
                    <a:pt x="49" y="30"/>
                    <a:pt x="53" y="32"/>
                  </a:cubicBezTo>
                  <a:cubicBezTo>
                    <a:pt x="53" y="37"/>
                    <a:pt x="64" y="44"/>
                    <a:pt x="69" y="44"/>
                  </a:cubicBezTo>
                  <a:cubicBezTo>
                    <a:pt x="73" y="45"/>
                    <a:pt x="75" y="44"/>
                    <a:pt x="78" y="42"/>
                  </a:cubicBezTo>
                  <a:cubicBezTo>
                    <a:pt x="67" y="33"/>
                    <a:pt x="67" y="33"/>
                    <a:pt x="67" y="33"/>
                  </a:cubicBezTo>
                  <a:cubicBezTo>
                    <a:pt x="73" y="26"/>
                    <a:pt x="73" y="26"/>
                    <a:pt x="73" y="26"/>
                  </a:cubicBezTo>
                  <a:cubicBezTo>
                    <a:pt x="73" y="26"/>
                    <a:pt x="82" y="35"/>
                    <a:pt x="83" y="36"/>
                  </a:cubicBezTo>
                  <a:cubicBezTo>
                    <a:pt x="83" y="35"/>
                    <a:pt x="83" y="34"/>
                    <a:pt x="83" y="32"/>
                  </a:cubicBezTo>
                  <a:moveTo>
                    <a:pt x="20" y="43"/>
                  </a:moveTo>
                  <a:cubicBezTo>
                    <a:pt x="20" y="43"/>
                    <a:pt x="24" y="41"/>
                    <a:pt x="29" y="40"/>
                  </a:cubicBezTo>
                  <a:cubicBezTo>
                    <a:pt x="35" y="38"/>
                    <a:pt x="42" y="42"/>
                    <a:pt x="47" y="46"/>
                  </a:cubicBezTo>
                  <a:cubicBezTo>
                    <a:pt x="46" y="47"/>
                    <a:pt x="46" y="47"/>
                    <a:pt x="46" y="47"/>
                  </a:cubicBezTo>
                  <a:cubicBezTo>
                    <a:pt x="39" y="49"/>
                    <a:pt x="39" y="49"/>
                    <a:pt x="39" y="49"/>
                  </a:cubicBezTo>
                  <a:cubicBezTo>
                    <a:pt x="37" y="48"/>
                    <a:pt x="35" y="47"/>
                    <a:pt x="32" y="47"/>
                  </a:cubicBezTo>
                  <a:cubicBezTo>
                    <a:pt x="29" y="47"/>
                    <a:pt x="27" y="48"/>
                    <a:pt x="27" y="48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4" y="50"/>
                    <a:pt x="22" y="47"/>
                    <a:pt x="20" y="47"/>
                  </a:cubicBezTo>
                  <a:lnTo>
                    <a:pt x="20" y="43"/>
                  </a:lnTo>
                  <a:close/>
                  <a:moveTo>
                    <a:pt x="9" y="27"/>
                  </a:moveTo>
                  <a:cubicBezTo>
                    <a:pt x="7" y="21"/>
                    <a:pt x="12" y="15"/>
                    <a:pt x="15" y="12"/>
                  </a:cubicBezTo>
                  <a:cubicBezTo>
                    <a:pt x="18" y="20"/>
                    <a:pt x="18" y="20"/>
                    <a:pt x="18" y="20"/>
                  </a:cubicBezTo>
                  <a:cubicBezTo>
                    <a:pt x="15" y="22"/>
                    <a:pt x="11" y="25"/>
                    <a:pt x="9" y="27"/>
                  </a:cubicBezTo>
                  <a:moveTo>
                    <a:pt x="42" y="20"/>
                  </a:moveTo>
                  <a:cubicBezTo>
                    <a:pt x="38" y="18"/>
                    <a:pt x="27" y="18"/>
                    <a:pt x="23" y="19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2" y="8"/>
                    <a:pt x="27" y="7"/>
                    <a:pt x="31" y="7"/>
                  </a:cubicBezTo>
                  <a:cubicBezTo>
                    <a:pt x="35" y="7"/>
                    <a:pt x="40" y="8"/>
                    <a:pt x="43" y="9"/>
                  </a:cubicBezTo>
                  <a:lnTo>
                    <a:pt x="42" y="20"/>
                  </a:lnTo>
                  <a:close/>
                  <a:moveTo>
                    <a:pt x="63" y="30"/>
                  </a:moveTo>
                  <a:cubicBezTo>
                    <a:pt x="58" y="27"/>
                    <a:pt x="50" y="22"/>
                    <a:pt x="47" y="22"/>
                  </a:cubicBezTo>
                  <a:cubicBezTo>
                    <a:pt x="51" y="12"/>
                    <a:pt x="51" y="12"/>
                    <a:pt x="51" y="12"/>
                  </a:cubicBezTo>
                  <a:cubicBezTo>
                    <a:pt x="54" y="13"/>
                    <a:pt x="66" y="21"/>
                    <a:pt x="68" y="22"/>
                  </a:cubicBezTo>
                  <a:lnTo>
                    <a:pt x="63" y="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6" name="Freeform 83">
              <a:extLst>
                <a:ext uri="{FF2B5EF4-FFF2-40B4-BE49-F238E27FC236}">
                  <a16:creationId xmlns:a16="http://schemas.microsoft.com/office/drawing/2014/main" id="{50C99B15-8689-084D-9DA2-5C37245B70F5}"/>
                </a:ext>
              </a:extLst>
            </p:cNvPr>
            <p:cNvSpPr>
              <a:spLocks/>
            </p:cNvSpPr>
            <p:nvPr/>
          </p:nvSpPr>
          <p:spPr bwMode="gray">
            <a:xfrm>
              <a:off x="4076701" y="3179763"/>
              <a:ext cx="138113" cy="173038"/>
            </a:xfrm>
            <a:custGeom>
              <a:avLst/>
              <a:gdLst>
                <a:gd name="T0" fmla="*/ 0 w 37"/>
                <a:gd name="T1" fmla="*/ 36 h 46"/>
                <a:gd name="T2" fmla="*/ 15 w 37"/>
                <a:gd name="T3" fmla="*/ 46 h 46"/>
                <a:gd name="T4" fmla="*/ 37 w 37"/>
                <a:gd name="T5" fmla="*/ 0 h 46"/>
                <a:gd name="T6" fmla="*/ 0 w 37"/>
                <a:gd name="T7" fmla="*/ 3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7" h="46">
                  <a:moveTo>
                    <a:pt x="0" y="36"/>
                  </a:moveTo>
                  <a:cubicBezTo>
                    <a:pt x="4" y="38"/>
                    <a:pt x="13" y="45"/>
                    <a:pt x="15" y="46"/>
                  </a:cubicBezTo>
                  <a:cubicBezTo>
                    <a:pt x="37" y="0"/>
                    <a:pt x="37" y="0"/>
                    <a:pt x="37" y="0"/>
                  </a:cubicBezTo>
                  <a:lnTo>
                    <a:pt x="0" y="3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7" name="Freeform 84">
              <a:extLst>
                <a:ext uri="{FF2B5EF4-FFF2-40B4-BE49-F238E27FC236}">
                  <a16:creationId xmlns:a16="http://schemas.microsoft.com/office/drawing/2014/main" id="{D525A4DB-4DD4-0247-9D56-754EA5631473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8705851" y="3481388"/>
              <a:ext cx="93663" cy="98425"/>
            </a:xfrm>
            <a:custGeom>
              <a:avLst/>
              <a:gdLst>
                <a:gd name="T0" fmla="*/ 12 w 25"/>
                <a:gd name="T1" fmla="*/ 0 h 26"/>
                <a:gd name="T2" fmla="*/ 25 w 25"/>
                <a:gd name="T3" fmla="*/ 13 h 26"/>
                <a:gd name="T4" fmla="*/ 12 w 25"/>
                <a:gd name="T5" fmla="*/ 26 h 26"/>
                <a:gd name="T6" fmla="*/ 0 w 25"/>
                <a:gd name="T7" fmla="*/ 13 h 26"/>
                <a:gd name="T8" fmla="*/ 12 w 25"/>
                <a:gd name="T9" fmla="*/ 0 h 26"/>
                <a:gd name="T10" fmla="*/ 12 w 25"/>
                <a:gd name="T11" fmla="*/ 23 h 26"/>
                <a:gd name="T12" fmla="*/ 22 w 25"/>
                <a:gd name="T13" fmla="*/ 13 h 26"/>
                <a:gd name="T14" fmla="*/ 12 w 25"/>
                <a:gd name="T15" fmla="*/ 3 h 26"/>
                <a:gd name="T16" fmla="*/ 3 w 25"/>
                <a:gd name="T17" fmla="*/ 13 h 26"/>
                <a:gd name="T18" fmla="*/ 12 w 25"/>
                <a:gd name="T19" fmla="*/ 23 h 26"/>
                <a:gd name="T20" fmla="*/ 8 w 25"/>
                <a:gd name="T21" fmla="*/ 6 h 26"/>
                <a:gd name="T22" fmla="*/ 13 w 25"/>
                <a:gd name="T23" fmla="*/ 6 h 26"/>
                <a:gd name="T24" fmla="*/ 18 w 25"/>
                <a:gd name="T25" fmla="*/ 10 h 26"/>
                <a:gd name="T26" fmla="*/ 15 w 25"/>
                <a:gd name="T27" fmla="*/ 14 h 26"/>
                <a:gd name="T28" fmla="*/ 18 w 25"/>
                <a:gd name="T29" fmla="*/ 20 h 26"/>
                <a:gd name="T30" fmla="*/ 16 w 25"/>
                <a:gd name="T31" fmla="*/ 20 h 26"/>
                <a:gd name="T32" fmla="*/ 12 w 25"/>
                <a:gd name="T33" fmla="*/ 14 h 26"/>
                <a:gd name="T34" fmla="*/ 10 w 25"/>
                <a:gd name="T35" fmla="*/ 14 h 26"/>
                <a:gd name="T36" fmla="*/ 10 w 25"/>
                <a:gd name="T37" fmla="*/ 20 h 26"/>
                <a:gd name="T38" fmla="*/ 8 w 25"/>
                <a:gd name="T39" fmla="*/ 20 h 26"/>
                <a:gd name="T40" fmla="*/ 8 w 25"/>
                <a:gd name="T41" fmla="*/ 6 h 26"/>
                <a:gd name="T42" fmla="*/ 10 w 25"/>
                <a:gd name="T43" fmla="*/ 12 h 26"/>
                <a:gd name="T44" fmla="*/ 13 w 25"/>
                <a:gd name="T45" fmla="*/ 12 h 26"/>
                <a:gd name="T46" fmla="*/ 16 w 25"/>
                <a:gd name="T47" fmla="*/ 10 h 26"/>
                <a:gd name="T48" fmla="*/ 13 w 25"/>
                <a:gd name="T49" fmla="*/ 8 h 26"/>
                <a:gd name="T50" fmla="*/ 10 w 25"/>
                <a:gd name="T51" fmla="*/ 8 h 26"/>
                <a:gd name="T52" fmla="*/ 10 w 25"/>
                <a:gd name="T53" fmla="*/ 12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" h="26">
                  <a:moveTo>
                    <a:pt x="12" y="0"/>
                  </a:moveTo>
                  <a:cubicBezTo>
                    <a:pt x="19" y="0"/>
                    <a:pt x="25" y="5"/>
                    <a:pt x="25" y="13"/>
                  </a:cubicBezTo>
                  <a:cubicBezTo>
                    <a:pt x="25" y="20"/>
                    <a:pt x="19" y="26"/>
                    <a:pt x="12" y="26"/>
                  </a:cubicBezTo>
                  <a:cubicBezTo>
                    <a:pt x="6" y="26"/>
                    <a:pt x="0" y="20"/>
                    <a:pt x="0" y="13"/>
                  </a:cubicBezTo>
                  <a:cubicBezTo>
                    <a:pt x="0" y="5"/>
                    <a:pt x="6" y="0"/>
                    <a:pt x="12" y="0"/>
                  </a:cubicBezTo>
                  <a:moveTo>
                    <a:pt x="12" y="23"/>
                  </a:moveTo>
                  <a:cubicBezTo>
                    <a:pt x="18" y="23"/>
                    <a:pt x="22" y="19"/>
                    <a:pt x="22" y="13"/>
                  </a:cubicBezTo>
                  <a:cubicBezTo>
                    <a:pt x="22" y="7"/>
                    <a:pt x="18" y="3"/>
                    <a:pt x="12" y="3"/>
                  </a:cubicBezTo>
                  <a:cubicBezTo>
                    <a:pt x="7" y="3"/>
                    <a:pt x="3" y="7"/>
                    <a:pt x="3" y="13"/>
                  </a:cubicBezTo>
                  <a:cubicBezTo>
                    <a:pt x="3" y="19"/>
                    <a:pt x="7" y="23"/>
                    <a:pt x="12" y="23"/>
                  </a:cubicBezTo>
                  <a:moveTo>
                    <a:pt x="8" y="6"/>
                  </a:moveTo>
                  <a:cubicBezTo>
                    <a:pt x="13" y="6"/>
                    <a:pt x="13" y="6"/>
                    <a:pt x="13" y="6"/>
                  </a:cubicBezTo>
                  <a:cubicBezTo>
                    <a:pt x="16" y="6"/>
                    <a:pt x="18" y="7"/>
                    <a:pt x="18" y="10"/>
                  </a:cubicBezTo>
                  <a:cubicBezTo>
                    <a:pt x="18" y="13"/>
                    <a:pt x="17" y="14"/>
                    <a:pt x="15" y="14"/>
                  </a:cubicBezTo>
                  <a:cubicBezTo>
                    <a:pt x="18" y="20"/>
                    <a:pt x="18" y="20"/>
                    <a:pt x="18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2" y="14"/>
                    <a:pt x="12" y="14"/>
                    <a:pt x="12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8" y="20"/>
                    <a:pt x="8" y="20"/>
                    <a:pt x="8" y="20"/>
                  </a:cubicBezTo>
                  <a:lnTo>
                    <a:pt x="8" y="6"/>
                  </a:lnTo>
                  <a:close/>
                  <a:moveTo>
                    <a:pt x="10" y="12"/>
                  </a:moveTo>
                  <a:cubicBezTo>
                    <a:pt x="13" y="12"/>
                    <a:pt x="13" y="12"/>
                    <a:pt x="13" y="12"/>
                  </a:cubicBezTo>
                  <a:cubicBezTo>
                    <a:pt x="14" y="12"/>
                    <a:pt x="16" y="12"/>
                    <a:pt x="16" y="10"/>
                  </a:cubicBezTo>
                  <a:cubicBezTo>
                    <a:pt x="16" y="8"/>
                    <a:pt x="14" y="8"/>
                    <a:pt x="13" y="8"/>
                  </a:cubicBezTo>
                  <a:cubicBezTo>
                    <a:pt x="10" y="8"/>
                    <a:pt x="10" y="8"/>
                    <a:pt x="10" y="8"/>
                  </a:cubicBezTo>
                  <a:lnTo>
                    <a:pt x="10" y="12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8" name="Rectangle 85">
              <a:extLst>
                <a:ext uri="{FF2B5EF4-FFF2-40B4-BE49-F238E27FC236}">
                  <a16:creationId xmlns:a16="http://schemas.microsoft.com/office/drawing/2014/main" id="{25914BBA-072E-2E45-B822-BAB4C8C0C9B6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4470401" y="3727450"/>
              <a:ext cx="1631950" cy="15875"/>
            </a:xfrm>
            <a:prstGeom prst="rect">
              <a:avLst/>
            </a:pr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9" name="Rectangle 86">
              <a:extLst>
                <a:ext uri="{FF2B5EF4-FFF2-40B4-BE49-F238E27FC236}">
                  <a16:creationId xmlns:a16="http://schemas.microsoft.com/office/drawing/2014/main" id="{3DFC358F-7F33-BB4B-A12E-52FA8B9903B2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6327776" y="3727450"/>
              <a:ext cx="2352675" cy="15875"/>
            </a:xfrm>
            <a:prstGeom prst="rect">
              <a:avLst/>
            </a:pr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0" name="Rectangle 87">
              <a:extLst>
                <a:ext uri="{FF2B5EF4-FFF2-40B4-BE49-F238E27FC236}">
                  <a16:creationId xmlns:a16="http://schemas.microsoft.com/office/drawing/2014/main" id="{B2631BA0-1F32-574F-93A3-A1A23DE970D5}"/>
                </a:ext>
              </a:extLst>
            </p:cNvPr>
            <p:cNvSpPr>
              <a:spLocks noChangeArrowheads="1"/>
            </p:cNvSpPr>
            <p:nvPr/>
          </p:nvSpPr>
          <p:spPr bwMode="gray">
            <a:xfrm>
              <a:off x="5410201" y="3886200"/>
              <a:ext cx="44450" cy="231775"/>
            </a:xfrm>
            <a:prstGeom prst="rect">
              <a:avLst/>
            </a:pr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1" name="Freeform 88">
              <a:extLst>
                <a:ext uri="{FF2B5EF4-FFF2-40B4-BE49-F238E27FC236}">
                  <a16:creationId xmlns:a16="http://schemas.microsoft.com/office/drawing/2014/main" id="{1451C5A3-EE83-6943-97E5-5B400B54961A}"/>
                </a:ext>
              </a:extLst>
            </p:cNvPr>
            <p:cNvSpPr>
              <a:spLocks/>
            </p:cNvSpPr>
            <p:nvPr/>
          </p:nvSpPr>
          <p:spPr bwMode="gray">
            <a:xfrm>
              <a:off x="5580063" y="3886200"/>
              <a:ext cx="171450" cy="231775"/>
            </a:xfrm>
            <a:custGeom>
              <a:avLst/>
              <a:gdLst>
                <a:gd name="T0" fmla="*/ 0 w 108"/>
                <a:gd name="T1" fmla="*/ 0 h 146"/>
                <a:gd name="T2" fmla="*/ 23 w 108"/>
                <a:gd name="T3" fmla="*/ 0 h 146"/>
                <a:gd name="T4" fmla="*/ 85 w 108"/>
                <a:gd name="T5" fmla="*/ 103 h 146"/>
                <a:gd name="T6" fmla="*/ 85 w 108"/>
                <a:gd name="T7" fmla="*/ 103 h 146"/>
                <a:gd name="T8" fmla="*/ 85 w 108"/>
                <a:gd name="T9" fmla="*/ 0 h 146"/>
                <a:gd name="T10" fmla="*/ 108 w 108"/>
                <a:gd name="T11" fmla="*/ 0 h 146"/>
                <a:gd name="T12" fmla="*/ 108 w 108"/>
                <a:gd name="T13" fmla="*/ 146 h 146"/>
                <a:gd name="T14" fmla="*/ 85 w 108"/>
                <a:gd name="T15" fmla="*/ 146 h 146"/>
                <a:gd name="T16" fmla="*/ 26 w 108"/>
                <a:gd name="T17" fmla="*/ 43 h 146"/>
                <a:gd name="T18" fmla="*/ 23 w 108"/>
                <a:gd name="T19" fmla="*/ 43 h 146"/>
                <a:gd name="T20" fmla="*/ 23 w 108"/>
                <a:gd name="T21" fmla="*/ 146 h 146"/>
                <a:gd name="T22" fmla="*/ 0 w 108"/>
                <a:gd name="T23" fmla="*/ 146 h 146"/>
                <a:gd name="T24" fmla="*/ 0 w 108"/>
                <a:gd name="T25" fmla="*/ 0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8" h="146">
                  <a:moveTo>
                    <a:pt x="0" y="0"/>
                  </a:moveTo>
                  <a:lnTo>
                    <a:pt x="23" y="0"/>
                  </a:lnTo>
                  <a:lnTo>
                    <a:pt x="85" y="103"/>
                  </a:lnTo>
                  <a:lnTo>
                    <a:pt x="85" y="103"/>
                  </a:lnTo>
                  <a:lnTo>
                    <a:pt x="85" y="0"/>
                  </a:lnTo>
                  <a:lnTo>
                    <a:pt x="108" y="0"/>
                  </a:lnTo>
                  <a:lnTo>
                    <a:pt x="108" y="146"/>
                  </a:lnTo>
                  <a:lnTo>
                    <a:pt x="85" y="146"/>
                  </a:lnTo>
                  <a:lnTo>
                    <a:pt x="26" y="43"/>
                  </a:lnTo>
                  <a:lnTo>
                    <a:pt x="23" y="43"/>
                  </a:lnTo>
                  <a:lnTo>
                    <a:pt x="23" y="146"/>
                  </a:lnTo>
                  <a:lnTo>
                    <a:pt x="0" y="1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2" name="Freeform 89">
              <a:extLst>
                <a:ext uri="{FF2B5EF4-FFF2-40B4-BE49-F238E27FC236}">
                  <a16:creationId xmlns:a16="http://schemas.microsoft.com/office/drawing/2014/main" id="{E744295C-1D5D-8D41-9DF6-74C56415E59E}"/>
                </a:ext>
              </a:extLst>
            </p:cNvPr>
            <p:cNvSpPr>
              <a:spLocks/>
            </p:cNvSpPr>
            <p:nvPr/>
          </p:nvSpPr>
          <p:spPr bwMode="gray">
            <a:xfrm>
              <a:off x="5849938" y="3883025"/>
              <a:ext cx="198438" cy="238125"/>
            </a:xfrm>
            <a:custGeom>
              <a:avLst/>
              <a:gdLst>
                <a:gd name="T0" fmla="*/ 10 w 53"/>
                <a:gd name="T1" fmla="*/ 43 h 63"/>
                <a:gd name="T2" fmla="*/ 28 w 53"/>
                <a:gd name="T3" fmla="*/ 53 h 63"/>
                <a:gd name="T4" fmla="*/ 41 w 53"/>
                <a:gd name="T5" fmla="*/ 45 h 63"/>
                <a:gd name="T6" fmla="*/ 28 w 53"/>
                <a:gd name="T7" fmla="*/ 37 h 63"/>
                <a:gd name="T8" fmla="*/ 22 w 53"/>
                <a:gd name="T9" fmla="*/ 35 h 63"/>
                <a:gd name="T10" fmla="*/ 3 w 53"/>
                <a:gd name="T11" fmla="*/ 18 h 63"/>
                <a:gd name="T12" fmla="*/ 27 w 53"/>
                <a:gd name="T13" fmla="*/ 0 h 63"/>
                <a:gd name="T14" fmla="*/ 52 w 53"/>
                <a:gd name="T15" fmla="*/ 12 h 63"/>
                <a:gd name="T16" fmla="*/ 43 w 53"/>
                <a:gd name="T17" fmla="*/ 19 h 63"/>
                <a:gd name="T18" fmla="*/ 27 w 53"/>
                <a:gd name="T19" fmla="*/ 10 h 63"/>
                <a:gd name="T20" fmla="*/ 15 w 53"/>
                <a:gd name="T21" fmla="*/ 17 h 63"/>
                <a:gd name="T22" fmla="*/ 28 w 53"/>
                <a:gd name="T23" fmla="*/ 25 h 63"/>
                <a:gd name="T24" fmla="*/ 35 w 53"/>
                <a:gd name="T25" fmla="*/ 26 h 63"/>
                <a:gd name="T26" fmla="*/ 53 w 53"/>
                <a:gd name="T27" fmla="*/ 43 h 63"/>
                <a:gd name="T28" fmla="*/ 26 w 53"/>
                <a:gd name="T29" fmla="*/ 63 h 63"/>
                <a:gd name="T30" fmla="*/ 0 w 53"/>
                <a:gd name="T31" fmla="*/ 50 h 63"/>
                <a:gd name="T32" fmla="*/ 10 w 53"/>
                <a:gd name="T33" fmla="*/ 43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3" h="63">
                  <a:moveTo>
                    <a:pt x="10" y="43"/>
                  </a:moveTo>
                  <a:cubicBezTo>
                    <a:pt x="14" y="50"/>
                    <a:pt x="21" y="53"/>
                    <a:pt x="28" y="53"/>
                  </a:cubicBezTo>
                  <a:cubicBezTo>
                    <a:pt x="33" y="53"/>
                    <a:pt x="41" y="51"/>
                    <a:pt x="41" y="45"/>
                  </a:cubicBezTo>
                  <a:cubicBezTo>
                    <a:pt x="41" y="40"/>
                    <a:pt x="36" y="39"/>
                    <a:pt x="28" y="37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12" y="33"/>
                    <a:pt x="3" y="30"/>
                    <a:pt x="3" y="18"/>
                  </a:cubicBezTo>
                  <a:cubicBezTo>
                    <a:pt x="3" y="6"/>
                    <a:pt x="16" y="0"/>
                    <a:pt x="27" y="0"/>
                  </a:cubicBezTo>
                  <a:cubicBezTo>
                    <a:pt x="37" y="0"/>
                    <a:pt x="46" y="3"/>
                    <a:pt x="52" y="12"/>
                  </a:cubicBezTo>
                  <a:cubicBezTo>
                    <a:pt x="43" y="19"/>
                    <a:pt x="43" y="19"/>
                    <a:pt x="43" y="19"/>
                  </a:cubicBezTo>
                  <a:cubicBezTo>
                    <a:pt x="40" y="13"/>
                    <a:pt x="34" y="10"/>
                    <a:pt x="27" y="10"/>
                  </a:cubicBezTo>
                  <a:cubicBezTo>
                    <a:pt x="20" y="10"/>
                    <a:pt x="15" y="13"/>
                    <a:pt x="15" y="17"/>
                  </a:cubicBezTo>
                  <a:cubicBezTo>
                    <a:pt x="15" y="22"/>
                    <a:pt x="21" y="23"/>
                    <a:pt x="28" y="25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44" y="28"/>
                    <a:pt x="53" y="32"/>
                    <a:pt x="53" y="43"/>
                  </a:cubicBezTo>
                  <a:cubicBezTo>
                    <a:pt x="53" y="58"/>
                    <a:pt x="39" y="63"/>
                    <a:pt x="26" y="63"/>
                  </a:cubicBezTo>
                  <a:cubicBezTo>
                    <a:pt x="16" y="63"/>
                    <a:pt x="6" y="59"/>
                    <a:pt x="0" y="50"/>
                  </a:cubicBezTo>
                  <a:lnTo>
                    <a:pt x="10" y="43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3" name="Freeform 90">
              <a:extLst>
                <a:ext uri="{FF2B5EF4-FFF2-40B4-BE49-F238E27FC236}">
                  <a16:creationId xmlns:a16="http://schemas.microsoft.com/office/drawing/2014/main" id="{DC6FDDF1-34FE-0940-A76C-8F3C43239461}"/>
                </a:ext>
              </a:extLst>
            </p:cNvPr>
            <p:cNvSpPr>
              <a:spLocks/>
            </p:cNvSpPr>
            <p:nvPr/>
          </p:nvSpPr>
          <p:spPr bwMode="gray">
            <a:xfrm>
              <a:off x="6157913" y="3886200"/>
              <a:ext cx="184150" cy="234950"/>
            </a:xfrm>
            <a:custGeom>
              <a:avLst/>
              <a:gdLst>
                <a:gd name="T0" fmla="*/ 49 w 49"/>
                <a:gd name="T1" fmla="*/ 42 h 62"/>
                <a:gd name="T2" fmla="*/ 24 w 49"/>
                <a:gd name="T3" fmla="*/ 62 h 62"/>
                <a:gd name="T4" fmla="*/ 0 w 49"/>
                <a:gd name="T5" fmla="*/ 42 h 62"/>
                <a:gd name="T6" fmla="*/ 0 w 49"/>
                <a:gd name="T7" fmla="*/ 0 h 62"/>
                <a:gd name="T8" fmla="*/ 11 w 49"/>
                <a:gd name="T9" fmla="*/ 0 h 62"/>
                <a:gd name="T10" fmla="*/ 11 w 49"/>
                <a:gd name="T11" fmla="*/ 39 h 62"/>
                <a:gd name="T12" fmla="*/ 24 w 49"/>
                <a:gd name="T13" fmla="*/ 51 h 62"/>
                <a:gd name="T14" fmla="*/ 37 w 49"/>
                <a:gd name="T15" fmla="*/ 39 h 62"/>
                <a:gd name="T16" fmla="*/ 37 w 49"/>
                <a:gd name="T17" fmla="*/ 0 h 62"/>
                <a:gd name="T18" fmla="*/ 49 w 49"/>
                <a:gd name="T19" fmla="*/ 0 h 62"/>
                <a:gd name="T20" fmla="*/ 49 w 49"/>
                <a:gd name="T21" fmla="*/ 4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9" h="62">
                  <a:moveTo>
                    <a:pt x="49" y="42"/>
                  </a:moveTo>
                  <a:cubicBezTo>
                    <a:pt x="49" y="54"/>
                    <a:pt x="39" y="62"/>
                    <a:pt x="24" y="62"/>
                  </a:cubicBezTo>
                  <a:cubicBezTo>
                    <a:pt x="10" y="62"/>
                    <a:pt x="0" y="54"/>
                    <a:pt x="0" y="4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6"/>
                    <a:pt x="14" y="51"/>
                    <a:pt x="24" y="51"/>
                  </a:cubicBezTo>
                  <a:cubicBezTo>
                    <a:pt x="34" y="51"/>
                    <a:pt x="37" y="46"/>
                    <a:pt x="37" y="39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49" y="0"/>
                    <a:pt x="49" y="0"/>
                    <a:pt x="49" y="0"/>
                  </a:cubicBezTo>
                  <a:lnTo>
                    <a:pt x="49" y="42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4" name="Freeform 91">
              <a:extLst>
                <a:ext uri="{FF2B5EF4-FFF2-40B4-BE49-F238E27FC236}">
                  <a16:creationId xmlns:a16="http://schemas.microsoft.com/office/drawing/2014/main" id="{A9CCEB23-2E74-4646-8168-7A36D387F386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6462713" y="3886200"/>
              <a:ext cx="176213" cy="231775"/>
            </a:xfrm>
            <a:custGeom>
              <a:avLst/>
              <a:gdLst>
                <a:gd name="T0" fmla="*/ 0 w 47"/>
                <a:gd name="T1" fmla="*/ 0 h 61"/>
                <a:gd name="T2" fmla="*/ 25 w 47"/>
                <a:gd name="T3" fmla="*/ 0 h 61"/>
                <a:gd name="T4" fmla="*/ 46 w 47"/>
                <a:gd name="T5" fmla="*/ 18 h 61"/>
                <a:gd name="T6" fmla="*/ 34 w 47"/>
                <a:gd name="T7" fmla="*/ 36 h 61"/>
                <a:gd name="T8" fmla="*/ 47 w 47"/>
                <a:gd name="T9" fmla="*/ 61 h 61"/>
                <a:gd name="T10" fmla="*/ 34 w 47"/>
                <a:gd name="T11" fmla="*/ 61 h 61"/>
                <a:gd name="T12" fmla="*/ 22 w 47"/>
                <a:gd name="T13" fmla="*/ 38 h 61"/>
                <a:gd name="T14" fmla="*/ 11 w 47"/>
                <a:gd name="T15" fmla="*/ 38 h 61"/>
                <a:gd name="T16" fmla="*/ 11 w 47"/>
                <a:gd name="T17" fmla="*/ 61 h 61"/>
                <a:gd name="T18" fmla="*/ 0 w 47"/>
                <a:gd name="T19" fmla="*/ 61 h 61"/>
                <a:gd name="T20" fmla="*/ 0 w 47"/>
                <a:gd name="T21" fmla="*/ 0 h 61"/>
                <a:gd name="T22" fmla="*/ 11 w 47"/>
                <a:gd name="T23" fmla="*/ 28 h 61"/>
                <a:gd name="T24" fmla="*/ 24 w 47"/>
                <a:gd name="T25" fmla="*/ 28 h 61"/>
                <a:gd name="T26" fmla="*/ 34 w 47"/>
                <a:gd name="T27" fmla="*/ 19 h 61"/>
                <a:gd name="T28" fmla="*/ 22 w 47"/>
                <a:gd name="T29" fmla="*/ 10 h 61"/>
                <a:gd name="T30" fmla="*/ 11 w 47"/>
                <a:gd name="T31" fmla="*/ 10 h 61"/>
                <a:gd name="T32" fmla="*/ 11 w 47"/>
                <a:gd name="T33" fmla="*/ 28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7" h="61">
                  <a:moveTo>
                    <a:pt x="0" y="0"/>
                  </a:moveTo>
                  <a:cubicBezTo>
                    <a:pt x="25" y="0"/>
                    <a:pt x="25" y="0"/>
                    <a:pt x="25" y="0"/>
                  </a:cubicBezTo>
                  <a:cubicBezTo>
                    <a:pt x="38" y="0"/>
                    <a:pt x="46" y="8"/>
                    <a:pt x="46" y="18"/>
                  </a:cubicBezTo>
                  <a:cubicBezTo>
                    <a:pt x="46" y="32"/>
                    <a:pt x="37" y="35"/>
                    <a:pt x="34" y="36"/>
                  </a:cubicBezTo>
                  <a:cubicBezTo>
                    <a:pt x="47" y="61"/>
                    <a:pt x="47" y="61"/>
                    <a:pt x="47" y="61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22" y="38"/>
                    <a:pt x="22" y="38"/>
                    <a:pt x="2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61"/>
                    <a:pt x="11" y="61"/>
                    <a:pt x="11" y="61"/>
                  </a:cubicBezTo>
                  <a:cubicBezTo>
                    <a:pt x="0" y="61"/>
                    <a:pt x="0" y="61"/>
                    <a:pt x="0" y="61"/>
                  </a:cubicBezTo>
                  <a:lnTo>
                    <a:pt x="0" y="0"/>
                  </a:lnTo>
                  <a:close/>
                  <a:moveTo>
                    <a:pt x="11" y="28"/>
                  </a:moveTo>
                  <a:cubicBezTo>
                    <a:pt x="24" y="28"/>
                    <a:pt x="24" y="28"/>
                    <a:pt x="24" y="28"/>
                  </a:cubicBezTo>
                  <a:cubicBezTo>
                    <a:pt x="30" y="28"/>
                    <a:pt x="34" y="25"/>
                    <a:pt x="34" y="19"/>
                  </a:cubicBezTo>
                  <a:cubicBezTo>
                    <a:pt x="34" y="14"/>
                    <a:pt x="30" y="10"/>
                    <a:pt x="22" y="10"/>
                  </a:cubicBezTo>
                  <a:cubicBezTo>
                    <a:pt x="11" y="10"/>
                    <a:pt x="11" y="10"/>
                    <a:pt x="11" y="10"/>
                  </a:cubicBezTo>
                  <a:lnTo>
                    <a:pt x="11" y="28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5" name="Freeform 92">
              <a:extLst>
                <a:ext uri="{FF2B5EF4-FFF2-40B4-BE49-F238E27FC236}">
                  <a16:creationId xmlns:a16="http://schemas.microsoft.com/office/drawing/2014/main" id="{61921E90-DC7F-494C-8303-2928EB863F7B}"/>
                </a:ext>
              </a:extLst>
            </p:cNvPr>
            <p:cNvSpPr>
              <a:spLocks noEditPoints="1"/>
            </p:cNvSpPr>
            <p:nvPr/>
          </p:nvSpPr>
          <p:spPr bwMode="gray">
            <a:xfrm>
              <a:off x="6721476" y="3886200"/>
              <a:ext cx="203200" cy="231775"/>
            </a:xfrm>
            <a:custGeom>
              <a:avLst/>
              <a:gdLst>
                <a:gd name="T0" fmla="*/ 50 w 128"/>
                <a:gd name="T1" fmla="*/ 0 h 146"/>
                <a:gd name="T2" fmla="*/ 81 w 128"/>
                <a:gd name="T3" fmla="*/ 0 h 146"/>
                <a:gd name="T4" fmla="*/ 128 w 128"/>
                <a:gd name="T5" fmla="*/ 146 h 146"/>
                <a:gd name="T6" fmla="*/ 100 w 128"/>
                <a:gd name="T7" fmla="*/ 146 h 146"/>
                <a:gd name="T8" fmla="*/ 93 w 128"/>
                <a:gd name="T9" fmla="*/ 117 h 146"/>
                <a:gd name="T10" fmla="*/ 38 w 128"/>
                <a:gd name="T11" fmla="*/ 117 h 146"/>
                <a:gd name="T12" fmla="*/ 29 w 128"/>
                <a:gd name="T13" fmla="*/ 146 h 146"/>
                <a:gd name="T14" fmla="*/ 0 w 128"/>
                <a:gd name="T15" fmla="*/ 146 h 146"/>
                <a:gd name="T16" fmla="*/ 50 w 128"/>
                <a:gd name="T17" fmla="*/ 0 h 146"/>
                <a:gd name="T18" fmla="*/ 64 w 128"/>
                <a:gd name="T19" fmla="*/ 26 h 146"/>
                <a:gd name="T20" fmla="*/ 64 w 128"/>
                <a:gd name="T21" fmla="*/ 26 h 146"/>
                <a:gd name="T22" fmla="*/ 45 w 128"/>
                <a:gd name="T23" fmla="*/ 93 h 146"/>
                <a:gd name="T24" fmla="*/ 85 w 128"/>
                <a:gd name="T25" fmla="*/ 93 h 146"/>
                <a:gd name="T26" fmla="*/ 64 w 128"/>
                <a:gd name="T27" fmla="*/ 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8" h="146">
                  <a:moveTo>
                    <a:pt x="50" y="0"/>
                  </a:moveTo>
                  <a:lnTo>
                    <a:pt x="81" y="0"/>
                  </a:lnTo>
                  <a:lnTo>
                    <a:pt x="128" y="146"/>
                  </a:lnTo>
                  <a:lnTo>
                    <a:pt x="100" y="146"/>
                  </a:lnTo>
                  <a:lnTo>
                    <a:pt x="93" y="117"/>
                  </a:lnTo>
                  <a:lnTo>
                    <a:pt x="38" y="117"/>
                  </a:lnTo>
                  <a:lnTo>
                    <a:pt x="29" y="146"/>
                  </a:lnTo>
                  <a:lnTo>
                    <a:pt x="0" y="146"/>
                  </a:lnTo>
                  <a:lnTo>
                    <a:pt x="50" y="0"/>
                  </a:lnTo>
                  <a:close/>
                  <a:moveTo>
                    <a:pt x="64" y="26"/>
                  </a:moveTo>
                  <a:lnTo>
                    <a:pt x="64" y="26"/>
                  </a:lnTo>
                  <a:lnTo>
                    <a:pt x="45" y="93"/>
                  </a:lnTo>
                  <a:lnTo>
                    <a:pt x="85" y="93"/>
                  </a:lnTo>
                  <a:lnTo>
                    <a:pt x="64" y="26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6" name="Freeform 93">
              <a:extLst>
                <a:ext uri="{FF2B5EF4-FFF2-40B4-BE49-F238E27FC236}">
                  <a16:creationId xmlns:a16="http://schemas.microsoft.com/office/drawing/2014/main" id="{8E45D8C6-1442-EA49-BB8A-9DA07FB1E7A9}"/>
                </a:ext>
              </a:extLst>
            </p:cNvPr>
            <p:cNvSpPr>
              <a:spLocks/>
            </p:cNvSpPr>
            <p:nvPr/>
          </p:nvSpPr>
          <p:spPr bwMode="gray">
            <a:xfrm>
              <a:off x="7023101" y="3886200"/>
              <a:ext cx="171450" cy="231775"/>
            </a:xfrm>
            <a:custGeom>
              <a:avLst/>
              <a:gdLst>
                <a:gd name="T0" fmla="*/ 0 w 108"/>
                <a:gd name="T1" fmla="*/ 0 h 146"/>
                <a:gd name="T2" fmla="*/ 23 w 108"/>
                <a:gd name="T3" fmla="*/ 0 h 146"/>
                <a:gd name="T4" fmla="*/ 82 w 108"/>
                <a:gd name="T5" fmla="*/ 103 h 146"/>
                <a:gd name="T6" fmla="*/ 85 w 108"/>
                <a:gd name="T7" fmla="*/ 103 h 146"/>
                <a:gd name="T8" fmla="*/ 85 w 108"/>
                <a:gd name="T9" fmla="*/ 0 h 146"/>
                <a:gd name="T10" fmla="*/ 108 w 108"/>
                <a:gd name="T11" fmla="*/ 0 h 146"/>
                <a:gd name="T12" fmla="*/ 108 w 108"/>
                <a:gd name="T13" fmla="*/ 146 h 146"/>
                <a:gd name="T14" fmla="*/ 82 w 108"/>
                <a:gd name="T15" fmla="*/ 146 h 146"/>
                <a:gd name="T16" fmla="*/ 23 w 108"/>
                <a:gd name="T17" fmla="*/ 43 h 146"/>
                <a:gd name="T18" fmla="*/ 23 w 108"/>
                <a:gd name="T19" fmla="*/ 43 h 146"/>
                <a:gd name="T20" fmla="*/ 23 w 108"/>
                <a:gd name="T21" fmla="*/ 146 h 146"/>
                <a:gd name="T22" fmla="*/ 0 w 108"/>
                <a:gd name="T23" fmla="*/ 146 h 146"/>
                <a:gd name="T24" fmla="*/ 0 w 108"/>
                <a:gd name="T25" fmla="*/ 0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8" h="146">
                  <a:moveTo>
                    <a:pt x="0" y="0"/>
                  </a:moveTo>
                  <a:lnTo>
                    <a:pt x="23" y="0"/>
                  </a:lnTo>
                  <a:lnTo>
                    <a:pt x="82" y="103"/>
                  </a:lnTo>
                  <a:lnTo>
                    <a:pt x="85" y="103"/>
                  </a:lnTo>
                  <a:lnTo>
                    <a:pt x="85" y="0"/>
                  </a:lnTo>
                  <a:lnTo>
                    <a:pt x="108" y="0"/>
                  </a:lnTo>
                  <a:lnTo>
                    <a:pt x="108" y="146"/>
                  </a:lnTo>
                  <a:lnTo>
                    <a:pt x="82" y="146"/>
                  </a:lnTo>
                  <a:lnTo>
                    <a:pt x="23" y="43"/>
                  </a:lnTo>
                  <a:lnTo>
                    <a:pt x="23" y="43"/>
                  </a:lnTo>
                  <a:lnTo>
                    <a:pt x="23" y="146"/>
                  </a:lnTo>
                  <a:lnTo>
                    <a:pt x="0" y="1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7" name="Freeform 94">
              <a:extLst>
                <a:ext uri="{FF2B5EF4-FFF2-40B4-BE49-F238E27FC236}">
                  <a16:creationId xmlns:a16="http://schemas.microsoft.com/office/drawing/2014/main" id="{5505C1B4-718A-2641-990D-6A231F4F9814}"/>
                </a:ext>
              </a:extLst>
            </p:cNvPr>
            <p:cNvSpPr>
              <a:spLocks/>
            </p:cNvSpPr>
            <p:nvPr/>
          </p:nvSpPr>
          <p:spPr bwMode="gray">
            <a:xfrm>
              <a:off x="7304088" y="3883025"/>
              <a:ext cx="203200" cy="238125"/>
            </a:xfrm>
            <a:custGeom>
              <a:avLst/>
              <a:gdLst>
                <a:gd name="T0" fmla="*/ 42 w 54"/>
                <a:gd name="T1" fmla="*/ 21 h 63"/>
                <a:gd name="T2" fmla="*/ 29 w 54"/>
                <a:gd name="T3" fmla="*/ 10 h 63"/>
                <a:gd name="T4" fmla="*/ 12 w 54"/>
                <a:gd name="T5" fmla="*/ 31 h 63"/>
                <a:gd name="T6" fmla="*/ 29 w 54"/>
                <a:gd name="T7" fmla="*/ 53 h 63"/>
                <a:gd name="T8" fmla="*/ 43 w 54"/>
                <a:gd name="T9" fmla="*/ 40 h 63"/>
                <a:gd name="T10" fmla="*/ 54 w 54"/>
                <a:gd name="T11" fmla="*/ 45 h 63"/>
                <a:gd name="T12" fmla="*/ 29 w 54"/>
                <a:gd name="T13" fmla="*/ 63 h 63"/>
                <a:gd name="T14" fmla="*/ 0 w 54"/>
                <a:gd name="T15" fmla="*/ 31 h 63"/>
                <a:gd name="T16" fmla="*/ 29 w 54"/>
                <a:gd name="T17" fmla="*/ 0 h 63"/>
                <a:gd name="T18" fmla="*/ 53 w 54"/>
                <a:gd name="T19" fmla="*/ 19 h 63"/>
                <a:gd name="T20" fmla="*/ 42 w 54"/>
                <a:gd name="T21" fmla="*/ 21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4" h="63">
                  <a:moveTo>
                    <a:pt x="42" y="21"/>
                  </a:moveTo>
                  <a:cubicBezTo>
                    <a:pt x="41" y="15"/>
                    <a:pt x="36" y="10"/>
                    <a:pt x="29" y="10"/>
                  </a:cubicBezTo>
                  <a:cubicBezTo>
                    <a:pt x="17" y="10"/>
                    <a:pt x="12" y="21"/>
                    <a:pt x="12" y="31"/>
                  </a:cubicBezTo>
                  <a:cubicBezTo>
                    <a:pt x="12" y="42"/>
                    <a:pt x="17" y="53"/>
                    <a:pt x="29" y="53"/>
                  </a:cubicBezTo>
                  <a:cubicBezTo>
                    <a:pt x="37" y="53"/>
                    <a:pt x="41" y="47"/>
                    <a:pt x="43" y="40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49" y="57"/>
                    <a:pt x="41" y="63"/>
                    <a:pt x="29" y="63"/>
                  </a:cubicBezTo>
                  <a:cubicBezTo>
                    <a:pt x="9" y="63"/>
                    <a:pt x="0" y="48"/>
                    <a:pt x="0" y="31"/>
                  </a:cubicBezTo>
                  <a:cubicBezTo>
                    <a:pt x="0" y="14"/>
                    <a:pt x="11" y="0"/>
                    <a:pt x="29" y="0"/>
                  </a:cubicBezTo>
                  <a:cubicBezTo>
                    <a:pt x="41" y="0"/>
                    <a:pt x="50" y="6"/>
                    <a:pt x="53" y="19"/>
                  </a:cubicBezTo>
                  <a:lnTo>
                    <a:pt x="42" y="21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88" name="Freeform 95">
              <a:extLst>
                <a:ext uri="{FF2B5EF4-FFF2-40B4-BE49-F238E27FC236}">
                  <a16:creationId xmlns:a16="http://schemas.microsoft.com/office/drawing/2014/main" id="{7C0299B0-68CF-684C-86FF-140EEDA95B8D}"/>
                </a:ext>
              </a:extLst>
            </p:cNvPr>
            <p:cNvSpPr>
              <a:spLocks/>
            </p:cNvSpPr>
            <p:nvPr/>
          </p:nvSpPr>
          <p:spPr bwMode="gray">
            <a:xfrm>
              <a:off x="7597776" y="3886200"/>
              <a:ext cx="168275" cy="231775"/>
            </a:xfrm>
            <a:custGeom>
              <a:avLst/>
              <a:gdLst>
                <a:gd name="T0" fmla="*/ 0 w 106"/>
                <a:gd name="T1" fmla="*/ 0 h 146"/>
                <a:gd name="T2" fmla="*/ 102 w 106"/>
                <a:gd name="T3" fmla="*/ 0 h 146"/>
                <a:gd name="T4" fmla="*/ 102 w 106"/>
                <a:gd name="T5" fmla="*/ 26 h 146"/>
                <a:gd name="T6" fmla="*/ 28 w 106"/>
                <a:gd name="T7" fmla="*/ 26 h 146"/>
                <a:gd name="T8" fmla="*/ 28 w 106"/>
                <a:gd name="T9" fmla="*/ 57 h 146"/>
                <a:gd name="T10" fmla="*/ 95 w 106"/>
                <a:gd name="T11" fmla="*/ 57 h 146"/>
                <a:gd name="T12" fmla="*/ 95 w 106"/>
                <a:gd name="T13" fmla="*/ 81 h 146"/>
                <a:gd name="T14" fmla="*/ 28 w 106"/>
                <a:gd name="T15" fmla="*/ 81 h 146"/>
                <a:gd name="T16" fmla="*/ 28 w 106"/>
                <a:gd name="T17" fmla="*/ 119 h 146"/>
                <a:gd name="T18" fmla="*/ 106 w 106"/>
                <a:gd name="T19" fmla="*/ 119 h 146"/>
                <a:gd name="T20" fmla="*/ 106 w 106"/>
                <a:gd name="T21" fmla="*/ 146 h 146"/>
                <a:gd name="T22" fmla="*/ 0 w 106"/>
                <a:gd name="T23" fmla="*/ 146 h 146"/>
                <a:gd name="T24" fmla="*/ 0 w 106"/>
                <a:gd name="T25" fmla="*/ 0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6" h="146">
                  <a:moveTo>
                    <a:pt x="0" y="0"/>
                  </a:moveTo>
                  <a:lnTo>
                    <a:pt x="102" y="0"/>
                  </a:lnTo>
                  <a:lnTo>
                    <a:pt x="102" y="26"/>
                  </a:lnTo>
                  <a:lnTo>
                    <a:pt x="28" y="26"/>
                  </a:lnTo>
                  <a:lnTo>
                    <a:pt x="28" y="57"/>
                  </a:lnTo>
                  <a:lnTo>
                    <a:pt x="95" y="57"/>
                  </a:lnTo>
                  <a:lnTo>
                    <a:pt x="95" y="81"/>
                  </a:lnTo>
                  <a:lnTo>
                    <a:pt x="28" y="81"/>
                  </a:lnTo>
                  <a:lnTo>
                    <a:pt x="28" y="119"/>
                  </a:lnTo>
                  <a:lnTo>
                    <a:pt x="106" y="119"/>
                  </a:lnTo>
                  <a:lnTo>
                    <a:pt x="106" y="146"/>
                  </a:lnTo>
                  <a:lnTo>
                    <a:pt x="0" y="1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E365AB72-24AA-5247-A027-7D755379D80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83672" y="2683780"/>
            <a:ext cx="7786303" cy="17503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sz="6000">
                <a:solidFill>
                  <a:schemeClr val="bg1">
                    <a:lumMod val="1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03F5533B-F6F4-1E4B-ABE7-E543280908D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4183672" y="4536426"/>
            <a:ext cx="7786303" cy="655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sz="2800">
                <a:solidFill>
                  <a:schemeClr val="bg1">
                    <a:lumMod val="10000"/>
                  </a:schemeClr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</p:spTree>
    <p:extLst>
      <p:ext uri="{BB962C8B-B14F-4D97-AF65-F5344CB8AC3E}">
        <p14:creationId xmlns:p14="http://schemas.microsoft.com/office/powerpoint/2010/main" val="23703781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12">
          <p15:clr>
            <a:srgbClr val="FBAE40"/>
          </p15:clr>
        </p15:guide>
        <p15:guide id="2" pos="1536">
          <p15:clr>
            <a:srgbClr val="FBAE40"/>
          </p15:clr>
        </p15:guide>
        <p15:guide id="3" orient="horz" pos="3072">
          <p15:clr>
            <a:srgbClr val="FBAE40"/>
          </p15:clr>
        </p15:guide>
        <p15:guide id="4" pos="2688">
          <p15:clr>
            <a:srgbClr val="FBAE40"/>
          </p15:clr>
        </p15:guide>
        <p15:guide id="5" orient="horz" pos="417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raft Stamp">
            <a:extLst>
              <a:ext uri="{FF2B5EF4-FFF2-40B4-BE49-F238E27FC236}">
                <a16:creationId xmlns:a16="http://schemas.microsoft.com/office/drawing/2014/main" id="{31C204F0-A218-40DB-2C0D-75E68E5B165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55418760"/>
              </p:ext>
            </p:extLst>
          </p:nvPr>
        </p:nvGraphicFramePr>
        <p:xfrm>
          <a:off x="10922000" y="10364"/>
          <a:ext cx="12700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82344436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sz="2400" b="1">
                          <a:solidFill>
                            <a:srgbClr val="CC3300"/>
                          </a:solidFill>
                          <a:latin typeface="Calibri" panose="020F0502020204030204" pitchFamily="34" charset="0"/>
                        </a:rPr>
                        <a:t>DRAFT</a:t>
                      </a:r>
                    </a:p>
                  </a:txBody>
                  <a:tcPr marT="0" marB="0" anchorCtr="1">
                    <a:lnT w="12700" cmpd="sng">
                      <a:solidFill>
                        <a:srgbClr val="CC3300"/>
                      </a:solidFill>
                    </a:lnT>
                    <a:lnB w="38100" cmpd="sng">
                      <a:solidFill>
                        <a:srgbClr val="CC330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2181996"/>
                  </a:ext>
                </a:extLst>
              </a:tr>
            </a:tbl>
          </a:graphicData>
        </a:graphic>
      </p:graphicFrame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469900" y="1665290"/>
            <a:ext cx="11252200" cy="46339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514350" indent="-514350">
              <a:buClr>
                <a:schemeClr val="bg1">
                  <a:lumMod val="10000"/>
                </a:schemeClr>
              </a:buClr>
              <a:buFont typeface="+mj-lt"/>
              <a:buAutoNum type="arabicParenR"/>
              <a:defRPr sz="1200">
                <a:solidFill>
                  <a:schemeClr val="bg1">
                    <a:lumMod val="10000"/>
                  </a:schemeClr>
                </a:solidFill>
              </a:defRPr>
            </a:lvl1pPr>
            <a:lvl2pPr marL="723900" indent="-457200">
              <a:buClr>
                <a:schemeClr val="bg1">
                  <a:lumMod val="10000"/>
                </a:schemeClr>
              </a:buClr>
              <a:buFont typeface="+mj-lt"/>
              <a:buAutoNum type="arabicParenR"/>
              <a:defRPr sz="1200">
                <a:solidFill>
                  <a:schemeClr val="bg1">
                    <a:lumMod val="10000"/>
                  </a:schemeClr>
                </a:solidFill>
              </a:defRPr>
            </a:lvl2pPr>
            <a:lvl3pPr>
              <a:defRPr>
                <a:solidFill>
                  <a:schemeClr val="bg1">
                    <a:lumMod val="10000"/>
                  </a:schemeClr>
                </a:solidFill>
              </a:defRPr>
            </a:lvl3pPr>
            <a:lvl4pPr>
              <a:defRPr>
                <a:solidFill>
                  <a:schemeClr val="bg1">
                    <a:lumMod val="10000"/>
                  </a:schemeClr>
                </a:solidFill>
              </a:defRPr>
            </a:lvl4pPr>
            <a:lvl5pPr>
              <a:defRPr>
                <a:solidFill>
                  <a:schemeClr val="bg1">
                    <a:lumMod val="10000"/>
                  </a:schemeClr>
                </a:solidFill>
              </a:defRPr>
            </a:lvl5pPr>
          </a:lstStyle>
          <a:p>
            <a:pPr marL="266700" marR="0" lvl="0" indent="-2667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B0B0B0"/>
              </a:buClr>
              <a:buSzTx/>
              <a:buFont typeface="Wingdings 2" panose="05020102010507070707" pitchFamily="18" charset="2"/>
              <a:buChar char="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Click to edit Master text styles</a:t>
            </a:r>
          </a:p>
          <a:p>
            <a:pPr marL="266700" marR="0" lvl="1" indent="-266700" algn="l" defTabSz="914400" rtl="0" eaLnBrk="1" fontAlgn="auto" latinLnBrk="0" hangingPunct="1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B0B0B0"/>
              </a:buClr>
              <a:buSzTx/>
              <a:buFont typeface="Wingdings 2" panose="05020102010507070707" pitchFamily="18" charset="2"/>
              <a:buChar char="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Second level</a:t>
            </a:r>
          </a:p>
        </p:txBody>
      </p:sp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2920" y="649224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10000"/>
                  </a:schemeClr>
                </a:solidFill>
              </a:defRPr>
            </a:lvl1pPr>
          </a:lstStyle>
          <a:p>
            <a:pPr lvl="0"/>
            <a:r>
              <a:rPr lang="en-GB" noProof="0"/>
              <a:t>Click to add subtitle</a:t>
            </a:r>
            <a:endParaRPr lang="en-GB"/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502920" y="315122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>
                <a:solidFill>
                  <a:schemeClr val="bg1">
                    <a:lumMod val="10000"/>
                  </a:schemeClr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FF8D1E6-182F-E7C6-30BE-98DCE34527E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4">
            <a:extLst>
              <a:ext uri="{FF2B5EF4-FFF2-40B4-BE49-F238E27FC236}">
                <a16:creationId xmlns:a16="http://schemas.microsoft.com/office/drawing/2014/main" id="{24898E91-5E6C-B9FF-7897-8DEE52D275D7}"/>
              </a:ext>
            </a:extLst>
          </p:cNvPr>
          <p:cNvSpPr txBox="1">
            <a:spLocks/>
          </p:cNvSpPr>
          <p:nvPr userDrawn="1"/>
        </p:nvSpPr>
        <p:spPr>
          <a:xfrm>
            <a:off x="10858501" y="6484939"/>
            <a:ext cx="628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200" kern="1200" smtClean="0">
                <a:solidFill>
                  <a:schemeClr val="accent5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8C7C74-4731-4319-8F3B-1BBB12C4DBE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B0B0B0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B0B0B0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6208078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raft Stamp">
            <a:extLst>
              <a:ext uri="{FF2B5EF4-FFF2-40B4-BE49-F238E27FC236}">
                <a16:creationId xmlns:a16="http://schemas.microsoft.com/office/drawing/2014/main" id="{EF24CEB8-E325-AAF7-7114-85BBEC81071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795297676"/>
              </p:ext>
            </p:extLst>
          </p:nvPr>
        </p:nvGraphicFramePr>
        <p:xfrm>
          <a:off x="10922000" y="10364"/>
          <a:ext cx="12700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82344436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sz="2400" b="1">
                          <a:solidFill>
                            <a:srgbClr val="CC3300"/>
                          </a:solidFill>
                          <a:latin typeface="Calibri" panose="020F0502020204030204" pitchFamily="34" charset="0"/>
                        </a:rPr>
                        <a:t>DRAFT</a:t>
                      </a:r>
                    </a:p>
                  </a:txBody>
                  <a:tcPr marT="0" marB="0" anchorCtr="1">
                    <a:lnT w="12700" cmpd="sng">
                      <a:solidFill>
                        <a:srgbClr val="CC3300"/>
                      </a:solidFill>
                    </a:lnT>
                    <a:lnB w="38100" cmpd="sng">
                      <a:solidFill>
                        <a:srgbClr val="CC330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2181996"/>
                  </a:ext>
                </a:extLst>
              </a:tr>
            </a:tbl>
          </a:graphicData>
        </a:graphic>
      </p:graphicFrame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2920" y="649224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10000"/>
                  </a:schemeClr>
                </a:solidFill>
              </a:defRPr>
            </a:lvl1pPr>
          </a:lstStyle>
          <a:p>
            <a:pPr lvl="0"/>
            <a:r>
              <a:rPr lang="en-GB" noProof="0"/>
              <a:t>Click to add subtitle</a:t>
            </a:r>
            <a:endParaRPr lang="en-GB"/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502920" y="315122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>
                <a:solidFill>
                  <a:schemeClr val="bg1">
                    <a:lumMod val="10000"/>
                  </a:schemeClr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3263806102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raft Stamp">
            <a:extLst>
              <a:ext uri="{FF2B5EF4-FFF2-40B4-BE49-F238E27FC236}">
                <a16:creationId xmlns:a16="http://schemas.microsoft.com/office/drawing/2014/main" id="{EF24CEB8-E325-AAF7-7114-85BBEC81071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795297676"/>
              </p:ext>
            </p:extLst>
          </p:nvPr>
        </p:nvGraphicFramePr>
        <p:xfrm>
          <a:off x="10922000" y="10364"/>
          <a:ext cx="12700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82344436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sz="2400" b="1">
                          <a:solidFill>
                            <a:srgbClr val="CC3300"/>
                          </a:solidFill>
                          <a:latin typeface="Calibri" panose="020F0502020204030204" pitchFamily="34" charset="0"/>
                        </a:rPr>
                        <a:t>DRAFT</a:t>
                      </a:r>
                    </a:p>
                  </a:txBody>
                  <a:tcPr marT="0" marB="0" anchorCtr="1">
                    <a:lnT w="12700" cmpd="sng">
                      <a:solidFill>
                        <a:srgbClr val="CC3300"/>
                      </a:solidFill>
                    </a:lnT>
                    <a:lnB w="38100" cmpd="sng">
                      <a:solidFill>
                        <a:srgbClr val="CC330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2181996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B0A4A4-157E-8113-609E-35EDB89C8A6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AC22F7F7-928F-45A2-B5CD-889D6F08CA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12314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C5F0F-C3E8-8655-894C-825C6A31553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858501" y="6370639"/>
            <a:ext cx="628656" cy="276999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53</a:t>
            </a:r>
          </a:p>
        </p:txBody>
      </p:sp>
    </p:spTree>
    <p:extLst>
      <p:ext uri="{BB962C8B-B14F-4D97-AF65-F5344CB8AC3E}">
        <p14:creationId xmlns:p14="http://schemas.microsoft.com/office/powerpoint/2010/main" val="7852161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E8B8B9-5014-4945-A83B-72F6A0359603}"/>
              </a:ext>
            </a:extLst>
          </p:cNvPr>
          <p:cNvSpPr/>
          <p:nvPr/>
        </p:nvSpPr>
        <p:spPr>
          <a:xfrm>
            <a:off x="222025" y="222286"/>
            <a:ext cx="11747950" cy="641342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>
              <a:solidFill>
                <a:srgbClr val="1A1448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C75653E-2723-4FA3-99EC-36181208674F}"/>
              </a:ext>
            </a:extLst>
          </p:cNvPr>
          <p:cNvCxnSpPr>
            <a:cxnSpLocks/>
          </p:cNvCxnSpPr>
          <p:nvPr userDrawn="1"/>
        </p:nvCxnSpPr>
        <p:spPr>
          <a:xfrm>
            <a:off x="222024" y="2568539"/>
            <a:ext cx="3017520" cy="0"/>
          </a:xfrm>
          <a:prstGeom prst="line">
            <a:avLst/>
          </a:prstGeom>
          <a:ln w="76200">
            <a:solidFill>
              <a:schemeClr val="tx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3142C3EA-82B3-47C8-89AB-FAC7A3528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22024" y="2683781"/>
            <a:ext cx="11747951" cy="9429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3200" spc="300">
                <a:solidFill>
                  <a:schemeClr val="bg1">
                    <a:lumMod val="1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1141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BE8B8B9-5014-4945-A83B-72F6A0359603}"/>
              </a:ext>
            </a:extLst>
          </p:cNvPr>
          <p:cNvSpPr/>
          <p:nvPr/>
        </p:nvSpPr>
        <p:spPr>
          <a:xfrm>
            <a:off x="222025" y="222286"/>
            <a:ext cx="11747950" cy="6413428"/>
          </a:xfrm>
          <a:prstGeom prst="rect">
            <a:avLst/>
          </a:prstGeom>
          <a:solidFill>
            <a:schemeClr val="bg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2000">
              <a:solidFill>
                <a:srgbClr val="1A1448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C75653E-2723-4FA3-99EC-36181208674F}"/>
              </a:ext>
            </a:extLst>
          </p:cNvPr>
          <p:cNvCxnSpPr>
            <a:cxnSpLocks/>
          </p:cNvCxnSpPr>
          <p:nvPr userDrawn="1"/>
        </p:nvCxnSpPr>
        <p:spPr>
          <a:xfrm>
            <a:off x="222024" y="2568539"/>
            <a:ext cx="3017520" cy="0"/>
          </a:xfrm>
          <a:prstGeom prst="line">
            <a:avLst/>
          </a:prstGeom>
          <a:ln w="76200">
            <a:solidFill>
              <a:schemeClr val="tx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3142C3EA-82B3-47C8-89AB-FAC7A352811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22024" y="2683781"/>
            <a:ext cx="11747951" cy="94299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sz="3200" spc="300">
                <a:solidFill>
                  <a:schemeClr val="bg1">
                    <a:lumMod val="1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148449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raft Stamp">
            <a:extLst>
              <a:ext uri="{FF2B5EF4-FFF2-40B4-BE49-F238E27FC236}">
                <a16:creationId xmlns:a16="http://schemas.microsoft.com/office/drawing/2014/main" id="{B9609233-84F4-6B58-612B-0C0AF9A205C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121589956"/>
              </p:ext>
            </p:extLst>
          </p:nvPr>
        </p:nvGraphicFramePr>
        <p:xfrm>
          <a:off x="10922000" y="10364"/>
          <a:ext cx="1270000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>
                  <a:extLst>
                    <a:ext uri="{9D8B030D-6E8A-4147-A177-3AD203B41FA5}">
                      <a16:colId xmlns:a16="http://schemas.microsoft.com/office/drawing/2014/main" val="82344436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en-US" sz="2400" b="1">
                          <a:solidFill>
                            <a:srgbClr val="CC3300"/>
                          </a:solidFill>
                          <a:latin typeface="Calibri" panose="020F0502020204030204" pitchFamily="34" charset="0"/>
                        </a:rPr>
                        <a:t>DRAFT</a:t>
                      </a:r>
                    </a:p>
                  </a:txBody>
                  <a:tcPr marT="0" marB="0" anchorCtr="1">
                    <a:lnT w="12700" cmpd="sng">
                      <a:solidFill>
                        <a:srgbClr val="CC3300"/>
                      </a:solidFill>
                    </a:lnT>
                    <a:lnB w="38100" cmpd="sng">
                      <a:solidFill>
                        <a:srgbClr val="CC330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2181996"/>
                  </a:ext>
                </a:extLst>
              </a:tr>
            </a:tbl>
          </a:graphicData>
        </a:graphic>
      </p:graphicFrame>
      <p:sp>
        <p:nvSpPr>
          <p:cNvPr id="14" name="Text Placeholder 18"/>
          <p:cNvSpPr>
            <a:spLocks noGrp="1"/>
          </p:cNvSpPr>
          <p:nvPr>
            <p:ph idx="1"/>
          </p:nvPr>
        </p:nvSpPr>
        <p:spPr>
          <a:xfrm>
            <a:off x="469900" y="1665290"/>
            <a:ext cx="11252200" cy="46339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73736" indent="-173736">
              <a:buClrTx/>
              <a:buSzPct val="100000"/>
              <a:buFont typeface="Arial" panose="020B0604020202020204" pitchFamily="34" charset="0"/>
              <a:buChar char="•"/>
              <a:defRPr sz="1400">
                <a:solidFill>
                  <a:schemeClr val="bg1">
                    <a:lumMod val="10000"/>
                  </a:schemeClr>
                </a:solidFill>
              </a:defRPr>
            </a:lvl1pPr>
            <a:lvl2pPr marL="533400" indent="-173736">
              <a:buClrTx/>
              <a:buSzPct val="100000"/>
              <a:buFont typeface="Arial" panose="020B0604020202020204" pitchFamily="34" charset="0"/>
              <a:buChar char="–"/>
              <a:defRPr sz="1400">
                <a:solidFill>
                  <a:schemeClr val="bg1">
                    <a:lumMod val="10000"/>
                  </a:schemeClr>
                </a:solidFill>
              </a:defRPr>
            </a:lvl2pPr>
            <a:lvl3pPr marL="647700" indent="-152400">
              <a:buClrTx/>
              <a:buSzPct val="100000"/>
              <a:buFont typeface="Arial" panose="020B0604020202020204" pitchFamily="34" charset="0"/>
              <a:buChar char="•"/>
              <a:defRPr sz="1400">
                <a:solidFill>
                  <a:schemeClr val="bg1">
                    <a:lumMod val="10000"/>
                  </a:schemeClr>
                </a:solidFill>
              </a:defRPr>
            </a:lvl3pPr>
            <a:lvl4pPr marL="819150" indent="-230188">
              <a:buClrTx/>
              <a:buSzPct val="100000"/>
              <a:buFont typeface="Arial" panose="020B0604020202020204" pitchFamily="34" charset="0"/>
              <a:buChar char="•"/>
              <a:defRPr sz="1400">
                <a:solidFill>
                  <a:schemeClr val="bg1">
                    <a:lumMod val="10000"/>
                  </a:schemeClr>
                </a:solidFill>
              </a:defRPr>
            </a:lvl4pPr>
            <a:lvl5pPr marL="950913" indent="-157163">
              <a:buClrTx/>
              <a:buSzPct val="100000"/>
              <a:buFont typeface="Arial" panose="020B0604020202020204" pitchFamily="34" charset="0"/>
              <a:buChar char="•"/>
              <a:defRPr sz="1400">
                <a:solidFill>
                  <a:schemeClr val="bg1">
                    <a:lumMod val="10000"/>
                  </a:schemeClr>
                </a:solidFill>
              </a:defRPr>
            </a:lvl5pPr>
          </a:lstStyle>
          <a:p>
            <a:pPr lvl="0"/>
            <a:r>
              <a:rPr lang="en-GB" noProof="0"/>
              <a:t>Click to edit Master text styles</a:t>
            </a:r>
            <a:endParaRPr lang="en-GB"/>
          </a:p>
          <a:p>
            <a:pPr lvl="1"/>
            <a:r>
              <a:rPr lang="en-GB" noProof="0"/>
              <a:t>Second level</a:t>
            </a:r>
            <a:endParaRPr lang="en-GB"/>
          </a:p>
        </p:txBody>
      </p:sp>
      <p:sp>
        <p:nvSpPr>
          <p:cNvPr id="4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2920" y="649224"/>
            <a:ext cx="11252200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600" b="0">
                <a:solidFill>
                  <a:schemeClr val="bg1">
                    <a:lumMod val="10000"/>
                  </a:schemeClr>
                </a:solidFill>
              </a:defRPr>
            </a:lvl1pPr>
          </a:lstStyle>
          <a:p>
            <a:pPr lvl="0"/>
            <a:r>
              <a:rPr lang="en-GB" noProof="0"/>
              <a:t>Click to add subtitle</a:t>
            </a:r>
            <a:endParaRPr lang="en-GB"/>
          </a:p>
        </p:txBody>
      </p:sp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502920" y="315122"/>
            <a:ext cx="11252200" cy="334102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2000">
                <a:solidFill>
                  <a:schemeClr val="bg1">
                    <a:lumMod val="10000"/>
                  </a:schemeClr>
                </a:solidFill>
              </a:defRPr>
            </a:lvl1pPr>
          </a:lstStyle>
          <a:p>
            <a:r>
              <a:rPr lang="en-GB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951833-788A-482B-B620-EFF48BAE2B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9900" y="6486525"/>
            <a:ext cx="10169525" cy="276225"/>
          </a:xfrm>
        </p:spPr>
        <p:txBody>
          <a:bodyPr>
            <a:noAutofit/>
          </a:bodyPr>
          <a:lstStyle>
            <a:lvl1pPr marL="0" indent="0">
              <a:buNone/>
              <a:defRPr sz="800"/>
            </a:lvl1pPr>
            <a:lvl2pPr marL="266700" indent="0">
              <a:buNone/>
              <a:defRPr sz="800"/>
            </a:lvl2pPr>
            <a:lvl3pPr marL="495300" indent="0">
              <a:buNone/>
              <a:defRPr sz="800"/>
            </a:lvl3pPr>
            <a:lvl4pPr marL="588962" indent="0">
              <a:buNone/>
              <a:defRPr sz="800"/>
            </a:lvl4pPr>
            <a:lvl5pPr marL="793750" indent="0">
              <a:buNone/>
              <a:defRPr sz="800"/>
            </a:lvl5pPr>
          </a:lstStyle>
          <a:p>
            <a:pPr lvl="0"/>
            <a:r>
              <a:rPr lang="en-US"/>
              <a:t>[placeholder for footer / footnote]</a:t>
            </a:r>
          </a:p>
        </p:txBody>
      </p:sp>
      <p:sp>
        <p:nvSpPr>
          <p:cNvPr id="2" name="Slide Number Placeholder 4">
            <a:extLst>
              <a:ext uri="{FF2B5EF4-FFF2-40B4-BE49-F238E27FC236}">
                <a16:creationId xmlns:a16="http://schemas.microsoft.com/office/drawing/2014/main" id="{137A0FC6-CD63-B533-183F-93D8EAB63C59}"/>
              </a:ext>
            </a:extLst>
          </p:cNvPr>
          <p:cNvSpPr txBox="1">
            <a:spLocks/>
          </p:cNvSpPr>
          <p:nvPr userDrawn="1"/>
        </p:nvSpPr>
        <p:spPr>
          <a:xfrm>
            <a:off x="10858501" y="6484939"/>
            <a:ext cx="628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200" kern="1200" smtClean="0">
                <a:solidFill>
                  <a:schemeClr val="accent5">
                    <a:lumMod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08C7C74-4731-4319-8F3B-1BBB12C4DBE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B0B0B0">
                    <a:lumMod val="7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B0B0B0">
                  <a:lumMod val="7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5955863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ogo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/>
          <p:cNvGrpSpPr/>
          <p:nvPr userDrawn="1"/>
        </p:nvGrpSpPr>
        <p:grpSpPr bwMode="gray">
          <a:xfrm>
            <a:off x="2631695" y="2432562"/>
            <a:ext cx="6928611" cy="1802376"/>
            <a:chOff x="3387726" y="2736850"/>
            <a:chExt cx="5411788" cy="1384300"/>
          </a:xfrm>
        </p:grpSpPr>
        <p:sp>
          <p:nvSpPr>
            <p:cNvPr id="47" name="Freeform 55"/>
            <p:cNvSpPr>
              <a:spLocks/>
            </p:cNvSpPr>
            <p:nvPr/>
          </p:nvSpPr>
          <p:spPr bwMode="gray">
            <a:xfrm>
              <a:off x="4462463" y="3157538"/>
              <a:ext cx="331788" cy="419100"/>
            </a:xfrm>
            <a:custGeom>
              <a:avLst/>
              <a:gdLst>
                <a:gd name="T0" fmla="*/ 39 w 88"/>
                <a:gd name="T1" fmla="*/ 92 h 111"/>
                <a:gd name="T2" fmla="*/ 56 w 88"/>
                <a:gd name="T3" fmla="*/ 104 h 111"/>
                <a:gd name="T4" fmla="*/ 85 w 88"/>
                <a:gd name="T5" fmla="*/ 82 h 111"/>
                <a:gd name="T6" fmla="*/ 88 w 88"/>
                <a:gd name="T7" fmla="*/ 82 h 111"/>
                <a:gd name="T8" fmla="*/ 85 w 88"/>
                <a:gd name="T9" fmla="*/ 111 h 111"/>
                <a:gd name="T10" fmla="*/ 0 w 88"/>
                <a:gd name="T11" fmla="*/ 111 h 111"/>
                <a:gd name="T12" fmla="*/ 0 w 88"/>
                <a:gd name="T13" fmla="*/ 107 h 111"/>
                <a:gd name="T14" fmla="*/ 14 w 88"/>
                <a:gd name="T15" fmla="*/ 89 h 111"/>
                <a:gd name="T16" fmla="*/ 14 w 88"/>
                <a:gd name="T17" fmla="*/ 18 h 111"/>
                <a:gd name="T18" fmla="*/ 0 w 88"/>
                <a:gd name="T19" fmla="*/ 3 h 111"/>
                <a:gd name="T20" fmla="*/ 0 w 88"/>
                <a:gd name="T21" fmla="*/ 0 h 111"/>
                <a:gd name="T22" fmla="*/ 53 w 88"/>
                <a:gd name="T23" fmla="*/ 0 h 111"/>
                <a:gd name="T24" fmla="*/ 53 w 88"/>
                <a:gd name="T25" fmla="*/ 3 h 111"/>
                <a:gd name="T26" fmla="*/ 39 w 88"/>
                <a:gd name="T27" fmla="*/ 18 h 111"/>
                <a:gd name="T28" fmla="*/ 39 w 88"/>
                <a:gd name="T29" fmla="*/ 92 h 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88" h="111">
                  <a:moveTo>
                    <a:pt x="39" y="92"/>
                  </a:moveTo>
                  <a:cubicBezTo>
                    <a:pt x="39" y="102"/>
                    <a:pt x="43" y="104"/>
                    <a:pt x="56" y="104"/>
                  </a:cubicBezTo>
                  <a:cubicBezTo>
                    <a:pt x="70" y="104"/>
                    <a:pt x="76" y="100"/>
                    <a:pt x="85" y="82"/>
                  </a:cubicBezTo>
                  <a:cubicBezTo>
                    <a:pt x="88" y="82"/>
                    <a:pt x="88" y="82"/>
                    <a:pt x="88" y="82"/>
                  </a:cubicBezTo>
                  <a:cubicBezTo>
                    <a:pt x="85" y="111"/>
                    <a:pt x="85" y="111"/>
                    <a:pt x="85" y="111"/>
                  </a:cubicBezTo>
                  <a:cubicBezTo>
                    <a:pt x="0" y="111"/>
                    <a:pt x="0" y="111"/>
                    <a:pt x="0" y="111"/>
                  </a:cubicBezTo>
                  <a:cubicBezTo>
                    <a:pt x="0" y="107"/>
                    <a:pt x="0" y="107"/>
                    <a:pt x="0" y="107"/>
                  </a:cubicBezTo>
                  <a:cubicBezTo>
                    <a:pt x="13" y="104"/>
                    <a:pt x="14" y="101"/>
                    <a:pt x="14" y="89"/>
                  </a:cubicBezTo>
                  <a:cubicBezTo>
                    <a:pt x="14" y="18"/>
                    <a:pt x="14" y="18"/>
                    <a:pt x="14" y="18"/>
                  </a:cubicBezTo>
                  <a:cubicBezTo>
                    <a:pt x="14" y="9"/>
                    <a:pt x="12" y="6"/>
                    <a:pt x="0" y="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42" y="6"/>
                    <a:pt x="39" y="8"/>
                    <a:pt x="39" y="18"/>
                  </a:cubicBezTo>
                  <a:lnTo>
                    <a:pt x="39" y="92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8" name="Freeform 56"/>
            <p:cNvSpPr>
              <a:spLocks noEditPoints="1"/>
            </p:cNvSpPr>
            <p:nvPr/>
          </p:nvSpPr>
          <p:spPr bwMode="gray">
            <a:xfrm>
              <a:off x="4800601" y="3125788"/>
              <a:ext cx="173038" cy="450850"/>
            </a:xfrm>
            <a:custGeom>
              <a:avLst/>
              <a:gdLst>
                <a:gd name="T0" fmla="*/ 34 w 46"/>
                <a:gd name="T1" fmla="*/ 103 h 119"/>
                <a:gd name="T2" fmla="*/ 46 w 46"/>
                <a:gd name="T3" fmla="*/ 115 h 119"/>
                <a:gd name="T4" fmla="*/ 46 w 46"/>
                <a:gd name="T5" fmla="*/ 119 h 119"/>
                <a:gd name="T6" fmla="*/ 1 w 46"/>
                <a:gd name="T7" fmla="*/ 119 h 119"/>
                <a:gd name="T8" fmla="*/ 1 w 46"/>
                <a:gd name="T9" fmla="*/ 115 h 119"/>
                <a:gd name="T10" fmla="*/ 13 w 46"/>
                <a:gd name="T11" fmla="*/ 102 h 119"/>
                <a:gd name="T12" fmla="*/ 13 w 46"/>
                <a:gd name="T13" fmla="*/ 64 h 119"/>
                <a:gd name="T14" fmla="*/ 0 w 46"/>
                <a:gd name="T15" fmla="*/ 50 h 119"/>
                <a:gd name="T16" fmla="*/ 0 w 46"/>
                <a:gd name="T17" fmla="*/ 47 h 119"/>
                <a:gd name="T18" fmla="*/ 31 w 46"/>
                <a:gd name="T19" fmla="*/ 44 h 119"/>
                <a:gd name="T20" fmla="*/ 34 w 46"/>
                <a:gd name="T21" fmla="*/ 44 h 119"/>
                <a:gd name="T22" fmla="*/ 34 w 46"/>
                <a:gd name="T23" fmla="*/ 103 h 119"/>
                <a:gd name="T24" fmla="*/ 23 w 46"/>
                <a:gd name="T25" fmla="*/ 0 h 119"/>
                <a:gd name="T26" fmla="*/ 36 w 46"/>
                <a:gd name="T27" fmla="*/ 12 h 119"/>
                <a:gd name="T28" fmla="*/ 23 w 46"/>
                <a:gd name="T29" fmla="*/ 25 h 119"/>
                <a:gd name="T30" fmla="*/ 11 w 46"/>
                <a:gd name="T31" fmla="*/ 12 h 119"/>
                <a:gd name="T32" fmla="*/ 23 w 46"/>
                <a:gd name="T33" fmla="*/ 0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6" h="119">
                  <a:moveTo>
                    <a:pt x="34" y="103"/>
                  </a:moveTo>
                  <a:cubicBezTo>
                    <a:pt x="34" y="110"/>
                    <a:pt x="38" y="114"/>
                    <a:pt x="46" y="115"/>
                  </a:cubicBezTo>
                  <a:cubicBezTo>
                    <a:pt x="46" y="119"/>
                    <a:pt x="46" y="119"/>
                    <a:pt x="46" y="119"/>
                  </a:cubicBezTo>
                  <a:cubicBezTo>
                    <a:pt x="1" y="119"/>
                    <a:pt x="1" y="119"/>
                    <a:pt x="1" y="119"/>
                  </a:cubicBezTo>
                  <a:cubicBezTo>
                    <a:pt x="1" y="115"/>
                    <a:pt x="1" y="115"/>
                    <a:pt x="1" y="115"/>
                  </a:cubicBezTo>
                  <a:cubicBezTo>
                    <a:pt x="10" y="114"/>
                    <a:pt x="13" y="111"/>
                    <a:pt x="13" y="102"/>
                  </a:cubicBezTo>
                  <a:cubicBezTo>
                    <a:pt x="13" y="64"/>
                    <a:pt x="13" y="64"/>
                    <a:pt x="13" y="64"/>
                  </a:cubicBezTo>
                  <a:cubicBezTo>
                    <a:pt x="13" y="55"/>
                    <a:pt x="10" y="52"/>
                    <a:pt x="0" y="50"/>
                  </a:cubicBezTo>
                  <a:cubicBezTo>
                    <a:pt x="0" y="47"/>
                    <a:pt x="0" y="47"/>
                    <a:pt x="0" y="47"/>
                  </a:cubicBezTo>
                  <a:cubicBezTo>
                    <a:pt x="31" y="44"/>
                    <a:pt x="31" y="44"/>
                    <a:pt x="31" y="44"/>
                  </a:cubicBezTo>
                  <a:cubicBezTo>
                    <a:pt x="34" y="44"/>
                    <a:pt x="34" y="44"/>
                    <a:pt x="34" y="44"/>
                  </a:cubicBezTo>
                  <a:lnTo>
                    <a:pt x="34" y="103"/>
                  </a:lnTo>
                  <a:close/>
                  <a:moveTo>
                    <a:pt x="23" y="0"/>
                  </a:moveTo>
                  <a:cubicBezTo>
                    <a:pt x="30" y="0"/>
                    <a:pt x="36" y="5"/>
                    <a:pt x="36" y="12"/>
                  </a:cubicBezTo>
                  <a:cubicBezTo>
                    <a:pt x="36" y="19"/>
                    <a:pt x="30" y="25"/>
                    <a:pt x="23" y="25"/>
                  </a:cubicBezTo>
                  <a:cubicBezTo>
                    <a:pt x="17" y="25"/>
                    <a:pt x="11" y="19"/>
                    <a:pt x="11" y="12"/>
                  </a:cubicBezTo>
                  <a:cubicBezTo>
                    <a:pt x="11" y="5"/>
                    <a:pt x="17" y="0"/>
                    <a:pt x="23" y="0"/>
                  </a:cubicBezTo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49" name="Freeform 57"/>
            <p:cNvSpPr>
              <a:spLocks noEditPoints="1"/>
            </p:cNvSpPr>
            <p:nvPr/>
          </p:nvSpPr>
          <p:spPr bwMode="gray">
            <a:xfrm>
              <a:off x="4984751" y="3125788"/>
              <a:ext cx="354013" cy="458788"/>
            </a:xfrm>
            <a:custGeom>
              <a:avLst/>
              <a:gdLst>
                <a:gd name="T0" fmla="*/ 32 w 94"/>
                <a:gd name="T1" fmla="*/ 62 h 121"/>
                <a:gd name="T2" fmla="*/ 49 w 94"/>
                <a:gd name="T3" fmla="*/ 54 h 121"/>
                <a:gd name="T4" fmla="*/ 70 w 94"/>
                <a:gd name="T5" fmla="*/ 84 h 121"/>
                <a:gd name="T6" fmla="*/ 43 w 94"/>
                <a:gd name="T7" fmla="*/ 116 h 121"/>
                <a:gd name="T8" fmla="*/ 32 w 94"/>
                <a:gd name="T9" fmla="*/ 104 h 121"/>
                <a:gd name="T10" fmla="*/ 32 w 94"/>
                <a:gd name="T11" fmla="*/ 62 h 121"/>
                <a:gd name="T12" fmla="*/ 32 w 94"/>
                <a:gd name="T13" fmla="*/ 0 h 121"/>
                <a:gd name="T14" fmla="*/ 29 w 94"/>
                <a:gd name="T15" fmla="*/ 0 h 121"/>
                <a:gd name="T16" fmla="*/ 0 w 94"/>
                <a:gd name="T17" fmla="*/ 2 h 121"/>
                <a:gd name="T18" fmla="*/ 0 w 94"/>
                <a:gd name="T19" fmla="*/ 5 h 121"/>
                <a:gd name="T20" fmla="*/ 10 w 94"/>
                <a:gd name="T21" fmla="*/ 16 h 121"/>
                <a:gd name="T22" fmla="*/ 10 w 94"/>
                <a:gd name="T23" fmla="*/ 119 h 121"/>
                <a:gd name="T24" fmla="*/ 45 w 94"/>
                <a:gd name="T25" fmla="*/ 121 h 121"/>
                <a:gd name="T26" fmla="*/ 94 w 94"/>
                <a:gd name="T27" fmla="*/ 81 h 121"/>
                <a:gd name="T28" fmla="*/ 59 w 94"/>
                <a:gd name="T29" fmla="*/ 44 h 121"/>
                <a:gd name="T30" fmla="*/ 32 w 94"/>
                <a:gd name="T31" fmla="*/ 57 h 121"/>
                <a:gd name="T32" fmla="*/ 32 w 94"/>
                <a:gd name="T33" fmla="*/ 0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94" h="121">
                  <a:moveTo>
                    <a:pt x="32" y="62"/>
                  </a:moveTo>
                  <a:cubicBezTo>
                    <a:pt x="39" y="56"/>
                    <a:pt x="43" y="54"/>
                    <a:pt x="49" y="54"/>
                  </a:cubicBezTo>
                  <a:cubicBezTo>
                    <a:pt x="61" y="54"/>
                    <a:pt x="70" y="66"/>
                    <a:pt x="70" y="84"/>
                  </a:cubicBezTo>
                  <a:cubicBezTo>
                    <a:pt x="70" y="107"/>
                    <a:pt x="59" y="116"/>
                    <a:pt x="43" y="116"/>
                  </a:cubicBezTo>
                  <a:cubicBezTo>
                    <a:pt x="35" y="116"/>
                    <a:pt x="32" y="113"/>
                    <a:pt x="32" y="104"/>
                  </a:cubicBezTo>
                  <a:lnTo>
                    <a:pt x="32" y="62"/>
                  </a:lnTo>
                  <a:close/>
                  <a:moveTo>
                    <a:pt x="32" y="0"/>
                  </a:moveTo>
                  <a:cubicBezTo>
                    <a:pt x="29" y="0"/>
                    <a:pt x="29" y="0"/>
                    <a:pt x="29" y="0"/>
                  </a:cubicBezTo>
                  <a:cubicBezTo>
                    <a:pt x="0" y="2"/>
                    <a:pt x="0" y="2"/>
                    <a:pt x="0" y="2"/>
                  </a:cubicBezTo>
                  <a:cubicBezTo>
                    <a:pt x="0" y="5"/>
                    <a:pt x="0" y="5"/>
                    <a:pt x="0" y="5"/>
                  </a:cubicBezTo>
                  <a:cubicBezTo>
                    <a:pt x="6" y="6"/>
                    <a:pt x="10" y="10"/>
                    <a:pt x="10" y="16"/>
                  </a:cubicBezTo>
                  <a:cubicBezTo>
                    <a:pt x="10" y="119"/>
                    <a:pt x="10" y="119"/>
                    <a:pt x="10" y="119"/>
                  </a:cubicBezTo>
                  <a:cubicBezTo>
                    <a:pt x="21" y="121"/>
                    <a:pt x="32" y="121"/>
                    <a:pt x="45" y="121"/>
                  </a:cubicBezTo>
                  <a:cubicBezTo>
                    <a:pt x="80" y="121"/>
                    <a:pt x="94" y="103"/>
                    <a:pt x="94" y="81"/>
                  </a:cubicBezTo>
                  <a:cubicBezTo>
                    <a:pt x="94" y="60"/>
                    <a:pt x="79" y="44"/>
                    <a:pt x="59" y="44"/>
                  </a:cubicBezTo>
                  <a:cubicBezTo>
                    <a:pt x="49" y="44"/>
                    <a:pt x="40" y="48"/>
                    <a:pt x="32" y="57"/>
                  </a:cubicBezTo>
                  <a:lnTo>
                    <a:pt x="32" y="0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0" name="Freeform 58"/>
            <p:cNvSpPr>
              <a:spLocks noEditPoints="1"/>
            </p:cNvSpPr>
            <p:nvPr/>
          </p:nvSpPr>
          <p:spPr bwMode="gray">
            <a:xfrm>
              <a:off x="5368926" y="3292475"/>
              <a:ext cx="288925" cy="292100"/>
            </a:xfrm>
            <a:custGeom>
              <a:avLst/>
              <a:gdLst>
                <a:gd name="T0" fmla="*/ 23 w 77"/>
                <a:gd name="T1" fmla="*/ 28 h 77"/>
                <a:gd name="T2" fmla="*/ 38 w 77"/>
                <a:gd name="T3" fmla="*/ 5 h 77"/>
                <a:gd name="T4" fmla="*/ 54 w 77"/>
                <a:gd name="T5" fmla="*/ 28 h 77"/>
                <a:gd name="T6" fmla="*/ 23 w 77"/>
                <a:gd name="T7" fmla="*/ 28 h 77"/>
                <a:gd name="T8" fmla="*/ 77 w 77"/>
                <a:gd name="T9" fmla="*/ 33 h 77"/>
                <a:gd name="T10" fmla="*/ 40 w 77"/>
                <a:gd name="T11" fmla="*/ 0 h 77"/>
                <a:gd name="T12" fmla="*/ 0 w 77"/>
                <a:gd name="T13" fmla="*/ 39 h 77"/>
                <a:gd name="T14" fmla="*/ 39 w 77"/>
                <a:gd name="T15" fmla="*/ 77 h 77"/>
                <a:gd name="T16" fmla="*/ 77 w 77"/>
                <a:gd name="T17" fmla="*/ 53 h 77"/>
                <a:gd name="T18" fmla="*/ 74 w 77"/>
                <a:gd name="T19" fmla="*/ 53 h 77"/>
                <a:gd name="T20" fmla="*/ 48 w 77"/>
                <a:gd name="T21" fmla="*/ 68 h 77"/>
                <a:gd name="T22" fmla="*/ 23 w 77"/>
                <a:gd name="T23" fmla="*/ 33 h 77"/>
                <a:gd name="T24" fmla="*/ 77 w 77"/>
                <a:gd name="T25" fmla="*/ 33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7" h="77">
                  <a:moveTo>
                    <a:pt x="23" y="28"/>
                  </a:moveTo>
                  <a:cubicBezTo>
                    <a:pt x="24" y="14"/>
                    <a:pt x="29" y="5"/>
                    <a:pt x="38" y="5"/>
                  </a:cubicBezTo>
                  <a:cubicBezTo>
                    <a:pt x="47" y="5"/>
                    <a:pt x="53" y="15"/>
                    <a:pt x="54" y="28"/>
                  </a:cubicBezTo>
                  <a:lnTo>
                    <a:pt x="23" y="28"/>
                  </a:lnTo>
                  <a:close/>
                  <a:moveTo>
                    <a:pt x="77" y="33"/>
                  </a:moveTo>
                  <a:cubicBezTo>
                    <a:pt x="75" y="13"/>
                    <a:pt x="60" y="0"/>
                    <a:pt x="40" y="0"/>
                  </a:cubicBezTo>
                  <a:cubicBezTo>
                    <a:pt x="17" y="0"/>
                    <a:pt x="0" y="17"/>
                    <a:pt x="0" y="39"/>
                  </a:cubicBezTo>
                  <a:cubicBezTo>
                    <a:pt x="0" y="61"/>
                    <a:pt x="17" y="77"/>
                    <a:pt x="39" y="77"/>
                  </a:cubicBezTo>
                  <a:cubicBezTo>
                    <a:pt x="56" y="77"/>
                    <a:pt x="71" y="68"/>
                    <a:pt x="77" y="53"/>
                  </a:cubicBezTo>
                  <a:cubicBezTo>
                    <a:pt x="74" y="53"/>
                    <a:pt x="74" y="53"/>
                    <a:pt x="74" y="53"/>
                  </a:cubicBezTo>
                  <a:cubicBezTo>
                    <a:pt x="67" y="63"/>
                    <a:pt x="59" y="68"/>
                    <a:pt x="48" y="68"/>
                  </a:cubicBezTo>
                  <a:cubicBezTo>
                    <a:pt x="35" y="68"/>
                    <a:pt x="22" y="56"/>
                    <a:pt x="23" y="33"/>
                  </a:cubicBezTo>
                  <a:lnTo>
                    <a:pt x="77" y="33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1" name="Freeform 59"/>
            <p:cNvSpPr>
              <a:spLocks/>
            </p:cNvSpPr>
            <p:nvPr/>
          </p:nvSpPr>
          <p:spPr bwMode="gray">
            <a:xfrm>
              <a:off x="5665788" y="3292475"/>
              <a:ext cx="269875" cy="284163"/>
            </a:xfrm>
            <a:custGeom>
              <a:avLst/>
              <a:gdLst>
                <a:gd name="T0" fmla="*/ 67 w 72"/>
                <a:gd name="T1" fmla="*/ 28 h 75"/>
                <a:gd name="T2" fmla="*/ 51 w 72"/>
                <a:gd name="T3" fmla="*/ 19 h 75"/>
                <a:gd name="T4" fmla="*/ 35 w 72"/>
                <a:gd name="T5" fmla="*/ 29 h 75"/>
                <a:gd name="T6" fmla="*/ 35 w 72"/>
                <a:gd name="T7" fmla="*/ 58 h 75"/>
                <a:gd name="T8" fmla="*/ 47 w 72"/>
                <a:gd name="T9" fmla="*/ 71 h 75"/>
                <a:gd name="T10" fmla="*/ 47 w 72"/>
                <a:gd name="T11" fmla="*/ 75 h 75"/>
                <a:gd name="T12" fmla="*/ 2 w 72"/>
                <a:gd name="T13" fmla="*/ 75 h 75"/>
                <a:gd name="T14" fmla="*/ 2 w 72"/>
                <a:gd name="T15" fmla="*/ 71 h 75"/>
                <a:gd name="T16" fmla="*/ 14 w 72"/>
                <a:gd name="T17" fmla="*/ 58 h 75"/>
                <a:gd name="T18" fmla="*/ 14 w 72"/>
                <a:gd name="T19" fmla="*/ 20 h 75"/>
                <a:gd name="T20" fmla="*/ 0 w 72"/>
                <a:gd name="T21" fmla="*/ 6 h 75"/>
                <a:gd name="T22" fmla="*/ 0 w 72"/>
                <a:gd name="T23" fmla="*/ 3 h 75"/>
                <a:gd name="T24" fmla="*/ 32 w 72"/>
                <a:gd name="T25" fmla="*/ 0 h 75"/>
                <a:gd name="T26" fmla="*/ 35 w 72"/>
                <a:gd name="T27" fmla="*/ 0 h 75"/>
                <a:gd name="T28" fmla="*/ 35 w 72"/>
                <a:gd name="T29" fmla="*/ 23 h 75"/>
                <a:gd name="T30" fmla="*/ 35 w 72"/>
                <a:gd name="T31" fmla="*/ 23 h 75"/>
                <a:gd name="T32" fmla="*/ 59 w 72"/>
                <a:gd name="T33" fmla="*/ 0 h 75"/>
                <a:gd name="T34" fmla="*/ 72 w 72"/>
                <a:gd name="T35" fmla="*/ 6 h 75"/>
                <a:gd name="T36" fmla="*/ 67 w 72"/>
                <a:gd name="T37" fmla="*/ 2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72" h="75">
                  <a:moveTo>
                    <a:pt x="67" y="28"/>
                  </a:moveTo>
                  <a:cubicBezTo>
                    <a:pt x="61" y="22"/>
                    <a:pt x="56" y="19"/>
                    <a:pt x="51" y="19"/>
                  </a:cubicBezTo>
                  <a:cubicBezTo>
                    <a:pt x="44" y="19"/>
                    <a:pt x="40" y="21"/>
                    <a:pt x="35" y="29"/>
                  </a:cubicBezTo>
                  <a:cubicBezTo>
                    <a:pt x="35" y="58"/>
                    <a:pt x="35" y="58"/>
                    <a:pt x="35" y="58"/>
                  </a:cubicBezTo>
                  <a:cubicBezTo>
                    <a:pt x="35" y="67"/>
                    <a:pt x="37" y="69"/>
                    <a:pt x="47" y="71"/>
                  </a:cubicBezTo>
                  <a:cubicBezTo>
                    <a:pt x="47" y="75"/>
                    <a:pt x="47" y="75"/>
                    <a:pt x="47" y="75"/>
                  </a:cubicBezTo>
                  <a:cubicBezTo>
                    <a:pt x="2" y="75"/>
                    <a:pt x="2" y="75"/>
                    <a:pt x="2" y="75"/>
                  </a:cubicBezTo>
                  <a:cubicBezTo>
                    <a:pt x="2" y="71"/>
                    <a:pt x="2" y="71"/>
                    <a:pt x="2" y="71"/>
                  </a:cubicBezTo>
                  <a:cubicBezTo>
                    <a:pt x="11" y="69"/>
                    <a:pt x="14" y="66"/>
                    <a:pt x="14" y="58"/>
                  </a:cubicBezTo>
                  <a:cubicBezTo>
                    <a:pt x="14" y="20"/>
                    <a:pt x="14" y="20"/>
                    <a:pt x="14" y="20"/>
                  </a:cubicBezTo>
                  <a:cubicBezTo>
                    <a:pt x="14" y="11"/>
                    <a:pt x="10" y="7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35" y="23"/>
                    <a:pt x="35" y="23"/>
                    <a:pt x="35" y="23"/>
                  </a:cubicBezTo>
                  <a:cubicBezTo>
                    <a:pt x="42" y="7"/>
                    <a:pt x="50" y="0"/>
                    <a:pt x="59" y="0"/>
                  </a:cubicBezTo>
                  <a:cubicBezTo>
                    <a:pt x="64" y="0"/>
                    <a:pt x="68" y="2"/>
                    <a:pt x="72" y="6"/>
                  </a:cubicBezTo>
                  <a:lnTo>
                    <a:pt x="67" y="28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2" name="Freeform 60"/>
            <p:cNvSpPr>
              <a:spLocks/>
            </p:cNvSpPr>
            <p:nvPr/>
          </p:nvSpPr>
          <p:spPr bwMode="gray">
            <a:xfrm>
              <a:off x="5943601" y="3198813"/>
              <a:ext cx="541338" cy="588963"/>
            </a:xfrm>
            <a:custGeom>
              <a:avLst/>
              <a:gdLst>
                <a:gd name="T0" fmla="*/ 114 w 144"/>
                <a:gd name="T1" fmla="*/ 28 h 156"/>
                <a:gd name="T2" fmla="*/ 114 w 144"/>
                <a:gd name="T3" fmla="*/ 31 h 156"/>
                <a:gd name="T4" fmla="*/ 119 w 144"/>
                <a:gd name="T5" fmla="*/ 54 h 156"/>
                <a:gd name="T6" fmla="*/ 109 w 144"/>
                <a:gd name="T7" fmla="*/ 77 h 156"/>
                <a:gd name="T8" fmla="*/ 94 w 144"/>
                <a:gd name="T9" fmla="*/ 46 h 156"/>
                <a:gd name="T10" fmla="*/ 97 w 144"/>
                <a:gd name="T11" fmla="*/ 31 h 156"/>
                <a:gd name="T12" fmla="*/ 97 w 144"/>
                <a:gd name="T13" fmla="*/ 28 h 156"/>
                <a:gd name="T14" fmla="*/ 56 w 144"/>
                <a:gd name="T15" fmla="*/ 28 h 156"/>
                <a:gd name="T16" fmla="*/ 55 w 144"/>
                <a:gd name="T17" fmla="*/ 28 h 156"/>
                <a:gd name="T18" fmla="*/ 34 w 144"/>
                <a:gd name="T19" fmla="*/ 28 h 156"/>
                <a:gd name="T20" fmla="*/ 34 w 144"/>
                <a:gd name="T21" fmla="*/ 0 h 156"/>
                <a:gd name="T22" fmla="*/ 30 w 144"/>
                <a:gd name="T23" fmla="*/ 0 h 156"/>
                <a:gd name="T24" fmla="*/ 0 w 144"/>
                <a:gd name="T25" fmla="*/ 30 h 156"/>
                <a:gd name="T26" fmla="*/ 0 w 144"/>
                <a:gd name="T27" fmla="*/ 34 h 156"/>
                <a:gd name="T28" fmla="*/ 13 w 144"/>
                <a:gd name="T29" fmla="*/ 34 h 156"/>
                <a:gd name="T30" fmla="*/ 13 w 144"/>
                <a:gd name="T31" fmla="*/ 80 h 156"/>
                <a:gd name="T32" fmla="*/ 37 w 144"/>
                <a:gd name="T33" fmla="*/ 102 h 156"/>
                <a:gd name="T34" fmla="*/ 60 w 144"/>
                <a:gd name="T35" fmla="*/ 90 h 156"/>
                <a:gd name="T36" fmla="*/ 58 w 144"/>
                <a:gd name="T37" fmla="*/ 88 h 156"/>
                <a:gd name="T38" fmla="*/ 47 w 144"/>
                <a:gd name="T39" fmla="*/ 93 h 156"/>
                <a:gd name="T40" fmla="*/ 34 w 144"/>
                <a:gd name="T41" fmla="*/ 75 h 156"/>
                <a:gd name="T42" fmla="*/ 34 w 144"/>
                <a:gd name="T43" fmla="*/ 34 h 156"/>
                <a:gd name="T44" fmla="*/ 53 w 144"/>
                <a:gd name="T45" fmla="*/ 34 h 156"/>
                <a:gd name="T46" fmla="*/ 71 w 144"/>
                <a:gd name="T47" fmla="*/ 47 h 156"/>
                <a:gd name="T48" fmla="*/ 97 w 144"/>
                <a:gd name="T49" fmla="*/ 102 h 156"/>
                <a:gd name="T50" fmla="*/ 68 w 144"/>
                <a:gd name="T51" fmla="*/ 136 h 156"/>
                <a:gd name="T52" fmla="*/ 58 w 144"/>
                <a:gd name="T53" fmla="*/ 134 h 156"/>
                <a:gd name="T54" fmla="*/ 54 w 144"/>
                <a:gd name="T55" fmla="*/ 155 h 156"/>
                <a:gd name="T56" fmla="*/ 60 w 144"/>
                <a:gd name="T57" fmla="*/ 156 h 156"/>
                <a:gd name="T58" fmla="*/ 90 w 144"/>
                <a:gd name="T59" fmla="*/ 132 h 156"/>
                <a:gd name="T60" fmla="*/ 127 w 144"/>
                <a:gd name="T61" fmla="*/ 50 h 156"/>
                <a:gd name="T62" fmla="*/ 144 w 144"/>
                <a:gd name="T63" fmla="*/ 31 h 156"/>
                <a:gd name="T64" fmla="*/ 144 w 144"/>
                <a:gd name="T65" fmla="*/ 28 h 156"/>
                <a:gd name="T66" fmla="*/ 114 w 144"/>
                <a:gd name="T67" fmla="*/ 28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44" h="156">
                  <a:moveTo>
                    <a:pt x="114" y="28"/>
                  </a:moveTo>
                  <a:cubicBezTo>
                    <a:pt x="114" y="31"/>
                    <a:pt x="114" y="31"/>
                    <a:pt x="114" y="31"/>
                  </a:cubicBezTo>
                  <a:cubicBezTo>
                    <a:pt x="123" y="33"/>
                    <a:pt x="125" y="39"/>
                    <a:pt x="119" y="54"/>
                  </a:cubicBezTo>
                  <a:cubicBezTo>
                    <a:pt x="109" y="77"/>
                    <a:pt x="109" y="77"/>
                    <a:pt x="109" y="77"/>
                  </a:cubicBezTo>
                  <a:cubicBezTo>
                    <a:pt x="94" y="46"/>
                    <a:pt x="94" y="46"/>
                    <a:pt x="94" y="46"/>
                  </a:cubicBezTo>
                  <a:cubicBezTo>
                    <a:pt x="89" y="37"/>
                    <a:pt x="89" y="32"/>
                    <a:pt x="97" y="31"/>
                  </a:cubicBezTo>
                  <a:cubicBezTo>
                    <a:pt x="97" y="28"/>
                    <a:pt x="97" y="28"/>
                    <a:pt x="97" y="28"/>
                  </a:cubicBezTo>
                  <a:cubicBezTo>
                    <a:pt x="56" y="28"/>
                    <a:pt x="56" y="28"/>
                    <a:pt x="56" y="28"/>
                  </a:cubicBezTo>
                  <a:cubicBezTo>
                    <a:pt x="55" y="28"/>
                    <a:pt x="55" y="28"/>
                    <a:pt x="55" y="28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20" y="13"/>
                    <a:pt x="9" y="25"/>
                    <a:pt x="0" y="30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13" y="34"/>
                    <a:pt x="13" y="34"/>
                    <a:pt x="13" y="34"/>
                  </a:cubicBezTo>
                  <a:cubicBezTo>
                    <a:pt x="13" y="80"/>
                    <a:pt x="13" y="80"/>
                    <a:pt x="13" y="80"/>
                  </a:cubicBezTo>
                  <a:cubicBezTo>
                    <a:pt x="13" y="96"/>
                    <a:pt x="23" y="102"/>
                    <a:pt x="37" y="102"/>
                  </a:cubicBezTo>
                  <a:cubicBezTo>
                    <a:pt x="48" y="102"/>
                    <a:pt x="55" y="99"/>
                    <a:pt x="60" y="90"/>
                  </a:cubicBezTo>
                  <a:cubicBezTo>
                    <a:pt x="58" y="88"/>
                    <a:pt x="58" y="88"/>
                    <a:pt x="58" y="88"/>
                  </a:cubicBezTo>
                  <a:cubicBezTo>
                    <a:pt x="54" y="92"/>
                    <a:pt x="51" y="93"/>
                    <a:pt x="47" y="93"/>
                  </a:cubicBezTo>
                  <a:cubicBezTo>
                    <a:pt x="37" y="93"/>
                    <a:pt x="34" y="87"/>
                    <a:pt x="34" y="75"/>
                  </a:cubicBezTo>
                  <a:cubicBezTo>
                    <a:pt x="34" y="34"/>
                    <a:pt x="34" y="34"/>
                    <a:pt x="34" y="34"/>
                  </a:cubicBezTo>
                  <a:cubicBezTo>
                    <a:pt x="53" y="34"/>
                    <a:pt x="53" y="34"/>
                    <a:pt x="53" y="34"/>
                  </a:cubicBezTo>
                  <a:cubicBezTo>
                    <a:pt x="64" y="34"/>
                    <a:pt x="67" y="38"/>
                    <a:pt x="71" y="47"/>
                  </a:cubicBezTo>
                  <a:cubicBezTo>
                    <a:pt x="97" y="102"/>
                    <a:pt x="97" y="102"/>
                    <a:pt x="97" y="102"/>
                  </a:cubicBezTo>
                  <a:cubicBezTo>
                    <a:pt x="89" y="126"/>
                    <a:pt x="81" y="136"/>
                    <a:pt x="68" y="136"/>
                  </a:cubicBezTo>
                  <a:cubicBezTo>
                    <a:pt x="65" y="136"/>
                    <a:pt x="63" y="135"/>
                    <a:pt x="58" y="134"/>
                  </a:cubicBezTo>
                  <a:cubicBezTo>
                    <a:pt x="54" y="155"/>
                    <a:pt x="54" y="155"/>
                    <a:pt x="54" y="155"/>
                  </a:cubicBezTo>
                  <a:cubicBezTo>
                    <a:pt x="56" y="156"/>
                    <a:pt x="58" y="156"/>
                    <a:pt x="60" y="156"/>
                  </a:cubicBezTo>
                  <a:cubicBezTo>
                    <a:pt x="75" y="156"/>
                    <a:pt x="83" y="150"/>
                    <a:pt x="90" y="132"/>
                  </a:cubicBezTo>
                  <a:cubicBezTo>
                    <a:pt x="127" y="50"/>
                    <a:pt x="127" y="50"/>
                    <a:pt x="127" y="50"/>
                  </a:cubicBezTo>
                  <a:cubicBezTo>
                    <a:pt x="132" y="36"/>
                    <a:pt x="135" y="34"/>
                    <a:pt x="144" y="31"/>
                  </a:cubicBezTo>
                  <a:cubicBezTo>
                    <a:pt x="144" y="28"/>
                    <a:pt x="144" y="28"/>
                    <a:pt x="144" y="28"/>
                  </a:cubicBezTo>
                  <a:lnTo>
                    <a:pt x="114" y="28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3" name="Freeform 61"/>
            <p:cNvSpPr>
              <a:spLocks/>
            </p:cNvSpPr>
            <p:nvPr/>
          </p:nvSpPr>
          <p:spPr bwMode="gray">
            <a:xfrm>
              <a:off x="6594476" y="3157538"/>
              <a:ext cx="619125" cy="419100"/>
            </a:xfrm>
            <a:custGeom>
              <a:avLst/>
              <a:gdLst>
                <a:gd name="T0" fmla="*/ 148 w 165"/>
                <a:gd name="T1" fmla="*/ 91 h 111"/>
                <a:gd name="T2" fmla="*/ 165 w 165"/>
                <a:gd name="T3" fmla="*/ 108 h 111"/>
                <a:gd name="T4" fmla="*/ 165 w 165"/>
                <a:gd name="T5" fmla="*/ 111 h 111"/>
                <a:gd name="T6" fmla="*/ 110 w 165"/>
                <a:gd name="T7" fmla="*/ 111 h 111"/>
                <a:gd name="T8" fmla="*/ 110 w 165"/>
                <a:gd name="T9" fmla="*/ 108 h 111"/>
                <a:gd name="T10" fmla="*/ 122 w 165"/>
                <a:gd name="T11" fmla="*/ 84 h 111"/>
                <a:gd name="T12" fmla="*/ 113 w 165"/>
                <a:gd name="T13" fmla="*/ 20 h 111"/>
                <a:gd name="T14" fmla="*/ 113 w 165"/>
                <a:gd name="T15" fmla="*/ 20 h 111"/>
                <a:gd name="T16" fmla="*/ 77 w 165"/>
                <a:gd name="T17" fmla="*/ 111 h 111"/>
                <a:gd name="T18" fmla="*/ 73 w 165"/>
                <a:gd name="T19" fmla="*/ 111 h 111"/>
                <a:gd name="T20" fmla="*/ 37 w 165"/>
                <a:gd name="T21" fmla="*/ 20 h 111"/>
                <a:gd name="T22" fmla="*/ 37 w 165"/>
                <a:gd name="T23" fmla="*/ 20 h 111"/>
                <a:gd name="T24" fmla="*/ 27 w 165"/>
                <a:gd name="T25" fmla="*/ 85 h 111"/>
                <a:gd name="T26" fmla="*/ 40 w 165"/>
                <a:gd name="T27" fmla="*/ 108 h 111"/>
                <a:gd name="T28" fmla="*/ 40 w 165"/>
                <a:gd name="T29" fmla="*/ 111 h 111"/>
                <a:gd name="T30" fmla="*/ 0 w 165"/>
                <a:gd name="T31" fmla="*/ 111 h 111"/>
                <a:gd name="T32" fmla="*/ 0 w 165"/>
                <a:gd name="T33" fmla="*/ 108 h 111"/>
                <a:gd name="T34" fmla="*/ 20 w 165"/>
                <a:gd name="T35" fmla="*/ 84 h 111"/>
                <a:gd name="T36" fmla="*/ 31 w 165"/>
                <a:gd name="T37" fmla="*/ 11 h 111"/>
                <a:gd name="T38" fmla="*/ 15 w 165"/>
                <a:gd name="T39" fmla="*/ 3 h 111"/>
                <a:gd name="T40" fmla="*/ 15 w 165"/>
                <a:gd name="T41" fmla="*/ 0 h 111"/>
                <a:gd name="T42" fmla="*/ 55 w 165"/>
                <a:gd name="T43" fmla="*/ 0 h 111"/>
                <a:gd name="T44" fmla="*/ 84 w 165"/>
                <a:gd name="T45" fmla="*/ 74 h 111"/>
                <a:gd name="T46" fmla="*/ 113 w 165"/>
                <a:gd name="T47" fmla="*/ 0 h 111"/>
                <a:gd name="T48" fmla="*/ 151 w 165"/>
                <a:gd name="T49" fmla="*/ 0 h 111"/>
                <a:gd name="T50" fmla="*/ 151 w 165"/>
                <a:gd name="T51" fmla="*/ 3 h 111"/>
                <a:gd name="T52" fmla="*/ 138 w 165"/>
                <a:gd name="T53" fmla="*/ 22 h 111"/>
                <a:gd name="T54" fmla="*/ 148 w 165"/>
                <a:gd name="T55" fmla="*/ 91 h 1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65" h="111">
                  <a:moveTo>
                    <a:pt x="148" y="91"/>
                  </a:moveTo>
                  <a:cubicBezTo>
                    <a:pt x="150" y="100"/>
                    <a:pt x="154" y="106"/>
                    <a:pt x="165" y="108"/>
                  </a:cubicBezTo>
                  <a:cubicBezTo>
                    <a:pt x="165" y="111"/>
                    <a:pt x="165" y="111"/>
                    <a:pt x="165" y="111"/>
                  </a:cubicBezTo>
                  <a:cubicBezTo>
                    <a:pt x="110" y="111"/>
                    <a:pt x="110" y="111"/>
                    <a:pt x="110" y="111"/>
                  </a:cubicBezTo>
                  <a:cubicBezTo>
                    <a:pt x="110" y="108"/>
                    <a:pt x="110" y="108"/>
                    <a:pt x="110" y="108"/>
                  </a:cubicBezTo>
                  <a:cubicBezTo>
                    <a:pt x="122" y="105"/>
                    <a:pt x="124" y="98"/>
                    <a:pt x="122" y="84"/>
                  </a:cubicBezTo>
                  <a:cubicBezTo>
                    <a:pt x="113" y="20"/>
                    <a:pt x="113" y="20"/>
                    <a:pt x="113" y="20"/>
                  </a:cubicBezTo>
                  <a:cubicBezTo>
                    <a:pt x="113" y="20"/>
                    <a:pt x="113" y="20"/>
                    <a:pt x="113" y="20"/>
                  </a:cubicBezTo>
                  <a:cubicBezTo>
                    <a:pt x="77" y="111"/>
                    <a:pt x="77" y="111"/>
                    <a:pt x="77" y="111"/>
                  </a:cubicBezTo>
                  <a:cubicBezTo>
                    <a:pt x="73" y="111"/>
                    <a:pt x="73" y="111"/>
                    <a:pt x="73" y="111"/>
                  </a:cubicBezTo>
                  <a:cubicBezTo>
                    <a:pt x="37" y="20"/>
                    <a:pt x="37" y="20"/>
                    <a:pt x="37" y="20"/>
                  </a:cubicBezTo>
                  <a:cubicBezTo>
                    <a:pt x="37" y="20"/>
                    <a:pt x="37" y="20"/>
                    <a:pt x="37" y="20"/>
                  </a:cubicBezTo>
                  <a:cubicBezTo>
                    <a:pt x="27" y="85"/>
                    <a:pt x="27" y="85"/>
                    <a:pt x="27" y="85"/>
                  </a:cubicBezTo>
                  <a:cubicBezTo>
                    <a:pt x="25" y="98"/>
                    <a:pt x="28" y="107"/>
                    <a:pt x="40" y="108"/>
                  </a:cubicBezTo>
                  <a:cubicBezTo>
                    <a:pt x="40" y="111"/>
                    <a:pt x="40" y="111"/>
                    <a:pt x="40" y="111"/>
                  </a:cubicBezTo>
                  <a:cubicBezTo>
                    <a:pt x="0" y="111"/>
                    <a:pt x="0" y="111"/>
                    <a:pt x="0" y="111"/>
                  </a:cubicBezTo>
                  <a:cubicBezTo>
                    <a:pt x="0" y="108"/>
                    <a:pt x="0" y="108"/>
                    <a:pt x="0" y="108"/>
                  </a:cubicBezTo>
                  <a:cubicBezTo>
                    <a:pt x="12" y="108"/>
                    <a:pt x="17" y="101"/>
                    <a:pt x="20" y="84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26" y="7"/>
                    <a:pt x="20" y="4"/>
                    <a:pt x="15" y="3"/>
                  </a:cubicBezTo>
                  <a:cubicBezTo>
                    <a:pt x="15" y="0"/>
                    <a:pt x="15" y="0"/>
                    <a:pt x="15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84" y="74"/>
                    <a:pt x="84" y="74"/>
                    <a:pt x="84" y="74"/>
                  </a:cubicBezTo>
                  <a:cubicBezTo>
                    <a:pt x="113" y="0"/>
                    <a:pt x="113" y="0"/>
                    <a:pt x="113" y="0"/>
                  </a:cubicBezTo>
                  <a:cubicBezTo>
                    <a:pt x="151" y="0"/>
                    <a:pt x="151" y="0"/>
                    <a:pt x="151" y="0"/>
                  </a:cubicBezTo>
                  <a:cubicBezTo>
                    <a:pt x="151" y="3"/>
                    <a:pt x="151" y="3"/>
                    <a:pt x="151" y="3"/>
                  </a:cubicBezTo>
                  <a:cubicBezTo>
                    <a:pt x="139" y="6"/>
                    <a:pt x="137" y="11"/>
                    <a:pt x="138" y="22"/>
                  </a:cubicBezTo>
                  <a:lnTo>
                    <a:pt x="148" y="91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4" name="Freeform 62"/>
            <p:cNvSpPr>
              <a:spLocks/>
            </p:cNvSpPr>
            <p:nvPr/>
          </p:nvSpPr>
          <p:spPr bwMode="gray">
            <a:xfrm>
              <a:off x="7207251" y="3297238"/>
              <a:ext cx="360363" cy="290513"/>
            </a:xfrm>
            <a:custGeom>
              <a:avLst/>
              <a:gdLst>
                <a:gd name="T0" fmla="*/ 11 w 96"/>
                <a:gd name="T1" fmla="*/ 18 h 77"/>
                <a:gd name="T2" fmla="*/ 0 w 96"/>
                <a:gd name="T3" fmla="*/ 6 h 77"/>
                <a:gd name="T4" fmla="*/ 0 w 96"/>
                <a:gd name="T5" fmla="*/ 3 h 77"/>
                <a:gd name="T6" fmla="*/ 29 w 96"/>
                <a:gd name="T7" fmla="*/ 0 h 77"/>
                <a:gd name="T8" fmla="*/ 32 w 96"/>
                <a:gd name="T9" fmla="*/ 0 h 77"/>
                <a:gd name="T10" fmla="*/ 32 w 96"/>
                <a:gd name="T11" fmla="*/ 53 h 77"/>
                <a:gd name="T12" fmla="*/ 46 w 96"/>
                <a:gd name="T13" fmla="*/ 65 h 77"/>
                <a:gd name="T14" fmla="*/ 63 w 96"/>
                <a:gd name="T15" fmla="*/ 52 h 77"/>
                <a:gd name="T16" fmla="*/ 63 w 96"/>
                <a:gd name="T17" fmla="*/ 17 h 77"/>
                <a:gd name="T18" fmla="*/ 52 w 96"/>
                <a:gd name="T19" fmla="*/ 6 h 77"/>
                <a:gd name="T20" fmla="*/ 52 w 96"/>
                <a:gd name="T21" fmla="*/ 3 h 77"/>
                <a:gd name="T22" fmla="*/ 82 w 96"/>
                <a:gd name="T23" fmla="*/ 0 h 77"/>
                <a:gd name="T24" fmla="*/ 85 w 96"/>
                <a:gd name="T25" fmla="*/ 0 h 77"/>
                <a:gd name="T26" fmla="*/ 85 w 96"/>
                <a:gd name="T27" fmla="*/ 57 h 77"/>
                <a:gd name="T28" fmla="*/ 96 w 96"/>
                <a:gd name="T29" fmla="*/ 71 h 77"/>
                <a:gd name="T30" fmla="*/ 96 w 96"/>
                <a:gd name="T31" fmla="*/ 74 h 77"/>
                <a:gd name="T32" fmla="*/ 63 w 96"/>
                <a:gd name="T33" fmla="*/ 77 h 77"/>
                <a:gd name="T34" fmla="*/ 63 w 96"/>
                <a:gd name="T35" fmla="*/ 60 h 77"/>
                <a:gd name="T36" fmla="*/ 63 w 96"/>
                <a:gd name="T37" fmla="*/ 60 h 77"/>
                <a:gd name="T38" fmla="*/ 35 w 96"/>
                <a:gd name="T39" fmla="*/ 77 h 77"/>
                <a:gd name="T40" fmla="*/ 11 w 96"/>
                <a:gd name="T41" fmla="*/ 55 h 77"/>
                <a:gd name="T42" fmla="*/ 11 w 96"/>
                <a:gd name="T43" fmla="*/ 18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96" h="77">
                  <a:moveTo>
                    <a:pt x="11" y="18"/>
                  </a:moveTo>
                  <a:cubicBezTo>
                    <a:pt x="11" y="10"/>
                    <a:pt x="8" y="7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29" y="0"/>
                    <a:pt x="29" y="0"/>
                    <a:pt x="29" y="0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2" y="53"/>
                    <a:pt x="32" y="53"/>
                    <a:pt x="32" y="53"/>
                  </a:cubicBezTo>
                  <a:cubicBezTo>
                    <a:pt x="32" y="61"/>
                    <a:pt x="38" y="65"/>
                    <a:pt x="46" y="65"/>
                  </a:cubicBezTo>
                  <a:cubicBezTo>
                    <a:pt x="53" y="65"/>
                    <a:pt x="57" y="62"/>
                    <a:pt x="63" y="52"/>
                  </a:cubicBezTo>
                  <a:cubicBezTo>
                    <a:pt x="63" y="17"/>
                    <a:pt x="63" y="17"/>
                    <a:pt x="63" y="17"/>
                  </a:cubicBezTo>
                  <a:cubicBezTo>
                    <a:pt x="63" y="11"/>
                    <a:pt x="60" y="7"/>
                    <a:pt x="52" y="6"/>
                  </a:cubicBezTo>
                  <a:cubicBezTo>
                    <a:pt x="52" y="3"/>
                    <a:pt x="52" y="3"/>
                    <a:pt x="52" y="3"/>
                  </a:cubicBezTo>
                  <a:cubicBezTo>
                    <a:pt x="82" y="0"/>
                    <a:pt x="82" y="0"/>
                    <a:pt x="82" y="0"/>
                  </a:cubicBezTo>
                  <a:cubicBezTo>
                    <a:pt x="85" y="0"/>
                    <a:pt x="85" y="0"/>
                    <a:pt x="85" y="0"/>
                  </a:cubicBezTo>
                  <a:cubicBezTo>
                    <a:pt x="85" y="57"/>
                    <a:pt x="85" y="57"/>
                    <a:pt x="85" y="57"/>
                  </a:cubicBezTo>
                  <a:cubicBezTo>
                    <a:pt x="85" y="66"/>
                    <a:pt x="87" y="69"/>
                    <a:pt x="96" y="71"/>
                  </a:cubicBezTo>
                  <a:cubicBezTo>
                    <a:pt x="96" y="74"/>
                    <a:pt x="96" y="74"/>
                    <a:pt x="96" y="74"/>
                  </a:cubicBezTo>
                  <a:cubicBezTo>
                    <a:pt x="63" y="77"/>
                    <a:pt x="63" y="77"/>
                    <a:pt x="63" y="77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63" y="60"/>
                    <a:pt x="63" y="60"/>
                    <a:pt x="63" y="60"/>
                  </a:cubicBezTo>
                  <a:cubicBezTo>
                    <a:pt x="55" y="72"/>
                    <a:pt x="46" y="77"/>
                    <a:pt x="35" y="77"/>
                  </a:cubicBezTo>
                  <a:cubicBezTo>
                    <a:pt x="20" y="77"/>
                    <a:pt x="11" y="69"/>
                    <a:pt x="11" y="55"/>
                  </a:cubicBezTo>
                  <a:lnTo>
                    <a:pt x="11" y="18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5" name="Freeform 63"/>
            <p:cNvSpPr>
              <a:spLocks/>
            </p:cNvSpPr>
            <p:nvPr/>
          </p:nvSpPr>
          <p:spPr bwMode="gray">
            <a:xfrm>
              <a:off x="7581901" y="3201988"/>
              <a:ext cx="225425" cy="385763"/>
            </a:xfrm>
            <a:custGeom>
              <a:avLst/>
              <a:gdLst>
                <a:gd name="T0" fmla="*/ 13 w 60"/>
                <a:gd name="T1" fmla="*/ 33 h 102"/>
                <a:gd name="T2" fmla="*/ 0 w 60"/>
                <a:gd name="T3" fmla="*/ 33 h 102"/>
                <a:gd name="T4" fmla="*/ 0 w 60"/>
                <a:gd name="T5" fmla="*/ 30 h 102"/>
                <a:gd name="T6" fmla="*/ 31 w 60"/>
                <a:gd name="T7" fmla="*/ 0 h 102"/>
                <a:gd name="T8" fmla="*/ 34 w 60"/>
                <a:gd name="T9" fmla="*/ 0 h 102"/>
                <a:gd name="T10" fmla="*/ 34 w 60"/>
                <a:gd name="T11" fmla="*/ 28 h 102"/>
                <a:gd name="T12" fmla="*/ 58 w 60"/>
                <a:gd name="T13" fmla="*/ 28 h 102"/>
                <a:gd name="T14" fmla="*/ 58 w 60"/>
                <a:gd name="T15" fmla="*/ 33 h 102"/>
                <a:gd name="T16" fmla="*/ 34 w 60"/>
                <a:gd name="T17" fmla="*/ 33 h 102"/>
                <a:gd name="T18" fmla="*/ 34 w 60"/>
                <a:gd name="T19" fmla="*/ 75 h 102"/>
                <a:gd name="T20" fmla="*/ 47 w 60"/>
                <a:gd name="T21" fmla="*/ 93 h 102"/>
                <a:gd name="T22" fmla="*/ 58 w 60"/>
                <a:gd name="T23" fmla="*/ 87 h 102"/>
                <a:gd name="T24" fmla="*/ 60 w 60"/>
                <a:gd name="T25" fmla="*/ 89 h 102"/>
                <a:gd name="T26" fmla="*/ 37 w 60"/>
                <a:gd name="T27" fmla="*/ 102 h 102"/>
                <a:gd name="T28" fmla="*/ 13 w 60"/>
                <a:gd name="T29" fmla="*/ 79 h 102"/>
                <a:gd name="T30" fmla="*/ 13 w 60"/>
                <a:gd name="T31" fmla="*/ 33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0" h="102">
                  <a:moveTo>
                    <a:pt x="13" y="33"/>
                  </a:moveTo>
                  <a:cubicBezTo>
                    <a:pt x="0" y="33"/>
                    <a:pt x="0" y="33"/>
                    <a:pt x="0" y="33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9" y="24"/>
                    <a:pt x="21" y="13"/>
                    <a:pt x="31" y="0"/>
                  </a:cubicBezTo>
                  <a:cubicBezTo>
                    <a:pt x="34" y="0"/>
                    <a:pt x="34" y="0"/>
                    <a:pt x="34" y="0"/>
                  </a:cubicBezTo>
                  <a:cubicBezTo>
                    <a:pt x="34" y="28"/>
                    <a:pt x="34" y="28"/>
                    <a:pt x="34" y="28"/>
                  </a:cubicBezTo>
                  <a:cubicBezTo>
                    <a:pt x="58" y="28"/>
                    <a:pt x="58" y="28"/>
                    <a:pt x="58" y="28"/>
                  </a:cubicBezTo>
                  <a:cubicBezTo>
                    <a:pt x="58" y="33"/>
                    <a:pt x="58" y="33"/>
                    <a:pt x="58" y="33"/>
                  </a:cubicBezTo>
                  <a:cubicBezTo>
                    <a:pt x="34" y="33"/>
                    <a:pt x="34" y="33"/>
                    <a:pt x="34" y="33"/>
                  </a:cubicBezTo>
                  <a:cubicBezTo>
                    <a:pt x="34" y="75"/>
                    <a:pt x="34" y="75"/>
                    <a:pt x="34" y="75"/>
                  </a:cubicBezTo>
                  <a:cubicBezTo>
                    <a:pt x="34" y="86"/>
                    <a:pt x="37" y="93"/>
                    <a:pt x="47" y="93"/>
                  </a:cubicBezTo>
                  <a:cubicBezTo>
                    <a:pt x="51" y="93"/>
                    <a:pt x="54" y="91"/>
                    <a:pt x="58" y="87"/>
                  </a:cubicBezTo>
                  <a:cubicBezTo>
                    <a:pt x="60" y="89"/>
                    <a:pt x="60" y="89"/>
                    <a:pt x="60" y="89"/>
                  </a:cubicBezTo>
                  <a:cubicBezTo>
                    <a:pt x="55" y="98"/>
                    <a:pt x="48" y="102"/>
                    <a:pt x="37" y="102"/>
                  </a:cubicBezTo>
                  <a:cubicBezTo>
                    <a:pt x="24" y="102"/>
                    <a:pt x="13" y="96"/>
                    <a:pt x="13" y="79"/>
                  </a:cubicBezTo>
                  <a:lnTo>
                    <a:pt x="13" y="33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6" name="Freeform 64"/>
            <p:cNvSpPr>
              <a:spLocks/>
            </p:cNvSpPr>
            <p:nvPr/>
          </p:nvSpPr>
          <p:spPr bwMode="gray">
            <a:xfrm>
              <a:off x="7807326" y="3297238"/>
              <a:ext cx="365125" cy="290513"/>
            </a:xfrm>
            <a:custGeom>
              <a:avLst/>
              <a:gdLst>
                <a:gd name="T0" fmla="*/ 12 w 97"/>
                <a:gd name="T1" fmla="*/ 18 h 77"/>
                <a:gd name="T2" fmla="*/ 0 w 97"/>
                <a:gd name="T3" fmla="*/ 6 h 77"/>
                <a:gd name="T4" fmla="*/ 0 w 97"/>
                <a:gd name="T5" fmla="*/ 3 h 77"/>
                <a:gd name="T6" fmla="*/ 30 w 97"/>
                <a:gd name="T7" fmla="*/ 0 h 77"/>
                <a:gd name="T8" fmla="*/ 33 w 97"/>
                <a:gd name="T9" fmla="*/ 0 h 77"/>
                <a:gd name="T10" fmla="*/ 33 w 97"/>
                <a:gd name="T11" fmla="*/ 53 h 77"/>
                <a:gd name="T12" fmla="*/ 46 w 97"/>
                <a:gd name="T13" fmla="*/ 65 h 77"/>
                <a:gd name="T14" fmla="*/ 64 w 97"/>
                <a:gd name="T15" fmla="*/ 52 h 77"/>
                <a:gd name="T16" fmla="*/ 64 w 97"/>
                <a:gd name="T17" fmla="*/ 17 h 77"/>
                <a:gd name="T18" fmla="*/ 53 w 97"/>
                <a:gd name="T19" fmla="*/ 6 h 77"/>
                <a:gd name="T20" fmla="*/ 53 w 97"/>
                <a:gd name="T21" fmla="*/ 3 h 77"/>
                <a:gd name="T22" fmla="*/ 82 w 97"/>
                <a:gd name="T23" fmla="*/ 0 h 77"/>
                <a:gd name="T24" fmla="*/ 86 w 97"/>
                <a:gd name="T25" fmla="*/ 0 h 77"/>
                <a:gd name="T26" fmla="*/ 86 w 97"/>
                <a:gd name="T27" fmla="*/ 57 h 77"/>
                <a:gd name="T28" fmla="*/ 97 w 97"/>
                <a:gd name="T29" fmla="*/ 71 h 77"/>
                <a:gd name="T30" fmla="*/ 97 w 97"/>
                <a:gd name="T31" fmla="*/ 74 h 77"/>
                <a:gd name="T32" fmla="*/ 64 w 97"/>
                <a:gd name="T33" fmla="*/ 77 h 77"/>
                <a:gd name="T34" fmla="*/ 64 w 97"/>
                <a:gd name="T35" fmla="*/ 60 h 77"/>
                <a:gd name="T36" fmla="*/ 64 w 97"/>
                <a:gd name="T37" fmla="*/ 60 h 77"/>
                <a:gd name="T38" fmla="*/ 35 w 97"/>
                <a:gd name="T39" fmla="*/ 77 h 77"/>
                <a:gd name="T40" fmla="*/ 12 w 97"/>
                <a:gd name="T41" fmla="*/ 55 h 77"/>
                <a:gd name="T42" fmla="*/ 12 w 97"/>
                <a:gd name="T43" fmla="*/ 18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97" h="77">
                  <a:moveTo>
                    <a:pt x="12" y="18"/>
                  </a:moveTo>
                  <a:cubicBezTo>
                    <a:pt x="12" y="10"/>
                    <a:pt x="9" y="7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3" y="0"/>
                    <a:pt x="33" y="0"/>
                    <a:pt x="33" y="0"/>
                  </a:cubicBezTo>
                  <a:cubicBezTo>
                    <a:pt x="33" y="53"/>
                    <a:pt x="33" y="53"/>
                    <a:pt x="33" y="53"/>
                  </a:cubicBezTo>
                  <a:cubicBezTo>
                    <a:pt x="33" y="61"/>
                    <a:pt x="39" y="65"/>
                    <a:pt x="46" y="65"/>
                  </a:cubicBezTo>
                  <a:cubicBezTo>
                    <a:pt x="54" y="65"/>
                    <a:pt x="58" y="62"/>
                    <a:pt x="64" y="52"/>
                  </a:cubicBezTo>
                  <a:cubicBezTo>
                    <a:pt x="64" y="17"/>
                    <a:pt x="64" y="17"/>
                    <a:pt x="64" y="17"/>
                  </a:cubicBezTo>
                  <a:cubicBezTo>
                    <a:pt x="64" y="11"/>
                    <a:pt x="60" y="7"/>
                    <a:pt x="53" y="6"/>
                  </a:cubicBezTo>
                  <a:cubicBezTo>
                    <a:pt x="53" y="3"/>
                    <a:pt x="53" y="3"/>
                    <a:pt x="53" y="3"/>
                  </a:cubicBezTo>
                  <a:cubicBezTo>
                    <a:pt x="82" y="0"/>
                    <a:pt x="82" y="0"/>
                    <a:pt x="82" y="0"/>
                  </a:cubicBezTo>
                  <a:cubicBezTo>
                    <a:pt x="86" y="0"/>
                    <a:pt x="86" y="0"/>
                    <a:pt x="86" y="0"/>
                  </a:cubicBezTo>
                  <a:cubicBezTo>
                    <a:pt x="86" y="57"/>
                    <a:pt x="86" y="57"/>
                    <a:pt x="86" y="57"/>
                  </a:cubicBezTo>
                  <a:cubicBezTo>
                    <a:pt x="86" y="66"/>
                    <a:pt x="88" y="69"/>
                    <a:pt x="97" y="71"/>
                  </a:cubicBezTo>
                  <a:cubicBezTo>
                    <a:pt x="97" y="74"/>
                    <a:pt x="97" y="74"/>
                    <a:pt x="97" y="74"/>
                  </a:cubicBezTo>
                  <a:cubicBezTo>
                    <a:pt x="64" y="77"/>
                    <a:pt x="64" y="77"/>
                    <a:pt x="64" y="77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64" y="60"/>
                    <a:pt x="64" y="60"/>
                    <a:pt x="64" y="60"/>
                  </a:cubicBezTo>
                  <a:cubicBezTo>
                    <a:pt x="56" y="72"/>
                    <a:pt x="47" y="77"/>
                    <a:pt x="35" y="77"/>
                  </a:cubicBezTo>
                  <a:cubicBezTo>
                    <a:pt x="21" y="77"/>
                    <a:pt x="12" y="69"/>
                    <a:pt x="12" y="55"/>
                  </a:cubicBezTo>
                  <a:lnTo>
                    <a:pt x="12" y="18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7" name="Freeform 65"/>
            <p:cNvSpPr>
              <a:spLocks noEditPoints="1"/>
            </p:cNvSpPr>
            <p:nvPr/>
          </p:nvSpPr>
          <p:spPr bwMode="gray">
            <a:xfrm>
              <a:off x="8183563" y="3297238"/>
              <a:ext cx="304800" cy="290513"/>
            </a:xfrm>
            <a:custGeom>
              <a:avLst/>
              <a:gdLst>
                <a:gd name="T0" fmla="*/ 46 w 81"/>
                <a:gd name="T1" fmla="*/ 62 h 77"/>
                <a:gd name="T2" fmla="*/ 33 w 81"/>
                <a:gd name="T3" fmla="*/ 69 h 77"/>
                <a:gd name="T4" fmla="*/ 23 w 81"/>
                <a:gd name="T5" fmla="*/ 56 h 77"/>
                <a:gd name="T6" fmla="*/ 46 w 81"/>
                <a:gd name="T7" fmla="*/ 35 h 77"/>
                <a:gd name="T8" fmla="*/ 46 w 81"/>
                <a:gd name="T9" fmla="*/ 62 h 77"/>
                <a:gd name="T10" fmla="*/ 68 w 81"/>
                <a:gd name="T11" fmla="*/ 27 h 77"/>
                <a:gd name="T12" fmla="*/ 36 w 81"/>
                <a:gd name="T13" fmla="*/ 0 h 77"/>
                <a:gd name="T14" fmla="*/ 4 w 81"/>
                <a:gd name="T15" fmla="*/ 24 h 77"/>
                <a:gd name="T16" fmla="*/ 7 w 81"/>
                <a:gd name="T17" fmla="*/ 24 h 77"/>
                <a:gd name="T18" fmla="*/ 28 w 81"/>
                <a:gd name="T19" fmla="*/ 12 h 77"/>
                <a:gd name="T20" fmla="*/ 46 w 81"/>
                <a:gd name="T21" fmla="*/ 31 h 77"/>
                <a:gd name="T22" fmla="*/ 0 w 81"/>
                <a:gd name="T23" fmla="*/ 58 h 77"/>
                <a:gd name="T24" fmla="*/ 22 w 81"/>
                <a:gd name="T25" fmla="*/ 77 h 77"/>
                <a:gd name="T26" fmla="*/ 44 w 81"/>
                <a:gd name="T27" fmla="*/ 69 h 77"/>
                <a:gd name="T28" fmla="*/ 46 w 81"/>
                <a:gd name="T29" fmla="*/ 67 h 77"/>
                <a:gd name="T30" fmla="*/ 63 w 81"/>
                <a:gd name="T31" fmla="*/ 77 h 77"/>
                <a:gd name="T32" fmla="*/ 81 w 81"/>
                <a:gd name="T33" fmla="*/ 63 h 77"/>
                <a:gd name="T34" fmla="*/ 78 w 81"/>
                <a:gd name="T35" fmla="*/ 63 h 77"/>
                <a:gd name="T36" fmla="*/ 72 w 81"/>
                <a:gd name="T37" fmla="*/ 70 h 77"/>
                <a:gd name="T38" fmla="*/ 68 w 81"/>
                <a:gd name="T39" fmla="*/ 60 h 77"/>
                <a:gd name="T40" fmla="*/ 68 w 81"/>
                <a:gd name="T41" fmla="*/ 27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81" h="77">
                  <a:moveTo>
                    <a:pt x="46" y="62"/>
                  </a:moveTo>
                  <a:cubicBezTo>
                    <a:pt x="41" y="67"/>
                    <a:pt x="37" y="69"/>
                    <a:pt x="33" y="69"/>
                  </a:cubicBezTo>
                  <a:cubicBezTo>
                    <a:pt x="27" y="69"/>
                    <a:pt x="23" y="64"/>
                    <a:pt x="23" y="56"/>
                  </a:cubicBezTo>
                  <a:cubicBezTo>
                    <a:pt x="23" y="47"/>
                    <a:pt x="28" y="42"/>
                    <a:pt x="46" y="35"/>
                  </a:cubicBezTo>
                  <a:lnTo>
                    <a:pt x="46" y="62"/>
                  </a:lnTo>
                  <a:close/>
                  <a:moveTo>
                    <a:pt x="68" y="27"/>
                  </a:moveTo>
                  <a:cubicBezTo>
                    <a:pt x="68" y="7"/>
                    <a:pt x="52" y="0"/>
                    <a:pt x="36" y="0"/>
                  </a:cubicBezTo>
                  <a:cubicBezTo>
                    <a:pt x="19" y="0"/>
                    <a:pt x="8" y="9"/>
                    <a:pt x="4" y="24"/>
                  </a:cubicBezTo>
                  <a:cubicBezTo>
                    <a:pt x="7" y="24"/>
                    <a:pt x="7" y="24"/>
                    <a:pt x="7" y="24"/>
                  </a:cubicBezTo>
                  <a:cubicBezTo>
                    <a:pt x="12" y="16"/>
                    <a:pt x="19" y="12"/>
                    <a:pt x="28" y="12"/>
                  </a:cubicBezTo>
                  <a:cubicBezTo>
                    <a:pt x="41" y="12"/>
                    <a:pt x="46" y="18"/>
                    <a:pt x="46" y="31"/>
                  </a:cubicBezTo>
                  <a:cubicBezTo>
                    <a:pt x="29" y="37"/>
                    <a:pt x="0" y="39"/>
                    <a:pt x="0" y="58"/>
                  </a:cubicBezTo>
                  <a:cubicBezTo>
                    <a:pt x="0" y="69"/>
                    <a:pt x="10" y="77"/>
                    <a:pt x="22" y="77"/>
                  </a:cubicBezTo>
                  <a:cubicBezTo>
                    <a:pt x="31" y="77"/>
                    <a:pt x="37" y="75"/>
                    <a:pt x="44" y="69"/>
                  </a:cubicBezTo>
                  <a:cubicBezTo>
                    <a:pt x="46" y="67"/>
                    <a:pt x="46" y="67"/>
                    <a:pt x="46" y="67"/>
                  </a:cubicBezTo>
                  <a:cubicBezTo>
                    <a:pt x="50" y="74"/>
                    <a:pt x="55" y="77"/>
                    <a:pt x="63" y="77"/>
                  </a:cubicBezTo>
                  <a:cubicBezTo>
                    <a:pt x="74" y="77"/>
                    <a:pt x="80" y="72"/>
                    <a:pt x="81" y="63"/>
                  </a:cubicBezTo>
                  <a:cubicBezTo>
                    <a:pt x="78" y="63"/>
                    <a:pt x="78" y="63"/>
                    <a:pt x="78" y="63"/>
                  </a:cubicBezTo>
                  <a:cubicBezTo>
                    <a:pt x="77" y="68"/>
                    <a:pt x="75" y="70"/>
                    <a:pt x="72" y="70"/>
                  </a:cubicBezTo>
                  <a:cubicBezTo>
                    <a:pt x="69" y="70"/>
                    <a:pt x="68" y="67"/>
                    <a:pt x="68" y="60"/>
                  </a:cubicBezTo>
                  <a:lnTo>
                    <a:pt x="68" y="27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8" name="Freeform 66"/>
            <p:cNvSpPr>
              <a:spLocks/>
            </p:cNvSpPr>
            <p:nvPr/>
          </p:nvSpPr>
          <p:spPr bwMode="gray">
            <a:xfrm>
              <a:off x="8491538" y="3125788"/>
              <a:ext cx="180975" cy="450850"/>
            </a:xfrm>
            <a:custGeom>
              <a:avLst/>
              <a:gdLst>
                <a:gd name="T0" fmla="*/ 14 w 48"/>
                <a:gd name="T1" fmla="*/ 20 h 119"/>
                <a:gd name="T2" fmla="*/ 0 w 48"/>
                <a:gd name="T3" fmla="*/ 6 h 119"/>
                <a:gd name="T4" fmla="*/ 0 w 48"/>
                <a:gd name="T5" fmla="*/ 3 h 119"/>
                <a:gd name="T6" fmla="*/ 32 w 48"/>
                <a:gd name="T7" fmla="*/ 0 h 119"/>
                <a:gd name="T8" fmla="*/ 35 w 48"/>
                <a:gd name="T9" fmla="*/ 0 h 119"/>
                <a:gd name="T10" fmla="*/ 35 w 48"/>
                <a:gd name="T11" fmla="*/ 102 h 119"/>
                <a:gd name="T12" fmla="*/ 48 w 48"/>
                <a:gd name="T13" fmla="*/ 116 h 119"/>
                <a:gd name="T14" fmla="*/ 48 w 48"/>
                <a:gd name="T15" fmla="*/ 119 h 119"/>
                <a:gd name="T16" fmla="*/ 0 w 48"/>
                <a:gd name="T17" fmla="*/ 119 h 119"/>
                <a:gd name="T18" fmla="*/ 0 w 48"/>
                <a:gd name="T19" fmla="*/ 116 h 119"/>
                <a:gd name="T20" fmla="*/ 14 w 48"/>
                <a:gd name="T21" fmla="*/ 102 h 119"/>
                <a:gd name="T22" fmla="*/ 14 w 48"/>
                <a:gd name="T23" fmla="*/ 20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48" h="119">
                  <a:moveTo>
                    <a:pt x="14" y="20"/>
                  </a:moveTo>
                  <a:cubicBezTo>
                    <a:pt x="14" y="10"/>
                    <a:pt x="10" y="6"/>
                    <a:pt x="0" y="6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32" y="0"/>
                    <a:pt x="32" y="0"/>
                    <a:pt x="32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35" y="102"/>
                    <a:pt x="35" y="102"/>
                    <a:pt x="35" y="102"/>
                  </a:cubicBezTo>
                  <a:cubicBezTo>
                    <a:pt x="35" y="111"/>
                    <a:pt x="37" y="114"/>
                    <a:pt x="48" y="116"/>
                  </a:cubicBezTo>
                  <a:cubicBezTo>
                    <a:pt x="48" y="119"/>
                    <a:pt x="48" y="119"/>
                    <a:pt x="48" y="119"/>
                  </a:cubicBezTo>
                  <a:cubicBezTo>
                    <a:pt x="0" y="119"/>
                    <a:pt x="0" y="119"/>
                    <a:pt x="0" y="119"/>
                  </a:cubicBezTo>
                  <a:cubicBezTo>
                    <a:pt x="0" y="116"/>
                    <a:pt x="0" y="116"/>
                    <a:pt x="0" y="116"/>
                  </a:cubicBezTo>
                  <a:cubicBezTo>
                    <a:pt x="11" y="114"/>
                    <a:pt x="14" y="111"/>
                    <a:pt x="14" y="102"/>
                  </a:cubicBezTo>
                  <a:lnTo>
                    <a:pt x="14" y="20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59" name="Freeform 67"/>
            <p:cNvSpPr>
              <a:spLocks/>
            </p:cNvSpPr>
            <p:nvPr/>
          </p:nvSpPr>
          <p:spPr bwMode="gray">
            <a:xfrm>
              <a:off x="3387726" y="2736850"/>
              <a:ext cx="981075" cy="1308100"/>
            </a:xfrm>
            <a:custGeom>
              <a:avLst/>
              <a:gdLst>
                <a:gd name="T0" fmla="*/ 258 w 261"/>
                <a:gd name="T1" fmla="*/ 146 h 346"/>
                <a:gd name="T2" fmla="*/ 215 w 261"/>
                <a:gd name="T3" fmla="*/ 141 h 346"/>
                <a:gd name="T4" fmla="*/ 226 w 261"/>
                <a:gd name="T5" fmla="*/ 107 h 346"/>
                <a:gd name="T6" fmla="*/ 203 w 261"/>
                <a:gd name="T7" fmla="*/ 125 h 346"/>
                <a:gd name="T8" fmla="*/ 164 w 261"/>
                <a:gd name="T9" fmla="*/ 101 h 346"/>
                <a:gd name="T10" fmla="*/ 156 w 261"/>
                <a:gd name="T11" fmla="*/ 75 h 346"/>
                <a:gd name="T12" fmla="*/ 150 w 261"/>
                <a:gd name="T13" fmla="*/ 98 h 346"/>
                <a:gd name="T14" fmla="*/ 98 w 261"/>
                <a:gd name="T15" fmla="*/ 105 h 346"/>
                <a:gd name="T16" fmla="*/ 82 w 261"/>
                <a:gd name="T17" fmla="*/ 115 h 346"/>
                <a:gd name="T18" fmla="*/ 82 w 261"/>
                <a:gd name="T19" fmla="*/ 79 h 346"/>
                <a:gd name="T20" fmla="*/ 78 w 261"/>
                <a:gd name="T21" fmla="*/ 53 h 346"/>
                <a:gd name="T22" fmla="*/ 76 w 261"/>
                <a:gd name="T23" fmla="*/ 45 h 346"/>
                <a:gd name="T24" fmla="*/ 71 w 261"/>
                <a:gd name="T25" fmla="*/ 42 h 346"/>
                <a:gd name="T26" fmla="*/ 98 w 261"/>
                <a:gd name="T27" fmla="*/ 16 h 346"/>
                <a:gd name="T28" fmla="*/ 83 w 261"/>
                <a:gd name="T29" fmla="*/ 9 h 346"/>
                <a:gd name="T30" fmla="*/ 68 w 261"/>
                <a:gd name="T31" fmla="*/ 0 h 346"/>
                <a:gd name="T32" fmla="*/ 40 w 261"/>
                <a:gd name="T33" fmla="*/ 3 h 346"/>
                <a:gd name="T34" fmla="*/ 19 w 261"/>
                <a:gd name="T35" fmla="*/ 40 h 346"/>
                <a:gd name="T36" fmla="*/ 6 w 261"/>
                <a:gd name="T37" fmla="*/ 45 h 346"/>
                <a:gd name="T38" fmla="*/ 1 w 261"/>
                <a:gd name="T39" fmla="*/ 69 h 346"/>
                <a:gd name="T40" fmla="*/ 13 w 261"/>
                <a:gd name="T41" fmla="*/ 99 h 346"/>
                <a:gd name="T42" fmla="*/ 16 w 261"/>
                <a:gd name="T43" fmla="*/ 108 h 346"/>
                <a:gd name="T44" fmla="*/ 24 w 261"/>
                <a:gd name="T45" fmla="*/ 124 h 346"/>
                <a:gd name="T46" fmla="*/ 28 w 261"/>
                <a:gd name="T47" fmla="*/ 137 h 346"/>
                <a:gd name="T48" fmla="*/ 34 w 261"/>
                <a:gd name="T49" fmla="*/ 146 h 346"/>
                <a:gd name="T50" fmla="*/ 47 w 261"/>
                <a:gd name="T51" fmla="*/ 148 h 346"/>
                <a:gd name="T52" fmla="*/ 37 w 261"/>
                <a:gd name="T53" fmla="*/ 229 h 346"/>
                <a:gd name="T54" fmla="*/ 73 w 261"/>
                <a:gd name="T55" fmla="*/ 333 h 346"/>
                <a:gd name="T56" fmla="*/ 96 w 261"/>
                <a:gd name="T57" fmla="*/ 311 h 346"/>
                <a:gd name="T58" fmla="*/ 121 w 261"/>
                <a:gd name="T59" fmla="*/ 288 h 346"/>
                <a:gd name="T60" fmla="*/ 123 w 261"/>
                <a:gd name="T61" fmla="*/ 296 h 346"/>
                <a:gd name="T62" fmla="*/ 94 w 261"/>
                <a:gd name="T63" fmla="*/ 346 h 346"/>
                <a:gd name="T64" fmla="*/ 235 w 261"/>
                <a:gd name="T65" fmla="*/ 259 h 346"/>
                <a:gd name="T66" fmla="*/ 231 w 261"/>
                <a:gd name="T67" fmla="*/ 181 h 346"/>
                <a:gd name="T68" fmla="*/ 261 w 261"/>
                <a:gd name="T69" fmla="*/ 146 h 3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61" h="346">
                  <a:moveTo>
                    <a:pt x="261" y="146"/>
                  </a:moveTo>
                  <a:cubicBezTo>
                    <a:pt x="260" y="145"/>
                    <a:pt x="258" y="146"/>
                    <a:pt x="258" y="146"/>
                  </a:cubicBezTo>
                  <a:cubicBezTo>
                    <a:pt x="224" y="158"/>
                    <a:pt x="224" y="158"/>
                    <a:pt x="224" y="158"/>
                  </a:cubicBezTo>
                  <a:cubicBezTo>
                    <a:pt x="222" y="152"/>
                    <a:pt x="219" y="146"/>
                    <a:pt x="215" y="141"/>
                  </a:cubicBezTo>
                  <a:cubicBezTo>
                    <a:pt x="226" y="111"/>
                    <a:pt x="226" y="111"/>
                    <a:pt x="226" y="111"/>
                  </a:cubicBezTo>
                  <a:cubicBezTo>
                    <a:pt x="226" y="111"/>
                    <a:pt x="227" y="108"/>
                    <a:pt x="226" y="107"/>
                  </a:cubicBezTo>
                  <a:cubicBezTo>
                    <a:pt x="225" y="107"/>
                    <a:pt x="223" y="109"/>
                    <a:pt x="223" y="109"/>
                  </a:cubicBezTo>
                  <a:cubicBezTo>
                    <a:pt x="203" y="125"/>
                    <a:pt x="203" y="125"/>
                    <a:pt x="203" y="125"/>
                  </a:cubicBezTo>
                  <a:cubicBezTo>
                    <a:pt x="196" y="117"/>
                    <a:pt x="187" y="110"/>
                    <a:pt x="176" y="105"/>
                  </a:cubicBezTo>
                  <a:cubicBezTo>
                    <a:pt x="173" y="104"/>
                    <a:pt x="169" y="102"/>
                    <a:pt x="164" y="101"/>
                  </a:cubicBezTo>
                  <a:cubicBezTo>
                    <a:pt x="158" y="78"/>
                    <a:pt x="158" y="78"/>
                    <a:pt x="158" y="78"/>
                  </a:cubicBezTo>
                  <a:cubicBezTo>
                    <a:pt x="158" y="78"/>
                    <a:pt x="158" y="75"/>
                    <a:pt x="156" y="75"/>
                  </a:cubicBezTo>
                  <a:cubicBezTo>
                    <a:pt x="155" y="75"/>
                    <a:pt x="154" y="77"/>
                    <a:pt x="154" y="77"/>
                  </a:cubicBezTo>
                  <a:cubicBezTo>
                    <a:pt x="150" y="98"/>
                    <a:pt x="150" y="98"/>
                    <a:pt x="150" y="98"/>
                  </a:cubicBezTo>
                  <a:cubicBezTo>
                    <a:pt x="146" y="98"/>
                    <a:pt x="142" y="97"/>
                    <a:pt x="137" y="97"/>
                  </a:cubicBezTo>
                  <a:cubicBezTo>
                    <a:pt x="122" y="97"/>
                    <a:pt x="109" y="100"/>
                    <a:pt x="98" y="105"/>
                  </a:cubicBezTo>
                  <a:cubicBezTo>
                    <a:pt x="93" y="107"/>
                    <a:pt x="89" y="110"/>
                    <a:pt x="84" y="113"/>
                  </a:cubicBezTo>
                  <a:cubicBezTo>
                    <a:pt x="84" y="113"/>
                    <a:pt x="83" y="114"/>
                    <a:pt x="82" y="115"/>
                  </a:cubicBezTo>
                  <a:cubicBezTo>
                    <a:pt x="78" y="104"/>
                    <a:pt x="75" y="96"/>
                    <a:pt x="74" y="93"/>
                  </a:cubicBezTo>
                  <a:cubicBezTo>
                    <a:pt x="77" y="91"/>
                    <a:pt x="81" y="84"/>
                    <a:pt x="82" y="79"/>
                  </a:cubicBezTo>
                  <a:cubicBezTo>
                    <a:pt x="84" y="72"/>
                    <a:pt x="84" y="68"/>
                    <a:pt x="82" y="63"/>
                  </a:cubicBezTo>
                  <a:cubicBezTo>
                    <a:pt x="81" y="59"/>
                    <a:pt x="78" y="55"/>
                    <a:pt x="78" y="53"/>
                  </a:cubicBezTo>
                  <a:cubicBezTo>
                    <a:pt x="79" y="51"/>
                    <a:pt x="79" y="50"/>
                    <a:pt x="80" y="49"/>
                  </a:cubicBezTo>
                  <a:cubicBezTo>
                    <a:pt x="80" y="46"/>
                    <a:pt x="78" y="45"/>
                    <a:pt x="76" y="45"/>
                  </a:cubicBezTo>
                  <a:cubicBezTo>
                    <a:pt x="74" y="45"/>
                    <a:pt x="73" y="45"/>
                    <a:pt x="71" y="45"/>
                  </a:cubicBezTo>
                  <a:cubicBezTo>
                    <a:pt x="71" y="45"/>
                    <a:pt x="70" y="45"/>
                    <a:pt x="71" y="42"/>
                  </a:cubicBezTo>
                  <a:cubicBezTo>
                    <a:pt x="72" y="38"/>
                    <a:pt x="79" y="36"/>
                    <a:pt x="86" y="34"/>
                  </a:cubicBezTo>
                  <a:cubicBezTo>
                    <a:pt x="94" y="31"/>
                    <a:pt x="98" y="25"/>
                    <a:pt x="98" y="16"/>
                  </a:cubicBezTo>
                  <a:cubicBezTo>
                    <a:pt x="99" y="9"/>
                    <a:pt x="95" y="4"/>
                    <a:pt x="90" y="2"/>
                  </a:cubicBezTo>
                  <a:cubicBezTo>
                    <a:pt x="89" y="4"/>
                    <a:pt x="85" y="8"/>
                    <a:pt x="83" y="9"/>
                  </a:cubicBezTo>
                  <a:cubicBezTo>
                    <a:pt x="80" y="11"/>
                    <a:pt x="76" y="11"/>
                    <a:pt x="74" y="11"/>
                  </a:cubicBezTo>
                  <a:cubicBezTo>
                    <a:pt x="74" y="6"/>
                    <a:pt x="72" y="2"/>
                    <a:pt x="68" y="0"/>
                  </a:cubicBezTo>
                  <a:cubicBezTo>
                    <a:pt x="67" y="2"/>
                    <a:pt x="63" y="5"/>
                    <a:pt x="56" y="5"/>
                  </a:cubicBezTo>
                  <a:cubicBezTo>
                    <a:pt x="50" y="5"/>
                    <a:pt x="49" y="3"/>
                    <a:pt x="40" y="3"/>
                  </a:cubicBezTo>
                  <a:cubicBezTo>
                    <a:pt x="27" y="3"/>
                    <a:pt x="16" y="11"/>
                    <a:pt x="15" y="23"/>
                  </a:cubicBezTo>
                  <a:cubicBezTo>
                    <a:pt x="14" y="30"/>
                    <a:pt x="17" y="36"/>
                    <a:pt x="19" y="40"/>
                  </a:cubicBezTo>
                  <a:cubicBezTo>
                    <a:pt x="17" y="41"/>
                    <a:pt x="14" y="45"/>
                    <a:pt x="13" y="46"/>
                  </a:cubicBezTo>
                  <a:cubicBezTo>
                    <a:pt x="12" y="45"/>
                    <a:pt x="9" y="43"/>
                    <a:pt x="6" y="45"/>
                  </a:cubicBezTo>
                  <a:cubicBezTo>
                    <a:pt x="7" y="47"/>
                    <a:pt x="7" y="49"/>
                    <a:pt x="7" y="51"/>
                  </a:cubicBezTo>
                  <a:cubicBezTo>
                    <a:pt x="6" y="53"/>
                    <a:pt x="1" y="62"/>
                    <a:pt x="1" y="69"/>
                  </a:cubicBezTo>
                  <a:cubicBezTo>
                    <a:pt x="0" y="82"/>
                    <a:pt x="7" y="91"/>
                    <a:pt x="13" y="93"/>
                  </a:cubicBezTo>
                  <a:cubicBezTo>
                    <a:pt x="12" y="95"/>
                    <a:pt x="12" y="97"/>
                    <a:pt x="13" y="99"/>
                  </a:cubicBezTo>
                  <a:cubicBezTo>
                    <a:pt x="13" y="100"/>
                    <a:pt x="14" y="101"/>
                    <a:pt x="17" y="101"/>
                  </a:cubicBezTo>
                  <a:cubicBezTo>
                    <a:pt x="16" y="103"/>
                    <a:pt x="15" y="105"/>
                    <a:pt x="16" y="108"/>
                  </a:cubicBezTo>
                  <a:cubicBezTo>
                    <a:pt x="17" y="111"/>
                    <a:pt x="20" y="115"/>
                    <a:pt x="23" y="115"/>
                  </a:cubicBezTo>
                  <a:cubicBezTo>
                    <a:pt x="23" y="117"/>
                    <a:pt x="24" y="122"/>
                    <a:pt x="24" y="124"/>
                  </a:cubicBezTo>
                  <a:cubicBezTo>
                    <a:pt x="23" y="126"/>
                    <a:pt x="22" y="128"/>
                    <a:pt x="23" y="131"/>
                  </a:cubicBezTo>
                  <a:cubicBezTo>
                    <a:pt x="23" y="134"/>
                    <a:pt x="25" y="137"/>
                    <a:pt x="28" y="137"/>
                  </a:cubicBezTo>
                  <a:cubicBezTo>
                    <a:pt x="28" y="139"/>
                    <a:pt x="29" y="141"/>
                    <a:pt x="30" y="142"/>
                  </a:cubicBezTo>
                  <a:cubicBezTo>
                    <a:pt x="31" y="143"/>
                    <a:pt x="32" y="144"/>
                    <a:pt x="34" y="146"/>
                  </a:cubicBezTo>
                  <a:cubicBezTo>
                    <a:pt x="36" y="147"/>
                    <a:pt x="38" y="148"/>
                    <a:pt x="41" y="148"/>
                  </a:cubicBezTo>
                  <a:cubicBezTo>
                    <a:pt x="43" y="148"/>
                    <a:pt x="46" y="148"/>
                    <a:pt x="47" y="148"/>
                  </a:cubicBezTo>
                  <a:cubicBezTo>
                    <a:pt x="47" y="149"/>
                    <a:pt x="47" y="156"/>
                    <a:pt x="48" y="164"/>
                  </a:cubicBezTo>
                  <a:cubicBezTo>
                    <a:pt x="41" y="183"/>
                    <a:pt x="37" y="205"/>
                    <a:pt x="37" y="229"/>
                  </a:cubicBezTo>
                  <a:cubicBezTo>
                    <a:pt x="37" y="229"/>
                    <a:pt x="37" y="229"/>
                    <a:pt x="37" y="229"/>
                  </a:cubicBezTo>
                  <a:cubicBezTo>
                    <a:pt x="37" y="271"/>
                    <a:pt x="50" y="309"/>
                    <a:pt x="73" y="333"/>
                  </a:cubicBezTo>
                  <a:cubicBezTo>
                    <a:pt x="73" y="333"/>
                    <a:pt x="74" y="335"/>
                    <a:pt x="78" y="338"/>
                  </a:cubicBezTo>
                  <a:cubicBezTo>
                    <a:pt x="78" y="338"/>
                    <a:pt x="85" y="325"/>
                    <a:pt x="96" y="311"/>
                  </a:cubicBezTo>
                  <a:cubicBezTo>
                    <a:pt x="99" y="308"/>
                    <a:pt x="102" y="304"/>
                    <a:pt x="105" y="301"/>
                  </a:cubicBezTo>
                  <a:cubicBezTo>
                    <a:pt x="111" y="296"/>
                    <a:pt x="116" y="292"/>
                    <a:pt x="121" y="288"/>
                  </a:cubicBezTo>
                  <a:cubicBezTo>
                    <a:pt x="135" y="278"/>
                    <a:pt x="152" y="271"/>
                    <a:pt x="167" y="268"/>
                  </a:cubicBezTo>
                  <a:cubicBezTo>
                    <a:pt x="150" y="277"/>
                    <a:pt x="140" y="282"/>
                    <a:pt x="123" y="296"/>
                  </a:cubicBezTo>
                  <a:cubicBezTo>
                    <a:pt x="113" y="305"/>
                    <a:pt x="96" y="320"/>
                    <a:pt x="85" y="342"/>
                  </a:cubicBezTo>
                  <a:cubicBezTo>
                    <a:pt x="87" y="344"/>
                    <a:pt x="91" y="346"/>
                    <a:pt x="94" y="346"/>
                  </a:cubicBezTo>
                  <a:cubicBezTo>
                    <a:pt x="97" y="343"/>
                    <a:pt x="109" y="321"/>
                    <a:pt x="128" y="303"/>
                  </a:cubicBezTo>
                  <a:cubicBezTo>
                    <a:pt x="166" y="267"/>
                    <a:pt x="211" y="259"/>
                    <a:pt x="235" y="259"/>
                  </a:cubicBezTo>
                  <a:cubicBezTo>
                    <a:pt x="236" y="249"/>
                    <a:pt x="237" y="239"/>
                    <a:pt x="237" y="229"/>
                  </a:cubicBezTo>
                  <a:cubicBezTo>
                    <a:pt x="237" y="212"/>
                    <a:pt x="235" y="195"/>
                    <a:pt x="231" y="181"/>
                  </a:cubicBezTo>
                  <a:cubicBezTo>
                    <a:pt x="259" y="149"/>
                    <a:pt x="259" y="149"/>
                    <a:pt x="259" y="149"/>
                  </a:cubicBezTo>
                  <a:cubicBezTo>
                    <a:pt x="259" y="149"/>
                    <a:pt x="261" y="147"/>
                    <a:pt x="261" y="146"/>
                  </a:cubicBezTo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0" name="Freeform 68"/>
            <p:cNvSpPr>
              <a:spLocks/>
            </p:cNvSpPr>
            <p:nvPr/>
          </p:nvSpPr>
          <p:spPr bwMode="gray">
            <a:xfrm>
              <a:off x="3505201" y="3119438"/>
              <a:ext cx="82550" cy="117475"/>
            </a:xfrm>
            <a:custGeom>
              <a:avLst/>
              <a:gdLst>
                <a:gd name="T0" fmla="*/ 20 w 22"/>
                <a:gd name="T1" fmla="*/ 31 h 31"/>
                <a:gd name="T2" fmla="*/ 11 w 22"/>
                <a:gd name="T3" fmla="*/ 28 h 31"/>
                <a:gd name="T4" fmla="*/ 1 w 22"/>
                <a:gd name="T5" fmla="*/ 31 h 31"/>
                <a:gd name="T6" fmla="*/ 0 w 22"/>
                <a:gd name="T7" fmla="*/ 26 h 31"/>
                <a:gd name="T8" fmla="*/ 2 w 22"/>
                <a:gd name="T9" fmla="*/ 24 h 31"/>
                <a:gd name="T10" fmla="*/ 1 w 22"/>
                <a:gd name="T11" fmla="*/ 6 h 31"/>
                <a:gd name="T12" fmla="*/ 8 w 22"/>
                <a:gd name="T13" fmla="*/ 2 h 31"/>
                <a:gd name="T14" fmla="*/ 10 w 22"/>
                <a:gd name="T15" fmla="*/ 0 h 31"/>
                <a:gd name="T16" fmla="*/ 17 w 22"/>
                <a:gd name="T17" fmla="*/ 7 h 31"/>
                <a:gd name="T18" fmla="*/ 19 w 22"/>
                <a:gd name="T19" fmla="*/ 15 h 31"/>
                <a:gd name="T20" fmla="*/ 19 w 22"/>
                <a:gd name="T21" fmla="*/ 25 h 31"/>
                <a:gd name="T22" fmla="*/ 21 w 22"/>
                <a:gd name="T23" fmla="*/ 28 h 31"/>
                <a:gd name="T24" fmla="*/ 20 w 22"/>
                <a:gd name="T25" fmla="*/ 31 h 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" h="31">
                  <a:moveTo>
                    <a:pt x="20" y="31"/>
                  </a:moveTo>
                  <a:cubicBezTo>
                    <a:pt x="19" y="30"/>
                    <a:pt x="14" y="28"/>
                    <a:pt x="11" y="28"/>
                  </a:cubicBezTo>
                  <a:cubicBezTo>
                    <a:pt x="7" y="28"/>
                    <a:pt x="4" y="29"/>
                    <a:pt x="1" y="31"/>
                  </a:cubicBezTo>
                  <a:cubicBezTo>
                    <a:pt x="0" y="30"/>
                    <a:pt x="0" y="28"/>
                    <a:pt x="0" y="26"/>
                  </a:cubicBezTo>
                  <a:cubicBezTo>
                    <a:pt x="1" y="25"/>
                    <a:pt x="2" y="24"/>
                    <a:pt x="2" y="24"/>
                  </a:cubicBezTo>
                  <a:cubicBezTo>
                    <a:pt x="1" y="6"/>
                    <a:pt x="1" y="6"/>
                    <a:pt x="1" y="6"/>
                  </a:cubicBezTo>
                  <a:cubicBezTo>
                    <a:pt x="1" y="6"/>
                    <a:pt x="6" y="3"/>
                    <a:pt x="8" y="2"/>
                  </a:cubicBezTo>
                  <a:cubicBezTo>
                    <a:pt x="9" y="2"/>
                    <a:pt x="10" y="1"/>
                    <a:pt x="10" y="0"/>
                  </a:cubicBezTo>
                  <a:cubicBezTo>
                    <a:pt x="12" y="1"/>
                    <a:pt x="15" y="4"/>
                    <a:pt x="17" y="7"/>
                  </a:cubicBezTo>
                  <a:cubicBezTo>
                    <a:pt x="18" y="9"/>
                    <a:pt x="19" y="12"/>
                    <a:pt x="19" y="15"/>
                  </a:cubicBezTo>
                  <a:cubicBezTo>
                    <a:pt x="20" y="18"/>
                    <a:pt x="20" y="21"/>
                    <a:pt x="19" y="25"/>
                  </a:cubicBezTo>
                  <a:cubicBezTo>
                    <a:pt x="20" y="25"/>
                    <a:pt x="21" y="26"/>
                    <a:pt x="21" y="28"/>
                  </a:cubicBezTo>
                  <a:cubicBezTo>
                    <a:pt x="22" y="29"/>
                    <a:pt x="21" y="30"/>
                    <a:pt x="20" y="31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1" name="Freeform 69"/>
            <p:cNvSpPr>
              <a:spLocks/>
            </p:cNvSpPr>
            <p:nvPr/>
          </p:nvSpPr>
          <p:spPr bwMode="gray">
            <a:xfrm>
              <a:off x="4165601" y="3319463"/>
              <a:ext cx="161925" cy="128588"/>
            </a:xfrm>
            <a:custGeom>
              <a:avLst/>
              <a:gdLst>
                <a:gd name="T0" fmla="*/ 7 w 43"/>
                <a:gd name="T1" fmla="*/ 34 h 34"/>
                <a:gd name="T2" fmla="*/ 0 w 43"/>
                <a:gd name="T3" fmla="*/ 19 h 34"/>
                <a:gd name="T4" fmla="*/ 43 w 43"/>
                <a:gd name="T5" fmla="*/ 0 h 34"/>
                <a:gd name="T6" fmla="*/ 7 w 43"/>
                <a:gd name="T7" fmla="*/ 34 h 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3" h="34">
                  <a:moveTo>
                    <a:pt x="7" y="34"/>
                  </a:moveTo>
                  <a:cubicBezTo>
                    <a:pt x="7" y="30"/>
                    <a:pt x="3" y="21"/>
                    <a:pt x="0" y="19"/>
                  </a:cubicBezTo>
                  <a:cubicBezTo>
                    <a:pt x="43" y="0"/>
                    <a:pt x="43" y="0"/>
                    <a:pt x="43" y="0"/>
                  </a:cubicBezTo>
                  <a:lnTo>
                    <a:pt x="7" y="3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2" name="Freeform 70"/>
            <p:cNvSpPr>
              <a:spLocks/>
            </p:cNvSpPr>
            <p:nvPr/>
          </p:nvSpPr>
          <p:spPr bwMode="gray">
            <a:xfrm>
              <a:off x="3756026" y="3179763"/>
              <a:ext cx="136525" cy="166688"/>
            </a:xfrm>
            <a:custGeom>
              <a:avLst/>
              <a:gdLst>
                <a:gd name="T0" fmla="*/ 0 w 36"/>
                <a:gd name="T1" fmla="*/ 0 h 44"/>
                <a:gd name="T2" fmla="*/ 36 w 36"/>
                <a:gd name="T3" fmla="*/ 33 h 44"/>
                <a:gd name="T4" fmla="*/ 26 w 36"/>
                <a:gd name="T5" fmla="*/ 44 h 44"/>
                <a:gd name="T6" fmla="*/ 0 w 36"/>
                <a:gd name="T7" fmla="*/ 0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44">
                  <a:moveTo>
                    <a:pt x="0" y="0"/>
                  </a:moveTo>
                  <a:cubicBezTo>
                    <a:pt x="36" y="33"/>
                    <a:pt x="36" y="33"/>
                    <a:pt x="36" y="33"/>
                  </a:cubicBezTo>
                  <a:cubicBezTo>
                    <a:pt x="32" y="35"/>
                    <a:pt x="27" y="40"/>
                    <a:pt x="26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3" name="Freeform 71"/>
            <p:cNvSpPr>
              <a:spLocks/>
            </p:cNvSpPr>
            <p:nvPr/>
          </p:nvSpPr>
          <p:spPr bwMode="gray">
            <a:xfrm>
              <a:off x="3783013" y="3398838"/>
              <a:ext cx="52388" cy="68263"/>
            </a:xfrm>
            <a:custGeom>
              <a:avLst/>
              <a:gdLst>
                <a:gd name="T0" fmla="*/ 14 w 14"/>
                <a:gd name="T1" fmla="*/ 7 h 18"/>
                <a:gd name="T2" fmla="*/ 12 w 14"/>
                <a:gd name="T3" fmla="*/ 12 h 18"/>
                <a:gd name="T4" fmla="*/ 12 w 14"/>
                <a:gd name="T5" fmla="*/ 18 h 18"/>
                <a:gd name="T6" fmla="*/ 1 w 14"/>
                <a:gd name="T7" fmla="*/ 10 h 18"/>
                <a:gd name="T8" fmla="*/ 0 w 14"/>
                <a:gd name="T9" fmla="*/ 1 h 18"/>
                <a:gd name="T10" fmla="*/ 0 w 14"/>
                <a:gd name="T11" fmla="*/ 0 h 18"/>
                <a:gd name="T12" fmla="*/ 14 w 14"/>
                <a:gd name="T13" fmla="*/ 7 h 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4" h="18">
                  <a:moveTo>
                    <a:pt x="14" y="7"/>
                  </a:moveTo>
                  <a:cubicBezTo>
                    <a:pt x="13" y="9"/>
                    <a:pt x="12" y="10"/>
                    <a:pt x="12" y="12"/>
                  </a:cubicBezTo>
                  <a:cubicBezTo>
                    <a:pt x="11" y="15"/>
                    <a:pt x="12" y="16"/>
                    <a:pt x="12" y="18"/>
                  </a:cubicBezTo>
                  <a:cubicBezTo>
                    <a:pt x="1" y="10"/>
                    <a:pt x="1" y="10"/>
                    <a:pt x="1" y="10"/>
                  </a:cubicBezTo>
                  <a:cubicBezTo>
                    <a:pt x="1" y="8"/>
                    <a:pt x="0" y="3"/>
                    <a:pt x="0" y="1"/>
                  </a:cubicBezTo>
                  <a:cubicBezTo>
                    <a:pt x="0" y="1"/>
                    <a:pt x="0" y="1"/>
                    <a:pt x="0" y="0"/>
                  </a:cubicBezTo>
                  <a:lnTo>
                    <a:pt x="14" y="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4" name="Freeform 72"/>
            <p:cNvSpPr>
              <a:spLocks/>
            </p:cNvSpPr>
            <p:nvPr/>
          </p:nvSpPr>
          <p:spPr bwMode="gray">
            <a:xfrm>
              <a:off x="3535363" y="3035300"/>
              <a:ext cx="247650" cy="601663"/>
            </a:xfrm>
            <a:custGeom>
              <a:avLst/>
              <a:gdLst>
                <a:gd name="T0" fmla="*/ 19 w 66"/>
                <a:gd name="T1" fmla="*/ 106 h 159"/>
                <a:gd name="T2" fmla="*/ 15 w 66"/>
                <a:gd name="T3" fmla="*/ 36 h 159"/>
                <a:gd name="T4" fmla="*/ 19 w 66"/>
                <a:gd name="T5" fmla="*/ 34 h 159"/>
                <a:gd name="T6" fmla="*/ 19 w 66"/>
                <a:gd name="T7" fmla="*/ 33 h 159"/>
                <a:gd name="T8" fmla="*/ 12 w 66"/>
                <a:gd name="T9" fmla="*/ 30 h 159"/>
                <a:gd name="T10" fmla="*/ 11 w 66"/>
                <a:gd name="T11" fmla="*/ 10 h 159"/>
                <a:gd name="T12" fmla="*/ 3 w 66"/>
                <a:gd name="T13" fmla="*/ 7 h 159"/>
                <a:gd name="T14" fmla="*/ 2 w 66"/>
                <a:gd name="T15" fmla="*/ 0 h 159"/>
                <a:gd name="T16" fmla="*/ 13 w 66"/>
                <a:gd name="T17" fmla="*/ 3 h 159"/>
                <a:gd name="T18" fmla="*/ 17 w 66"/>
                <a:gd name="T19" fmla="*/ 5 h 159"/>
                <a:gd name="T20" fmla="*/ 22 w 66"/>
                <a:gd name="T21" fmla="*/ 7 h 159"/>
                <a:gd name="T22" fmla="*/ 23 w 66"/>
                <a:gd name="T23" fmla="*/ 11 h 159"/>
                <a:gd name="T24" fmla="*/ 57 w 66"/>
                <a:gd name="T25" fmla="*/ 98 h 159"/>
                <a:gd name="T26" fmla="*/ 60 w 66"/>
                <a:gd name="T27" fmla="*/ 114 h 159"/>
                <a:gd name="T28" fmla="*/ 66 w 66"/>
                <a:gd name="T29" fmla="*/ 128 h 159"/>
                <a:gd name="T30" fmla="*/ 48 w 66"/>
                <a:gd name="T31" fmla="*/ 136 h 159"/>
                <a:gd name="T32" fmla="*/ 36 w 66"/>
                <a:gd name="T33" fmla="*/ 159 h 159"/>
                <a:gd name="T34" fmla="*/ 19 w 66"/>
                <a:gd name="T35" fmla="*/ 106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6" h="159">
                  <a:moveTo>
                    <a:pt x="19" y="106"/>
                  </a:moveTo>
                  <a:cubicBezTo>
                    <a:pt x="19" y="105"/>
                    <a:pt x="15" y="39"/>
                    <a:pt x="15" y="36"/>
                  </a:cubicBezTo>
                  <a:cubicBezTo>
                    <a:pt x="19" y="34"/>
                    <a:pt x="19" y="34"/>
                    <a:pt x="19" y="34"/>
                  </a:cubicBezTo>
                  <a:cubicBezTo>
                    <a:pt x="19" y="33"/>
                    <a:pt x="19" y="33"/>
                    <a:pt x="19" y="33"/>
                  </a:cubicBezTo>
                  <a:cubicBezTo>
                    <a:pt x="16" y="33"/>
                    <a:pt x="13" y="32"/>
                    <a:pt x="12" y="30"/>
                  </a:cubicBezTo>
                  <a:cubicBezTo>
                    <a:pt x="11" y="10"/>
                    <a:pt x="11" y="10"/>
                    <a:pt x="11" y="10"/>
                  </a:cubicBezTo>
                  <a:cubicBezTo>
                    <a:pt x="8" y="10"/>
                    <a:pt x="4" y="9"/>
                    <a:pt x="3" y="7"/>
                  </a:cubicBezTo>
                  <a:cubicBezTo>
                    <a:pt x="1" y="6"/>
                    <a:pt x="0" y="4"/>
                    <a:pt x="2" y="0"/>
                  </a:cubicBezTo>
                  <a:cubicBezTo>
                    <a:pt x="3" y="1"/>
                    <a:pt x="9" y="3"/>
                    <a:pt x="13" y="3"/>
                  </a:cubicBezTo>
                  <a:cubicBezTo>
                    <a:pt x="14" y="3"/>
                    <a:pt x="16" y="5"/>
                    <a:pt x="17" y="5"/>
                  </a:cubicBezTo>
                  <a:cubicBezTo>
                    <a:pt x="18" y="6"/>
                    <a:pt x="21" y="7"/>
                    <a:pt x="22" y="7"/>
                  </a:cubicBezTo>
                  <a:cubicBezTo>
                    <a:pt x="23" y="8"/>
                    <a:pt x="23" y="10"/>
                    <a:pt x="23" y="11"/>
                  </a:cubicBezTo>
                  <a:cubicBezTo>
                    <a:pt x="24" y="12"/>
                    <a:pt x="57" y="97"/>
                    <a:pt x="57" y="98"/>
                  </a:cubicBezTo>
                  <a:cubicBezTo>
                    <a:pt x="58" y="99"/>
                    <a:pt x="60" y="113"/>
                    <a:pt x="60" y="114"/>
                  </a:cubicBezTo>
                  <a:cubicBezTo>
                    <a:pt x="60" y="115"/>
                    <a:pt x="65" y="127"/>
                    <a:pt x="66" y="128"/>
                  </a:cubicBezTo>
                  <a:cubicBezTo>
                    <a:pt x="61" y="128"/>
                    <a:pt x="54" y="130"/>
                    <a:pt x="48" y="136"/>
                  </a:cubicBezTo>
                  <a:cubicBezTo>
                    <a:pt x="43" y="141"/>
                    <a:pt x="38" y="154"/>
                    <a:pt x="36" y="159"/>
                  </a:cubicBezTo>
                  <a:cubicBezTo>
                    <a:pt x="36" y="156"/>
                    <a:pt x="20" y="107"/>
                    <a:pt x="19" y="106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5" name="Freeform 73"/>
            <p:cNvSpPr>
              <a:spLocks/>
            </p:cNvSpPr>
            <p:nvPr/>
          </p:nvSpPr>
          <p:spPr bwMode="gray">
            <a:xfrm>
              <a:off x="3673476" y="3535363"/>
              <a:ext cx="206375" cy="407988"/>
            </a:xfrm>
            <a:custGeom>
              <a:avLst/>
              <a:gdLst>
                <a:gd name="T0" fmla="*/ 24 w 55"/>
                <a:gd name="T1" fmla="*/ 55 h 108"/>
                <a:gd name="T2" fmla="*/ 14 w 55"/>
                <a:gd name="T3" fmla="*/ 88 h 108"/>
                <a:gd name="T4" fmla="*/ 0 w 55"/>
                <a:gd name="T5" fmla="*/ 108 h 108"/>
                <a:gd name="T6" fmla="*/ 5 w 55"/>
                <a:gd name="T7" fmla="*/ 73 h 108"/>
                <a:gd name="T8" fmla="*/ 5 w 55"/>
                <a:gd name="T9" fmla="*/ 36 h 108"/>
                <a:gd name="T10" fmla="*/ 19 w 55"/>
                <a:gd name="T11" fmla="*/ 9 h 108"/>
                <a:gd name="T12" fmla="*/ 44 w 55"/>
                <a:gd name="T13" fmla="*/ 3 h 108"/>
                <a:gd name="T14" fmla="*/ 55 w 55"/>
                <a:gd name="T15" fmla="*/ 22 h 108"/>
                <a:gd name="T16" fmla="*/ 37 w 55"/>
                <a:gd name="T17" fmla="*/ 26 h 108"/>
                <a:gd name="T18" fmla="*/ 24 w 55"/>
                <a:gd name="T19" fmla="*/ 55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5" h="108">
                  <a:moveTo>
                    <a:pt x="24" y="55"/>
                  </a:moveTo>
                  <a:cubicBezTo>
                    <a:pt x="22" y="68"/>
                    <a:pt x="19" y="80"/>
                    <a:pt x="14" y="88"/>
                  </a:cubicBezTo>
                  <a:cubicBezTo>
                    <a:pt x="11" y="93"/>
                    <a:pt x="3" y="104"/>
                    <a:pt x="0" y="108"/>
                  </a:cubicBezTo>
                  <a:cubicBezTo>
                    <a:pt x="3" y="101"/>
                    <a:pt x="6" y="85"/>
                    <a:pt x="5" y="73"/>
                  </a:cubicBezTo>
                  <a:cubicBezTo>
                    <a:pt x="5" y="65"/>
                    <a:pt x="3" y="48"/>
                    <a:pt x="5" y="36"/>
                  </a:cubicBezTo>
                  <a:cubicBezTo>
                    <a:pt x="7" y="24"/>
                    <a:pt x="11" y="17"/>
                    <a:pt x="19" y="9"/>
                  </a:cubicBezTo>
                  <a:cubicBezTo>
                    <a:pt x="23" y="5"/>
                    <a:pt x="32" y="0"/>
                    <a:pt x="44" y="3"/>
                  </a:cubicBezTo>
                  <a:cubicBezTo>
                    <a:pt x="55" y="22"/>
                    <a:pt x="55" y="22"/>
                    <a:pt x="55" y="22"/>
                  </a:cubicBezTo>
                  <a:cubicBezTo>
                    <a:pt x="49" y="21"/>
                    <a:pt x="42" y="22"/>
                    <a:pt x="37" y="26"/>
                  </a:cubicBezTo>
                  <a:cubicBezTo>
                    <a:pt x="28" y="33"/>
                    <a:pt x="25" y="42"/>
                    <a:pt x="24" y="55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6" name="Freeform 74"/>
            <p:cNvSpPr>
              <a:spLocks/>
            </p:cNvSpPr>
            <p:nvPr/>
          </p:nvSpPr>
          <p:spPr bwMode="gray">
            <a:xfrm>
              <a:off x="3767138" y="3640138"/>
              <a:ext cx="180975" cy="201613"/>
            </a:xfrm>
            <a:custGeom>
              <a:avLst/>
              <a:gdLst>
                <a:gd name="T0" fmla="*/ 0 w 48"/>
                <a:gd name="T1" fmla="*/ 53 h 53"/>
                <a:gd name="T2" fmla="*/ 6 w 48"/>
                <a:gd name="T3" fmla="*/ 27 h 53"/>
                <a:gd name="T4" fmla="*/ 17 w 48"/>
                <a:gd name="T5" fmla="*/ 3 h 53"/>
                <a:gd name="T6" fmla="*/ 30 w 48"/>
                <a:gd name="T7" fmla="*/ 0 h 53"/>
                <a:gd name="T8" fmla="*/ 41 w 48"/>
                <a:gd name="T9" fmla="*/ 24 h 53"/>
                <a:gd name="T10" fmla="*/ 48 w 48"/>
                <a:gd name="T11" fmla="*/ 27 h 53"/>
                <a:gd name="T12" fmla="*/ 0 w 48"/>
                <a:gd name="T13" fmla="*/ 53 h 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53">
                  <a:moveTo>
                    <a:pt x="0" y="53"/>
                  </a:moveTo>
                  <a:cubicBezTo>
                    <a:pt x="2" y="48"/>
                    <a:pt x="6" y="32"/>
                    <a:pt x="6" y="27"/>
                  </a:cubicBezTo>
                  <a:cubicBezTo>
                    <a:pt x="8" y="20"/>
                    <a:pt x="9" y="10"/>
                    <a:pt x="17" y="3"/>
                  </a:cubicBezTo>
                  <a:cubicBezTo>
                    <a:pt x="21" y="0"/>
                    <a:pt x="27" y="0"/>
                    <a:pt x="30" y="0"/>
                  </a:cubicBezTo>
                  <a:cubicBezTo>
                    <a:pt x="41" y="24"/>
                    <a:pt x="41" y="24"/>
                    <a:pt x="41" y="24"/>
                  </a:cubicBezTo>
                  <a:cubicBezTo>
                    <a:pt x="42" y="26"/>
                    <a:pt x="45" y="27"/>
                    <a:pt x="48" y="27"/>
                  </a:cubicBezTo>
                  <a:cubicBezTo>
                    <a:pt x="37" y="30"/>
                    <a:pt x="10" y="43"/>
                    <a:pt x="0" y="53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7" name="Freeform 75"/>
            <p:cNvSpPr>
              <a:spLocks/>
            </p:cNvSpPr>
            <p:nvPr/>
          </p:nvSpPr>
          <p:spPr bwMode="gray">
            <a:xfrm>
              <a:off x="4124326" y="3530600"/>
              <a:ext cx="95250" cy="152400"/>
            </a:xfrm>
            <a:custGeom>
              <a:avLst/>
              <a:gdLst>
                <a:gd name="T0" fmla="*/ 2 w 25"/>
                <a:gd name="T1" fmla="*/ 8 h 40"/>
                <a:gd name="T2" fmla="*/ 2 w 25"/>
                <a:gd name="T3" fmla="*/ 16 h 40"/>
                <a:gd name="T4" fmla="*/ 9 w 25"/>
                <a:gd name="T5" fmla="*/ 29 h 40"/>
                <a:gd name="T6" fmla="*/ 14 w 25"/>
                <a:gd name="T7" fmla="*/ 40 h 40"/>
                <a:gd name="T8" fmla="*/ 25 w 25"/>
                <a:gd name="T9" fmla="*/ 40 h 40"/>
                <a:gd name="T10" fmla="*/ 11 w 25"/>
                <a:gd name="T11" fmla="*/ 14 h 40"/>
                <a:gd name="T12" fmla="*/ 11 w 25"/>
                <a:gd name="T13" fmla="*/ 0 h 40"/>
                <a:gd name="T14" fmla="*/ 2 w 25"/>
                <a:gd name="T15" fmla="*/ 8 h 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5" h="40">
                  <a:moveTo>
                    <a:pt x="2" y="8"/>
                  </a:moveTo>
                  <a:cubicBezTo>
                    <a:pt x="0" y="11"/>
                    <a:pt x="1" y="14"/>
                    <a:pt x="2" y="16"/>
                  </a:cubicBezTo>
                  <a:cubicBezTo>
                    <a:pt x="3" y="18"/>
                    <a:pt x="9" y="29"/>
                    <a:pt x="9" y="29"/>
                  </a:cubicBezTo>
                  <a:cubicBezTo>
                    <a:pt x="11" y="34"/>
                    <a:pt x="12" y="36"/>
                    <a:pt x="14" y="40"/>
                  </a:cubicBezTo>
                  <a:cubicBezTo>
                    <a:pt x="17" y="40"/>
                    <a:pt x="21" y="40"/>
                    <a:pt x="25" y="40"/>
                  </a:cubicBezTo>
                  <a:cubicBezTo>
                    <a:pt x="21" y="31"/>
                    <a:pt x="11" y="14"/>
                    <a:pt x="11" y="14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8" y="1"/>
                    <a:pt x="4" y="5"/>
                    <a:pt x="2" y="8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8" name="Freeform 76"/>
            <p:cNvSpPr>
              <a:spLocks/>
            </p:cNvSpPr>
            <p:nvPr/>
          </p:nvSpPr>
          <p:spPr bwMode="gray">
            <a:xfrm>
              <a:off x="3948113" y="3065463"/>
              <a:ext cx="68263" cy="223838"/>
            </a:xfrm>
            <a:custGeom>
              <a:avLst/>
              <a:gdLst>
                <a:gd name="T0" fmla="*/ 0 w 18"/>
                <a:gd name="T1" fmla="*/ 57 h 59"/>
                <a:gd name="T2" fmla="*/ 18 w 18"/>
                <a:gd name="T3" fmla="*/ 59 h 59"/>
                <a:gd name="T4" fmla="*/ 8 w 18"/>
                <a:gd name="T5" fmla="*/ 0 h 59"/>
                <a:gd name="T6" fmla="*/ 0 w 18"/>
                <a:gd name="T7" fmla="*/ 57 h 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8" h="59">
                  <a:moveTo>
                    <a:pt x="0" y="57"/>
                  </a:moveTo>
                  <a:cubicBezTo>
                    <a:pt x="5" y="56"/>
                    <a:pt x="15" y="57"/>
                    <a:pt x="18" y="59"/>
                  </a:cubicBezTo>
                  <a:cubicBezTo>
                    <a:pt x="8" y="0"/>
                    <a:pt x="8" y="0"/>
                    <a:pt x="8" y="0"/>
                  </a:cubicBezTo>
                  <a:lnTo>
                    <a:pt x="0" y="5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9" name="Freeform 77"/>
            <p:cNvSpPr>
              <a:spLocks/>
            </p:cNvSpPr>
            <p:nvPr/>
          </p:nvSpPr>
          <p:spPr bwMode="gray">
            <a:xfrm>
              <a:off x="3535363" y="3035300"/>
              <a:ext cx="247650" cy="601663"/>
            </a:xfrm>
            <a:custGeom>
              <a:avLst/>
              <a:gdLst>
                <a:gd name="T0" fmla="*/ 23 w 66"/>
                <a:gd name="T1" fmla="*/ 11 h 159"/>
                <a:gd name="T2" fmla="*/ 22 w 66"/>
                <a:gd name="T3" fmla="*/ 7 h 159"/>
                <a:gd name="T4" fmla="*/ 17 w 66"/>
                <a:gd name="T5" fmla="*/ 5 h 159"/>
                <a:gd name="T6" fmla="*/ 13 w 66"/>
                <a:gd name="T7" fmla="*/ 3 h 159"/>
                <a:gd name="T8" fmla="*/ 2 w 66"/>
                <a:gd name="T9" fmla="*/ 0 h 159"/>
                <a:gd name="T10" fmla="*/ 3 w 66"/>
                <a:gd name="T11" fmla="*/ 7 h 159"/>
                <a:gd name="T12" fmla="*/ 11 w 66"/>
                <a:gd name="T13" fmla="*/ 10 h 159"/>
                <a:gd name="T14" fmla="*/ 12 w 66"/>
                <a:gd name="T15" fmla="*/ 30 h 159"/>
                <a:gd name="T16" fmla="*/ 19 w 66"/>
                <a:gd name="T17" fmla="*/ 33 h 159"/>
                <a:gd name="T18" fmla="*/ 19 w 66"/>
                <a:gd name="T19" fmla="*/ 34 h 159"/>
                <a:gd name="T20" fmla="*/ 15 w 66"/>
                <a:gd name="T21" fmla="*/ 36 h 159"/>
                <a:gd name="T22" fmla="*/ 19 w 66"/>
                <a:gd name="T23" fmla="*/ 106 h 159"/>
                <a:gd name="T24" fmla="*/ 36 w 66"/>
                <a:gd name="T25" fmla="*/ 159 h 159"/>
                <a:gd name="T26" fmla="*/ 48 w 66"/>
                <a:gd name="T27" fmla="*/ 136 h 159"/>
                <a:gd name="T28" fmla="*/ 66 w 66"/>
                <a:gd name="T29" fmla="*/ 128 h 159"/>
                <a:gd name="T30" fmla="*/ 60 w 66"/>
                <a:gd name="T31" fmla="*/ 114 h 159"/>
                <a:gd name="T32" fmla="*/ 57 w 66"/>
                <a:gd name="T33" fmla="*/ 98 h 159"/>
                <a:gd name="T34" fmla="*/ 23 w 66"/>
                <a:gd name="T35" fmla="*/ 11 h 1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6" h="159">
                  <a:moveTo>
                    <a:pt x="23" y="11"/>
                  </a:moveTo>
                  <a:cubicBezTo>
                    <a:pt x="23" y="10"/>
                    <a:pt x="23" y="8"/>
                    <a:pt x="22" y="7"/>
                  </a:cubicBezTo>
                  <a:cubicBezTo>
                    <a:pt x="21" y="7"/>
                    <a:pt x="18" y="6"/>
                    <a:pt x="17" y="5"/>
                  </a:cubicBezTo>
                  <a:cubicBezTo>
                    <a:pt x="16" y="5"/>
                    <a:pt x="14" y="3"/>
                    <a:pt x="13" y="3"/>
                  </a:cubicBezTo>
                  <a:cubicBezTo>
                    <a:pt x="9" y="3"/>
                    <a:pt x="3" y="1"/>
                    <a:pt x="2" y="0"/>
                  </a:cubicBezTo>
                  <a:cubicBezTo>
                    <a:pt x="0" y="4"/>
                    <a:pt x="1" y="6"/>
                    <a:pt x="3" y="7"/>
                  </a:cubicBezTo>
                  <a:cubicBezTo>
                    <a:pt x="4" y="9"/>
                    <a:pt x="8" y="10"/>
                    <a:pt x="11" y="10"/>
                  </a:cubicBezTo>
                  <a:cubicBezTo>
                    <a:pt x="12" y="30"/>
                    <a:pt x="12" y="30"/>
                    <a:pt x="12" y="30"/>
                  </a:cubicBezTo>
                  <a:cubicBezTo>
                    <a:pt x="13" y="32"/>
                    <a:pt x="16" y="33"/>
                    <a:pt x="19" y="33"/>
                  </a:cubicBezTo>
                  <a:cubicBezTo>
                    <a:pt x="19" y="34"/>
                    <a:pt x="19" y="34"/>
                    <a:pt x="19" y="34"/>
                  </a:cubicBezTo>
                  <a:cubicBezTo>
                    <a:pt x="15" y="36"/>
                    <a:pt x="15" y="36"/>
                    <a:pt x="15" y="36"/>
                  </a:cubicBezTo>
                  <a:cubicBezTo>
                    <a:pt x="15" y="39"/>
                    <a:pt x="19" y="105"/>
                    <a:pt x="19" y="106"/>
                  </a:cubicBezTo>
                  <a:cubicBezTo>
                    <a:pt x="20" y="107"/>
                    <a:pt x="36" y="156"/>
                    <a:pt x="36" y="159"/>
                  </a:cubicBezTo>
                  <a:cubicBezTo>
                    <a:pt x="38" y="154"/>
                    <a:pt x="43" y="141"/>
                    <a:pt x="48" y="136"/>
                  </a:cubicBezTo>
                  <a:cubicBezTo>
                    <a:pt x="54" y="130"/>
                    <a:pt x="61" y="128"/>
                    <a:pt x="66" y="128"/>
                  </a:cubicBezTo>
                  <a:cubicBezTo>
                    <a:pt x="65" y="127"/>
                    <a:pt x="60" y="115"/>
                    <a:pt x="60" y="114"/>
                  </a:cubicBezTo>
                  <a:cubicBezTo>
                    <a:pt x="60" y="113"/>
                    <a:pt x="58" y="99"/>
                    <a:pt x="57" y="98"/>
                  </a:cubicBezTo>
                  <a:cubicBezTo>
                    <a:pt x="57" y="97"/>
                    <a:pt x="24" y="12"/>
                    <a:pt x="23" y="11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0" name="Freeform 78"/>
            <p:cNvSpPr>
              <a:spLocks/>
            </p:cNvSpPr>
            <p:nvPr/>
          </p:nvSpPr>
          <p:spPr bwMode="gray">
            <a:xfrm>
              <a:off x="3489326" y="2994025"/>
              <a:ext cx="117475" cy="46038"/>
            </a:xfrm>
            <a:custGeom>
              <a:avLst/>
              <a:gdLst>
                <a:gd name="T0" fmla="*/ 15 w 31"/>
                <a:gd name="T1" fmla="*/ 6 h 12"/>
                <a:gd name="T2" fmla="*/ 30 w 31"/>
                <a:gd name="T3" fmla="*/ 12 h 12"/>
                <a:gd name="T4" fmla="*/ 27 w 31"/>
                <a:gd name="T5" fmla="*/ 3 h 12"/>
                <a:gd name="T6" fmla="*/ 14 w 31"/>
                <a:gd name="T7" fmla="*/ 0 h 12"/>
                <a:gd name="T8" fmla="*/ 3 w 31"/>
                <a:gd name="T9" fmla="*/ 3 h 12"/>
                <a:gd name="T10" fmla="*/ 0 w 31"/>
                <a:gd name="T11" fmla="*/ 11 h 12"/>
                <a:gd name="T12" fmla="*/ 15 w 31"/>
                <a:gd name="T13" fmla="*/ 6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1" h="12">
                  <a:moveTo>
                    <a:pt x="15" y="6"/>
                  </a:moveTo>
                  <a:cubicBezTo>
                    <a:pt x="24" y="6"/>
                    <a:pt x="28" y="10"/>
                    <a:pt x="30" y="12"/>
                  </a:cubicBezTo>
                  <a:cubicBezTo>
                    <a:pt x="31" y="8"/>
                    <a:pt x="30" y="6"/>
                    <a:pt x="27" y="3"/>
                  </a:cubicBezTo>
                  <a:cubicBezTo>
                    <a:pt x="25" y="1"/>
                    <a:pt x="21" y="0"/>
                    <a:pt x="14" y="0"/>
                  </a:cubicBezTo>
                  <a:cubicBezTo>
                    <a:pt x="10" y="0"/>
                    <a:pt x="5" y="1"/>
                    <a:pt x="3" y="3"/>
                  </a:cubicBezTo>
                  <a:cubicBezTo>
                    <a:pt x="0" y="5"/>
                    <a:pt x="0" y="8"/>
                    <a:pt x="0" y="11"/>
                  </a:cubicBezTo>
                  <a:cubicBezTo>
                    <a:pt x="1" y="9"/>
                    <a:pt x="7" y="6"/>
                    <a:pt x="15" y="6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1" name="Freeform 79"/>
            <p:cNvSpPr>
              <a:spLocks/>
            </p:cNvSpPr>
            <p:nvPr/>
          </p:nvSpPr>
          <p:spPr bwMode="gray">
            <a:xfrm>
              <a:off x="3482976" y="2778125"/>
              <a:ext cx="242888" cy="106363"/>
            </a:xfrm>
            <a:custGeom>
              <a:avLst/>
              <a:gdLst>
                <a:gd name="T0" fmla="*/ 0 w 65"/>
                <a:gd name="T1" fmla="*/ 14 h 28"/>
                <a:gd name="T2" fmla="*/ 2 w 65"/>
                <a:gd name="T3" fmla="*/ 24 h 28"/>
                <a:gd name="T4" fmla="*/ 7 w 65"/>
                <a:gd name="T5" fmla="*/ 27 h 28"/>
                <a:gd name="T6" fmla="*/ 17 w 65"/>
                <a:gd name="T7" fmla="*/ 23 h 28"/>
                <a:gd name="T8" fmla="*/ 26 w 65"/>
                <a:gd name="T9" fmla="*/ 28 h 28"/>
                <a:gd name="T10" fmla="*/ 32 w 65"/>
                <a:gd name="T11" fmla="*/ 26 h 28"/>
                <a:gd name="T12" fmla="*/ 36 w 65"/>
                <a:gd name="T13" fmla="*/ 28 h 28"/>
                <a:gd name="T14" fmla="*/ 41 w 65"/>
                <a:gd name="T15" fmla="*/ 22 h 28"/>
                <a:gd name="T16" fmla="*/ 62 w 65"/>
                <a:gd name="T17" fmla="*/ 12 h 28"/>
                <a:gd name="T18" fmla="*/ 65 w 65"/>
                <a:gd name="T19" fmla="*/ 2 h 28"/>
                <a:gd name="T20" fmla="*/ 52 w 65"/>
                <a:gd name="T21" fmla="*/ 8 h 28"/>
                <a:gd name="T22" fmla="*/ 40 w 65"/>
                <a:gd name="T23" fmla="*/ 6 h 28"/>
                <a:gd name="T24" fmla="*/ 41 w 65"/>
                <a:gd name="T25" fmla="*/ 0 h 28"/>
                <a:gd name="T26" fmla="*/ 28 w 65"/>
                <a:gd name="T27" fmla="*/ 2 h 28"/>
                <a:gd name="T28" fmla="*/ 15 w 65"/>
                <a:gd name="T29" fmla="*/ 1 h 28"/>
                <a:gd name="T30" fmla="*/ 0 w 65"/>
                <a:gd name="T31" fmla="*/ 14 h 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5" h="28">
                  <a:moveTo>
                    <a:pt x="0" y="14"/>
                  </a:moveTo>
                  <a:cubicBezTo>
                    <a:pt x="0" y="18"/>
                    <a:pt x="1" y="21"/>
                    <a:pt x="2" y="24"/>
                  </a:cubicBezTo>
                  <a:cubicBezTo>
                    <a:pt x="3" y="25"/>
                    <a:pt x="5" y="27"/>
                    <a:pt x="7" y="27"/>
                  </a:cubicBezTo>
                  <a:cubicBezTo>
                    <a:pt x="9" y="27"/>
                    <a:pt x="12" y="22"/>
                    <a:pt x="17" y="23"/>
                  </a:cubicBezTo>
                  <a:cubicBezTo>
                    <a:pt x="21" y="23"/>
                    <a:pt x="23" y="28"/>
                    <a:pt x="26" y="28"/>
                  </a:cubicBezTo>
                  <a:cubicBezTo>
                    <a:pt x="28" y="28"/>
                    <a:pt x="29" y="26"/>
                    <a:pt x="32" y="26"/>
                  </a:cubicBezTo>
                  <a:cubicBezTo>
                    <a:pt x="34" y="25"/>
                    <a:pt x="34" y="26"/>
                    <a:pt x="36" y="28"/>
                  </a:cubicBezTo>
                  <a:cubicBezTo>
                    <a:pt x="36" y="26"/>
                    <a:pt x="38" y="24"/>
                    <a:pt x="41" y="22"/>
                  </a:cubicBezTo>
                  <a:cubicBezTo>
                    <a:pt x="44" y="19"/>
                    <a:pt x="57" y="17"/>
                    <a:pt x="62" y="12"/>
                  </a:cubicBezTo>
                  <a:cubicBezTo>
                    <a:pt x="65" y="10"/>
                    <a:pt x="65" y="5"/>
                    <a:pt x="65" y="2"/>
                  </a:cubicBezTo>
                  <a:cubicBezTo>
                    <a:pt x="63" y="5"/>
                    <a:pt x="57" y="8"/>
                    <a:pt x="52" y="8"/>
                  </a:cubicBezTo>
                  <a:cubicBezTo>
                    <a:pt x="49" y="9"/>
                    <a:pt x="42" y="7"/>
                    <a:pt x="40" y="6"/>
                  </a:cubicBezTo>
                  <a:cubicBezTo>
                    <a:pt x="41" y="4"/>
                    <a:pt x="42" y="2"/>
                    <a:pt x="41" y="0"/>
                  </a:cubicBezTo>
                  <a:cubicBezTo>
                    <a:pt x="39" y="1"/>
                    <a:pt x="31" y="2"/>
                    <a:pt x="28" y="2"/>
                  </a:cubicBezTo>
                  <a:cubicBezTo>
                    <a:pt x="25" y="2"/>
                    <a:pt x="19" y="1"/>
                    <a:pt x="15" y="1"/>
                  </a:cubicBezTo>
                  <a:cubicBezTo>
                    <a:pt x="5" y="1"/>
                    <a:pt x="0" y="8"/>
                    <a:pt x="0" y="1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2" name="Freeform 80"/>
            <p:cNvSpPr>
              <a:spLocks/>
            </p:cNvSpPr>
            <p:nvPr/>
          </p:nvSpPr>
          <p:spPr bwMode="gray">
            <a:xfrm>
              <a:off x="3422651" y="2895600"/>
              <a:ext cx="247650" cy="125413"/>
            </a:xfrm>
            <a:custGeom>
              <a:avLst/>
              <a:gdLst>
                <a:gd name="T0" fmla="*/ 33 w 66"/>
                <a:gd name="T1" fmla="*/ 14 h 33"/>
                <a:gd name="T2" fmla="*/ 65 w 66"/>
                <a:gd name="T3" fmla="*/ 32 h 33"/>
                <a:gd name="T4" fmla="*/ 65 w 66"/>
                <a:gd name="T5" fmla="*/ 25 h 33"/>
                <a:gd name="T6" fmla="*/ 62 w 66"/>
                <a:gd name="T7" fmla="*/ 15 h 33"/>
                <a:gd name="T8" fmla="*/ 63 w 66"/>
                <a:gd name="T9" fmla="*/ 9 h 33"/>
                <a:gd name="T10" fmla="*/ 55 w 66"/>
                <a:gd name="T11" fmla="*/ 10 h 33"/>
                <a:gd name="T12" fmla="*/ 51 w 66"/>
                <a:gd name="T13" fmla="*/ 3 h 33"/>
                <a:gd name="T14" fmla="*/ 41 w 66"/>
                <a:gd name="T15" fmla="*/ 5 h 33"/>
                <a:gd name="T16" fmla="*/ 33 w 66"/>
                <a:gd name="T17" fmla="*/ 0 h 33"/>
                <a:gd name="T18" fmla="*/ 24 w 66"/>
                <a:gd name="T19" fmla="*/ 5 h 33"/>
                <a:gd name="T20" fmla="*/ 16 w 66"/>
                <a:gd name="T21" fmla="*/ 4 h 33"/>
                <a:gd name="T22" fmla="*/ 13 w 66"/>
                <a:gd name="T23" fmla="*/ 7 h 33"/>
                <a:gd name="T24" fmla="*/ 9 w 66"/>
                <a:gd name="T25" fmla="*/ 10 h 33"/>
                <a:gd name="T26" fmla="*/ 4 w 66"/>
                <a:gd name="T27" fmla="*/ 9 h 33"/>
                <a:gd name="T28" fmla="*/ 4 w 66"/>
                <a:gd name="T29" fmla="*/ 16 h 33"/>
                <a:gd name="T30" fmla="*/ 0 w 66"/>
                <a:gd name="T31" fmla="*/ 26 h 33"/>
                <a:gd name="T32" fmla="*/ 2 w 66"/>
                <a:gd name="T33" fmla="*/ 33 h 33"/>
                <a:gd name="T34" fmla="*/ 33 w 66"/>
                <a:gd name="T35" fmla="*/ 14 h 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66" h="33">
                  <a:moveTo>
                    <a:pt x="33" y="14"/>
                  </a:moveTo>
                  <a:cubicBezTo>
                    <a:pt x="55" y="14"/>
                    <a:pt x="64" y="24"/>
                    <a:pt x="65" y="32"/>
                  </a:cubicBezTo>
                  <a:cubicBezTo>
                    <a:pt x="66" y="30"/>
                    <a:pt x="66" y="28"/>
                    <a:pt x="65" y="25"/>
                  </a:cubicBezTo>
                  <a:cubicBezTo>
                    <a:pt x="65" y="23"/>
                    <a:pt x="62" y="17"/>
                    <a:pt x="62" y="15"/>
                  </a:cubicBezTo>
                  <a:cubicBezTo>
                    <a:pt x="62" y="13"/>
                    <a:pt x="62" y="11"/>
                    <a:pt x="63" y="9"/>
                  </a:cubicBezTo>
                  <a:cubicBezTo>
                    <a:pt x="61" y="10"/>
                    <a:pt x="57" y="12"/>
                    <a:pt x="55" y="10"/>
                  </a:cubicBezTo>
                  <a:cubicBezTo>
                    <a:pt x="52" y="8"/>
                    <a:pt x="54" y="4"/>
                    <a:pt x="51" y="3"/>
                  </a:cubicBezTo>
                  <a:cubicBezTo>
                    <a:pt x="48" y="2"/>
                    <a:pt x="44" y="5"/>
                    <a:pt x="41" y="5"/>
                  </a:cubicBezTo>
                  <a:cubicBezTo>
                    <a:pt x="38" y="4"/>
                    <a:pt x="35" y="0"/>
                    <a:pt x="33" y="0"/>
                  </a:cubicBezTo>
                  <a:cubicBezTo>
                    <a:pt x="29" y="0"/>
                    <a:pt x="28" y="4"/>
                    <a:pt x="24" y="5"/>
                  </a:cubicBezTo>
                  <a:cubicBezTo>
                    <a:pt x="21" y="5"/>
                    <a:pt x="18" y="4"/>
                    <a:pt x="16" y="4"/>
                  </a:cubicBezTo>
                  <a:cubicBezTo>
                    <a:pt x="15" y="4"/>
                    <a:pt x="13" y="5"/>
                    <a:pt x="13" y="7"/>
                  </a:cubicBezTo>
                  <a:cubicBezTo>
                    <a:pt x="12" y="9"/>
                    <a:pt x="11" y="10"/>
                    <a:pt x="9" y="10"/>
                  </a:cubicBezTo>
                  <a:cubicBezTo>
                    <a:pt x="7" y="11"/>
                    <a:pt x="5" y="9"/>
                    <a:pt x="4" y="9"/>
                  </a:cubicBezTo>
                  <a:cubicBezTo>
                    <a:pt x="4" y="10"/>
                    <a:pt x="5" y="14"/>
                    <a:pt x="4" y="16"/>
                  </a:cubicBezTo>
                  <a:cubicBezTo>
                    <a:pt x="3" y="19"/>
                    <a:pt x="1" y="22"/>
                    <a:pt x="0" y="26"/>
                  </a:cubicBezTo>
                  <a:cubicBezTo>
                    <a:pt x="0" y="29"/>
                    <a:pt x="1" y="30"/>
                    <a:pt x="2" y="33"/>
                  </a:cubicBezTo>
                  <a:cubicBezTo>
                    <a:pt x="1" y="21"/>
                    <a:pt x="14" y="14"/>
                    <a:pt x="33" y="14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3" name="Freeform 81"/>
            <p:cNvSpPr>
              <a:spLocks/>
            </p:cNvSpPr>
            <p:nvPr/>
          </p:nvSpPr>
          <p:spPr bwMode="gray">
            <a:xfrm>
              <a:off x="3463926" y="3046413"/>
              <a:ext cx="71438" cy="103188"/>
            </a:xfrm>
            <a:custGeom>
              <a:avLst/>
              <a:gdLst>
                <a:gd name="T0" fmla="*/ 9 w 19"/>
                <a:gd name="T1" fmla="*/ 15 h 27"/>
                <a:gd name="T2" fmla="*/ 2 w 19"/>
                <a:gd name="T3" fmla="*/ 20 h 27"/>
                <a:gd name="T4" fmla="*/ 6 w 19"/>
                <a:gd name="T5" fmla="*/ 27 h 27"/>
                <a:gd name="T6" fmla="*/ 10 w 19"/>
                <a:gd name="T7" fmla="*/ 22 h 27"/>
                <a:gd name="T8" fmla="*/ 13 w 19"/>
                <a:gd name="T9" fmla="*/ 19 h 27"/>
                <a:gd name="T10" fmla="*/ 15 w 19"/>
                <a:gd name="T11" fmla="*/ 17 h 27"/>
                <a:gd name="T12" fmla="*/ 14 w 19"/>
                <a:gd name="T13" fmla="*/ 14 h 27"/>
                <a:gd name="T14" fmla="*/ 18 w 19"/>
                <a:gd name="T15" fmla="*/ 13 h 27"/>
                <a:gd name="T16" fmla="*/ 19 w 19"/>
                <a:gd name="T17" fmla="*/ 10 h 27"/>
                <a:gd name="T18" fmla="*/ 17 w 19"/>
                <a:gd name="T19" fmla="*/ 8 h 27"/>
                <a:gd name="T20" fmla="*/ 11 w 19"/>
                <a:gd name="T21" fmla="*/ 8 h 27"/>
                <a:gd name="T22" fmla="*/ 14 w 19"/>
                <a:gd name="T23" fmla="*/ 6 h 27"/>
                <a:gd name="T24" fmla="*/ 16 w 19"/>
                <a:gd name="T25" fmla="*/ 4 h 27"/>
                <a:gd name="T26" fmla="*/ 15 w 19"/>
                <a:gd name="T27" fmla="*/ 0 h 27"/>
                <a:gd name="T28" fmla="*/ 2 w 19"/>
                <a:gd name="T29" fmla="*/ 6 h 27"/>
                <a:gd name="T30" fmla="*/ 4 w 19"/>
                <a:gd name="T31" fmla="*/ 9 h 27"/>
                <a:gd name="T32" fmla="*/ 1 w 19"/>
                <a:gd name="T33" fmla="*/ 9 h 27"/>
                <a:gd name="T34" fmla="*/ 1 w 19"/>
                <a:gd name="T35" fmla="*/ 16 h 27"/>
                <a:gd name="T36" fmla="*/ 9 w 19"/>
                <a:gd name="T37" fmla="*/ 15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9" h="27">
                  <a:moveTo>
                    <a:pt x="9" y="15"/>
                  </a:moveTo>
                  <a:cubicBezTo>
                    <a:pt x="7" y="16"/>
                    <a:pt x="4" y="18"/>
                    <a:pt x="2" y="20"/>
                  </a:cubicBezTo>
                  <a:cubicBezTo>
                    <a:pt x="3" y="22"/>
                    <a:pt x="5" y="26"/>
                    <a:pt x="6" y="27"/>
                  </a:cubicBezTo>
                  <a:cubicBezTo>
                    <a:pt x="7" y="25"/>
                    <a:pt x="9" y="22"/>
                    <a:pt x="10" y="22"/>
                  </a:cubicBezTo>
                  <a:cubicBezTo>
                    <a:pt x="11" y="21"/>
                    <a:pt x="12" y="20"/>
                    <a:pt x="13" y="19"/>
                  </a:cubicBezTo>
                  <a:cubicBezTo>
                    <a:pt x="15" y="19"/>
                    <a:pt x="15" y="18"/>
                    <a:pt x="15" y="17"/>
                  </a:cubicBezTo>
                  <a:cubicBezTo>
                    <a:pt x="15" y="16"/>
                    <a:pt x="15" y="15"/>
                    <a:pt x="14" y="14"/>
                  </a:cubicBezTo>
                  <a:cubicBezTo>
                    <a:pt x="15" y="14"/>
                    <a:pt x="17" y="14"/>
                    <a:pt x="18" y="13"/>
                  </a:cubicBezTo>
                  <a:cubicBezTo>
                    <a:pt x="19" y="12"/>
                    <a:pt x="19" y="11"/>
                    <a:pt x="19" y="10"/>
                  </a:cubicBezTo>
                  <a:cubicBezTo>
                    <a:pt x="19" y="9"/>
                    <a:pt x="18" y="8"/>
                    <a:pt x="17" y="8"/>
                  </a:cubicBezTo>
                  <a:cubicBezTo>
                    <a:pt x="16" y="8"/>
                    <a:pt x="12" y="8"/>
                    <a:pt x="11" y="8"/>
                  </a:cubicBezTo>
                  <a:cubicBezTo>
                    <a:pt x="11" y="8"/>
                    <a:pt x="13" y="7"/>
                    <a:pt x="14" y="6"/>
                  </a:cubicBezTo>
                  <a:cubicBezTo>
                    <a:pt x="15" y="6"/>
                    <a:pt x="15" y="5"/>
                    <a:pt x="16" y="4"/>
                  </a:cubicBezTo>
                  <a:cubicBezTo>
                    <a:pt x="16" y="4"/>
                    <a:pt x="16" y="2"/>
                    <a:pt x="15" y="0"/>
                  </a:cubicBezTo>
                  <a:cubicBezTo>
                    <a:pt x="11" y="0"/>
                    <a:pt x="4" y="4"/>
                    <a:pt x="2" y="6"/>
                  </a:cubicBezTo>
                  <a:cubicBezTo>
                    <a:pt x="4" y="9"/>
                    <a:pt x="4" y="9"/>
                    <a:pt x="4" y="9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11"/>
                    <a:pt x="1" y="14"/>
                    <a:pt x="1" y="16"/>
                  </a:cubicBezTo>
                  <a:cubicBezTo>
                    <a:pt x="4" y="15"/>
                    <a:pt x="7" y="15"/>
                    <a:pt x="9" y="15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4" name="Freeform 82"/>
            <p:cNvSpPr>
              <a:spLocks noEditPoints="1"/>
            </p:cNvSpPr>
            <p:nvPr/>
          </p:nvSpPr>
          <p:spPr bwMode="gray">
            <a:xfrm>
              <a:off x="3846513" y="3303588"/>
              <a:ext cx="312738" cy="431800"/>
            </a:xfrm>
            <a:custGeom>
              <a:avLst/>
              <a:gdLst>
                <a:gd name="T0" fmla="*/ 64 w 83"/>
                <a:gd name="T1" fmla="*/ 13 h 114"/>
                <a:gd name="T2" fmla="*/ 5 w 83"/>
                <a:gd name="T3" fmla="*/ 19 h 114"/>
                <a:gd name="T4" fmla="*/ 1 w 83"/>
                <a:gd name="T5" fmla="*/ 37 h 114"/>
                <a:gd name="T6" fmla="*/ 6 w 83"/>
                <a:gd name="T7" fmla="*/ 36 h 114"/>
                <a:gd name="T8" fmla="*/ 13 w 83"/>
                <a:gd name="T9" fmla="*/ 36 h 114"/>
                <a:gd name="T10" fmla="*/ 8 w 83"/>
                <a:gd name="T11" fmla="*/ 50 h 114"/>
                <a:gd name="T12" fmla="*/ 15 w 83"/>
                <a:gd name="T13" fmla="*/ 48 h 114"/>
                <a:gd name="T14" fmla="*/ 16 w 83"/>
                <a:gd name="T15" fmla="*/ 62 h 114"/>
                <a:gd name="T16" fmla="*/ 16 w 83"/>
                <a:gd name="T17" fmla="*/ 70 h 114"/>
                <a:gd name="T18" fmla="*/ 20 w 83"/>
                <a:gd name="T19" fmla="*/ 71 h 114"/>
                <a:gd name="T20" fmla="*/ 27 w 83"/>
                <a:gd name="T21" fmla="*/ 75 h 114"/>
                <a:gd name="T22" fmla="*/ 16 w 83"/>
                <a:gd name="T23" fmla="*/ 75 h 114"/>
                <a:gd name="T24" fmla="*/ 22 w 83"/>
                <a:gd name="T25" fmla="*/ 77 h 114"/>
                <a:gd name="T26" fmla="*/ 24 w 83"/>
                <a:gd name="T27" fmla="*/ 80 h 114"/>
                <a:gd name="T28" fmla="*/ 19 w 83"/>
                <a:gd name="T29" fmla="*/ 83 h 114"/>
                <a:gd name="T30" fmla="*/ 26 w 83"/>
                <a:gd name="T31" fmla="*/ 91 h 114"/>
                <a:gd name="T32" fmla="*/ 30 w 83"/>
                <a:gd name="T33" fmla="*/ 100 h 114"/>
                <a:gd name="T34" fmla="*/ 78 w 83"/>
                <a:gd name="T35" fmla="*/ 102 h 114"/>
                <a:gd name="T36" fmla="*/ 63 w 83"/>
                <a:gd name="T37" fmla="*/ 68 h 114"/>
                <a:gd name="T38" fmla="*/ 72 w 83"/>
                <a:gd name="T39" fmla="*/ 61 h 114"/>
                <a:gd name="T40" fmla="*/ 74 w 83"/>
                <a:gd name="T41" fmla="*/ 55 h 114"/>
                <a:gd name="T42" fmla="*/ 70 w 83"/>
                <a:gd name="T43" fmla="*/ 51 h 114"/>
                <a:gd name="T44" fmla="*/ 59 w 83"/>
                <a:gd name="T45" fmla="*/ 50 h 114"/>
                <a:gd name="T46" fmla="*/ 23 w 83"/>
                <a:gd name="T47" fmla="*/ 33 h 114"/>
                <a:gd name="T48" fmla="*/ 12 w 83"/>
                <a:gd name="T49" fmla="*/ 28 h 114"/>
                <a:gd name="T50" fmla="*/ 17 w 83"/>
                <a:gd name="T51" fmla="*/ 29 h 114"/>
                <a:gd name="T52" fmla="*/ 53 w 83"/>
                <a:gd name="T53" fmla="*/ 32 h 114"/>
                <a:gd name="T54" fmla="*/ 78 w 83"/>
                <a:gd name="T55" fmla="*/ 42 h 114"/>
                <a:gd name="T56" fmla="*/ 73 w 83"/>
                <a:gd name="T57" fmla="*/ 26 h 114"/>
                <a:gd name="T58" fmla="*/ 83 w 83"/>
                <a:gd name="T59" fmla="*/ 32 h 114"/>
                <a:gd name="T60" fmla="*/ 29 w 83"/>
                <a:gd name="T61" fmla="*/ 40 h 114"/>
                <a:gd name="T62" fmla="*/ 46 w 83"/>
                <a:gd name="T63" fmla="*/ 47 h 114"/>
                <a:gd name="T64" fmla="*/ 32 w 83"/>
                <a:gd name="T65" fmla="*/ 47 h 114"/>
                <a:gd name="T66" fmla="*/ 29 w 83"/>
                <a:gd name="T67" fmla="*/ 51 h 114"/>
                <a:gd name="T68" fmla="*/ 20 w 83"/>
                <a:gd name="T69" fmla="*/ 47 h 114"/>
                <a:gd name="T70" fmla="*/ 9 w 83"/>
                <a:gd name="T71" fmla="*/ 27 h 114"/>
                <a:gd name="T72" fmla="*/ 18 w 83"/>
                <a:gd name="T73" fmla="*/ 20 h 114"/>
                <a:gd name="T74" fmla="*/ 42 w 83"/>
                <a:gd name="T75" fmla="*/ 20 h 114"/>
                <a:gd name="T76" fmla="*/ 20 w 83"/>
                <a:gd name="T77" fmla="*/ 10 h 114"/>
                <a:gd name="T78" fmla="*/ 43 w 83"/>
                <a:gd name="T79" fmla="*/ 9 h 114"/>
                <a:gd name="T80" fmla="*/ 63 w 83"/>
                <a:gd name="T81" fmla="*/ 30 h 114"/>
                <a:gd name="T82" fmla="*/ 51 w 83"/>
                <a:gd name="T83" fmla="*/ 12 h 114"/>
                <a:gd name="T84" fmla="*/ 63 w 83"/>
                <a:gd name="T85" fmla="*/ 30 h 1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</a:cxnLst>
              <a:rect l="0" t="0" r="r" b="b"/>
              <a:pathLst>
                <a:path w="83" h="114">
                  <a:moveTo>
                    <a:pt x="83" y="32"/>
                  </a:moveTo>
                  <a:cubicBezTo>
                    <a:pt x="82" y="30"/>
                    <a:pt x="75" y="22"/>
                    <a:pt x="64" y="13"/>
                  </a:cubicBezTo>
                  <a:cubicBezTo>
                    <a:pt x="55" y="7"/>
                    <a:pt x="42" y="0"/>
                    <a:pt x="32" y="0"/>
                  </a:cubicBezTo>
                  <a:cubicBezTo>
                    <a:pt x="14" y="0"/>
                    <a:pt x="6" y="13"/>
                    <a:pt x="5" y="19"/>
                  </a:cubicBezTo>
                  <a:cubicBezTo>
                    <a:pt x="4" y="23"/>
                    <a:pt x="4" y="27"/>
                    <a:pt x="5" y="29"/>
                  </a:cubicBezTo>
                  <a:cubicBezTo>
                    <a:pt x="2" y="32"/>
                    <a:pt x="1" y="34"/>
                    <a:pt x="1" y="37"/>
                  </a:cubicBezTo>
                  <a:cubicBezTo>
                    <a:pt x="0" y="39"/>
                    <a:pt x="1" y="42"/>
                    <a:pt x="3" y="43"/>
                  </a:cubicBezTo>
                  <a:cubicBezTo>
                    <a:pt x="2" y="41"/>
                    <a:pt x="4" y="38"/>
                    <a:pt x="6" y="36"/>
                  </a:cubicBezTo>
                  <a:cubicBezTo>
                    <a:pt x="7" y="33"/>
                    <a:pt x="10" y="32"/>
                    <a:pt x="12" y="31"/>
                  </a:cubicBezTo>
                  <a:cubicBezTo>
                    <a:pt x="13" y="36"/>
                    <a:pt x="13" y="36"/>
                    <a:pt x="13" y="36"/>
                  </a:cubicBezTo>
                  <a:cubicBezTo>
                    <a:pt x="11" y="37"/>
                    <a:pt x="8" y="40"/>
                    <a:pt x="7" y="42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14" y="46"/>
                    <a:pt x="14" y="46"/>
                    <a:pt x="14" y="46"/>
                  </a:cubicBezTo>
                  <a:cubicBezTo>
                    <a:pt x="15" y="48"/>
                    <a:pt x="15" y="48"/>
                    <a:pt x="15" y="48"/>
                  </a:cubicBezTo>
                  <a:cubicBezTo>
                    <a:pt x="13" y="63"/>
                    <a:pt x="13" y="63"/>
                    <a:pt x="13" y="63"/>
                  </a:cubicBezTo>
                  <a:cubicBezTo>
                    <a:pt x="16" y="62"/>
                    <a:pt x="16" y="62"/>
                    <a:pt x="16" y="62"/>
                  </a:cubicBezTo>
                  <a:cubicBezTo>
                    <a:pt x="23" y="65"/>
                    <a:pt x="23" y="65"/>
                    <a:pt x="23" y="65"/>
                  </a:cubicBezTo>
                  <a:cubicBezTo>
                    <a:pt x="16" y="70"/>
                    <a:pt x="16" y="70"/>
                    <a:pt x="16" y="70"/>
                  </a:cubicBezTo>
                  <a:cubicBezTo>
                    <a:pt x="16" y="72"/>
                    <a:pt x="16" y="72"/>
                    <a:pt x="16" y="72"/>
                  </a:cubicBezTo>
                  <a:cubicBezTo>
                    <a:pt x="16" y="72"/>
                    <a:pt x="17" y="71"/>
                    <a:pt x="20" y="71"/>
                  </a:cubicBezTo>
                  <a:cubicBezTo>
                    <a:pt x="22" y="71"/>
                    <a:pt x="27" y="73"/>
                    <a:pt x="27" y="73"/>
                  </a:cubicBezTo>
                  <a:cubicBezTo>
                    <a:pt x="27" y="75"/>
                    <a:pt x="27" y="75"/>
                    <a:pt x="27" y="75"/>
                  </a:cubicBezTo>
                  <a:cubicBezTo>
                    <a:pt x="25" y="75"/>
                    <a:pt x="25" y="75"/>
                    <a:pt x="25" y="75"/>
                  </a:cubicBezTo>
                  <a:cubicBezTo>
                    <a:pt x="16" y="75"/>
                    <a:pt x="16" y="75"/>
                    <a:pt x="16" y="75"/>
                  </a:cubicBezTo>
                  <a:cubicBezTo>
                    <a:pt x="16" y="76"/>
                    <a:pt x="17" y="77"/>
                    <a:pt x="18" y="78"/>
                  </a:cubicBezTo>
                  <a:cubicBezTo>
                    <a:pt x="19" y="77"/>
                    <a:pt x="21" y="77"/>
                    <a:pt x="22" y="77"/>
                  </a:cubicBezTo>
                  <a:cubicBezTo>
                    <a:pt x="22" y="77"/>
                    <a:pt x="24" y="77"/>
                    <a:pt x="26" y="77"/>
                  </a:cubicBezTo>
                  <a:cubicBezTo>
                    <a:pt x="24" y="80"/>
                    <a:pt x="24" y="80"/>
                    <a:pt x="24" y="80"/>
                  </a:cubicBezTo>
                  <a:cubicBezTo>
                    <a:pt x="24" y="80"/>
                    <a:pt x="23" y="81"/>
                    <a:pt x="21" y="80"/>
                  </a:cubicBezTo>
                  <a:cubicBezTo>
                    <a:pt x="20" y="80"/>
                    <a:pt x="19" y="81"/>
                    <a:pt x="19" y="83"/>
                  </a:cubicBezTo>
                  <a:cubicBezTo>
                    <a:pt x="19" y="84"/>
                    <a:pt x="20" y="87"/>
                    <a:pt x="20" y="87"/>
                  </a:cubicBezTo>
                  <a:cubicBezTo>
                    <a:pt x="21" y="92"/>
                    <a:pt x="26" y="91"/>
                    <a:pt x="26" y="91"/>
                  </a:cubicBezTo>
                  <a:cubicBezTo>
                    <a:pt x="29" y="90"/>
                    <a:pt x="39" y="87"/>
                    <a:pt x="39" y="87"/>
                  </a:cubicBezTo>
                  <a:cubicBezTo>
                    <a:pt x="30" y="100"/>
                    <a:pt x="30" y="100"/>
                    <a:pt x="30" y="100"/>
                  </a:cubicBezTo>
                  <a:cubicBezTo>
                    <a:pt x="34" y="114"/>
                    <a:pt x="34" y="114"/>
                    <a:pt x="34" y="114"/>
                  </a:cubicBezTo>
                  <a:cubicBezTo>
                    <a:pt x="40" y="111"/>
                    <a:pt x="58" y="105"/>
                    <a:pt x="78" y="102"/>
                  </a:cubicBezTo>
                  <a:cubicBezTo>
                    <a:pt x="76" y="98"/>
                    <a:pt x="76" y="96"/>
                    <a:pt x="73" y="91"/>
                  </a:cubicBezTo>
                  <a:cubicBezTo>
                    <a:pt x="63" y="68"/>
                    <a:pt x="63" y="68"/>
                    <a:pt x="63" y="68"/>
                  </a:cubicBezTo>
                  <a:cubicBezTo>
                    <a:pt x="64" y="64"/>
                    <a:pt x="64" y="64"/>
                    <a:pt x="64" y="64"/>
                  </a:cubicBezTo>
                  <a:cubicBezTo>
                    <a:pt x="66" y="65"/>
                    <a:pt x="70" y="63"/>
                    <a:pt x="72" y="61"/>
                  </a:cubicBezTo>
                  <a:cubicBezTo>
                    <a:pt x="74" y="60"/>
                    <a:pt x="77" y="56"/>
                    <a:pt x="78" y="54"/>
                  </a:cubicBezTo>
                  <a:cubicBezTo>
                    <a:pt x="77" y="54"/>
                    <a:pt x="75" y="54"/>
                    <a:pt x="74" y="55"/>
                  </a:cubicBezTo>
                  <a:cubicBezTo>
                    <a:pt x="73" y="55"/>
                    <a:pt x="72" y="57"/>
                    <a:pt x="70" y="56"/>
                  </a:cubicBezTo>
                  <a:cubicBezTo>
                    <a:pt x="68" y="55"/>
                    <a:pt x="69" y="53"/>
                    <a:pt x="70" y="51"/>
                  </a:cubicBezTo>
                  <a:cubicBezTo>
                    <a:pt x="70" y="50"/>
                    <a:pt x="67" y="50"/>
                    <a:pt x="66" y="51"/>
                  </a:cubicBezTo>
                  <a:cubicBezTo>
                    <a:pt x="64" y="52"/>
                    <a:pt x="61" y="52"/>
                    <a:pt x="59" y="50"/>
                  </a:cubicBezTo>
                  <a:cubicBezTo>
                    <a:pt x="56" y="47"/>
                    <a:pt x="45" y="38"/>
                    <a:pt x="42" y="36"/>
                  </a:cubicBezTo>
                  <a:cubicBezTo>
                    <a:pt x="36" y="33"/>
                    <a:pt x="28" y="32"/>
                    <a:pt x="23" y="33"/>
                  </a:cubicBezTo>
                  <a:cubicBezTo>
                    <a:pt x="20" y="34"/>
                    <a:pt x="17" y="35"/>
                    <a:pt x="16" y="35"/>
                  </a:cubicBezTo>
                  <a:cubicBezTo>
                    <a:pt x="12" y="28"/>
                    <a:pt x="12" y="28"/>
                    <a:pt x="12" y="28"/>
                  </a:cubicBezTo>
                  <a:cubicBezTo>
                    <a:pt x="13" y="28"/>
                    <a:pt x="13" y="28"/>
                    <a:pt x="13" y="28"/>
                  </a:cubicBezTo>
                  <a:cubicBezTo>
                    <a:pt x="14" y="28"/>
                    <a:pt x="16" y="30"/>
                    <a:pt x="17" y="29"/>
                  </a:cubicBezTo>
                  <a:cubicBezTo>
                    <a:pt x="19" y="28"/>
                    <a:pt x="25" y="27"/>
                    <a:pt x="31" y="27"/>
                  </a:cubicBezTo>
                  <a:cubicBezTo>
                    <a:pt x="39" y="27"/>
                    <a:pt x="49" y="30"/>
                    <a:pt x="53" y="32"/>
                  </a:cubicBezTo>
                  <a:cubicBezTo>
                    <a:pt x="53" y="37"/>
                    <a:pt x="64" y="44"/>
                    <a:pt x="69" y="44"/>
                  </a:cubicBezTo>
                  <a:cubicBezTo>
                    <a:pt x="73" y="45"/>
                    <a:pt x="75" y="44"/>
                    <a:pt x="78" y="42"/>
                  </a:cubicBezTo>
                  <a:cubicBezTo>
                    <a:pt x="67" y="33"/>
                    <a:pt x="67" y="33"/>
                    <a:pt x="67" y="33"/>
                  </a:cubicBezTo>
                  <a:cubicBezTo>
                    <a:pt x="73" y="26"/>
                    <a:pt x="73" y="26"/>
                    <a:pt x="73" y="26"/>
                  </a:cubicBezTo>
                  <a:cubicBezTo>
                    <a:pt x="73" y="26"/>
                    <a:pt x="82" y="35"/>
                    <a:pt x="83" y="36"/>
                  </a:cubicBezTo>
                  <a:cubicBezTo>
                    <a:pt x="83" y="35"/>
                    <a:pt x="83" y="34"/>
                    <a:pt x="83" y="32"/>
                  </a:cubicBezTo>
                  <a:moveTo>
                    <a:pt x="20" y="43"/>
                  </a:moveTo>
                  <a:cubicBezTo>
                    <a:pt x="20" y="43"/>
                    <a:pt x="24" y="41"/>
                    <a:pt x="29" y="40"/>
                  </a:cubicBezTo>
                  <a:cubicBezTo>
                    <a:pt x="35" y="38"/>
                    <a:pt x="42" y="42"/>
                    <a:pt x="47" y="46"/>
                  </a:cubicBezTo>
                  <a:cubicBezTo>
                    <a:pt x="46" y="47"/>
                    <a:pt x="46" y="47"/>
                    <a:pt x="46" y="47"/>
                  </a:cubicBezTo>
                  <a:cubicBezTo>
                    <a:pt x="39" y="49"/>
                    <a:pt x="39" y="49"/>
                    <a:pt x="39" y="49"/>
                  </a:cubicBezTo>
                  <a:cubicBezTo>
                    <a:pt x="37" y="48"/>
                    <a:pt x="35" y="47"/>
                    <a:pt x="32" y="47"/>
                  </a:cubicBezTo>
                  <a:cubicBezTo>
                    <a:pt x="29" y="47"/>
                    <a:pt x="27" y="48"/>
                    <a:pt x="27" y="48"/>
                  </a:cubicBezTo>
                  <a:cubicBezTo>
                    <a:pt x="29" y="51"/>
                    <a:pt x="29" y="51"/>
                    <a:pt x="29" y="51"/>
                  </a:cubicBezTo>
                  <a:cubicBezTo>
                    <a:pt x="26" y="51"/>
                    <a:pt x="26" y="51"/>
                    <a:pt x="26" y="51"/>
                  </a:cubicBezTo>
                  <a:cubicBezTo>
                    <a:pt x="24" y="50"/>
                    <a:pt x="22" y="47"/>
                    <a:pt x="20" y="47"/>
                  </a:cubicBezTo>
                  <a:lnTo>
                    <a:pt x="20" y="43"/>
                  </a:lnTo>
                  <a:close/>
                  <a:moveTo>
                    <a:pt x="9" y="27"/>
                  </a:moveTo>
                  <a:cubicBezTo>
                    <a:pt x="7" y="21"/>
                    <a:pt x="12" y="15"/>
                    <a:pt x="15" y="12"/>
                  </a:cubicBezTo>
                  <a:cubicBezTo>
                    <a:pt x="18" y="20"/>
                    <a:pt x="18" y="20"/>
                    <a:pt x="18" y="20"/>
                  </a:cubicBezTo>
                  <a:cubicBezTo>
                    <a:pt x="15" y="22"/>
                    <a:pt x="11" y="25"/>
                    <a:pt x="9" y="27"/>
                  </a:cubicBezTo>
                  <a:moveTo>
                    <a:pt x="42" y="20"/>
                  </a:moveTo>
                  <a:cubicBezTo>
                    <a:pt x="38" y="18"/>
                    <a:pt x="27" y="18"/>
                    <a:pt x="23" y="19"/>
                  </a:cubicBezTo>
                  <a:cubicBezTo>
                    <a:pt x="20" y="10"/>
                    <a:pt x="20" y="10"/>
                    <a:pt x="20" y="10"/>
                  </a:cubicBezTo>
                  <a:cubicBezTo>
                    <a:pt x="22" y="8"/>
                    <a:pt x="27" y="7"/>
                    <a:pt x="31" y="7"/>
                  </a:cubicBezTo>
                  <a:cubicBezTo>
                    <a:pt x="35" y="7"/>
                    <a:pt x="40" y="8"/>
                    <a:pt x="43" y="9"/>
                  </a:cubicBezTo>
                  <a:lnTo>
                    <a:pt x="42" y="20"/>
                  </a:lnTo>
                  <a:close/>
                  <a:moveTo>
                    <a:pt x="63" y="30"/>
                  </a:moveTo>
                  <a:cubicBezTo>
                    <a:pt x="58" y="27"/>
                    <a:pt x="50" y="22"/>
                    <a:pt x="47" y="22"/>
                  </a:cubicBezTo>
                  <a:cubicBezTo>
                    <a:pt x="51" y="12"/>
                    <a:pt x="51" y="12"/>
                    <a:pt x="51" y="12"/>
                  </a:cubicBezTo>
                  <a:cubicBezTo>
                    <a:pt x="54" y="13"/>
                    <a:pt x="66" y="21"/>
                    <a:pt x="68" y="22"/>
                  </a:cubicBezTo>
                  <a:lnTo>
                    <a:pt x="63" y="3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5" name="Freeform 83"/>
            <p:cNvSpPr>
              <a:spLocks/>
            </p:cNvSpPr>
            <p:nvPr/>
          </p:nvSpPr>
          <p:spPr bwMode="gray">
            <a:xfrm>
              <a:off x="4076701" y="3179763"/>
              <a:ext cx="138113" cy="173038"/>
            </a:xfrm>
            <a:custGeom>
              <a:avLst/>
              <a:gdLst>
                <a:gd name="T0" fmla="*/ 0 w 37"/>
                <a:gd name="T1" fmla="*/ 36 h 46"/>
                <a:gd name="T2" fmla="*/ 15 w 37"/>
                <a:gd name="T3" fmla="*/ 46 h 46"/>
                <a:gd name="T4" fmla="*/ 37 w 37"/>
                <a:gd name="T5" fmla="*/ 0 h 46"/>
                <a:gd name="T6" fmla="*/ 0 w 37"/>
                <a:gd name="T7" fmla="*/ 36 h 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7" h="46">
                  <a:moveTo>
                    <a:pt x="0" y="36"/>
                  </a:moveTo>
                  <a:cubicBezTo>
                    <a:pt x="4" y="38"/>
                    <a:pt x="13" y="45"/>
                    <a:pt x="15" y="46"/>
                  </a:cubicBezTo>
                  <a:cubicBezTo>
                    <a:pt x="37" y="0"/>
                    <a:pt x="37" y="0"/>
                    <a:pt x="37" y="0"/>
                  </a:cubicBezTo>
                  <a:lnTo>
                    <a:pt x="0" y="3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6" name="Freeform 84"/>
            <p:cNvSpPr>
              <a:spLocks noEditPoints="1"/>
            </p:cNvSpPr>
            <p:nvPr/>
          </p:nvSpPr>
          <p:spPr bwMode="gray">
            <a:xfrm>
              <a:off x="8705851" y="3481388"/>
              <a:ext cx="93663" cy="98425"/>
            </a:xfrm>
            <a:custGeom>
              <a:avLst/>
              <a:gdLst>
                <a:gd name="T0" fmla="*/ 12 w 25"/>
                <a:gd name="T1" fmla="*/ 0 h 26"/>
                <a:gd name="T2" fmla="*/ 25 w 25"/>
                <a:gd name="T3" fmla="*/ 13 h 26"/>
                <a:gd name="T4" fmla="*/ 12 w 25"/>
                <a:gd name="T5" fmla="*/ 26 h 26"/>
                <a:gd name="T6" fmla="*/ 0 w 25"/>
                <a:gd name="T7" fmla="*/ 13 h 26"/>
                <a:gd name="T8" fmla="*/ 12 w 25"/>
                <a:gd name="T9" fmla="*/ 0 h 26"/>
                <a:gd name="T10" fmla="*/ 12 w 25"/>
                <a:gd name="T11" fmla="*/ 23 h 26"/>
                <a:gd name="T12" fmla="*/ 22 w 25"/>
                <a:gd name="T13" fmla="*/ 13 h 26"/>
                <a:gd name="T14" fmla="*/ 12 w 25"/>
                <a:gd name="T15" fmla="*/ 3 h 26"/>
                <a:gd name="T16" fmla="*/ 3 w 25"/>
                <a:gd name="T17" fmla="*/ 13 h 26"/>
                <a:gd name="T18" fmla="*/ 12 w 25"/>
                <a:gd name="T19" fmla="*/ 23 h 26"/>
                <a:gd name="T20" fmla="*/ 8 w 25"/>
                <a:gd name="T21" fmla="*/ 6 h 26"/>
                <a:gd name="T22" fmla="*/ 13 w 25"/>
                <a:gd name="T23" fmla="*/ 6 h 26"/>
                <a:gd name="T24" fmla="*/ 18 w 25"/>
                <a:gd name="T25" fmla="*/ 10 h 26"/>
                <a:gd name="T26" fmla="*/ 15 w 25"/>
                <a:gd name="T27" fmla="*/ 14 h 26"/>
                <a:gd name="T28" fmla="*/ 18 w 25"/>
                <a:gd name="T29" fmla="*/ 20 h 26"/>
                <a:gd name="T30" fmla="*/ 16 w 25"/>
                <a:gd name="T31" fmla="*/ 20 h 26"/>
                <a:gd name="T32" fmla="*/ 12 w 25"/>
                <a:gd name="T33" fmla="*/ 14 h 26"/>
                <a:gd name="T34" fmla="*/ 10 w 25"/>
                <a:gd name="T35" fmla="*/ 14 h 26"/>
                <a:gd name="T36" fmla="*/ 10 w 25"/>
                <a:gd name="T37" fmla="*/ 20 h 26"/>
                <a:gd name="T38" fmla="*/ 8 w 25"/>
                <a:gd name="T39" fmla="*/ 20 h 26"/>
                <a:gd name="T40" fmla="*/ 8 w 25"/>
                <a:gd name="T41" fmla="*/ 6 h 26"/>
                <a:gd name="T42" fmla="*/ 10 w 25"/>
                <a:gd name="T43" fmla="*/ 12 h 26"/>
                <a:gd name="T44" fmla="*/ 13 w 25"/>
                <a:gd name="T45" fmla="*/ 12 h 26"/>
                <a:gd name="T46" fmla="*/ 16 w 25"/>
                <a:gd name="T47" fmla="*/ 10 h 26"/>
                <a:gd name="T48" fmla="*/ 13 w 25"/>
                <a:gd name="T49" fmla="*/ 8 h 26"/>
                <a:gd name="T50" fmla="*/ 10 w 25"/>
                <a:gd name="T51" fmla="*/ 8 h 26"/>
                <a:gd name="T52" fmla="*/ 10 w 25"/>
                <a:gd name="T53" fmla="*/ 12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" h="26">
                  <a:moveTo>
                    <a:pt x="12" y="0"/>
                  </a:moveTo>
                  <a:cubicBezTo>
                    <a:pt x="19" y="0"/>
                    <a:pt x="25" y="5"/>
                    <a:pt x="25" y="13"/>
                  </a:cubicBezTo>
                  <a:cubicBezTo>
                    <a:pt x="25" y="20"/>
                    <a:pt x="19" y="26"/>
                    <a:pt x="12" y="26"/>
                  </a:cubicBezTo>
                  <a:cubicBezTo>
                    <a:pt x="6" y="26"/>
                    <a:pt x="0" y="20"/>
                    <a:pt x="0" y="13"/>
                  </a:cubicBezTo>
                  <a:cubicBezTo>
                    <a:pt x="0" y="5"/>
                    <a:pt x="6" y="0"/>
                    <a:pt x="12" y="0"/>
                  </a:cubicBezTo>
                  <a:moveTo>
                    <a:pt x="12" y="23"/>
                  </a:moveTo>
                  <a:cubicBezTo>
                    <a:pt x="18" y="23"/>
                    <a:pt x="22" y="19"/>
                    <a:pt x="22" y="13"/>
                  </a:cubicBezTo>
                  <a:cubicBezTo>
                    <a:pt x="22" y="7"/>
                    <a:pt x="18" y="3"/>
                    <a:pt x="12" y="3"/>
                  </a:cubicBezTo>
                  <a:cubicBezTo>
                    <a:pt x="7" y="3"/>
                    <a:pt x="3" y="7"/>
                    <a:pt x="3" y="13"/>
                  </a:cubicBezTo>
                  <a:cubicBezTo>
                    <a:pt x="3" y="19"/>
                    <a:pt x="7" y="23"/>
                    <a:pt x="12" y="23"/>
                  </a:cubicBezTo>
                  <a:moveTo>
                    <a:pt x="8" y="6"/>
                  </a:moveTo>
                  <a:cubicBezTo>
                    <a:pt x="13" y="6"/>
                    <a:pt x="13" y="6"/>
                    <a:pt x="13" y="6"/>
                  </a:cubicBezTo>
                  <a:cubicBezTo>
                    <a:pt x="16" y="6"/>
                    <a:pt x="18" y="7"/>
                    <a:pt x="18" y="10"/>
                  </a:cubicBezTo>
                  <a:cubicBezTo>
                    <a:pt x="18" y="13"/>
                    <a:pt x="17" y="14"/>
                    <a:pt x="15" y="14"/>
                  </a:cubicBezTo>
                  <a:cubicBezTo>
                    <a:pt x="18" y="20"/>
                    <a:pt x="18" y="20"/>
                    <a:pt x="18" y="20"/>
                  </a:cubicBezTo>
                  <a:cubicBezTo>
                    <a:pt x="16" y="20"/>
                    <a:pt x="16" y="20"/>
                    <a:pt x="16" y="20"/>
                  </a:cubicBezTo>
                  <a:cubicBezTo>
                    <a:pt x="12" y="14"/>
                    <a:pt x="12" y="14"/>
                    <a:pt x="12" y="14"/>
                  </a:cubicBezTo>
                  <a:cubicBezTo>
                    <a:pt x="10" y="14"/>
                    <a:pt x="10" y="14"/>
                    <a:pt x="10" y="14"/>
                  </a:cubicBezTo>
                  <a:cubicBezTo>
                    <a:pt x="10" y="20"/>
                    <a:pt x="10" y="20"/>
                    <a:pt x="10" y="20"/>
                  </a:cubicBezTo>
                  <a:cubicBezTo>
                    <a:pt x="8" y="20"/>
                    <a:pt x="8" y="20"/>
                    <a:pt x="8" y="20"/>
                  </a:cubicBezTo>
                  <a:lnTo>
                    <a:pt x="8" y="6"/>
                  </a:lnTo>
                  <a:close/>
                  <a:moveTo>
                    <a:pt x="10" y="12"/>
                  </a:moveTo>
                  <a:cubicBezTo>
                    <a:pt x="13" y="12"/>
                    <a:pt x="13" y="12"/>
                    <a:pt x="13" y="12"/>
                  </a:cubicBezTo>
                  <a:cubicBezTo>
                    <a:pt x="14" y="12"/>
                    <a:pt x="16" y="12"/>
                    <a:pt x="16" y="10"/>
                  </a:cubicBezTo>
                  <a:cubicBezTo>
                    <a:pt x="16" y="8"/>
                    <a:pt x="14" y="8"/>
                    <a:pt x="13" y="8"/>
                  </a:cubicBezTo>
                  <a:cubicBezTo>
                    <a:pt x="10" y="8"/>
                    <a:pt x="10" y="8"/>
                    <a:pt x="10" y="8"/>
                  </a:cubicBezTo>
                  <a:lnTo>
                    <a:pt x="10" y="12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7" name="Rectangle 85"/>
            <p:cNvSpPr>
              <a:spLocks noChangeArrowheads="1"/>
            </p:cNvSpPr>
            <p:nvPr/>
          </p:nvSpPr>
          <p:spPr bwMode="gray">
            <a:xfrm>
              <a:off x="4470401" y="3727450"/>
              <a:ext cx="1631950" cy="15875"/>
            </a:xfrm>
            <a:prstGeom prst="rect">
              <a:avLst/>
            </a:pr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8" name="Rectangle 86"/>
            <p:cNvSpPr>
              <a:spLocks noChangeArrowheads="1"/>
            </p:cNvSpPr>
            <p:nvPr/>
          </p:nvSpPr>
          <p:spPr bwMode="gray">
            <a:xfrm>
              <a:off x="6327776" y="3727450"/>
              <a:ext cx="2352675" cy="15875"/>
            </a:xfrm>
            <a:prstGeom prst="rect">
              <a:avLst/>
            </a:pr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79" name="Rectangle 87"/>
            <p:cNvSpPr>
              <a:spLocks noChangeArrowheads="1"/>
            </p:cNvSpPr>
            <p:nvPr/>
          </p:nvSpPr>
          <p:spPr bwMode="gray">
            <a:xfrm>
              <a:off x="5410201" y="3886200"/>
              <a:ext cx="44450" cy="231775"/>
            </a:xfrm>
            <a:prstGeom prst="rect">
              <a:avLst/>
            </a:pr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0" name="Freeform 88"/>
            <p:cNvSpPr>
              <a:spLocks/>
            </p:cNvSpPr>
            <p:nvPr/>
          </p:nvSpPr>
          <p:spPr bwMode="gray">
            <a:xfrm>
              <a:off x="5580063" y="3886200"/>
              <a:ext cx="171450" cy="231775"/>
            </a:xfrm>
            <a:custGeom>
              <a:avLst/>
              <a:gdLst>
                <a:gd name="T0" fmla="*/ 0 w 108"/>
                <a:gd name="T1" fmla="*/ 0 h 146"/>
                <a:gd name="T2" fmla="*/ 23 w 108"/>
                <a:gd name="T3" fmla="*/ 0 h 146"/>
                <a:gd name="T4" fmla="*/ 85 w 108"/>
                <a:gd name="T5" fmla="*/ 103 h 146"/>
                <a:gd name="T6" fmla="*/ 85 w 108"/>
                <a:gd name="T7" fmla="*/ 103 h 146"/>
                <a:gd name="T8" fmla="*/ 85 w 108"/>
                <a:gd name="T9" fmla="*/ 0 h 146"/>
                <a:gd name="T10" fmla="*/ 108 w 108"/>
                <a:gd name="T11" fmla="*/ 0 h 146"/>
                <a:gd name="T12" fmla="*/ 108 w 108"/>
                <a:gd name="T13" fmla="*/ 146 h 146"/>
                <a:gd name="T14" fmla="*/ 85 w 108"/>
                <a:gd name="T15" fmla="*/ 146 h 146"/>
                <a:gd name="T16" fmla="*/ 26 w 108"/>
                <a:gd name="T17" fmla="*/ 43 h 146"/>
                <a:gd name="T18" fmla="*/ 23 w 108"/>
                <a:gd name="T19" fmla="*/ 43 h 146"/>
                <a:gd name="T20" fmla="*/ 23 w 108"/>
                <a:gd name="T21" fmla="*/ 146 h 146"/>
                <a:gd name="T22" fmla="*/ 0 w 108"/>
                <a:gd name="T23" fmla="*/ 146 h 146"/>
                <a:gd name="T24" fmla="*/ 0 w 108"/>
                <a:gd name="T25" fmla="*/ 0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8" h="146">
                  <a:moveTo>
                    <a:pt x="0" y="0"/>
                  </a:moveTo>
                  <a:lnTo>
                    <a:pt x="23" y="0"/>
                  </a:lnTo>
                  <a:lnTo>
                    <a:pt x="85" y="103"/>
                  </a:lnTo>
                  <a:lnTo>
                    <a:pt x="85" y="103"/>
                  </a:lnTo>
                  <a:lnTo>
                    <a:pt x="85" y="0"/>
                  </a:lnTo>
                  <a:lnTo>
                    <a:pt x="108" y="0"/>
                  </a:lnTo>
                  <a:lnTo>
                    <a:pt x="108" y="146"/>
                  </a:lnTo>
                  <a:lnTo>
                    <a:pt x="85" y="146"/>
                  </a:lnTo>
                  <a:lnTo>
                    <a:pt x="26" y="43"/>
                  </a:lnTo>
                  <a:lnTo>
                    <a:pt x="23" y="43"/>
                  </a:lnTo>
                  <a:lnTo>
                    <a:pt x="23" y="146"/>
                  </a:lnTo>
                  <a:lnTo>
                    <a:pt x="0" y="1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1" name="Freeform 89"/>
            <p:cNvSpPr>
              <a:spLocks/>
            </p:cNvSpPr>
            <p:nvPr/>
          </p:nvSpPr>
          <p:spPr bwMode="gray">
            <a:xfrm>
              <a:off x="5849938" y="3883025"/>
              <a:ext cx="198438" cy="238125"/>
            </a:xfrm>
            <a:custGeom>
              <a:avLst/>
              <a:gdLst>
                <a:gd name="T0" fmla="*/ 10 w 53"/>
                <a:gd name="T1" fmla="*/ 43 h 63"/>
                <a:gd name="T2" fmla="*/ 28 w 53"/>
                <a:gd name="T3" fmla="*/ 53 h 63"/>
                <a:gd name="T4" fmla="*/ 41 w 53"/>
                <a:gd name="T5" fmla="*/ 45 h 63"/>
                <a:gd name="T6" fmla="*/ 28 w 53"/>
                <a:gd name="T7" fmla="*/ 37 h 63"/>
                <a:gd name="T8" fmla="*/ 22 w 53"/>
                <a:gd name="T9" fmla="*/ 35 h 63"/>
                <a:gd name="T10" fmla="*/ 3 w 53"/>
                <a:gd name="T11" fmla="*/ 18 h 63"/>
                <a:gd name="T12" fmla="*/ 27 w 53"/>
                <a:gd name="T13" fmla="*/ 0 h 63"/>
                <a:gd name="T14" fmla="*/ 52 w 53"/>
                <a:gd name="T15" fmla="*/ 12 h 63"/>
                <a:gd name="T16" fmla="*/ 43 w 53"/>
                <a:gd name="T17" fmla="*/ 19 h 63"/>
                <a:gd name="T18" fmla="*/ 27 w 53"/>
                <a:gd name="T19" fmla="*/ 10 h 63"/>
                <a:gd name="T20" fmla="*/ 15 w 53"/>
                <a:gd name="T21" fmla="*/ 17 h 63"/>
                <a:gd name="T22" fmla="*/ 28 w 53"/>
                <a:gd name="T23" fmla="*/ 25 h 63"/>
                <a:gd name="T24" fmla="*/ 35 w 53"/>
                <a:gd name="T25" fmla="*/ 26 h 63"/>
                <a:gd name="T26" fmla="*/ 53 w 53"/>
                <a:gd name="T27" fmla="*/ 43 h 63"/>
                <a:gd name="T28" fmla="*/ 26 w 53"/>
                <a:gd name="T29" fmla="*/ 63 h 63"/>
                <a:gd name="T30" fmla="*/ 0 w 53"/>
                <a:gd name="T31" fmla="*/ 50 h 63"/>
                <a:gd name="T32" fmla="*/ 10 w 53"/>
                <a:gd name="T33" fmla="*/ 43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3" h="63">
                  <a:moveTo>
                    <a:pt x="10" y="43"/>
                  </a:moveTo>
                  <a:cubicBezTo>
                    <a:pt x="14" y="50"/>
                    <a:pt x="21" y="53"/>
                    <a:pt x="28" y="53"/>
                  </a:cubicBezTo>
                  <a:cubicBezTo>
                    <a:pt x="33" y="53"/>
                    <a:pt x="41" y="51"/>
                    <a:pt x="41" y="45"/>
                  </a:cubicBezTo>
                  <a:cubicBezTo>
                    <a:pt x="41" y="40"/>
                    <a:pt x="36" y="39"/>
                    <a:pt x="28" y="37"/>
                  </a:cubicBezTo>
                  <a:cubicBezTo>
                    <a:pt x="22" y="35"/>
                    <a:pt x="22" y="35"/>
                    <a:pt x="22" y="35"/>
                  </a:cubicBezTo>
                  <a:cubicBezTo>
                    <a:pt x="12" y="33"/>
                    <a:pt x="3" y="30"/>
                    <a:pt x="3" y="18"/>
                  </a:cubicBezTo>
                  <a:cubicBezTo>
                    <a:pt x="3" y="6"/>
                    <a:pt x="16" y="0"/>
                    <a:pt x="27" y="0"/>
                  </a:cubicBezTo>
                  <a:cubicBezTo>
                    <a:pt x="37" y="0"/>
                    <a:pt x="46" y="3"/>
                    <a:pt x="52" y="12"/>
                  </a:cubicBezTo>
                  <a:cubicBezTo>
                    <a:pt x="43" y="19"/>
                    <a:pt x="43" y="19"/>
                    <a:pt x="43" y="19"/>
                  </a:cubicBezTo>
                  <a:cubicBezTo>
                    <a:pt x="40" y="13"/>
                    <a:pt x="34" y="10"/>
                    <a:pt x="27" y="10"/>
                  </a:cubicBezTo>
                  <a:cubicBezTo>
                    <a:pt x="20" y="10"/>
                    <a:pt x="15" y="13"/>
                    <a:pt x="15" y="17"/>
                  </a:cubicBezTo>
                  <a:cubicBezTo>
                    <a:pt x="15" y="22"/>
                    <a:pt x="21" y="23"/>
                    <a:pt x="28" y="25"/>
                  </a:cubicBezTo>
                  <a:cubicBezTo>
                    <a:pt x="35" y="26"/>
                    <a:pt x="35" y="26"/>
                    <a:pt x="35" y="26"/>
                  </a:cubicBezTo>
                  <a:cubicBezTo>
                    <a:pt x="44" y="28"/>
                    <a:pt x="53" y="32"/>
                    <a:pt x="53" y="43"/>
                  </a:cubicBezTo>
                  <a:cubicBezTo>
                    <a:pt x="53" y="58"/>
                    <a:pt x="39" y="63"/>
                    <a:pt x="26" y="63"/>
                  </a:cubicBezTo>
                  <a:cubicBezTo>
                    <a:pt x="16" y="63"/>
                    <a:pt x="6" y="59"/>
                    <a:pt x="0" y="50"/>
                  </a:cubicBezTo>
                  <a:lnTo>
                    <a:pt x="10" y="43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2" name="Freeform 90"/>
            <p:cNvSpPr>
              <a:spLocks/>
            </p:cNvSpPr>
            <p:nvPr/>
          </p:nvSpPr>
          <p:spPr bwMode="gray">
            <a:xfrm>
              <a:off x="6157913" y="3886200"/>
              <a:ext cx="184150" cy="234950"/>
            </a:xfrm>
            <a:custGeom>
              <a:avLst/>
              <a:gdLst>
                <a:gd name="T0" fmla="*/ 49 w 49"/>
                <a:gd name="T1" fmla="*/ 42 h 62"/>
                <a:gd name="T2" fmla="*/ 24 w 49"/>
                <a:gd name="T3" fmla="*/ 62 h 62"/>
                <a:gd name="T4" fmla="*/ 0 w 49"/>
                <a:gd name="T5" fmla="*/ 42 h 62"/>
                <a:gd name="T6" fmla="*/ 0 w 49"/>
                <a:gd name="T7" fmla="*/ 0 h 62"/>
                <a:gd name="T8" fmla="*/ 11 w 49"/>
                <a:gd name="T9" fmla="*/ 0 h 62"/>
                <a:gd name="T10" fmla="*/ 11 w 49"/>
                <a:gd name="T11" fmla="*/ 39 h 62"/>
                <a:gd name="T12" fmla="*/ 24 w 49"/>
                <a:gd name="T13" fmla="*/ 51 h 62"/>
                <a:gd name="T14" fmla="*/ 37 w 49"/>
                <a:gd name="T15" fmla="*/ 39 h 62"/>
                <a:gd name="T16" fmla="*/ 37 w 49"/>
                <a:gd name="T17" fmla="*/ 0 h 62"/>
                <a:gd name="T18" fmla="*/ 49 w 49"/>
                <a:gd name="T19" fmla="*/ 0 h 62"/>
                <a:gd name="T20" fmla="*/ 49 w 49"/>
                <a:gd name="T21" fmla="*/ 42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9" h="62">
                  <a:moveTo>
                    <a:pt x="49" y="42"/>
                  </a:moveTo>
                  <a:cubicBezTo>
                    <a:pt x="49" y="54"/>
                    <a:pt x="39" y="62"/>
                    <a:pt x="24" y="62"/>
                  </a:cubicBezTo>
                  <a:cubicBezTo>
                    <a:pt x="10" y="62"/>
                    <a:pt x="0" y="54"/>
                    <a:pt x="0" y="42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11" y="0"/>
                    <a:pt x="11" y="0"/>
                    <a:pt x="11" y="0"/>
                  </a:cubicBezTo>
                  <a:cubicBezTo>
                    <a:pt x="11" y="39"/>
                    <a:pt x="11" y="39"/>
                    <a:pt x="11" y="39"/>
                  </a:cubicBezTo>
                  <a:cubicBezTo>
                    <a:pt x="11" y="46"/>
                    <a:pt x="14" y="51"/>
                    <a:pt x="24" y="51"/>
                  </a:cubicBezTo>
                  <a:cubicBezTo>
                    <a:pt x="34" y="51"/>
                    <a:pt x="37" y="46"/>
                    <a:pt x="37" y="39"/>
                  </a:cubicBezTo>
                  <a:cubicBezTo>
                    <a:pt x="37" y="0"/>
                    <a:pt x="37" y="0"/>
                    <a:pt x="37" y="0"/>
                  </a:cubicBezTo>
                  <a:cubicBezTo>
                    <a:pt x="49" y="0"/>
                    <a:pt x="49" y="0"/>
                    <a:pt x="49" y="0"/>
                  </a:cubicBezTo>
                  <a:lnTo>
                    <a:pt x="49" y="42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3" name="Freeform 91"/>
            <p:cNvSpPr>
              <a:spLocks noEditPoints="1"/>
            </p:cNvSpPr>
            <p:nvPr/>
          </p:nvSpPr>
          <p:spPr bwMode="gray">
            <a:xfrm>
              <a:off x="6462713" y="3886200"/>
              <a:ext cx="176213" cy="231775"/>
            </a:xfrm>
            <a:custGeom>
              <a:avLst/>
              <a:gdLst>
                <a:gd name="T0" fmla="*/ 0 w 47"/>
                <a:gd name="T1" fmla="*/ 0 h 61"/>
                <a:gd name="T2" fmla="*/ 25 w 47"/>
                <a:gd name="T3" fmla="*/ 0 h 61"/>
                <a:gd name="T4" fmla="*/ 46 w 47"/>
                <a:gd name="T5" fmla="*/ 18 h 61"/>
                <a:gd name="T6" fmla="*/ 34 w 47"/>
                <a:gd name="T7" fmla="*/ 36 h 61"/>
                <a:gd name="T8" fmla="*/ 47 w 47"/>
                <a:gd name="T9" fmla="*/ 61 h 61"/>
                <a:gd name="T10" fmla="*/ 34 w 47"/>
                <a:gd name="T11" fmla="*/ 61 h 61"/>
                <a:gd name="T12" fmla="*/ 22 w 47"/>
                <a:gd name="T13" fmla="*/ 38 h 61"/>
                <a:gd name="T14" fmla="*/ 11 w 47"/>
                <a:gd name="T15" fmla="*/ 38 h 61"/>
                <a:gd name="T16" fmla="*/ 11 w 47"/>
                <a:gd name="T17" fmla="*/ 61 h 61"/>
                <a:gd name="T18" fmla="*/ 0 w 47"/>
                <a:gd name="T19" fmla="*/ 61 h 61"/>
                <a:gd name="T20" fmla="*/ 0 w 47"/>
                <a:gd name="T21" fmla="*/ 0 h 61"/>
                <a:gd name="T22" fmla="*/ 11 w 47"/>
                <a:gd name="T23" fmla="*/ 28 h 61"/>
                <a:gd name="T24" fmla="*/ 24 w 47"/>
                <a:gd name="T25" fmla="*/ 28 h 61"/>
                <a:gd name="T26" fmla="*/ 34 w 47"/>
                <a:gd name="T27" fmla="*/ 19 h 61"/>
                <a:gd name="T28" fmla="*/ 22 w 47"/>
                <a:gd name="T29" fmla="*/ 10 h 61"/>
                <a:gd name="T30" fmla="*/ 11 w 47"/>
                <a:gd name="T31" fmla="*/ 10 h 61"/>
                <a:gd name="T32" fmla="*/ 11 w 47"/>
                <a:gd name="T33" fmla="*/ 28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47" h="61">
                  <a:moveTo>
                    <a:pt x="0" y="0"/>
                  </a:moveTo>
                  <a:cubicBezTo>
                    <a:pt x="25" y="0"/>
                    <a:pt x="25" y="0"/>
                    <a:pt x="25" y="0"/>
                  </a:cubicBezTo>
                  <a:cubicBezTo>
                    <a:pt x="38" y="0"/>
                    <a:pt x="46" y="8"/>
                    <a:pt x="46" y="18"/>
                  </a:cubicBezTo>
                  <a:cubicBezTo>
                    <a:pt x="46" y="32"/>
                    <a:pt x="37" y="35"/>
                    <a:pt x="34" y="36"/>
                  </a:cubicBezTo>
                  <a:cubicBezTo>
                    <a:pt x="47" y="61"/>
                    <a:pt x="47" y="61"/>
                    <a:pt x="47" y="61"/>
                  </a:cubicBezTo>
                  <a:cubicBezTo>
                    <a:pt x="34" y="61"/>
                    <a:pt x="34" y="61"/>
                    <a:pt x="34" y="61"/>
                  </a:cubicBezTo>
                  <a:cubicBezTo>
                    <a:pt x="22" y="38"/>
                    <a:pt x="22" y="38"/>
                    <a:pt x="22" y="38"/>
                  </a:cubicBezTo>
                  <a:cubicBezTo>
                    <a:pt x="11" y="38"/>
                    <a:pt x="11" y="38"/>
                    <a:pt x="11" y="38"/>
                  </a:cubicBezTo>
                  <a:cubicBezTo>
                    <a:pt x="11" y="61"/>
                    <a:pt x="11" y="61"/>
                    <a:pt x="11" y="61"/>
                  </a:cubicBezTo>
                  <a:cubicBezTo>
                    <a:pt x="0" y="61"/>
                    <a:pt x="0" y="61"/>
                    <a:pt x="0" y="61"/>
                  </a:cubicBezTo>
                  <a:lnTo>
                    <a:pt x="0" y="0"/>
                  </a:lnTo>
                  <a:close/>
                  <a:moveTo>
                    <a:pt x="11" y="28"/>
                  </a:moveTo>
                  <a:cubicBezTo>
                    <a:pt x="24" y="28"/>
                    <a:pt x="24" y="28"/>
                    <a:pt x="24" y="28"/>
                  </a:cubicBezTo>
                  <a:cubicBezTo>
                    <a:pt x="30" y="28"/>
                    <a:pt x="34" y="25"/>
                    <a:pt x="34" y="19"/>
                  </a:cubicBezTo>
                  <a:cubicBezTo>
                    <a:pt x="34" y="14"/>
                    <a:pt x="30" y="10"/>
                    <a:pt x="22" y="10"/>
                  </a:cubicBezTo>
                  <a:cubicBezTo>
                    <a:pt x="11" y="10"/>
                    <a:pt x="11" y="10"/>
                    <a:pt x="11" y="10"/>
                  </a:cubicBezTo>
                  <a:lnTo>
                    <a:pt x="11" y="28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4" name="Freeform 92"/>
            <p:cNvSpPr>
              <a:spLocks noEditPoints="1"/>
            </p:cNvSpPr>
            <p:nvPr/>
          </p:nvSpPr>
          <p:spPr bwMode="gray">
            <a:xfrm>
              <a:off x="6721476" y="3886200"/>
              <a:ext cx="203200" cy="231775"/>
            </a:xfrm>
            <a:custGeom>
              <a:avLst/>
              <a:gdLst>
                <a:gd name="T0" fmla="*/ 50 w 128"/>
                <a:gd name="T1" fmla="*/ 0 h 146"/>
                <a:gd name="T2" fmla="*/ 81 w 128"/>
                <a:gd name="T3" fmla="*/ 0 h 146"/>
                <a:gd name="T4" fmla="*/ 128 w 128"/>
                <a:gd name="T5" fmla="*/ 146 h 146"/>
                <a:gd name="T6" fmla="*/ 100 w 128"/>
                <a:gd name="T7" fmla="*/ 146 h 146"/>
                <a:gd name="T8" fmla="*/ 93 w 128"/>
                <a:gd name="T9" fmla="*/ 117 h 146"/>
                <a:gd name="T10" fmla="*/ 38 w 128"/>
                <a:gd name="T11" fmla="*/ 117 h 146"/>
                <a:gd name="T12" fmla="*/ 29 w 128"/>
                <a:gd name="T13" fmla="*/ 146 h 146"/>
                <a:gd name="T14" fmla="*/ 0 w 128"/>
                <a:gd name="T15" fmla="*/ 146 h 146"/>
                <a:gd name="T16" fmla="*/ 50 w 128"/>
                <a:gd name="T17" fmla="*/ 0 h 146"/>
                <a:gd name="T18" fmla="*/ 64 w 128"/>
                <a:gd name="T19" fmla="*/ 26 h 146"/>
                <a:gd name="T20" fmla="*/ 64 w 128"/>
                <a:gd name="T21" fmla="*/ 26 h 146"/>
                <a:gd name="T22" fmla="*/ 45 w 128"/>
                <a:gd name="T23" fmla="*/ 93 h 146"/>
                <a:gd name="T24" fmla="*/ 85 w 128"/>
                <a:gd name="T25" fmla="*/ 93 h 146"/>
                <a:gd name="T26" fmla="*/ 64 w 128"/>
                <a:gd name="T27" fmla="*/ 26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28" h="146">
                  <a:moveTo>
                    <a:pt x="50" y="0"/>
                  </a:moveTo>
                  <a:lnTo>
                    <a:pt x="81" y="0"/>
                  </a:lnTo>
                  <a:lnTo>
                    <a:pt x="128" y="146"/>
                  </a:lnTo>
                  <a:lnTo>
                    <a:pt x="100" y="146"/>
                  </a:lnTo>
                  <a:lnTo>
                    <a:pt x="93" y="117"/>
                  </a:lnTo>
                  <a:lnTo>
                    <a:pt x="38" y="117"/>
                  </a:lnTo>
                  <a:lnTo>
                    <a:pt x="29" y="146"/>
                  </a:lnTo>
                  <a:lnTo>
                    <a:pt x="0" y="146"/>
                  </a:lnTo>
                  <a:lnTo>
                    <a:pt x="50" y="0"/>
                  </a:lnTo>
                  <a:close/>
                  <a:moveTo>
                    <a:pt x="64" y="26"/>
                  </a:moveTo>
                  <a:lnTo>
                    <a:pt x="64" y="26"/>
                  </a:lnTo>
                  <a:lnTo>
                    <a:pt x="45" y="93"/>
                  </a:lnTo>
                  <a:lnTo>
                    <a:pt x="85" y="93"/>
                  </a:lnTo>
                  <a:lnTo>
                    <a:pt x="64" y="26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5" name="Freeform 93"/>
            <p:cNvSpPr>
              <a:spLocks/>
            </p:cNvSpPr>
            <p:nvPr/>
          </p:nvSpPr>
          <p:spPr bwMode="gray">
            <a:xfrm>
              <a:off x="7023101" y="3886200"/>
              <a:ext cx="171450" cy="231775"/>
            </a:xfrm>
            <a:custGeom>
              <a:avLst/>
              <a:gdLst>
                <a:gd name="T0" fmla="*/ 0 w 108"/>
                <a:gd name="T1" fmla="*/ 0 h 146"/>
                <a:gd name="T2" fmla="*/ 23 w 108"/>
                <a:gd name="T3" fmla="*/ 0 h 146"/>
                <a:gd name="T4" fmla="*/ 82 w 108"/>
                <a:gd name="T5" fmla="*/ 103 h 146"/>
                <a:gd name="T6" fmla="*/ 85 w 108"/>
                <a:gd name="T7" fmla="*/ 103 h 146"/>
                <a:gd name="T8" fmla="*/ 85 w 108"/>
                <a:gd name="T9" fmla="*/ 0 h 146"/>
                <a:gd name="T10" fmla="*/ 108 w 108"/>
                <a:gd name="T11" fmla="*/ 0 h 146"/>
                <a:gd name="T12" fmla="*/ 108 w 108"/>
                <a:gd name="T13" fmla="*/ 146 h 146"/>
                <a:gd name="T14" fmla="*/ 82 w 108"/>
                <a:gd name="T15" fmla="*/ 146 h 146"/>
                <a:gd name="T16" fmla="*/ 23 w 108"/>
                <a:gd name="T17" fmla="*/ 43 h 146"/>
                <a:gd name="T18" fmla="*/ 23 w 108"/>
                <a:gd name="T19" fmla="*/ 43 h 146"/>
                <a:gd name="T20" fmla="*/ 23 w 108"/>
                <a:gd name="T21" fmla="*/ 146 h 146"/>
                <a:gd name="T22" fmla="*/ 0 w 108"/>
                <a:gd name="T23" fmla="*/ 146 h 146"/>
                <a:gd name="T24" fmla="*/ 0 w 108"/>
                <a:gd name="T25" fmla="*/ 0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8" h="146">
                  <a:moveTo>
                    <a:pt x="0" y="0"/>
                  </a:moveTo>
                  <a:lnTo>
                    <a:pt x="23" y="0"/>
                  </a:lnTo>
                  <a:lnTo>
                    <a:pt x="82" y="103"/>
                  </a:lnTo>
                  <a:lnTo>
                    <a:pt x="85" y="103"/>
                  </a:lnTo>
                  <a:lnTo>
                    <a:pt x="85" y="0"/>
                  </a:lnTo>
                  <a:lnTo>
                    <a:pt x="108" y="0"/>
                  </a:lnTo>
                  <a:lnTo>
                    <a:pt x="108" y="146"/>
                  </a:lnTo>
                  <a:lnTo>
                    <a:pt x="82" y="146"/>
                  </a:lnTo>
                  <a:lnTo>
                    <a:pt x="23" y="43"/>
                  </a:lnTo>
                  <a:lnTo>
                    <a:pt x="23" y="43"/>
                  </a:lnTo>
                  <a:lnTo>
                    <a:pt x="23" y="146"/>
                  </a:lnTo>
                  <a:lnTo>
                    <a:pt x="0" y="1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6" name="Freeform 94"/>
            <p:cNvSpPr>
              <a:spLocks/>
            </p:cNvSpPr>
            <p:nvPr/>
          </p:nvSpPr>
          <p:spPr bwMode="gray">
            <a:xfrm>
              <a:off x="7304088" y="3883025"/>
              <a:ext cx="203200" cy="238125"/>
            </a:xfrm>
            <a:custGeom>
              <a:avLst/>
              <a:gdLst>
                <a:gd name="T0" fmla="*/ 42 w 54"/>
                <a:gd name="T1" fmla="*/ 21 h 63"/>
                <a:gd name="T2" fmla="*/ 29 w 54"/>
                <a:gd name="T3" fmla="*/ 10 h 63"/>
                <a:gd name="T4" fmla="*/ 12 w 54"/>
                <a:gd name="T5" fmla="*/ 31 h 63"/>
                <a:gd name="T6" fmla="*/ 29 w 54"/>
                <a:gd name="T7" fmla="*/ 53 h 63"/>
                <a:gd name="T8" fmla="*/ 43 w 54"/>
                <a:gd name="T9" fmla="*/ 40 h 63"/>
                <a:gd name="T10" fmla="*/ 54 w 54"/>
                <a:gd name="T11" fmla="*/ 45 h 63"/>
                <a:gd name="T12" fmla="*/ 29 w 54"/>
                <a:gd name="T13" fmla="*/ 63 h 63"/>
                <a:gd name="T14" fmla="*/ 0 w 54"/>
                <a:gd name="T15" fmla="*/ 31 h 63"/>
                <a:gd name="T16" fmla="*/ 29 w 54"/>
                <a:gd name="T17" fmla="*/ 0 h 63"/>
                <a:gd name="T18" fmla="*/ 53 w 54"/>
                <a:gd name="T19" fmla="*/ 19 h 63"/>
                <a:gd name="T20" fmla="*/ 42 w 54"/>
                <a:gd name="T21" fmla="*/ 21 h 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54" h="63">
                  <a:moveTo>
                    <a:pt x="42" y="21"/>
                  </a:moveTo>
                  <a:cubicBezTo>
                    <a:pt x="41" y="15"/>
                    <a:pt x="36" y="10"/>
                    <a:pt x="29" y="10"/>
                  </a:cubicBezTo>
                  <a:cubicBezTo>
                    <a:pt x="17" y="10"/>
                    <a:pt x="12" y="21"/>
                    <a:pt x="12" y="31"/>
                  </a:cubicBezTo>
                  <a:cubicBezTo>
                    <a:pt x="12" y="42"/>
                    <a:pt x="17" y="53"/>
                    <a:pt x="29" y="53"/>
                  </a:cubicBezTo>
                  <a:cubicBezTo>
                    <a:pt x="37" y="53"/>
                    <a:pt x="41" y="47"/>
                    <a:pt x="43" y="40"/>
                  </a:cubicBezTo>
                  <a:cubicBezTo>
                    <a:pt x="54" y="45"/>
                    <a:pt x="54" y="45"/>
                    <a:pt x="54" y="45"/>
                  </a:cubicBezTo>
                  <a:cubicBezTo>
                    <a:pt x="49" y="57"/>
                    <a:pt x="41" y="63"/>
                    <a:pt x="29" y="63"/>
                  </a:cubicBezTo>
                  <a:cubicBezTo>
                    <a:pt x="9" y="63"/>
                    <a:pt x="0" y="48"/>
                    <a:pt x="0" y="31"/>
                  </a:cubicBezTo>
                  <a:cubicBezTo>
                    <a:pt x="0" y="14"/>
                    <a:pt x="11" y="0"/>
                    <a:pt x="29" y="0"/>
                  </a:cubicBezTo>
                  <a:cubicBezTo>
                    <a:pt x="41" y="0"/>
                    <a:pt x="50" y="6"/>
                    <a:pt x="53" y="19"/>
                  </a:cubicBezTo>
                  <a:lnTo>
                    <a:pt x="42" y="21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7" name="Freeform 95"/>
            <p:cNvSpPr>
              <a:spLocks/>
            </p:cNvSpPr>
            <p:nvPr/>
          </p:nvSpPr>
          <p:spPr bwMode="gray">
            <a:xfrm>
              <a:off x="7597776" y="3886200"/>
              <a:ext cx="168275" cy="231775"/>
            </a:xfrm>
            <a:custGeom>
              <a:avLst/>
              <a:gdLst>
                <a:gd name="T0" fmla="*/ 0 w 106"/>
                <a:gd name="T1" fmla="*/ 0 h 146"/>
                <a:gd name="T2" fmla="*/ 102 w 106"/>
                <a:gd name="T3" fmla="*/ 0 h 146"/>
                <a:gd name="T4" fmla="*/ 102 w 106"/>
                <a:gd name="T5" fmla="*/ 26 h 146"/>
                <a:gd name="T6" fmla="*/ 28 w 106"/>
                <a:gd name="T7" fmla="*/ 26 h 146"/>
                <a:gd name="T8" fmla="*/ 28 w 106"/>
                <a:gd name="T9" fmla="*/ 57 h 146"/>
                <a:gd name="T10" fmla="*/ 95 w 106"/>
                <a:gd name="T11" fmla="*/ 57 h 146"/>
                <a:gd name="T12" fmla="*/ 95 w 106"/>
                <a:gd name="T13" fmla="*/ 81 h 146"/>
                <a:gd name="T14" fmla="*/ 28 w 106"/>
                <a:gd name="T15" fmla="*/ 81 h 146"/>
                <a:gd name="T16" fmla="*/ 28 w 106"/>
                <a:gd name="T17" fmla="*/ 119 h 146"/>
                <a:gd name="T18" fmla="*/ 106 w 106"/>
                <a:gd name="T19" fmla="*/ 119 h 146"/>
                <a:gd name="T20" fmla="*/ 106 w 106"/>
                <a:gd name="T21" fmla="*/ 146 h 146"/>
                <a:gd name="T22" fmla="*/ 0 w 106"/>
                <a:gd name="T23" fmla="*/ 146 h 146"/>
                <a:gd name="T24" fmla="*/ 0 w 106"/>
                <a:gd name="T25" fmla="*/ 0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06" h="146">
                  <a:moveTo>
                    <a:pt x="0" y="0"/>
                  </a:moveTo>
                  <a:lnTo>
                    <a:pt x="102" y="0"/>
                  </a:lnTo>
                  <a:lnTo>
                    <a:pt x="102" y="26"/>
                  </a:lnTo>
                  <a:lnTo>
                    <a:pt x="28" y="26"/>
                  </a:lnTo>
                  <a:lnTo>
                    <a:pt x="28" y="57"/>
                  </a:lnTo>
                  <a:lnTo>
                    <a:pt x="95" y="57"/>
                  </a:lnTo>
                  <a:lnTo>
                    <a:pt x="95" y="81"/>
                  </a:lnTo>
                  <a:lnTo>
                    <a:pt x="28" y="81"/>
                  </a:lnTo>
                  <a:lnTo>
                    <a:pt x="28" y="119"/>
                  </a:lnTo>
                  <a:lnTo>
                    <a:pt x="106" y="119"/>
                  </a:lnTo>
                  <a:lnTo>
                    <a:pt x="106" y="146"/>
                  </a:lnTo>
                  <a:lnTo>
                    <a:pt x="0" y="1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A144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466749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oleObject" Target="../embeddings/oleObject1.bin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ags" Target="../tags/tag2.xml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tags" Target="../tags/tag1.xml"/><Relationship Id="rId5" Type="http://schemas.openxmlformats.org/officeDocument/2006/relationships/slideLayout" Target="../slideLayouts/slideLayout16.xml"/><Relationship Id="rId15" Type="http://schemas.openxmlformats.org/officeDocument/2006/relationships/image" Target="../media/image2.png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E6F980-44D2-D9E9-4758-88789E025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46B68E-E18E-B807-1296-83F2FBB9F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0B8C81-68DB-6FDD-B8F0-90A33336B3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F75F8D-5130-E049-B250-ADAF720CF121}" type="datetimeFigureOut">
              <a:rPr lang="en-US" smtClean="0"/>
              <a:t>8/2/26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E13A25-9078-CD5A-5A9A-E87D3FF36F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36686-C24F-375E-CEF4-6057F93EC0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80F394-47BB-0945-8408-F2366CEA90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389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ED88C03E-4AC0-4EE4-B759-89C55C725973}"/>
              </a:ext>
            </a:extLst>
          </p:cNvPr>
          <p:cNvGraphicFramePr>
            <a:graphicFrameLocks noChangeAspect="1"/>
          </p:cNvGraphicFramePr>
          <p:nvPr>
            <p:custDataLst>
              <p:tags r:id="rId11"/>
            </p:custDataLst>
            <p:extLst>
              <p:ext uri="{D42A27DB-BD31-4B8C-83A1-F6EECF244321}">
                <p14:modId xmlns:p14="http://schemas.microsoft.com/office/powerpoint/2010/main" val="13490964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95" imgH="396" progId="TCLayout.ActiveDocument.1">
                  <p:embed/>
                </p:oleObj>
              </mc:Choice>
              <mc:Fallback>
                <p:oleObj name="think-cell Slide" r:id="rId13" imgW="395" imgH="39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ED88C03E-4AC0-4EE4-B759-89C55C7259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E758CF56-30EA-4402-B31A-F47096ABEC70}"/>
              </a:ext>
            </a:extLst>
          </p:cNvPr>
          <p:cNvSpPr/>
          <p:nvPr>
            <p:custDataLst>
              <p:tags r:id="rId1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/>
            <a:endParaRPr lang="en-US" sz="4000" b="0" i="0" baseline="0">
              <a:solidFill>
                <a:srgbClr val="1A1448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DB5BD-5652-4CE6-AF15-1F1D286F3B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8682" y="6325035"/>
            <a:ext cx="5934636" cy="365125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lang="en-US" sz="1400" dirty="0">
                <a:solidFill>
                  <a:schemeClr val="accent5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237E5C-E878-46AB-9E8B-4290B755A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58501" y="6370639"/>
            <a:ext cx="6286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r">
              <a:defRPr lang="en-US" sz="1200" smtClean="0">
                <a:solidFill>
                  <a:schemeClr val="accent5">
                    <a:lumMod val="75000"/>
                  </a:schemeClr>
                </a:solidFill>
              </a:defRPr>
            </a:lvl1pPr>
          </a:lstStyle>
          <a:p>
            <a:fld id="{AC22F7F7-928F-45A2-B5CD-889D6F08CAC5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0973" y="168443"/>
            <a:ext cx="11579334" cy="12031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0973" y="1446122"/>
            <a:ext cx="11579334" cy="47234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1595615" y="6272479"/>
            <a:ext cx="461773" cy="469521"/>
            <a:chOff x="11613545" y="6272479"/>
            <a:chExt cx="461773" cy="469521"/>
          </a:xfrm>
        </p:grpSpPr>
        <p:pic>
          <p:nvPicPr>
            <p:cNvPr id="11" name="Picture 10"/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11613545" y="6272479"/>
              <a:ext cx="461773" cy="469521"/>
            </a:xfrm>
            <a:prstGeom prst="rect">
              <a:avLst/>
            </a:prstGeom>
          </p:spPr>
        </p:pic>
        <p:pic>
          <p:nvPicPr>
            <p:cNvPr id="13" name="Picture 12"/>
            <p:cNvPicPr>
              <a:picLocks noChangeAspect="1"/>
            </p:cNvPicPr>
            <p:nvPr/>
          </p:nvPicPr>
          <p:blipFill rotWithShape="1">
            <a:blip r:embed="rId16"/>
            <a:srcRect b="2491"/>
            <a:stretch/>
          </p:blipFill>
          <p:spPr>
            <a:xfrm>
              <a:off x="11718819" y="6325130"/>
              <a:ext cx="277918" cy="363309"/>
            </a:xfrm>
            <a:prstGeom prst="rect">
              <a:avLst/>
            </a:prstGeom>
          </p:spPr>
        </p:pic>
      </p:grpSp>
      <p:cxnSp>
        <p:nvCxnSpPr>
          <p:cNvPr id="18" name="Straight Connector 17"/>
          <p:cNvCxnSpPr/>
          <p:nvPr/>
        </p:nvCxnSpPr>
        <p:spPr>
          <a:xfrm>
            <a:off x="132969" y="6223139"/>
            <a:ext cx="11926063" cy="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467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bg1">
              <a:lumMod val="10000"/>
            </a:schemeClr>
          </a:solidFill>
          <a:latin typeface="+mj-lt"/>
          <a:ea typeface="+mj-ea"/>
          <a:cs typeface="+mj-cs"/>
        </a:defRPr>
      </a:lvl1pPr>
    </p:titleStyle>
    <p:bodyStyle>
      <a:lvl1pPr marL="266700" indent="-266700" algn="l" defTabSz="914400" rtl="0" eaLnBrk="1" latinLnBrk="0" hangingPunct="1">
        <a:lnSpc>
          <a:spcPct val="90000"/>
        </a:lnSpc>
        <a:spcBef>
          <a:spcPts val="1200"/>
        </a:spcBef>
        <a:buClr>
          <a:schemeClr val="accent5"/>
        </a:buClr>
        <a:buFont typeface="Wingdings 2" panose="05020102010507070707" pitchFamily="18" charset="2"/>
        <a:buChar char=""/>
        <a:tabLst/>
        <a:defRPr sz="2800" kern="1200">
          <a:solidFill>
            <a:schemeClr val="bg1">
              <a:lumMod val="10000"/>
            </a:schemeClr>
          </a:solidFill>
          <a:latin typeface="+mn-lt"/>
          <a:ea typeface="+mn-ea"/>
          <a:cs typeface="+mn-cs"/>
        </a:defRPr>
      </a:lvl1pPr>
      <a:lvl2pPr marL="533400" indent="-266700" algn="l" defTabSz="914400" rtl="0" eaLnBrk="1" latinLnBrk="0" hangingPunct="1">
        <a:lnSpc>
          <a:spcPct val="90000"/>
        </a:lnSpc>
        <a:spcBef>
          <a:spcPts val="600"/>
        </a:spcBef>
        <a:buClr>
          <a:schemeClr val="accent5"/>
        </a:buClr>
        <a:buFont typeface="Arial" panose="020B0604020202020204" pitchFamily="34" charset="0"/>
        <a:buChar char="−"/>
        <a:defRPr sz="2400" kern="1200">
          <a:solidFill>
            <a:schemeClr val="bg1">
              <a:lumMod val="10000"/>
            </a:schemeClr>
          </a:solidFill>
          <a:latin typeface="+mn-lt"/>
          <a:ea typeface="+mn-ea"/>
          <a:cs typeface="+mn-cs"/>
        </a:defRPr>
      </a:lvl2pPr>
      <a:lvl3pPr marL="647700" indent="-152400" algn="l" defTabSz="914400" rtl="0" eaLnBrk="1" latinLnBrk="0" hangingPunct="1">
        <a:lnSpc>
          <a:spcPct val="90000"/>
        </a:lnSpc>
        <a:spcBef>
          <a:spcPts val="600"/>
        </a:spcBef>
        <a:buClr>
          <a:schemeClr val="accent5"/>
        </a:buClr>
        <a:buFont typeface="Arial" panose="020B0604020202020204" pitchFamily="34" charset="0"/>
        <a:buChar char="•"/>
        <a:defRPr sz="2200" kern="1200">
          <a:solidFill>
            <a:schemeClr val="bg1">
              <a:lumMod val="10000"/>
            </a:schemeClr>
          </a:solidFill>
          <a:latin typeface="+mn-lt"/>
          <a:ea typeface="+mn-ea"/>
          <a:cs typeface="+mn-cs"/>
        </a:defRPr>
      </a:lvl3pPr>
      <a:lvl4pPr marL="819150" indent="-230188" algn="l" defTabSz="914400" rtl="0" eaLnBrk="1" latinLnBrk="0" hangingPunct="1">
        <a:lnSpc>
          <a:spcPct val="90000"/>
        </a:lnSpc>
        <a:spcBef>
          <a:spcPts val="600"/>
        </a:spcBef>
        <a:buClr>
          <a:schemeClr val="accent5"/>
        </a:buClr>
        <a:buFont typeface="Arial" panose="020B0604020202020204" pitchFamily="34" charset="0"/>
        <a:buChar char="−"/>
        <a:defRPr sz="2000" kern="1200">
          <a:solidFill>
            <a:schemeClr val="bg1">
              <a:lumMod val="10000"/>
            </a:schemeClr>
          </a:solidFill>
          <a:latin typeface="+mn-lt"/>
          <a:ea typeface="+mn-ea"/>
          <a:cs typeface="+mn-cs"/>
        </a:defRPr>
      </a:lvl4pPr>
      <a:lvl5pPr marL="950913" indent="-157163" algn="l" defTabSz="914400" rtl="0" eaLnBrk="1" latinLnBrk="0" hangingPunct="1">
        <a:lnSpc>
          <a:spcPct val="90000"/>
        </a:lnSpc>
        <a:spcBef>
          <a:spcPts val="600"/>
        </a:spcBef>
        <a:buClr>
          <a:schemeClr val="accent5"/>
        </a:buClr>
        <a:buFont typeface="Arial" panose="020B0604020202020204" pitchFamily="34" charset="0"/>
        <a:buChar char="•"/>
        <a:defRPr sz="1800" kern="1200">
          <a:solidFill>
            <a:schemeClr val="bg1">
              <a:lumMod val="1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88161-649D-DFDA-EA21-E73695F30F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C3A59B4-4480-13BC-4D88-2F2135CCFA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8232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01168"/>
            <a:ext cx="5486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>
                <a:solidFill>
                  <a:srgbClr val="8A8A8A"/>
                </a:solidFill>
                <a:latin typeface="Aptos"/>
              </a:rPr>
              <a:t>OUR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20624"/>
            <a:ext cx="8778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2060"/>
                </a:solidFill>
                <a:latin typeface="Aptos"/>
              </a:rPr>
              <a:t>2. Migration – Agentic-led Automation Approach Continued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778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31435B"/>
                </a:solidFill>
                <a:latin typeface="Aptos"/>
              </a:rPr>
              <a:t>An agent-driven platform accelerates the SDLC process through intelligent and adaptive automation.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89720" y="960120"/>
            <a:ext cx="2542032" cy="534924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308592" y="1088136"/>
            <a:ext cx="201168" cy="201168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08592" y="108813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73768" y="1069848"/>
            <a:ext cx="2039111" cy="2240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ptos"/>
              </a:rPr>
              <a:t>Reverse Engineering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08592" y="1293876"/>
            <a:ext cx="2304287" cy="8942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D6EA"/>
                </a:solidFill>
                <a:latin typeface="Aptos"/>
              </a:rPr>
              <a:t>Reverse engineers the BTEQ, Informatica code, Control-M and database metadata to identify object dependency, generate source to target mapping and lineage.</a:t>
            </a:r>
          </a:p>
        </p:txBody>
      </p:sp>
      <p:sp>
        <p:nvSpPr>
          <p:cNvPr id="10" name="Oval 9"/>
          <p:cNvSpPr/>
          <p:nvPr/>
        </p:nvSpPr>
        <p:spPr>
          <a:xfrm>
            <a:off x="9308592" y="2233879"/>
            <a:ext cx="201168" cy="201168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08592" y="2233879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73768" y="2215591"/>
            <a:ext cx="2039111" cy="2240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ptos"/>
              </a:rPr>
              <a:t>DDL Migrator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08592" y="2439619"/>
            <a:ext cx="2304287" cy="352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D6EA"/>
                </a:solidFill>
                <a:latin typeface="Aptos"/>
              </a:rPr>
              <a:t>Converts Teradata DDL scripts into Snowflake DDL scripts</a:t>
            </a:r>
          </a:p>
        </p:txBody>
      </p:sp>
      <p:sp>
        <p:nvSpPr>
          <p:cNvPr id="14" name="Oval 13"/>
          <p:cNvSpPr/>
          <p:nvPr/>
        </p:nvSpPr>
        <p:spPr>
          <a:xfrm>
            <a:off x="9308592" y="2838297"/>
            <a:ext cx="201168" cy="201168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308592" y="2838297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73768" y="2820009"/>
            <a:ext cx="2039111" cy="2240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ptos"/>
              </a:rPr>
              <a:t>Code Converter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08592" y="3044037"/>
            <a:ext cx="2304287" cy="3529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D6EA"/>
                </a:solidFill>
                <a:latin typeface="Aptos"/>
              </a:rPr>
              <a:t>Converts BTEQ, Informatica code into Snow-SQL</a:t>
            </a:r>
          </a:p>
        </p:txBody>
      </p:sp>
      <p:sp>
        <p:nvSpPr>
          <p:cNvPr id="18" name="Oval 17"/>
          <p:cNvSpPr/>
          <p:nvPr/>
        </p:nvSpPr>
        <p:spPr>
          <a:xfrm>
            <a:off x="9308592" y="3442716"/>
            <a:ext cx="201168" cy="201168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08592" y="344271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73768" y="3424428"/>
            <a:ext cx="2039111" cy="2240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ptos"/>
              </a:rPr>
              <a:t>Data Migration 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8592" y="3648456"/>
            <a:ext cx="2304287" cy="6236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D6EA"/>
                </a:solidFill>
                <a:latin typeface="Aptos"/>
              </a:rPr>
              <a:t>Generates configuration for the bulk upload to Elevance Health built data ingestion framework Falcon</a:t>
            </a:r>
          </a:p>
        </p:txBody>
      </p:sp>
      <p:sp>
        <p:nvSpPr>
          <p:cNvPr id="22" name="Oval 21"/>
          <p:cNvSpPr/>
          <p:nvPr/>
        </p:nvSpPr>
        <p:spPr>
          <a:xfrm>
            <a:off x="9308592" y="4317796"/>
            <a:ext cx="201168" cy="201168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08592" y="4317796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73768" y="4299508"/>
            <a:ext cx="2039111" cy="2240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ptos"/>
              </a:rPr>
              <a:t>Testing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8592" y="4523536"/>
            <a:ext cx="2304287" cy="6236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D6EA"/>
                </a:solidFill>
                <a:latin typeface="Aptos"/>
              </a:rPr>
              <a:t>Generates and executes test cases for DDL, BI/SAS reports, data during SIT, UAT and Regression testing</a:t>
            </a:r>
          </a:p>
        </p:txBody>
      </p:sp>
      <p:sp>
        <p:nvSpPr>
          <p:cNvPr id="26" name="Oval 25"/>
          <p:cNvSpPr/>
          <p:nvPr/>
        </p:nvSpPr>
        <p:spPr>
          <a:xfrm>
            <a:off x="9308592" y="5192877"/>
            <a:ext cx="201168" cy="201168"/>
          </a:xfrm>
          <a:prstGeom prst="ellipse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08592" y="5192877"/>
            <a:ext cx="201168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73768" y="5174589"/>
            <a:ext cx="2039111" cy="2240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Aptos"/>
              </a:rPr>
              <a:t>Code Optimization 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2" y="5398617"/>
            <a:ext cx="2304287" cy="6236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C9D6EA"/>
                </a:solidFill>
                <a:latin typeface="Aptos"/>
              </a:rPr>
              <a:t>Code optimization agents monitors queries and recommends ways to optimize for performance and cost.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1280160"/>
            <a:ext cx="1828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300" b="1" i="0" dirty="0">
                <a:solidFill>
                  <a:srgbClr val="7030A0"/>
                </a:solidFill>
                <a:latin typeface="Aptos"/>
              </a:rPr>
              <a:t>Report Rationalization</a:t>
            </a:r>
            <a:endParaRPr sz="1300" b="1" i="0" dirty="0">
              <a:solidFill>
                <a:srgbClr val="7030A0"/>
              </a:solidFill>
              <a:latin typeface="Apto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57200" y="1554480"/>
            <a:ext cx="1737360" cy="2743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697480" y="1280160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7030A0"/>
                </a:solidFill>
                <a:latin typeface="Aptos"/>
              </a:rPr>
              <a:t>Migration Phase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97480" y="1554480"/>
            <a:ext cx="6355080" cy="27432"/>
          </a:xfrm>
          <a:prstGeom prst="rect">
            <a:avLst/>
          </a:prstGeom>
          <a:solidFill>
            <a:srgbClr val="703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57200" y="1709928"/>
            <a:ext cx="1691640" cy="493776"/>
          </a:xfrm>
          <a:prstGeom prst="roundRect">
            <a:avLst/>
          </a:prstGeom>
          <a:solidFill>
            <a:srgbClr val="D6DCE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94360" y="1872996"/>
            <a:ext cx="201168" cy="170992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648675" y="1940722"/>
            <a:ext cx="20116" cy="201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721095" y="1940722"/>
            <a:ext cx="20116" cy="201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686897" y="1840809"/>
            <a:ext cx="16093" cy="16093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77824" y="1868330"/>
            <a:ext cx="1316736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150" b="1" i="0" dirty="0">
                <a:solidFill>
                  <a:srgbClr val="002060"/>
                </a:solidFill>
                <a:latin typeface="Aptos"/>
              </a:rPr>
              <a:t>Data Assist -DRect</a:t>
            </a:r>
            <a:endParaRPr sz="1150" b="1" i="0" dirty="0">
              <a:solidFill>
                <a:srgbClr val="002060"/>
              </a:solidFill>
              <a:latin typeface="Aptos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2331720" y="1709928"/>
            <a:ext cx="3291840" cy="493776"/>
          </a:xfrm>
          <a:prstGeom prst="roundRect">
            <a:avLst/>
          </a:prstGeom>
          <a:solidFill>
            <a:srgbClr val="D6DCE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2468879" y="1872996"/>
            <a:ext cx="201168" cy="170992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2523195" y="1940722"/>
            <a:ext cx="20116" cy="201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Oval 42"/>
          <p:cNvSpPr/>
          <p:nvPr/>
        </p:nvSpPr>
        <p:spPr>
          <a:xfrm>
            <a:off x="2595615" y="1940722"/>
            <a:ext cx="20116" cy="201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2561417" y="1840809"/>
            <a:ext cx="16093" cy="16093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752344" y="1709928"/>
            <a:ext cx="277977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Aptos"/>
              </a:rPr>
              <a:t>Migration Agents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806440" y="1709928"/>
            <a:ext cx="3246120" cy="493776"/>
          </a:xfrm>
          <a:prstGeom prst="roundRect">
            <a:avLst/>
          </a:prstGeom>
          <a:solidFill>
            <a:srgbClr val="D6DCE5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943599" y="1872996"/>
            <a:ext cx="201168" cy="170992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5997915" y="1940722"/>
            <a:ext cx="20116" cy="201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6070335" y="1940722"/>
            <a:ext cx="20116" cy="201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6036137" y="1840809"/>
            <a:ext cx="16093" cy="16093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27064" y="1709928"/>
            <a:ext cx="2734056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002060"/>
                </a:solidFill>
                <a:latin typeface="Aptos"/>
              </a:rPr>
              <a:t>Optimization Agent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2304288"/>
            <a:ext cx="1691640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211580" y="2410968"/>
            <a:ext cx="182880" cy="155448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Oval 53"/>
          <p:cNvSpPr/>
          <p:nvPr/>
        </p:nvSpPr>
        <p:spPr>
          <a:xfrm>
            <a:off x="1260957" y="2472537"/>
            <a:ext cx="18288" cy="182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Oval 54"/>
          <p:cNvSpPr/>
          <p:nvPr/>
        </p:nvSpPr>
        <p:spPr>
          <a:xfrm>
            <a:off x="1326794" y="2472537"/>
            <a:ext cx="18288" cy="182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Oval 55"/>
          <p:cNvSpPr/>
          <p:nvPr/>
        </p:nvSpPr>
        <p:spPr>
          <a:xfrm>
            <a:off x="1295704" y="2381707"/>
            <a:ext cx="14630" cy="14630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2615184"/>
            <a:ext cx="15087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1" dirty="0">
                <a:solidFill>
                  <a:srgbClr val="002060"/>
                </a:solidFill>
                <a:latin typeface="Aptos"/>
              </a:rPr>
              <a:t>Identify Job Lineage to create an execution map based on dependencies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377440" y="2304288"/>
            <a:ext cx="1060704" cy="1024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Oval 58"/>
          <p:cNvSpPr/>
          <p:nvPr/>
        </p:nvSpPr>
        <p:spPr>
          <a:xfrm>
            <a:off x="2414016" y="2212848"/>
            <a:ext cx="219456" cy="219456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414016" y="221284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23160" y="2578608"/>
            <a:ext cx="969263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ptos"/>
              </a:rPr>
              <a:t>Reverse Engineering Agent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496665" y="2304288"/>
            <a:ext cx="1060704" cy="1024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Oval 62"/>
          <p:cNvSpPr/>
          <p:nvPr/>
        </p:nvSpPr>
        <p:spPr>
          <a:xfrm>
            <a:off x="3533241" y="2212848"/>
            <a:ext cx="219456" cy="219456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533241" y="221284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42385" y="2578608"/>
            <a:ext cx="969263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ptos"/>
              </a:rPr>
              <a:t>DDL Migrator Agent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15891" y="2304288"/>
            <a:ext cx="1060704" cy="1024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4652467" y="2212848"/>
            <a:ext cx="219456" cy="219456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4652467" y="221284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661611" y="2578608"/>
            <a:ext cx="969263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ptos"/>
              </a:rPr>
              <a:t>Code Converter Agent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735116" y="2304288"/>
            <a:ext cx="1060704" cy="1024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771692" y="2212848"/>
            <a:ext cx="219456" cy="219456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771692" y="221284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80836" y="2578608"/>
            <a:ext cx="969263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ptos"/>
              </a:rPr>
              <a:t>Data Migration Agent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854342" y="2304288"/>
            <a:ext cx="1060704" cy="1024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4"/>
          <p:cNvSpPr/>
          <p:nvPr/>
        </p:nvSpPr>
        <p:spPr>
          <a:xfrm>
            <a:off x="6890918" y="2212848"/>
            <a:ext cx="219456" cy="219456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6890918" y="221284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900062" y="2578608"/>
            <a:ext cx="969263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ptos"/>
              </a:rPr>
              <a:t>Testing Agent: Data &amp; Reports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7973568" y="2304288"/>
            <a:ext cx="1060704" cy="10241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8"/>
          <p:cNvSpPr/>
          <p:nvPr/>
        </p:nvSpPr>
        <p:spPr>
          <a:xfrm>
            <a:off x="8010144" y="2212848"/>
            <a:ext cx="219456" cy="219456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8010144" y="221284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19288" y="2578608"/>
            <a:ext cx="969263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002060"/>
                </a:solidFill>
                <a:latin typeface="Aptos"/>
              </a:rPr>
              <a:t>Code Optimization Agent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303020" y="2203704"/>
            <a:ext cx="0" cy="100584"/>
          </a:xfrm>
          <a:prstGeom prst="line">
            <a:avLst/>
          </a:prstGeom>
          <a:ln w="12700">
            <a:solidFill>
              <a:srgbClr val="3A5585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483863" y="2203704"/>
            <a:ext cx="543154" cy="100584"/>
          </a:xfrm>
          <a:prstGeom prst="line">
            <a:avLst/>
          </a:prstGeom>
          <a:ln w="12700">
            <a:solidFill>
              <a:srgbClr val="3A5585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7429500" y="2203704"/>
            <a:ext cx="1074420" cy="100584"/>
          </a:xfrm>
          <a:prstGeom prst="line">
            <a:avLst/>
          </a:prstGeom>
          <a:ln w="12700">
            <a:solidFill>
              <a:srgbClr val="3A5585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2331720" y="3456432"/>
            <a:ext cx="210312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2423160" y="3520439"/>
            <a:ext cx="1920239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 dirty="0">
                <a:solidFill>
                  <a:srgbClr val="0B351C"/>
                </a:solidFill>
                <a:latin typeface="Aptos"/>
              </a:rPr>
              <a:t>Deloitte Tools</a:t>
            </a:r>
          </a:p>
          <a:p>
            <a:pPr algn="ctr">
              <a:spcBef>
                <a:spcPts val="100"/>
              </a:spcBef>
            </a:pPr>
            <a:r>
              <a:rPr sz="1000" b="0" i="1" dirty="0">
                <a:solidFill>
                  <a:srgbClr val="0B351C"/>
                </a:solidFill>
                <a:latin typeface="Aptos"/>
              </a:rPr>
              <a:t>(Code Converter, Travis, etc.,)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581144" y="3456432"/>
            <a:ext cx="210312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4672583" y="3520439"/>
            <a:ext cx="1920239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0B351C"/>
                </a:solidFill>
                <a:latin typeface="Aptos"/>
              </a:rPr>
              <a:t>Elevance Health Tools</a:t>
            </a:r>
          </a:p>
          <a:p>
            <a:pPr algn="ctr">
              <a:spcBef>
                <a:spcPts val="100"/>
              </a:spcBef>
            </a:pPr>
            <a:r>
              <a:rPr sz="1000" b="0" i="1">
                <a:solidFill>
                  <a:srgbClr val="0B351C"/>
                </a:solidFill>
                <a:latin typeface="Aptos"/>
              </a:rPr>
              <a:t>(Falcon, AEDL etc.,)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830568" y="3456432"/>
            <a:ext cx="2103120" cy="7498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922007" y="3520439"/>
            <a:ext cx="1920239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0B351C"/>
                </a:solidFill>
                <a:latin typeface="Aptos"/>
              </a:rPr>
              <a:t>3rd Party Tools</a:t>
            </a:r>
          </a:p>
          <a:p>
            <a:pPr algn="ctr">
              <a:spcBef>
                <a:spcPts val="100"/>
              </a:spcBef>
            </a:pPr>
            <a:r>
              <a:rPr sz="1000" b="0" i="1">
                <a:solidFill>
                  <a:srgbClr val="0B351C"/>
                </a:solidFill>
                <a:latin typeface="Aptos"/>
              </a:rPr>
              <a:t>(Snow Convert. Sling Shot, Protegrity, etc.,)</a:t>
            </a:r>
          </a:p>
        </p:txBody>
      </p:sp>
      <p:cxnSp>
        <p:nvCxnSpPr>
          <p:cNvPr id="91" name="Connector 90"/>
          <p:cNvCxnSpPr/>
          <p:nvPr/>
        </p:nvCxnSpPr>
        <p:spPr>
          <a:xfrm flipH="1">
            <a:off x="3383279" y="3328416"/>
            <a:ext cx="643738" cy="128016"/>
          </a:xfrm>
          <a:prstGeom prst="line">
            <a:avLst/>
          </a:prstGeom>
          <a:ln w="12700">
            <a:solidFill>
              <a:srgbClr val="3A5585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 flipH="1">
            <a:off x="5632704" y="3328416"/>
            <a:ext cx="632764" cy="128016"/>
          </a:xfrm>
          <a:prstGeom prst="line">
            <a:avLst/>
          </a:prstGeom>
          <a:ln w="12700">
            <a:solidFill>
              <a:srgbClr val="3A5585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Connector 92"/>
          <p:cNvCxnSpPr/>
          <p:nvPr/>
        </p:nvCxnSpPr>
        <p:spPr>
          <a:xfrm>
            <a:off x="7384694" y="3328416"/>
            <a:ext cx="497433" cy="128016"/>
          </a:xfrm>
          <a:prstGeom prst="line">
            <a:avLst/>
          </a:prstGeom>
          <a:ln w="12700">
            <a:solidFill>
              <a:srgbClr val="3A5585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116"/>
          <p:cNvCxnSpPr>
            <a:cxnSpLocks/>
          </p:cNvCxnSpPr>
          <p:nvPr/>
        </p:nvCxnSpPr>
        <p:spPr>
          <a:xfrm>
            <a:off x="6265468" y="3328416"/>
            <a:ext cx="249939" cy="114300"/>
          </a:xfrm>
          <a:prstGeom prst="line">
            <a:avLst/>
          </a:prstGeom>
          <a:ln w="11430">
            <a:solidFill>
              <a:srgbClr val="3A5585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457200" y="6565392"/>
            <a:ext cx="4572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0">
                <a:solidFill>
                  <a:srgbClr val="31435B"/>
                </a:solidFill>
                <a:latin typeface="Aptos"/>
              </a:rPr>
              <a:t>Copyright © 2026 Deloitte Development LLC.  All rights reserved.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338560" y="6565392"/>
            <a:ext cx="457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31435B"/>
                </a:solidFill>
                <a:latin typeface="Aptos"/>
              </a:rPr>
              <a:t>17</a:t>
            </a:r>
          </a:p>
        </p:txBody>
      </p:sp>
      <p:cxnSp>
        <p:nvCxnSpPr>
          <p:cNvPr id="145" name="Connector 82">
            <a:extLst>
              <a:ext uri="{FF2B5EF4-FFF2-40B4-BE49-F238E27FC236}">
                <a16:creationId xmlns:a16="http://schemas.microsoft.com/office/drawing/2014/main" id="{EDF309C3-7C5D-2932-383E-0BA07BF74BAB}"/>
              </a:ext>
            </a:extLst>
          </p:cNvPr>
          <p:cNvCxnSpPr>
            <a:cxnSpLocks/>
            <a:endCxn id="58" idx="0"/>
          </p:cNvCxnSpPr>
          <p:nvPr/>
        </p:nvCxnSpPr>
        <p:spPr>
          <a:xfrm flipH="1">
            <a:off x="2907792" y="2194037"/>
            <a:ext cx="564184" cy="110251"/>
          </a:xfrm>
          <a:prstGeom prst="line">
            <a:avLst/>
          </a:prstGeom>
          <a:ln w="12700">
            <a:solidFill>
              <a:srgbClr val="3A5585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3D49C-3C0D-C61D-D3A7-F203CBA45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170">
            <a:extLst>
              <a:ext uri="{FF2B5EF4-FFF2-40B4-BE49-F238E27FC236}">
                <a16:creationId xmlns:a16="http://schemas.microsoft.com/office/drawing/2014/main" id="{B1C6462F-5CA3-B5FE-084D-12FE9867FCE1}"/>
              </a:ext>
            </a:extLst>
          </p:cNvPr>
          <p:cNvSpPr/>
          <p:nvPr/>
        </p:nvSpPr>
        <p:spPr>
          <a:xfrm>
            <a:off x="410843" y="1168106"/>
            <a:ext cx="2503064" cy="54468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61B1931-17BF-DD37-D78D-3A19B8922C82}"/>
              </a:ext>
            </a:extLst>
          </p:cNvPr>
          <p:cNvCxnSpPr>
            <a:cxnSpLocks/>
          </p:cNvCxnSpPr>
          <p:nvPr/>
        </p:nvCxnSpPr>
        <p:spPr>
          <a:xfrm>
            <a:off x="794545" y="3707762"/>
            <a:ext cx="2080846" cy="0"/>
          </a:xfrm>
          <a:prstGeom prst="line">
            <a:avLst/>
          </a:prstGeom>
          <a:ln w="317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Curved Connector 39">
            <a:extLst>
              <a:ext uri="{FF2B5EF4-FFF2-40B4-BE49-F238E27FC236}">
                <a16:creationId xmlns:a16="http://schemas.microsoft.com/office/drawing/2014/main" id="{FEA862B4-52A3-65D7-0956-445766624EC9}"/>
              </a:ext>
            </a:extLst>
          </p:cNvPr>
          <p:cNvCxnSpPr>
            <a:cxnSpLocks/>
            <a:endCxn id="261" idx="2"/>
          </p:cNvCxnSpPr>
          <p:nvPr/>
        </p:nvCxnSpPr>
        <p:spPr>
          <a:xfrm flipV="1">
            <a:off x="4959533" y="3690232"/>
            <a:ext cx="2079654" cy="992932"/>
          </a:xfrm>
          <a:prstGeom prst="curvedConnector3">
            <a:avLst>
              <a:gd name="adj1" fmla="val 79866"/>
            </a:avLst>
          </a:prstGeom>
          <a:ln w="3175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urved Connector 39">
            <a:extLst>
              <a:ext uri="{FF2B5EF4-FFF2-40B4-BE49-F238E27FC236}">
                <a16:creationId xmlns:a16="http://schemas.microsoft.com/office/drawing/2014/main" id="{A7DA066A-F16F-8144-0215-EC3CE3A60F4C}"/>
              </a:ext>
            </a:extLst>
          </p:cNvPr>
          <p:cNvCxnSpPr>
            <a:cxnSpLocks/>
          </p:cNvCxnSpPr>
          <p:nvPr/>
        </p:nvCxnSpPr>
        <p:spPr>
          <a:xfrm>
            <a:off x="4163432" y="3059773"/>
            <a:ext cx="701562" cy="637318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urved Connector 39">
            <a:extLst>
              <a:ext uri="{FF2B5EF4-FFF2-40B4-BE49-F238E27FC236}">
                <a16:creationId xmlns:a16="http://schemas.microsoft.com/office/drawing/2014/main" id="{5DA36DE8-3895-B42A-2FE4-80BC7BF89BCD}"/>
              </a:ext>
            </a:extLst>
          </p:cNvPr>
          <p:cNvCxnSpPr>
            <a:cxnSpLocks/>
          </p:cNvCxnSpPr>
          <p:nvPr/>
        </p:nvCxnSpPr>
        <p:spPr>
          <a:xfrm flipH="1">
            <a:off x="3024638" y="3061297"/>
            <a:ext cx="727437" cy="634876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Straight Connector 268">
            <a:extLst>
              <a:ext uri="{FF2B5EF4-FFF2-40B4-BE49-F238E27FC236}">
                <a16:creationId xmlns:a16="http://schemas.microsoft.com/office/drawing/2014/main" id="{F9841C49-C8A6-2DEE-DA73-D3B69B2A4961}"/>
              </a:ext>
            </a:extLst>
          </p:cNvPr>
          <p:cNvCxnSpPr>
            <a:cxnSpLocks/>
          </p:cNvCxnSpPr>
          <p:nvPr/>
        </p:nvCxnSpPr>
        <p:spPr>
          <a:xfrm flipV="1">
            <a:off x="4837938" y="3690523"/>
            <a:ext cx="7078068" cy="5650"/>
          </a:xfrm>
          <a:prstGeom prst="line">
            <a:avLst/>
          </a:prstGeom>
          <a:ln w="317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General_Fill_87">
            <a:extLst>
              <a:ext uri="{FF2B5EF4-FFF2-40B4-BE49-F238E27FC236}">
                <a16:creationId xmlns:a16="http://schemas.microsoft.com/office/drawing/2014/main" id="{A8D830E4-8CAF-DFEA-6EA5-FA1EBDE05D1C}"/>
              </a:ext>
            </a:extLst>
          </p:cNvPr>
          <p:cNvSpPr>
            <a:spLocks noChangeAspect="1" noEditPoints="1"/>
          </p:cNvSpPr>
          <p:nvPr/>
        </p:nvSpPr>
        <p:spPr bwMode="auto">
          <a:xfrm>
            <a:off x="0" y="0"/>
            <a:ext cx="0" cy="0"/>
          </a:xfrm>
          <a:custGeom>
            <a:avLst/>
            <a:gdLst>
              <a:gd name="T0" fmla="*/ 256 w 512"/>
              <a:gd name="T1" fmla="*/ 0 h 512"/>
              <a:gd name="T2" fmla="*/ 0 w 512"/>
              <a:gd name="T3" fmla="*/ 256 h 512"/>
              <a:gd name="T4" fmla="*/ 256 w 512"/>
              <a:gd name="T5" fmla="*/ 512 h 512"/>
              <a:gd name="T6" fmla="*/ 512 w 512"/>
              <a:gd name="T7" fmla="*/ 256 h 512"/>
              <a:gd name="T8" fmla="*/ 256 w 512"/>
              <a:gd name="T9" fmla="*/ 0 h 512"/>
              <a:gd name="T10" fmla="*/ 381 w 512"/>
              <a:gd name="T11" fmla="*/ 221 h 512"/>
              <a:gd name="T12" fmla="*/ 274 w 512"/>
              <a:gd name="T13" fmla="*/ 327 h 512"/>
              <a:gd name="T14" fmla="*/ 262 w 512"/>
              <a:gd name="T15" fmla="*/ 330 h 512"/>
              <a:gd name="T16" fmla="*/ 256 w 512"/>
              <a:gd name="T17" fmla="*/ 320 h 512"/>
              <a:gd name="T18" fmla="*/ 256 w 512"/>
              <a:gd name="T19" fmla="*/ 266 h 512"/>
              <a:gd name="T20" fmla="*/ 181 w 512"/>
              <a:gd name="T21" fmla="*/ 341 h 512"/>
              <a:gd name="T22" fmla="*/ 209 w 512"/>
              <a:gd name="T23" fmla="*/ 397 h 512"/>
              <a:gd name="T24" fmla="*/ 211 w 512"/>
              <a:gd name="T25" fmla="*/ 411 h 512"/>
              <a:gd name="T26" fmla="*/ 202 w 512"/>
              <a:gd name="T27" fmla="*/ 416 h 512"/>
              <a:gd name="T28" fmla="*/ 198 w 512"/>
              <a:gd name="T29" fmla="*/ 415 h 512"/>
              <a:gd name="T30" fmla="*/ 117 w 512"/>
              <a:gd name="T31" fmla="*/ 288 h 512"/>
              <a:gd name="T32" fmla="*/ 256 w 512"/>
              <a:gd name="T33" fmla="*/ 149 h 512"/>
              <a:gd name="T34" fmla="*/ 256 w 512"/>
              <a:gd name="T35" fmla="*/ 106 h 512"/>
              <a:gd name="T36" fmla="*/ 262 w 512"/>
              <a:gd name="T37" fmla="*/ 96 h 512"/>
              <a:gd name="T38" fmla="*/ 274 w 512"/>
              <a:gd name="T39" fmla="*/ 99 h 512"/>
              <a:gd name="T40" fmla="*/ 381 w 512"/>
              <a:gd name="T41" fmla="*/ 205 h 512"/>
              <a:gd name="T42" fmla="*/ 381 w 512"/>
              <a:gd name="T43" fmla="*/ 221 h 512"/>
              <a:gd name="T44" fmla="*/ 277 w 512"/>
              <a:gd name="T45" fmla="*/ 132 h 512"/>
              <a:gd name="T46" fmla="*/ 358 w 512"/>
              <a:gd name="T47" fmla="*/ 213 h 512"/>
              <a:gd name="T48" fmla="*/ 277 w 512"/>
              <a:gd name="T49" fmla="*/ 294 h 512"/>
              <a:gd name="T50" fmla="*/ 277 w 512"/>
              <a:gd name="T51" fmla="*/ 256 h 512"/>
              <a:gd name="T52" fmla="*/ 266 w 512"/>
              <a:gd name="T53" fmla="*/ 245 h 512"/>
              <a:gd name="T54" fmla="*/ 256 w 512"/>
              <a:gd name="T55" fmla="*/ 245 h 512"/>
              <a:gd name="T56" fmla="*/ 160 w 512"/>
              <a:gd name="T57" fmla="*/ 341 h 512"/>
              <a:gd name="T58" fmla="*/ 162 w 512"/>
              <a:gd name="T59" fmla="*/ 360 h 512"/>
              <a:gd name="T60" fmla="*/ 138 w 512"/>
              <a:gd name="T61" fmla="*/ 288 h 512"/>
              <a:gd name="T62" fmla="*/ 256 w 512"/>
              <a:gd name="T63" fmla="*/ 170 h 512"/>
              <a:gd name="T64" fmla="*/ 266 w 512"/>
              <a:gd name="T65" fmla="*/ 170 h 512"/>
              <a:gd name="T66" fmla="*/ 277 w 512"/>
              <a:gd name="T67" fmla="*/ 160 h 512"/>
              <a:gd name="T68" fmla="*/ 277 w 512"/>
              <a:gd name="T69" fmla="*/ 132 h 5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</a:cxnLst>
            <a:rect l="0" t="0" r="r" b="b"/>
            <a:pathLst>
              <a:path w="512" h="512">
                <a:moveTo>
                  <a:pt x="256" y="0"/>
                </a:moveTo>
                <a:cubicBezTo>
                  <a:pt x="114" y="0"/>
                  <a:pt x="0" y="114"/>
                  <a:pt x="0" y="256"/>
                </a:cubicBezTo>
                <a:cubicBezTo>
                  <a:pt x="0" y="397"/>
                  <a:pt x="114" y="512"/>
                  <a:pt x="256" y="512"/>
                </a:cubicBezTo>
                <a:cubicBezTo>
                  <a:pt x="397" y="512"/>
                  <a:pt x="512" y="397"/>
                  <a:pt x="512" y="256"/>
                </a:cubicBezTo>
                <a:cubicBezTo>
                  <a:pt x="512" y="114"/>
                  <a:pt x="397" y="0"/>
                  <a:pt x="256" y="0"/>
                </a:cubicBezTo>
                <a:close/>
                <a:moveTo>
                  <a:pt x="381" y="221"/>
                </a:moveTo>
                <a:cubicBezTo>
                  <a:pt x="274" y="327"/>
                  <a:pt x="274" y="327"/>
                  <a:pt x="274" y="327"/>
                </a:cubicBezTo>
                <a:cubicBezTo>
                  <a:pt x="271" y="330"/>
                  <a:pt x="266" y="331"/>
                  <a:pt x="262" y="330"/>
                </a:cubicBezTo>
                <a:cubicBezTo>
                  <a:pt x="258" y="328"/>
                  <a:pt x="256" y="324"/>
                  <a:pt x="256" y="320"/>
                </a:cubicBezTo>
                <a:cubicBezTo>
                  <a:pt x="256" y="266"/>
                  <a:pt x="256" y="266"/>
                  <a:pt x="256" y="266"/>
                </a:cubicBezTo>
                <a:cubicBezTo>
                  <a:pt x="204" y="266"/>
                  <a:pt x="181" y="304"/>
                  <a:pt x="181" y="341"/>
                </a:cubicBezTo>
                <a:cubicBezTo>
                  <a:pt x="181" y="362"/>
                  <a:pt x="191" y="382"/>
                  <a:pt x="209" y="397"/>
                </a:cubicBezTo>
                <a:cubicBezTo>
                  <a:pt x="213" y="400"/>
                  <a:pt x="214" y="406"/>
                  <a:pt x="211" y="411"/>
                </a:cubicBezTo>
                <a:cubicBezTo>
                  <a:pt x="209" y="414"/>
                  <a:pt x="206" y="416"/>
                  <a:pt x="202" y="416"/>
                </a:cubicBezTo>
                <a:cubicBezTo>
                  <a:pt x="201" y="416"/>
                  <a:pt x="199" y="415"/>
                  <a:pt x="198" y="415"/>
                </a:cubicBezTo>
                <a:cubicBezTo>
                  <a:pt x="149" y="393"/>
                  <a:pt x="117" y="343"/>
                  <a:pt x="117" y="288"/>
                </a:cubicBezTo>
                <a:cubicBezTo>
                  <a:pt x="117" y="211"/>
                  <a:pt x="179" y="149"/>
                  <a:pt x="256" y="149"/>
                </a:cubicBezTo>
                <a:cubicBezTo>
                  <a:pt x="256" y="106"/>
                  <a:pt x="256" y="106"/>
                  <a:pt x="256" y="106"/>
                </a:cubicBezTo>
                <a:cubicBezTo>
                  <a:pt x="256" y="102"/>
                  <a:pt x="258" y="98"/>
                  <a:pt x="262" y="96"/>
                </a:cubicBezTo>
                <a:cubicBezTo>
                  <a:pt x="266" y="95"/>
                  <a:pt x="271" y="96"/>
                  <a:pt x="274" y="99"/>
                </a:cubicBezTo>
                <a:cubicBezTo>
                  <a:pt x="381" y="205"/>
                  <a:pt x="381" y="205"/>
                  <a:pt x="381" y="205"/>
                </a:cubicBezTo>
                <a:cubicBezTo>
                  <a:pt x="385" y="210"/>
                  <a:pt x="385" y="216"/>
                  <a:pt x="381" y="221"/>
                </a:cubicBezTo>
                <a:close/>
                <a:moveTo>
                  <a:pt x="277" y="132"/>
                </a:moveTo>
                <a:cubicBezTo>
                  <a:pt x="358" y="213"/>
                  <a:pt x="358" y="213"/>
                  <a:pt x="358" y="213"/>
                </a:cubicBezTo>
                <a:cubicBezTo>
                  <a:pt x="277" y="294"/>
                  <a:pt x="277" y="294"/>
                  <a:pt x="277" y="294"/>
                </a:cubicBezTo>
                <a:cubicBezTo>
                  <a:pt x="277" y="256"/>
                  <a:pt x="277" y="256"/>
                  <a:pt x="277" y="256"/>
                </a:cubicBezTo>
                <a:cubicBezTo>
                  <a:pt x="277" y="250"/>
                  <a:pt x="272" y="245"/>
                  <a:pt x="266" y="245"/>
                </a:cubicBezTo>
                <a:cubicBezTo>
                  <a:pt x="256" y="245"/>
                  <a:pt x="256" y="245"/>
                  <a:pt x="256" y="245"/>
                </a:cubicBezTo>
                <a:cubicBezTo>
                  <a:pt x="199" y="245"/>
                  <a:pt x="160" y="284"/>
                  <a:pt x="160" y="341"/>
                </a:cubicBezTo>
                <a:cubicBezTo>
                  <a:pt x="160" y="348"/>
                  <a:pt x="161" y="354"/>
                  <a:pt x="162" y="360"/>
                </a:cubicBezTo>
                <a:cubicBezTo>
                  <a:pt x="147" y="340"/>
                  <a:pt x="138" y="315"/>
                  <a:pt x="138" y="288"/>
                </a:cubicBezTo>
                <a:cubicBezTo>
                  <a:pt x="138" y="223"/>
                  <a:pt x="191" y="170"/>
                  <a:pt x="256" y="170"/>
                </a:cubicBezTo>
                <a:cubicBezTo>
                  <a:pt x="266" y="170"/>
                  <a:pt x="266" y="170"/>
                  <a:pt x="266" y="170"/>
                </a:cubicBezTo>
                <a:cubicBezTo>
                  <a:pt x="272" y="170"/>
                  <a:pt x="277" y="166"/>
                  <a:pt x="277" y="160"/>
                </a:cubicBezTo>
                <a:lnTo>
                  <a:pt x="277" y="132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Pentagon 168">
            <a:extLst>
              <a:ext uri="{FF2B5EF4-FFF2-40B4-BE49-F238E27FC236}">
                <a16:creationId xmlns:a16="http://schemas.microsoft.com/office/drawing/2014/main" id="{EF773F30-5637-F523-2A5F-14C80C748F27}"/>
              </a:ext>
            </a:extLst>
          </p:cNvPr>
          <p:cNvSpPr/>
          <p:nvPr/>
        </p:nvSpPr>
        <p:spPr>
          <a:xfrm>
            <a:off x="573797" y="1479605"/>
            <a:ext cx="2490234" cy="384728"/>
          </a:xfrm>
          <a:prstGeom prst="homePlat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Mobilization (~8 Weeks)</a:t>
            </a:r>
          </a:p>
        </p:txBody>
      </p:sp>
      <p:sp>
        <p:nvSpPr>
          <p:cNvPr id="12" name="Chevron 114">
            <a:extLst>
              <a:ext uri="{FF2B5EF4-FFF2-40B4-BE49-F238E27FC236}">
                <a16:creationId xmlns:a16="http://schemas.microsoft.com/office/drawing/2014/main" id="{7059093D-6182-F89D-A49D-C3C17A029177}"/>
              </a:ext>
            </a:extLst>
          </p:cNvPr>
          <p:cNvSpPr/>
          <p:nvPr/>
        </p:nvSpPr>
        <p:spPr>
          <a:xfrm>
            <a:off x="9994138" y="1479605"/>
            <a:ext cx="2037011" cy="384728"/>
          </a:xfrm>
          <a:prstGeom prst="chevr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743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Decommission </a:t>
            </a:r>
          </a:p>
        </p:txBody>
      </p:sp>
      <p:sp>
        <p:nvSpPr>
          <p:cNvPr id="15" name="Chevron 114">
            <a:extLst>
              <a:ext uri="{FF2B5EF4-FFF2-40B4-BE49-F238E27FC236}">
                <a16:creationId xmlns:a16="http://schemas.microsoft.com/office/drawing/2014/main" id="{C3A3A884-B984-0B42-E292-825EF802EEED}"/>
              </a:ext>
            </a:extLst>
          </p:cNvPr>
          <p:cNvSpPr/>
          <p:nvPr/>
        </p:nvSpPr>
        <p:spPr>
          <a:xfrm>
            <a:off x="2996511" y="1476853"/>
            <a:ext cx="3606425" cy="375424"/>
          </a:xfrm>
          <a:prstGeom prst="chevr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Technical Modernization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C26D9E-025E-D0BB-9745-2A5A33C63B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02920" y="649225"/>
            <a:ext cx="11252200" cy="405134"/>
          </a:xfrm>
        </p:spPr>
        <p:txBody>
          <a:bodyPr/>
          <a:lstStyle/>
          <a:p>
            <a:r>
              <a:rPr lang="en-US" sz="1400" noProof="0"/>
              <a:t>A proven approach that combines technical modernization, user migration, and compliance-led decommissioning executed in parallel to accelerate value realization and minimize disruption.</a:t>
            </a:r>
          </a:p>
        </p:txBody>
      </p:sp>
      <p:sp>
        <p:nvSpPr>
          <p:cNvPr id="26" name="Title 25">
            <a:extLst>
              <a:ext uri="{FF2B5EF4-FFF2-40B4-BE49-F238E27FC236}">
                <a16:creationId xmlns:a16="http://schemas.microsoft.com/office/drawing/2014/main" id="{11F8BBE4-D80D-AD32-2AE6-F66932800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/>
              <a:t>Our Approach For Teradata Modernization</a:t>
            </a:r>
            <a:endParaRPr lang="en-US" noProof="0">
              <a:cs typeface="Arial"/>
            </a:endParaRPr>
          </a:p>
        </p:txBody>
      </p:sp>
      <p:sp>
        <p:nvSpPr>
          <p:cNvPr id="66" name="Chevron 114">
            <a:extLst>
              <a:ext uri="{FF2B5EF4-FFF2-40B4-BE49-F238E27FC236}">
                <a16:creationId xmlns:a16="http://schemas.microsoft.com/office/drawing/2014/main" id="{42A14C60-DA8B-4034-ADDD-C6A8A0A2885C}"/>
              </a:ext>
            </a:extLst>
          </p:cNvPr>
          <p:cNvSpPr/>
          <p:nvPr/>
        </p:nvSpPr>
        <p:spPr>
          <a:xfrm>
            <a:off x="6484211" y="1477226"/>
            <a:ext cx="3606424" cy="382967"/>
          </a:xfrm>
          <a:prstGeom prst="chevr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Business User Migration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0E87B3F-8E81-5CFA-4075-162E6F8492B7}"/>
              </a:ext>
            </a:extLst>
          </p:cNvPr>
          <p:cNvSpPr/>
          <p:nvPr/>
        </p:nvSpPr>
        <p:spPr>
          <a:xfrm>
            <a:off x="410843" y="1902433"/>
            <a:ext cx="2490234" cy="5409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>
                <a:ln>
                  <a:noFill/>
                </a:ln>
                <a:solidFill>
                  <a:srgbClr val="06748C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Establish foundation through environment readiness, asset inventory, and decommissioning alignment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4E3FE7F-EA8E-8296-B755-2AEABC848E14}"/>
              </a:ext>
            </a:extLst>
          </p:cNvPr>
          <p:cNvSpPr/>
          <p:nvPr/>
        </p:nvSpPr>
        <p:spPr>
          <a:xfrm>
            <a:off x="326002" y="5228686"/>
            <a:ext cx="2698635" cy="13788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Environment provisioning and readiness validated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Inventory of assets completed and prioritized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Disposition of unused/legacy assets confirmed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Deliver a refreshed project plan to guide modernization efforts and share with business users to set engagement expectations.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5F5F5">
                  <a:lumMod val="10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5F5F5">
                  <a:lumMod val="10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F61ADC37-66E4-0459-FD53-814A1B1A6DA5}"/>
              </a:ext>
            </a:extLst>
          </p:cNvPr>
          <p:cNvSpPr/>
          <p:nvPr/>
        </p:nvSpPr>
        <p:spPr bwMode="gray">
          <a:xfrm>
            <a:off x="812386" y="3610860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tx1">
                <a:lumMod val="75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817C43D3-DCBC-4DBC-F39B-0CE6D462B082}"/>
              </a:ext>
            </a:extLst>
          </p:cNvPr>
          <p:cNvSpPr/>
          <p:nvPr/>
        </p:nvSpPr>
        <p:spPr bwMode="gray">
          <a:xfrm>
            <a:off x="1208849" y="3610860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tx1">
                <a:lumMod val="75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DF6C77B4-7228-A516-C56F-9B441256F37A}"/>
              </a:ext>
            </a:extLst>
          </p:cNvPr>
          <p:cNvSpPr/>
          <p:nvPr/>
        </p:nvSpPr>
        <p:spPr bwMode="gray">
          <a:xfrm>
            <a:off x="1605312" y="3610860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tx1">
                <a:lumMod val="75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837997EE-315F-DF36-A9B4-15E05CA1E203}"/>
              </a:ext>
            </a:extLst>
          </p:cNvPr>
          <p:cNvCxnSpPr>
            <a:cxnSpLocks/>
            <a:stCxn id="244" idx="6"/>
            <a:endCxn id="294" idx="2"/>
          </p:cNvCxnSpPr>
          <p:nvPr/>
        </p:nvCxnSpPr>
        <p:spPr>
          <a:xfrm>
            <a:off x="3821717" y="3059773"/>
            <a:ext cx="310620" cy="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E4788192-1B98-028D-2793-04060049BF4B}"/>
              </a:ext>
            </a:extLst>
          </p:cNvPr>
          <p:cNvSpPr/>
          <p:nvPr/>
        </p:nvSpPr>
        <p:spPr>
          <a:xfrm>
            <a:off x="2940772" y="1902433"/>
            <a:ext cx="4012883" cy="5409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>
                <a:ln>
                  <a:noFill/>
                </a:ln>
                <a:solidFill>
                  <a:srgbClr val="06748C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Modernize data platforms by re-architecting, re-platforming, and enabling seamless downstream integration</a:t>
            </a:r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322F3188-5239-E69E-0153-1011B50E5C2B}"/>
              </a:ext>
            </a:extLst>
          </p:cNvPr>
          <p:cNvSpPr/>
          <p:nvPr/>
        </p:nvSpPr>
        <p:spPr>
          <a:xfrm>
            <a:off x="6953656" y="1902433"/>
            <a:ext cx="3021828" cy="5409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>
                <a:ln>
                  <a:noFill/>
                </a:ln>
                <a:solidFill>
                  <a:srgbClr val="06748C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Transition users to the new system with access setup, parallel testing, UAT, and go-live support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23A8B0B-3895-902A-C5F9-B37A657F36CE}"/>
              </a:ext>
            </a:extLst>
          </p:cNvPr>
          <p:cNvSpPr/>
          <p:nvPr/>
        </p:nvSpPr>
        <p:spPr>
          <a:xfrm>
            <a:off x="9994138" y="1902433"/>
            <a:ext cx="1921868" cy="54094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>
                <a:ln>
                  <a:noFill/>
                </a:ln>
                <a:solidFill>
                  <a:srgbClr val="06748C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Retire legacy systems and access in alignment with compliance and business readiness.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1AB96640-6534-A58C-4CBA-FAC2004C2937}"/>
              </a:ext>
            </a:extLst>
          </p:cNvPr>
          <p:cNvSpPr txBox="1"/>
          <p:nvPr/>
        </p:nvSpPr>
        <p:spPr>
          <a:xfrm>
            <a:off x="9906364" y="4039979"/>
            <a:ext cx="11908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4A.Start execution of change activities for decommission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DACA72B7-C7C7-5FF7-0D7C-36A2387B202F}"/>
              </a:ext>
            </a:extLst>
          </p:cNvPr>
          <p:cNvSpPr txBox="1"/>
          <p:nvPr/>
        </p:nvSpPr>
        <p:spPr>
          <a:xfrm>
            <a:off x="10229668" y="2703768"/>
            <a:ext cx="12135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4B.Revoke accesses &amp; disable integrations once all dependencies are moved to SF</a:t>
            </a:r>
          </a:p>
        </p:txBody>
      </p:sp>
      <p:cxnSp>
        <p:nvCxnSpPr>
          <p:cNvPr id="173" name="iBar:31/138">
            <a:extLst>
              <a:ext uri="{FF2B5EF4-FFF2-40B4-BE49-F238E27FC236}">
                <a16:creationId xmlns:a16="http://schemas.microsoft.com/office/drawing/2014/main" id="{612FCF96-2AA9-3BAE-664D-3D09E3945CF6}"/>
              </a:ext>
            </a:extLst>
          </p:cNvPr>
          <p:cNvCxnSpPr>
            <a:cxnSpLocks/>
          </p:cNvCxnSpPr>
          <p:nvPr/>
        </p:nvCxnSpPr>
        <p:spPr>
          <a:xfrm>
            <a:off x="536806" y="1324256"/>
            <a:ext cx="2255325" cy="7618"/>
          </a:xfrm>
          <a:prstGeom prst="line">
            <a:avLst/>
          </a:prstGeom>
          <a:ln w="12700">
            <a:solidFill>
              <a:srgbClr val="7B7B7B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xtBox:31/138">
            <a:extLst>
              <a:ext uri="{FF2B5EF4-FFF2-40B4-BE49-F238E27FC236}">
                <a16:creationId xmlns:a16="http://schemas.microsoft.com/office/drawing/2014/main" id="{8D9613F3-891B-1509-FD9A-917E87F51775}"/>
              </a:ext>
            </a:extLst>
          </p:cNvPr>
          <p:cNvSpPr/>
          <p:nvPr/>
        </p:nvSpPr>
        <p:spPr>
          <a:xfrm>
            <a:off x="864646" y="1231923"/>
            <a:ext cx="1599644" cy="18466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9144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Times New Roman" panose="02020603050405020304" pitchFamily="18" charset="0"/>
              </a:rPr>
              <a:t>One Time Activity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4711F623-CE82-A0DA-BE08-73C309352904}"/>
              </a:ext>
            </a:extLst>
          </p:cNvPr>
          <p:cNvSpPr txBox="1"/>
          <p:nvPr/>
        </p:nvSpPr>
        <p:spPr>
          <a:xfrm>
            <a:off x="468921" y="2812505"/>
            <a:ext cx="875126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1A. Environment readiness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52DBFC8C-03F8-6EE6-DFA3-8FA9C5826140}"/>
              </a:ext>
            </a:extLst>
          </p:cNvPr>
          <p:cNvSpPr txBox="1"/>
          <p:nvPr/>
        </p:nvSpPr>
        <p:spPr>
          <a:xfrm>
            <a:off x="714364" y="3886346"/>
            <a:ext cx="11692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1B. Report Landscape discovery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A59014A6-68BD-FE4B-84BD-5CD5CAA78F86}"/>
              </a:ext>
            </a:extLst>
          </p:cNvPr>
          <p:cNvSpPr txBox="1"/>
          <p:nvPr/>
        </p:nvSpPr>
        <p:spPr>
          <a:xfrm>
            <a:off x="1032624" y="2490058"/>
            <a:ext cx="1325640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1C. Confirm Disposition &amp; prioritize assets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91B41F1-0737-0EFE-522E-AB17FEFEF7FE}"/>
              </a:ext>
            </a:extLst>
          </p:cNvPr>
          <p:cNvSpPr txBox="1"/>
          <p:nvPr/>
        </p:nvSpPr>
        <p:spPr>
          <a:xfrm>
            <a:off x="1828350" y="2857844"/>
            <a:ext cx="1079725" cy="3385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1E</a:t>
            </a:r>
            <a:r>
              <a:rPr kumimoji="0" lang="en-US" sz="800" b="0" i="1" u="none" strike="noStrike" kern="100" cap="none" spc="0" normalizeH="0" baseline="30000" noProof="0">
                <a:ln>
                  <a:noFill/>
                </a:ln>
                <a:solidFill>
                  <a:srgbClr val="1A1446"/>
                </a:solidFill>
                <a:effectLst/>
                <a:uLnTx/>
                <a:uFillTx/>
                <a:latin typeface="Arial" panose="020B0604020202020204"/>
                <a:ea typeface="+mn-ea"/>
                <a:cs typeface="Times New Roman" panose="02020603050405020304" pitchFamily="18" charset="0"/>
              </a:rPr>
              <a:t> 1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 Finalizing list of unused objects</a:t>
            </a:r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20AF022B-1273-7565-3970-866B8FBB309E}"/>
              </a:ext>
            </a:extLst>
          </p:cNvPr>
          <p:cNvSpPr/>
          <p:nvPr/>
        </p:nvSpPr>
        <p:spPr bwMode="gray">
          <a:xfrm>
            <a:off x="2415105" y="3610860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tx1">
                <a:lumMod val="75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A41EC5BF-91F8-F896-A412-336435D69B40}"/>
              </a:ext>
            </a:extLst>
          </p:cNvPr>
          <p:cNvCxnSpPr>
            <a:cxnSpLocks/>
            <a:stCxn id="181" idx="2"/>
            <a:endCxn id="129" idx="0"/>
          </p:cNvCxnSpPr>
          <p:nvPr/>
        </p:nvCxnSpPr>
        <p:spPr>
          <a:xfrm flipH="1">
            <a:off x="902518" y="3274170"/>
            <a:ext cx="3966" cy="33669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BAE24481-3040-07AE-BE75-888B4D278499}"/>
              </a:ext>
            </a:extLst>
          </p:cNvPr>
          <p:cNvCxnSpPr>
            <a:cxnSpLocks/>
            <a:stCxn id="182" idx="0"/>
            <a:endCxn id="135" idx="4"/>
          </p:cNvCxnSpPr>
          <p:nvPr/>
        </p:nvCxnSpPr>
        <p:spPr>
          <a:xfrm flipV="1">
            <a:off x="1298981" y="3793740"/>
            <a:ext cx="0" cy="9260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B205DFA7-416B-04FB-F56F-203C94AD82E2}"/>
              </a:ext>
            </a:extLst>
          </p:cNvPr>
          <p:cNvCxnSpPr>
            <a:cxnSpLocks/>
            <a:stCxn id="183" idx="2"/>
            <a:endCxn id="136" idx="0"/>
          </p:cNvCxnSpPr>
          <p:nvPr/>
        </p:nvCxnSpPr>
        <p:spPr>
          <a:xfrm>
            <a:off x="1695444" y="2828612"/>
            <a:ext cx="0" cy="78224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277059CA-64CB-5AC8-8C45-FE0F09284B7E}"/>
              </a:ext>
            </a:extLst>
          </p:cNvPr>
          <p:cNvCxnSpPr>
            <a:cxnSpLocks/>
            <a:stCxn id="186" idx="0"/>
          </p:cNvCxnSpPr>
          <p:nvPr/>
        </p:nvCxnSpPr>
        <p:spPr>
          <a:xfrm flipV="1">
            <a:off x="2505237" y="3204555"/>
            <a:ext cx="0" cy="40630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Rectangle 222">
            <a:extLst>
              <a:ext uri="{FF2B5EF4-FFF2-40B4-BE49-F238E27FC236}">
                <a16:creationId xmlns:a16="http://schemas.microsoft.com/office/drawing/2014/main" id="{AC3CDC1B-8E6D-4D22-0CD1-4CEA7137355C}"/>
              </a:ext>
            </a:extLst>
          </p:cNvPr>
          <p:cNvSpPr/>
          <p:nvPr/>
        </p:nvSpPr>
        <p:spPr>
          <a:xfrm>
            <a:off x="3008369" y="3207585"/>
            <a:ext cx="872869" cy="291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>
                <a:ln>
                  <a:noFill/>
                </a:ln>
                <a:solidFill>
                  <a:srgbClr val="FFD000"/>
                </a:solidFill>
                <a:effectLst/>
                <a:uLnTx/>
                <a:uFillTx/>
                <a:latin typeface="Arial" panose="020B0604020202020204"/>
                <a:ea typeface="+mn-ea"/>
                <a:cs typeface="Times New Roman" panose="02020603050405020304" pitchFamily="18" charset="0"/>
              </a:rPr>
              <a:t>Rearchitect</a:t>
            </a:r>
          </a:p>
        </p:txBody>
      </p:sp>
      <p:cxnSp>
        <p:nvCxnSpPr>
          <p:cNvPr id="236" name="Straight Connector 235">
            <a:extLst>
              <a:ext uri="{FF2B5EF4-FFF2-40B4-BE49-F238E27FC236}">
                <a16:creationId xmlns:a16="http://schemas.microsoft.com/office/drawing/2014/main" id="{BBF3CCA1-E4AF-F163-2F7E-1EE8B1721E8B}"/>
              </a:ext>
            </a:extLst>
          </p:cNvPr>
          <p:cNvCxnSpPr>
            <a:cxnSpLocks/>
          </p:cNvCxnSpPr>
          <p:nvPr/>
        </p:nvCxnSpPr>
        <p:spPr>
          <a:xfrm flipV="1">
            <a:off x="4164775" y="4684672"/>
            <a:ext cx="794758" cy="6311"/>
          </a:xfrm>
          <a:prstGeom prst="line">
            <a:avLst/>
          </a:prstGeom>
          <a:ln w="3175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DBD2B161-3390-CE8E-934D-9AEDFC38199B}"/>
              </a:ext>
            </a:extLst>
          </p:cNvPr>
          <p:cNvSpPr txBox="1"/>
          <p:nvPr/>
        </p:nvSpPr>
        <p:spPr>
          <a:xfrm>
            <a:off x="6592951" y="3058857"/>
            <a:ext cx="10727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3A.Business User Onboarding by Domain/segment</a:t>
            </a: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A8F1B9C9-AE89-A6A2-456C-69CC90DC991C}"/>
              </a:ext>
            </a:extLst>
          </p:cNvPr>
          <p:cNvSpPr txBox="1"/>
          <p:nvPr/>
        </p:nvSpPr>
        <p:spPr>
          <a:xfrm>
            <a:off x="8138214" y="2946090"/>
            <a:ext cx="11013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3D.Parallel Runs and UAT Recon to start UAT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4FF7FBC2-5D65-5DB5-03F0-5D372D4EA755}"/>
              </a:ext>
            </a:extLst>
          </p:cNvPr>
          <p:cNvSpPr txBox="1"/>
          <p:nvPr/>
        </p:nvSpPr>
        <p:spPr>
          <a:xfrm>
            <a:off x="9045930" y="4008031"/>
            <a:ext cx="8813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3F.Signoff from the Business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16725F22-CEF5-4F2B-4C2C-6068B1E93DF4}"/>
              </a:ext>
            </a:extLst>
          </p:cNvPr>
          <p:cNvSpPr txBox="1"/>
          <p:nvPr/>
        </p:nvSpPr>
        <p:spPr>
          <a:xfrm>
            <a:off x="7739369" y="3898006"/>
            <a:ext cx="11283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3C. Execute Change Activities</a:t>
            </a: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746E847-6253-727A-0172-C01DFDEE2AF1}"/>
              </a:ext>
            </a:extLst>
          </p:cNvPr>
          <p:cNvSpPr txBox="1"/>
          <p:nvPr/>
        </p:nvSpPr>
        <p:spPr>
          <a:xfrm>
            <a:off x="9516110" y="3116307"/>
            <a:ext cx="7335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3G.Go-Live</a:t>
            </a:r>
          </a:p>
        </p:txBody>
      </p:sp>
      <p:sp>
        <p:nvSpPr>
          <p:cNvPr id="244" name="Oval 243">
            <a:extLst>
              <a:ext uri="{FF2B5EF4-FFF2-40B4-BE49-F238E27FC236}">
                <a16:creationId xmlns:a16="http://schemas.microsoft.com/office/drawing/2014/main" id="{EE46F11D-FBDF-406A-F5C3-AA1A512DA242}"/>
              </a:ext>
            </a:extLst>
          </p:cNvPr>
          <p:cNvSpPr/>
          <p:nvPr/>
        </p:nvSpPr>
        <p:spPr bwMode="gray">
          <a:xfrm>
            <a:off x="3641453" y="2968333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7916C7DE-04B5-6330-426E-48C6F8E4A9BB}"/>
              </a:ext>
            </a:extLst>
          </p:cNvPr>
          <p:cNvSpPr/>
          <p:nvPr/>
        </p:nvSpPr>
        <p:spPr>
          <a:xfrm>
            <a:off x="4252723" y="4499111"/>
            <a:ext cx="694490" cy="1809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Times New Roman" panose="02020603050405020304" pitchFamily="18" charset="0"/>
              </a:rPr>
              <a:t>Retire</a:t>
            </a:r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7A17FE72-AEB6-A0F9-6E9E-256C97AF8668}"/>
              </a:ext>
            </a:extLst>
          </p:cNvPr>
          <p:cNvSpPr/>
          <p:nvPr/>
        </p:nvSpPr>
        <p:spPr bwMode="gray">
          <a:xfrm>
            <a:off x="7039187" y="3598792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9D75D235-F582-37CD-2F79-4F6E40235BCD}"/>
              </a:ext>
            </a:extLst>
          </p:cNvPr>
          <p:cNvSpPr/>
          <p:nvPr/>
        </p:nvSpPr>
        <p:spPr bwMode="gray">
          <a:xfrm>
            <a:off x="8113156" y="3590293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3" name="Oval 262">
            <a:extLst>
              <a:ext uri="{FF2B5EF4-FFF2-40B4-BE49-F238E27FC236}">
                <a16:creationId xmlns:a16="http://schemas.microsoft.com/office/drawing/2014/main" id="{F2602CE4-A9C4-7A49-6A86-8CCEF519A285}"/>
              </a:ext>
            </a:extLst>
          </p:cNvPr>
          <p:cNvSpPr/>
          <p:nvPr/>
        </p:nvSpPr>
        <p:spPr bwMode="gray">
          <a:xfrm>
            <a:off x="8572039" y="3590293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4" name="Oval 263">
            <a:extLst>
              <a:ext uri="{FF2B5EF4-FFF2-40B4-BE49-F238E27FC236}">
                <a16:creationId xmlns:a16="http://schemas.microsoft.com/office/drawing/2014/main" id="{47E25F59-4A9A-B577-5AE2-32703D13BD54}"/>
              </a:ext>
            </a:extLst>
          </p:cNvPr>
          <p:cNvSpPr/>
          <p:nvPr/>
        </p:nvSpPr>
        <p:spPr bwMode="gray">
          <a:xfrm>
            <a:off x="9404509" y="3581327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9FB98775-AD92-01F2-76E6-E6E6F50D2028}"/>
              </a:ext>
            </a:extLst>
          </p:cNvPr>
          <p:cNvCxnSpPr>
            <a:cxnSpLocks/>
            <a:stCxn id="237" idx="2"/>
            <a:endCxn id="261" idx="0"/>
          </p:cNvCxnSpPr>
          <p:nvPr/>
        </p:nvCxnSpPr>
        <p:spPr>
          <a:xfrm>
            <a:off x="7129319" y="3520522"/>
            <a:ext cx="0" cy="7827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A45C7CE9-82B4-155B-4100-E539394F7C06}"/>
              </a:ext>
            </a:extLst>
          </p:cNvPr>
          <p:cNvCxnSpPr>
            <a:cxnSpLocks/>
            <a:stCxn id="262" idx="4"/>
          </p:cNvCxnSpPr>
          <p:nvPr/>
        </p:nvCxnSpPr>
        <p:spPr>
          <a:xfrm>
            <a:off x="8203288" y="3773173"/>
            <a:ext cx="1376" cy="18065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E8D9E4DB-D642-170C-9F9D-96D42C482EC3}"/>
              </a:ext>
            </a:extLst>
          </p:cNvPr>
          <p:cNvCxnSpPr>
            <a:cxnSpLocks/>
            <a:endCxn id="263" idx="0"/>
          </p:cNvCxnSpPr>
          <p:nvPr/>
        </p:nvCxnSpPr>
        <p:spPr>
          <a:xfrm>
            <a:off x="8662171" y="3355848"/>
            <a:ext cx="0" cy="23444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Connector 282">
            <a:extLst>
              <a:ext uri="{FF2B5EF4-FFF2-40B4-BE49-F238E27FC236}">
                <a16:creationId xmlns:a16="http://schemas.microsoft.com/office/drawing/2014/main" id="{35E1AA56-EA25-FF8F-A7FB-38E0855E031E}"/>
              </a:ext>
            </a:extLst>
          </p:cNvPr>
          <p:cNvCxnSpPr>
            <a:cxnSpLocks/>
            <a:stCxn id="264" idx="4"/>
            <a:endCxn id="239" idx="0"/>
          </p:cNvCxnSpPr>
          <p:nvPr/>
        </p:nvCxnSpPr>
        <p:spPr>
          <a:xfrm flipH="1">
            <a:off x="9486608" y="3764207"/>
            <a:ext cx="8033" cy="243824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50CD15E-0616-2783-4B2D-E8409154A99F}"/>
              </a:ext>
            </a:extLst>
          </p:cNvPr>
          <p:cNvCxnSpPr>
            <a:cxnSpLocks/>
            <a:stCxn id="241" idx="2"/>
          </p:cNvCxnSpPr>
          <p:nvPr/>
        </p:nvCxnSpPr>
        <p:spPr>
          <a:xfrm>
            <a:off x="9882875" y="3331751"/>
            <a:ext cx="0" cy="26064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C2A5BA64-B841-BFF5-874D-7520BA816CEC}"/>
              </a:ext>
            </a:extLst>
          </p:cNvPr>
          <p:cNvSpPr txBox="1"/>
          <p:nvPr/>
        </p:nvSpPr>
        <p:spPr>
          <a:xfrm>
            <a:off x="4589130" y="3156835"/>
            <a:ext cx="102575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2D. Target State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Design</a:t>
            </a:r>
          </a:p>
        </p:txBody>
      </p: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5B23FBAB-2D34-19C4-ABFE-23C28EA25B27}"/>
              </a:ext>
            </a:extLst>
          </p:cNvPr>
          <p:cNvCxnSpPr>
            <a:cxnSpLocks/>
          </p:cNvCxnSpPr>
          <p:nvPr/>
        </p:nvCxnSpPr>
        <p:spPr>
          <a:xfrm>
            <a:off x="536806" y="5082923"/>
            <a:ext cx="2227343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Rectangle 120">
            <a:extLst>
              <a:ext uri="{FF2B5EF4-FFF2-40B4-BE49-F238E27FC236}">
                <a16:creationId xmlns:a16="http://schemas.microsoft.com/office/drawing/2014/main" id="{E8BFDD4A-29FE-C9DA-60A4-A0146444B40B}"/>
              </a:ext>
            </a:extLst>
          </p:cNvPr>
          <p:cNvSpPr/>
          <p:nvPr/>
        </p:nvSpPr>
        <p:spPr>
          <a:xfrm>
            <a:off x="682742" y="4937161"/>
            <a:ext cx="1870988" cy="29152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>
                <a:ln>
                  <a:noFill/>
                </a:ln>
                <a:solidFill>
                  <a:srgbClr val="1A1446"/>
                </a:solidFill>
                <a:effectLst/>
                <a:uLnTx/>
                <a:uFillTx/>
                <a:latin typeface="Arial" panose="020B0604020202020204"/>
                <a:ea typeface="+mn-ea"/>
                <a:cs typeface="Times New Roman" panose="02020603050405020304" pitchFamily="18" charset="0"/>
              </a:rPr>
              <a:t>Mobilization Outcomes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F801B48-B97A-4418-3F74-C6C342713411}"/>
              </a:ext>
            </a:extLst>
          </p:cNvPr>
          <p:cNvGrpSpPr/>
          <p:nvPr/>
        </p:nvGrpSpPr>
        <p:grpSpPr>
          <a:xfrm>
            <a:off x="3059842" y="4937161"/>
            <a:ext cx="3424369" cy="1931056"/>
            <a:chOff x="2880088" y="4522587"/>
            <a:chExt cx="2783282" cy="1931056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96E48702-C51D-711F-7470-9138EA7008EB}"/>
                </a:ext>
              </a:extLst>
            </p:cNvPr>
            <p:cNvSpPr/>
            <p:nvPr/>
          </p:nvSpPr>
          <p:spPr>
            <a:xfrm>
              <a:off x="2880088" y="4814112"/>
              <a:ext cx="2783282" cy="163953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Target-state architecture design finalized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Data models and pipelines (incremental and historical) are configured, modernizing and optimizing Teradata data foundations.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Legacy reports/extracts/semantic models/DB views transformed for SF compatibility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Make downstream(like SAS) connections compatible to SF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Downstream systems integrated and validated through SIT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1" i="0" u="none" strike="noStrike" kern="1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Times New Roman" panose="02020603050405020304" pitchFamily="18" charset="0"/>
              </a:endParaRPr>
            </a:p>
          </p:txBody>
        </p:sp>
        <p:cxnSp>
          <p:nvCxnSpPr>
            <p:cNvPr id="311" name="Straight Connector 310">
              <a:extLst>
                <a:ext uri="{FF2B5EF4-FFF2-40B4-BE49-F238E27FC236}">
                  <a16:creationId xmlns:a16="http://schemas.microsoft.com/office/drawing/2014/main" id="{C234EAE0-0167-0C90-819E-A4626532625D}"/>
                </a:ext>
              </a:extLst>
            </p:cNvPr>
            <p:cNvCxnSpPr>
              <a:cxnSpLocks/>
            </p:cNvCxnSpPr>
            <p:nvPr/>
          </p:nvCxnSpPr>
          <p:spPr>
            <a:xfrm>
              <a:off x="2892314" y="4668349"/>
              <a:ext cx="2719029" cy="0"/>
            </a:xfrm>
            <a:prstGeom prst="line">
              <a:avLst/>
            </a:prstGeom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F0655C5D-F0F9-4261-D4C3-5BDAE897DF85}"/>
                </a:ext>
              </a:extLst>
            </p:cNvPr>
            <p:cNvSpPr/>
            <p:nvPr/>
          </p:nvSpPr>
          <p:spPr>
            <a:xfrm>
              <a:off x="3357668" y="4522587"/>
              <a:ext cx="1851777" cy="29152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100" cap="none" spc="0" normalizeH="0" baseline="0" noProof="0">
                  <a:ln>
                    <a:noFill/>
                  </a:ln>
                  <a:solidFill>
                    <a:srgbClr val="1A1446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Times New Roman" panose="02020603050405020304" pitchFamily="18" charset="0"/>
                </a:rPr>
                <a:t>Technical Modernization Outcomes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8B94A23-8CEE-088D-1BAD-BF4669809561}"/>
              </a:ext>
            </a:extLst>
          </p:cNvPr>
          <p:cNvGrpSpPr/>
          <p:nvPr/>
        </p:nvGrpSpPr>
        <p:grpSpPr>
          <a:xfrm>
            <a:off x="6341656" y="4948460"/>
            <a:ext cx="3469512" cy="1919757"/>
            <a:chOff x="5954329" y="4533886"/>
            <a:chExt cx="2934842" cy="1919757"/>
          </a:xfrm>
        </p:grpSpPr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63F1132A-2FB6-A853-2BCB-E100E771C100}"/>
                </a:ext>
              </a:extLst>
            </p:cNvPr>
            <p:cNvSpPr/>
            <p:nvPr/>
          </p:nvSpPr>
          <p:spPr>
            <a:xfrm>
              <a:off x="6267344" y="4814112"/>
              <a:ext cx="2621827" cy="163953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Users onboarded with SF access/roles and trained.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Parallel runs between Teradata and SF and reconciliation/regression testing continues until UAT sign-off 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UAT signed off at domain/segment level.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Go-live readiness approved and executed at domain level.</a:t>
              </a:r>
            </a:p>
          </p:txBody>
        </p:sp>
        <p:cxnSp>
          <p:nvCxnSpPr>
            <p:cNvPr id="312" name="Straight Connector 311">
              <a:extLst>
                <a:ext uri="{FF2B5EF4-FFF2-40B4-BE49-F238E27FC236}">
                  <a16:creationId xmlns:a16="http://schemas.microsoft.com/office/drawing/2014/main" id="{5E0BC6D5-04B4-BF07-2631-44DE936472A9}"/>
                </a:ext>
              </a:extLst>
            </p:cNvPr>
            <p:cNvCxnSpPr>
              <a:cxnSpLocks/>
            </p:cNvCxnSpPr>
            <p:nvPr/>
          </p:nvCxnSpPr>
          <p:spPr>
            <a:xfrm>
              <a:off x="5954329" y="4668349"/>
              <a:ext cx="2894396" cy="0"/>
            </a:xfrm>
            <a:prstGeom prst="line">
              <a:avLst/>
            </a:prstGeom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946BBBA9-B565-CDD2-5917-9409977AC141}"/>
                </a:ext>
              </a:extLst>
            </p:cNvPr>
            <p:cNvSpPr/>
            <p:nvPr/>
          </p:nvSpPr>
          <p:spPr>
            <a:xfrm>
              <a:off x="6443924" y="4533886"/>
              <a:ext cx="1848328" cy="26892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100" cap="none" spc="0" normalizeH="0" baseline="0" noProof="0">
                  <a:ln>
                    <a:noFill/>
                  </a:ln>
                  <a:solidFill>
                    <a:srgbClr val="1A1446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Times New Roman" panose="02020603050405020304" pitchFamily="18" charset="0"/>
                </a:rPr>
                <a:t>Business User Migration Outcomes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15B79D6-EB3A-E149-44CD-36E04707ECED}"/>
              </a:ext>
            </a:extLst>
          </p:cNvPr>
          <p:cNvGrpSpPr/>
          <p:nvPr/>
        </p:nvGrpSpPr>
        <p:grpSpPr>
          <a:xfrm>
            <a:off x="9747504" y="4937161"/>
            <a:ext cx="2339033" cy="1931056"/>
            <a:chOff x="9223718" y="4522587"/>
            <a:chExt cx="2771845" cy="1931056"/>
          </a:xfrm>
        </p:grpSpPr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86D542D3-8417-86AD-C35A-A0F5A58B878A}"/>
                </a:ext>
              </a:extLst>
            </p:cNvPr>
            <p:cNvSpPr/>
            <p:nvPr/>
          </p:nvSpPr>
          <p:spPr>
            <a:xfrm>
              <a:off x="9223718" y="4814112"/>
              <a:ext cx="2771845" cy="163953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All Domains/segments marked "Ready for Decommission“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Decommission change activities started, access revoked, and integrations disabled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Compliance closure completed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F5F5F5">
                      <a:lumMod val="10000"/>
                    </a:srgbClr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+mn-cs"/>
                </a:rPr>
                <a:t>Final decommissioning sign-off</a:t>
              </a:r>
            </a:p>
            <a:p>
              <a:pPr marL="171450" marR="0" lvl="0" indent="-171450" algn="l" defTabSz="914400" rtl="0" eaLnBrk="0" fontAlgn="base" latinLnBrk="0" hangingPunct="0">
                <a:lnSpc>
                  <a:spcPct val="100000"/>
                </a:lnSpc>
                <a:spcBef>
                  <a:spcPts val="200"/>
                </a:spcBef>
                <a:spcAft>
                  <a:spcPts val="2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cxnSp>
          <p:nvCxnSpPr>
            <p:cNvPr id="315" name="Straight Connector 314">
              <a:extLst>
                <a:ext uri="{FF2B5EF4-FFF2-40B4-BE49-F238E27FC236}">
                  <a16:creationId xmlns:a16="http://schemas.microsoft.com/office/drawing/2014/main" id="{A210A5F3-75BF-9337-93C5-10979F97FD53}"/>
                </a:ext>
              </a:extLst>
            </p:cNvPr>
            <p:cNvCxnSpPr>
              <a:cxnSpLocks/>
            </p:cNvCxnSpPr>
            <p:nvPr/>
          </p:nvCxnSpPr>
          <p:spPr>
            <a:xfrm>
              <a:off x="9318584" y="4668349"/>
              <a:ext cx="2535299" cy="0"/>
            </a:xfrm>
            <a:prstGeom prst="line">
              <a:avLst/>
            </a:prstGeom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Rectangle 125">
              <a:extLst>
                <a:ext uri="{FF2B5EF4-FFF2-40B4-BE49-F238E27FC236}">
                  <a16:creationId xmlns:a16="http://schemas.microsoft.com/office/drawing/2014/main" id="{07495A8A-D3B4-1821-5FB4-AFA98CA9D406}"/>
                </a:ext>
              </a:extLst>
            </p:cNvPr>
            <p:cNvSpPr/>
            <p:nvPr/>
          </p:nvSpPr>
          <p:spPr>
            <a:xfrm>
              <a:off x="9649441" y="4522587"/>
              <a:ext cx="1908417" cy="291525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1" i="0" u="none" strike="noStrike" kern="100" cap="none" spc="0" normalizeH="0" baseline="0" noProof="0">
                  <a:ln>
                    <a:noFill/>
                  </a:ln>
                  <a:solidFill>
                    <a:srgbClr val="1A1446"/>
                  </a:solidFill>
                  <a:effectLst/>
                  <a:uLnTx/>
                  <a:uFillTx/>
                  <a:latin typeface="Arial" panose="020B0604020202020204"/>
                  <a:ea typeface="+mn-ea"/>
                  <a:cs typeface="Times New Roman" panose="02020603050405020304" pitchFamily="18" charset="0"/>
                </a:rPr>
                <a:t>Decommission Outcomes</a:t>
              </a:r>
            </a:p>
          </p:txBody>
        </p:sp>
      </p:grpSp>
      <p:sp>
        <p:nvSpPr>
          <p:cNvPr id="337" name="Oval 336">
            <a:extLst>
              <a:ext uri="{FF2B5EF4-FFF2-40B4-BE49-F238E27FC236}">
                <a16:creationId xmlns:a16="http://schemas.microsoft.com/office/drawing/2014/main" id="{E277CDA6-31C4-F56C-6AFB-486B59E1C75D}"/>
              </a:ext>
            </a:extLst>
          </p:cNvPr>
          <p:cNvSpPr/>
          <p:nvPr/>
        </p:nvSpPr>
        <p:spPr bwMode="gray">
          <a:xfrm>
            <a:off x="4862460" y="3593975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55C2DEB5-5D02-1716-F781-B58A4BF4310D}"/>
              </a:ext>
            </a:extLst>
          </p:cNvPr>
          <p:cNvSpPr/>
          <p:nvPr/>
        </p:nvSpPr>
        <p:spPr bwMode="gray">
          <a:xfrm>
            <a:off x="5349787" y="3593975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2DAA8C2C-95B5-D097-BF15-3BF3250465CA}"/>
              </a:ext>
            </a:extLst>
          </p:cNvPr>
          <p:cNvSpPr/>
          <p:nvPr/>
        </p:nvSpPr>
        <p:spPr bwMode="gray">
          <a:xfrm>
            <a:off x="8925239" y="3587520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99CCAEB-A693-AF12-F45F-89E887D66AF7}"/>
              </a:ext>
            </a:extLst>
          </p:cNvPr>
          <p:cNvSpPr/>
          <p:nvPr/>
        </p:nvSpPr>
        <p:spPr>
          <a:xfrm>
            <a:off x="3483596" y="3753168"/>
            <a:ext cx="830516" cy="2079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00" cap="none" spc="0" normalizeH="0" baseline="0" noProof="0">
                <a:ln>
                  <a:noFill/>
                </a:ln>
                <a:solidFill>
                  <a:srgbClr val="06748C"/>
                </a:solidFill>
                <a:effectLst/>
                <a:uLnTx/>
                <a:uFillTx/>
                <a:latin typeface="Arial" panose="020B0604020202020204"/>
                <a:ea typeface="+mn-ea"/>
                <a:cs typeface="Times New Roman" panose="02020603050405020304" pitchFamily="18" charset="0"/>
              </a:rPr>
              <a:t>Replatform</a:t>
            </a:r>
          </a:p>
        </p:txBody>
      </p:sp>
      <p:sp>
        <p:nvSpPr>
          <p:cNvPr id="294" name="Oval 293">
            <a:extLst>
              <a:ext uri="{FF2B5EF4-FFF2-40B4-BE49-F238E27FC236}">
                <a16:creationId xmlns:a16="http://schemas.microsoft.com/office/drawing/2014/main" id="{ECF75EAF-F0FE-B437-0A33-20C36C6837AC}"/>
              </a:ext>
            </a:extLst>
          </p:cNvPr>
          <p:cNvSpPr/>
          <p:nvPr/>
        </p:nvSpPr>
        <p:spPr bwMode="gray">
          <a:xfrm>
            <a:off x="4132337" y="2968333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accent1"/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2" name="Oval 351">
            <a:extLst>
              <a:ext uri="{FF2B5EF4-FFF2-40B4-BE49-F238E27FC236}">
                <a16:creationId xmlns:a16="http://schemas.microsoft.com/office/drawing/2014/main" id="{9B5B5AC1-E3B9-DF80-66B9-653A79594206}"/>
              </a:ext>
            </a:extLst>
          </p:cNvPr>
          <p:cNvSpPr/>
          <p:nvPr/>
        </p:nvSpPr>
        <p:spPr bwMode="gray">
          <a:xfrm>
            <a:off x="5770210" y="3602583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3" name="Oval 352">
            <a:extLst>
              <a:ext uri="{FF2B5EF4-FFF2-40B4-BE49-F238E27FC236}">
                <a16:creationId xmlns:a16="http://schemas.microsoft.com/office/drawing/2014/main" id="{2D89704D-C7B6-8784-ACE8-03950C3880CC}"/>
              </a:ext>
            </a:extLst>
          </p:cNvPr>
          <p:cNvSpPr/>
          <p:nvPr/>
        </p:nvSpPr>
        <p:spPr bwMode="gray">
          <a:xfrm>
            <a:off x="6341656" y="3604734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AFC9C89-E4EC-9CE2-7FD7-389AF1CE047A}"/>
              </a:ext>
            </a:extLst>
          </p:cNvPr>
          <p:cNvSpPr txBox="1"/>
          <p:nvPr/>
        </p:nvSpPr>
        <p:spPr>
          <a:xfrm>
            <a:off x="4830545" y="3879254"/>
            <a:ext cx="10152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2E.Design, Configure History Data Pipeline</a:t>
            </a:r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266808C8-A8A5-0F25-36EA-C855F0B63C7D}"/>
              </a:ext>
            </a:extLst>
          </p:cNvPr>
          <p:cNvSpPr txBox="1"/>
          <p:nvPr/>
        </p:nvSpPr>
        <p:spPr>
          <a:xfrm>
            <a:off x="5169552" y="2837062"/>
            <a:ext cx="1378914" cy="33855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2F. Design, Configure Incremental Data Pipeline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rgbClr val="F5F5F5">
                  <a:lumMod val="10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C4C321E-470F-7374-9D56-6A1B271A7AEE}"/>
              </a:ext>
            </a:extLst>
          </p:cNvPr>
          <p:cNvSpPr txBox="1"/>
          <p:nvPr/>
        </p:nvSpPr>
        <p:spPr>
          <a:xfrm>
            <a:off x="8575750" y="4369098"/>
            <a:ext cx="9403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3E.UAT by domain/segment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66A61BB-77D3-1ABC-55B9-CA9388042A0A}"/>
              </a:ext>
            </a:extLst>
          </p:cNvPr>
          <p:cNvGrpSpPr/>
          <p:nvPr/>
        </p:nvGrpSpPr>
        <p:grpSpPr>
          <a:xfrm>
            <a:off x="9789248" y="3566720"/>
            <a:ext cx="253050" cy="253050"/>
            <a:chOff x="9469391" y="3358881"/>
            <a:chExt cx="253050" cy="25305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899F69A-897D-0668-35A1-0F0D4A09D81B}"/>
                </a:ext>
              </a:extLst>
            </p:cNvPr>
            <p:cNvSpPr/>
            <p:nvPr/>
          </p:nvSpPr>
          <p:spPr bwMode="gray">
            <a:xfrm>
              <a:off x="9506672" y="3390795"/>
              <a:ext cx="180264" cy="182880"/>
            </a:xfrm>
            <a:prstGeom prst="ellipse">
              <a:avLst/>
            </a:prstGeom>
            <a:solidFill>
              <a:schemeClr val="bg1"/>
            </a:solidFill>
            <a:ln w="22225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6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292" name="Graphic 291" descr="Badge Tick with solid fill">
              <a:extLst>
                <a:ext uri="{FF2B5EF4-FFF2-40B4-BE49-F238E27FC236}">
                  <a16:creationId xmlns:a16="http://schemas.microsoft.com/office/drawing/2014/main" id="{6A4AE03E-91B0-A3CD-7F8A-3F65BC1BD47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69391" y="3358881"/>
              <a:ext cx="253050" cy="253050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F0BA746-3816-4B7E-81DB-474FF19207CC}"/>
              </a:ext>
            </a:extLst>
          </p:cNvPr>
          <p:cNvSpPr txBox="1"/>
          <p:nvPr/>
        </p:nvSpPr>
        <p:spPr>
          <a:xfrm>
            <a:off x="4001834" y="2409722"/>
            <a:ext cx="8064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2C. Design new data model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337EDD2-FC4E-2B31-6899-3529C9836762}"/>
              </a:ext>
            </a:extLst>
          </p:cNvPr>
          <p:cNvSpPr/>
          <p:nvPr/>
        </p:nvSpPr>
        <p:spPr bwMode="gray">
          <a:xfrm>
            <a:off x="2886680" y="3604734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tx1">
                <a:lumMod val="75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D793AA-A6A2-A2EE-F084-336F5F01BFDF}"/>
              </a:ext>
            </a:extLst>
          </p:cNvPr>
          <p:cNvSpPr txBox="1"/>
          <p:nvPr/>
        </p:nvSpPr>
        <p:spPr>
          <a:xfrm>
            <a:off x="2544306" y="3755989"/>
            <a:ext cx="6371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2A. Logical grouping of assets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6A609-6B85-17F9-DAEF-6EB4A6FD6832}"/>
              </a:ext>
            </a:extLst>
          </p:cNvPr>
          <p:cNvSpPr txBox="1"/>
          <p:nvPr/>
        </p:nvSpPr>
        <p:spPr>
          <a:xfrm>
            <a:off x="5961584" y="2458892"/>
            <a:ext cx="1462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2G.System Integration Testing/Performance 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8E089B-04C3-3C7C-626E-FC0EBBD3A528}"/>
              </a:ext>
            </a:extLst>
          </p:cNvPr>
          <p:cNvSpPr txBox="1"/>
          <p:nvPr/>
        </p:nvSpPr>
        <p:spPr>
          <a:xfrm>
            <a:off x="2817746" y="2388385"/>
            <a:ext cx="12940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2B. Document rationale &amp; data points to support data model change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9F8F9A-CA30-89B5-037E-E2CC5F19C92F}"/>
              </a:ext>
            </a:extLst>
          </p:cNvPr>
          <p:cNvGrpSpPr/>
          <p:nvPr/>
        </p:nvGrpSpPr>
        <p:grpSpPr>
          <a:xfrm>
            <a:off x="11692867" y="3563200"/>
            <a:ext cx="253050" cy="253050"/>
            <a:chOff x="9469391" y="3358881"/>
            <a:chExt cx="253050" cy="253050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6A8ED90-62AF-FCAC-A8A6-1CFD2AAF61B9}"/>
                </a:ext>
              </a:extLst>
            </p:cNvPr>
            <p:cNvSpPr/>
            <p:nvPr/>
          </p:nvSpPr>
          <p:spPr bwMode="gray">
            <a:xfrm>
              <a:off x="9506672" y="3390795"/>
              <a:ext cx="180264" cy="182880"/>
            </a:xfrm>
            <a:prstGeom prst="ellipse">
              <a:avLst/>
            </a:prstGeom>
            <a:solidFill>
              <a:schemeClr val="bg1"/>
            </a:solidFill>
            <a:ln w="22225" algn="ctr">
              <a:noFill/>
              <a:miter lim="800000"/>
              <a:headEnd/>
              <a:tailEnd/>
            </a:ln>
          </p:spPr>
          <p:txBody>
            <a:bodyPr wrap="square" lIns="88900" tIns="88900" rIns="88900" bIns="88900" rtlCol="0" anchor="ctr"/>
            <a:lstStyle/>
            <a:p>
              <a:pPr marL="0" marR="0" lvl="0" indent="0" algn="ctr" defTabSz="914400" rtl="0" eaLnBrk="1" fontAlgn="base" latinLnBrk="0" hangingPunct="1">
                <a:lnSpc>
                  <a:spcPct val="106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pic>
          <p:nvPicPr>
            <p:cNvPr id="19" name="Graphic 18" descr="Badge Tick with solid fill">
              <a:extLst>
                <a:ext uri="{FF2B5EF4-FFF2-40B4-BE49-F238E27FC236}">
                  <a16:creationId xmlns:a16="http://schemas.microsoft.com/office/drawing/2014/main" id="{A4F7117E-0635-C4F7-7D4E-60EB2E9167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469391" y="3358881"/>
              <a:ext cx="253050" cy="25305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4CA07C8-5A92-E8FB-E7E1-F61C498BBD14}"/>
              </a:ext>
            </a:extLst>
          </p:cNvPr>
          <p:cNvSpPr txBox="1"/>
          <p:nvPr/>
        </p:nvSpPr>
        <p:spPr>
          <a:xfrm>
            <a:off x="11196999" y="3106754"/>
            <a:ext cx="11013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4D.Decommission Teradata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22FB0B5-C81B-F976-6FA2-1F91FC622685}"/>
              </a:ext>
            </a:extLst>
          </p:cNvPr>
          <p:cNvCxnSpPr/>
          <p:nvPr/>
        </p:nvCxnSpPr>
        <p:spPr>
          <a:xfrm>
            <a:off x="11804029" y="3413509"/>
            <a:ext cx="0" cy="171667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E698A74C-7B09-019C-FA6B-A206CE57DEC2}"/>
              </a:ext>
            </a:extLst>
          </p:cNvPr>
          <p:cNvSpPr/>
          <p:nvPr/>
        </p:nvSpPr>
        <p:spPr bwMode="gray">
          <a:xfrm>
            <a:off x="7522012" y="3610860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0E714E-FA8D-A729-6FEF-D47E6D0910C0}"/>
              </a:ext>
            </a:extLst>
          </p:cNvPr>
          <p:cNvSpPr txBox="1"/>
          <p:nvPr/>
        </p:nvSpPr>
        <p:spPr>
          <a:xfrm>
            <a:off x="6842293" y="4396407"/>
            <a:ext cx="15240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3B. Migrate Business </a:t>
            </a:r>
            <a:b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</a:b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User Consumption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5F5F5">
                    <a:lumMod val="10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Domain/segment wise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F360BC2-FDFB-D621-8923-A35543D1D1B5}"/>
              </a:ext>
            </a:extLst>
          </p:cNvPr>
          <p:cNvCxnSpPr>
            <a:cxnSpLocks/>
            <a:stCxn id="22" idx="4"/>
            <a:endCxn id="23" idx="0"/>
          </p:cNvCxnSpPr>
          <p:nvPr/>
        </p:nvCxnSpPr>
        <p:spPr>
          <a:xfrm flipH="1">
            <a:off x="7604315" y="3793740"/>
            <a:ext cx="7829" cy="602667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1DDE7B5-5F7C-291F-4544-68CDBBF0B387}"/>
              </a:ext>
            </a:extLst>
          </p:cNvPr>
          <p:cNvCxnSpPr>
            <a:cxnSpLocks/>
          </p:cNvCxnSpPr>
          <p:nvPr/>
        </p:nvCxnSpPr>
        <p:spPr>
          <a:xfrm flipV="1">
            <a:off x="6443707" y="2797446"/>
            <a:ext cx="10117" cy="808205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52B25D00-CFB7-9E77-96BF-F003B1C9AE7C}"/>
              </a:ext>
            </a:extLst>
          </p:cNvPr>
          <p:cNvCxnSpPr>
            <a:cxnSpLocks/>
            <a:stCxn id="352" idx="0"/>
            <a:endCxn id="355" idx="2"/>
          </p:cNvCxnSpPr>
          <p:nvPr/>
        </p:nvCxnSpPr>
        <p:spPr>
          <a:xfrm flipH="1" flipV="1">
            <a:off x="5859009" y="3175616"/>
            <a:ext cx="1333" cy="426967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C50AA327-80B8-1FF6-F297-803104A3E107}"/>
              </a:ext>
            </a:extLst>
          </p:cNvPr>
          <p:cNvCxnSpPr>
            <a:cxnSpLocks/>
          </p:cNvCxnSpPr>
          <p:nvPr/>
        </p:nvCxnSpPr>
        <p:spPr>
          <a:xfrm>
            <a:off x="5433030" y="3768713"/>
            <a:ext cx="0" cy="18511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5287254-01CA-923B-EA70-FA03296B3A9F}"/>
              </a:ext>
            </a:extLst>
          </p:cNvPr>
          <p:cNvCxnSpPr>
            <a:cxnSpLocks/>
            <a:endCxn id="337" idx="0"/>
          </p:cNvCxnSpPr>
          <p:nvPr/>
        </p:nvCxnSpPr>
        <p:spPr>
          <a:xfrm>
            <a:off x="4952592" y="3487432"/>
            <a:ext cx="0" cy="106543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4A038EF-3AA8-6A01-E988-42E59A29E1E1}"/>
              </a:ext>
            </a:extLst>
          </p:cNvPr>
          <p:cNvCxnSpPr>
            <a:cxnSpLocks/>
          </p:cNvCxnSpPr>
          <p:nvPr/>
        </p:nvCxnSpPr>
        <p:spPr>
          <a:xfrm flipH="1">
            <a:off x="4229585" y="2799736"/>
            <a:ext cx="469" cy="16947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AB8BB26-51F7-F0D0-97C1-D55CDBD7B0DB}"/>
              </a:ext>
            </a:extLst>
          </p:cNvPr>
          <p:cNvCxnSpPr>
            <a:cxnSpLocks/>
          </p:cNvCxnSpPr>
          <p:nvPr/>
        </p:nvCxnSpPr>
        <p:spPr>
          <a:xfrm flipH="1">
            <a:off x="3731116" y="2787039"/>
            <a:ext cx="469" cy="169471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Graphic 26" descr="Clipboard Checked with solid fill">
            <a:extLst>
              <a:ext uri="{FF2B5EF4-FFF2-40B4-BE49-F238E27FC236}">
                <a16:creationId xmlns:a16="http://schemas.microsoft.com/office/drawing/2014/main" id="{210B416B-BA6B-CA14-C4CE-4A6B4A35C9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0108" y="1520445"/>
            <a:ext cx="303048" cy="303048"/>
          </a:xfrm>
          <a:prstGeom prst="rect">
            <a:avLst/>
          </a:prstGeom>
        </p:spPr>
      </p:pic>
      <p:pic>
        <p:nvPicPr>
          <p:cNvPr id="28" name="Graphic 27" descr="Tools with solid fill">
            <a:extLst>
              <a:ext uri="{FF2B5EF4-FFF2-40B4-BE49-F238E27FC236}">
                <a16:creationId xmlns:a16="http://schemas.microsoft.com/office/drawing/2014/main" id="{E6462C5B-AF5F-69B2-324E-CFCBDB1AF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62118" y="1520445"/>
            <a:ext cx="303048" cy="303048"/>
          </a:xfrm>
          <a:prstGeom prst="rect">
            <a:avLst/>
          </a:prstGeom>
        </p:spPr>
      </p:pic>
      <p:pic>
        <p:nvPicPr>
          <p:cNvPr id="29" name="Graphic 28" descr="Handshake with solid fill">
            <a:extLst>
              <a:ext uri="{FF2B5EF4-FFF2-40B4-BE49-F238E27FC236}">
                <a16:creationId xmlns:a16="http://schemas.microsoft.com/office/drawing/2014/main" id="{1E9A7D97-4B58-F9FA-9140-1500C691F0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18621" y="1521380"/>
            <a:ext cx="303048" cy="303048"/>
          </a:xfrm>
          <a:prstGeom prst="rect">
            <a:avLst/>
          </a:prstGeom>
        </p:spPr>
      </p:pic>
      <p:pic>
        <p:nvPicPr>
          <p:cNvPr id="30" name="Graphic 29" descr="Box with solid fill">
            <a:extLst>
              <a:ext uri="{FF2B5EF4-FFF2-40B4-BE49-F238E27FC236}">
                <a16:creationId xmlns:a16="http://schemas.microsoft.com/office/drawing/2014/main" id="{33B4C944-B6F8-B48B-7E29-DFBC4BF6F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242784" y="1520445"/>
            <a:ext cx="303048" cy="303048"/>
          </a:xfrm>
          <a:prstGeom prst="rect">
            <a:avLst/>
          </a:prstGeom>
        </p:spPr>
      </p:pic>
      <p:sp>
        <p:nvSpPr>
          <p:cNvPr id="31" name="Rectangle 30">
            <a:extLst>
              <a:ext uri="{FF2B5EF4-FFF2-40B4-BE49-F238E27FC236}">
                <a16:creationId xmlns:a16="http://schemas.microsoft.com/office/drawing/2014/main" id="{1D78664D-2FE0-317E-27D9-96E0FC65BA1F}"/>
              </a:ext>
            </a:extLst>
          </p:cNvPr>
          <p:cNvSpPr/>
          <p:nvPr/>
        </p:nvSpPr>
        <p:spPr>
          <a:xfrm>
            <a:off x="502920" y="6596375"/>
            <a:ext cx="8977413" cy="27740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00" cap="none" spc="0" normalizeH="0" baseline="0" noProof="0">
                <a:ln>
                  <a:noFill/>
                </a:ln>
                <a:solidFill>
                  <a:srgbClr val="1A1446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Times New Roman" panose="02020603050405020304" pitchFamily="18" charset="0"/>
              </a:rPr>
              <a:t>See Appendix for Detailed Assumptions                </a:t>
            </a:r>
            <a:r>
              <a:rPr kumimoji="0" lang="en-US" sz="800" b="0" i="1" u="none" strike="noStrike" kern="100" cap="none" spc="0" normalizeH="0" baseline="30000" noProof="0">
                <a:ln>
                  <a:noFill/>
                </a:ln>
                <a:solidFill>
                  <a:srgbClr val="1A1446"/>
                </a:solidFill>
                <a:effectLst/>
                <a:uLnTx/>
                <a:uFillTx/>
                <a:latin typeface="Arial" panose="020B0604020202020204"/>
                <a:ea typeface="+mn-ea"/>
                <a:cs typeface="Times New Roman" panose="02020603050405020304" pitchFamily="18" charset="0"/>
              </a:rPr>
              <a:t>1 </a:t>
            </a:r>
            <a:r>
              <a:rPr kumimoji="0" lang="en-US" sz="900" b="0" i="1" u="none" strike="noStrike" kern="100" cap="none" spc="0" normalizeH="0" baseline="0" noProof="0">
                <a:ln>
                  <a:noFill/>
                </a:ln>
                <a:solidFill>
                  <a:srgbClr val="1A1446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Times New Roman" panose="02020603050405020304" pitchFamily="18" charset="0"/>
              </a:rPr>
              <a:t>This is not a critical path for existing mobilization and starting tech modernization phase.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2B60672-F556-04DA-742C-938FDB2E7BF4}"/>
              </a:ext>
            </a:extLst>
          </p:cNvPr>
          <p:cNvCxnSpPr>
            <a:cxnSpLocks/>
            <a:stCxn id="339" idx="4"/>
          </p:cNvCxnSpPr>
          <p:nvPr/>
        </p:nvCxnSpPr>
        <p:spPr>
          <a:xfrm>
            <a:off x="9015371" y="3770400"/>
            <a:ext cx="5987" cy="648199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CF5FE647-65D6-215A-6E96-B678CA2E7675}"/>
              </a:ext>
            </a:extLst>
          </p:cNvPr>
          <p:cNvSpPr/>
          <p:nvPr/>
        </p:nvSpPr>
        <p:spPr bwMode="gray">
          <a:xfrm>
            <a:off x="1958408" y="3620255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tx1">
                <a:lumMod val="75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A3A5C90-1EB8-D497-6717-E31AE2A178AD}"/>
              </a:ext>
            </a:extLst>
          </p:cNvPr>
          <p:cNvCxnSpPr>
            <a:cxnSpLocks/>
          </p:cNvCxnSpPr>
          <p:nvPr/>
        </p:nvCxnSpPr>
        <p:spPr>
          <a:xfrm>
            <a:off x="2045068" y="3811632"/>
            <a:ext cx="0" cy="557466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D1F7D4C-A274-F4F7-6D20-FCE6C446AD1D}"/>
              </a:ext>
            </a:extLst>
          </p:cNvPr>
          <p:cNvSpPr txBox="1"/>
          <p:nvPr/>
        </p:nvSpPr>
        <p:spPr>
          <a:xfrm>
            <a:off x="1495371" y="4328519"/>
            <a:ext cx="1079725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1D. High-Level Modernization &amp; Architecture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2497038B-E6B8-0BB3-CAD4-D6AFEA12EAD2}"/>
              </a:ext>
            </a:extLst>
          </p:cNvPr>
          <p:cNvSpPr/>
          <p:nvPr/>
        </p:nvSpPr>
        <p:spPr>
          <a:xfrm>
            <a:off x="2152650" y="3665542"/>
            <a:ext cx="1066800" cy="722323"/>
          </a:xfrm>
          <a:custGeom>
            <a:avLst/>
            <a:gdLst>
              <a:gd name="connsiteX0" fmla="*/ 0 w 1066800"/>
              <a:gd name="connsiteY0" fmla="*/ 87308 h 722323"/>
              <a:gd name="connsiteX1" fmla="*/ 349250 w 1066800"/>
              <a:gd name="connsiteY1" fmla="*/ 722308 h 722323"/>
              <a:gd name="connsiteX2" fmla="*/ 914400 w 1066800"/>
              <a:gd name="connsiteY2" fmla="*/ 106358 h 722323"/>
              <a:gd name="connsiteX3" fmla="*/ 1066800 w 1066800"/>
              <a:gd name="connsiteY3" fmla="*/ 4758 h 722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6800" h="722323">
                <a:moveTo>
                  <a:pt x="0" y="87308"/>
                </a:moveTo>
                <a:cubicBezTo>
                  <a:pt x="98425" y="403220"/>
                  <a:pt x="196850" y="719133"/>
                  <a:pt x="349250" y="722308"/>
                </a:cubicBezTo>
                <a:cubicBezTo>
                  <a:pt x="501650" y="725483"/>
                  <a:pt x="794808" y="225950"/>
                  <a:pt x="914400" y="106358"/>
                </a:cubicBezTo>
                <a:cubicBezTo>
                  <a:pt x="1033992" y="-13234"/>
                  <a:pt x="1050396" y="-4238"/>
                  <a:pt x="1066800" y="4758"/>
                </a:cubicBezTo>
              </a:path>
            </a:pathLst>
          </a:cu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1528405C-2EAA-018A-1F84-757843C2E412}"/>
              </a:ext>
            </a:extLst>
          </p:cNvPr>
          <p:cNvSpPr/>
          <p:nvPr/>
        </p:nvSpPr>
        <p:spPr>
          <a:xfrm>
            <a:off x="2438400" y="3724080"/>
            <a:ext cx="3423599" cy="2042838"/>
          </a:xfrm>
          <a:custGeom>
            <a:avLst/>
            <a:gdLst>
              <a:gd name="connsiteX0" fmla="*/ 114300 w 3423599"/>
              <a:gd name="connsiteY0" fmla="*/ 3370 h 2042838"/>
              <a:gd name="connsiteX1" fmla="*/ 730250 w 3423599"/>
              <a:gd name="connsiteY1" fmla="*/ 35120 h 2042838"/>
              <a:gd name="connsiteX2" fmla="*/ 44450 w 3423599"/>
              <a:gd name="connsiteY2" fmla="*/ 47820 h 2042838"/>
              <a:gd name="connsiteX3" fmla="*/ 279400 w 3423599"/>
              <a:gd name="connsiteY3" fmla="*/ 657420 h 2042838"/>
              <a:gd name="connsiteX4" fmla="*/ 704850 w 3423599"/>
              <a:gd name="connsiteY4" fmla="*/ 22420 h 2042838"/>
              <a:gd name="connsiteX5" fmla="*/ 768350 w 3423599"/>
              <a:gd name="connsiteY5" fmla="*/ 1368620 h 2042838"/>
              <a:gd name="connsiteX6" fmla="*/ 2641600 w 3423599"/>
              <a:gd name="connsiteY6" fmla="*/ 1762320 h 2042838"/>
              <a:gd name="connsiteX7" fmla="*/ 450850 w 3423599"/>
              <a:gd name="connsiteY7" fmla="*/ 1730570 h 2042838"/>
              <a:gd name="connsiteX8" fmla="*/ 349250 w 3423599"/>
              <a:gd name="connsiteY8" fmla="*/ 2041720 h 2042838"/>
              <a:gd name="connsiteX9" fmla="*/ 3422650 w 3423599"/>
              <a:gd name="connsiteY9" fmla="*/ 1603570 h 2042838"/>
              <a:gd name="connsiteX10" fmla="*/ 0 w 3423599"/>
              <a:gd name="connsiteY10" fmla="*/ 1476570 h 20428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423599" h="2042838">
                <a:moveTo>
                  <a:pt x="114300" y="3370"/>
                </a:moveTo>
                <a:cubicBezTo>
                  <a:pt x="428096" y="15541"/>
                  <a:pt x="741892" y="27712"/>
                  <a:pt x="730250" y="35120"/>
                </a:cubicBezTo>
                <a:cubicBezTo>
                  <a:pt x="718608" y="42528"/>
                  <a:pt x="119592" y="-55897"/>
                  <a:pt x="44450" y="47820"/>
                </a:cubicBezTo>
                <a:cubicBezTo>
                  <a:pt x="-30692" y="151537"/>
                  <a:pt x="169333" y="661653"/>
                  <a:pt x="279400" y="657420"/>
                </a:cubicBezTo>
                <a:cubicBezTo>
                  <a:pt x="389467" y="653187"/>
                  <a:pt x="623358" y="-96113"/>
                  <a:pt x="704850" y="22420"/>
                </a:cubicBezTo>
                <a:cubicBezTo>
                  <a:pt x="786342" y="140953"/>
                  <a:pt x="445558" y="1078637"/>
                  <a:pt x="768350" y="1368620"/>
                </a:cubicBezTo>
                <a:cubicBezTo>
                  <a:pt x="1091142" y="1658603"/>
                  <a:pt x="2694517" y="1701995"/>
                  <a:pt x="2641600" y="1762320"/>
                </a:cubicBezTo>
                <a:cubicBezTo>
                  <a:pt x="2588683" y="1822645"/>
                  <a:pt x="832908" y="1684003"/>
                  <a:pt x="450850" y="1730570"/>
                </a:cubicBezTo>
                <a:cubicBezTo>
                  <a:pt x="68792" y="1777137"/>
                  <a:pt x="-146050" y="2062887"/>
                  <a:pt x="349250" y="2041720"/>
                </a:cubicBezTo>
                <a:cubicBezTo>
                  <a:pt x="844550" y="2020553"/>
                  <a:pt x="3480858" y="1697762"/>
                  <a:pt x="3422650" y="1603570"/>
                </a:cubicBezTo>
                <a:cubicBezTo>
                  <a:pt x="3364442" y="1509378"/>
                  <a:pt x="1682221" y="1492974"/>
                  <a:pt x="0" y="1476570"/>
                </a:cubicBezTo>
              </a:path>
            </a:pathLst>
          </a:cu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809FFA5-B424-F5D1-7735-14D8F36A6A82}"/>
              </a:ext>
            </a:extLst>
          </p:cNvPr>
          <p:cNvSpPr/>
          <p:nvPr/>
        </p:nvSpPr>
        <p:spPr bwMode="gray">
          <a:xfrm>
            <a:off x="10927660" y="3592320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B6A6B69-ACE1-54DA-E064-CBD0FF830259}"/>
              </a:ext>
            </a:extLst>
          </p:cNvPr>
          <p:cNvCxnSpPr>
            <a:cxnSpLocks/>
          </p:cNvCxnSpPr>
          <p:nvPr/>
        </p:nvCxnSpPr>
        <p:spPr>
          <a:xfrm>
            <a:off x="10371103" y="3752581"/>
            <a:ext cx="0" cy="24544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Freeform: Shape 155">
            <a:extLst>
              <a:ext uri="{FF2B5EF4-FFF2-40B4-BE49-F238E27FC236}">
                <a16:creationId xmlns:a16="http://schemas.microsoft.com/office/drawing/2014/main" id="{A71B03F7-9E0D-8782-3AAF-5C68FC3BC7D2}"/>
              </a:ext>
            </a:extLst>
          </p:cNvPr>
          <p:cNvSpPr/>
          <p:nvPr/>
        </p:nvSpPr>
        <p:spPr>
          <a:xfrm>
            <a:off x="2212848" y="3659112"/>
            <a:ext cx="664078" cy="473976"/>
          </a:xfrm>
          <a:custGeom>
            <a:avLst/>
            <a:gdLst>
              <a:gd name="connsiteX0" fmla="*/ 0 w 664078"/>
              <a:gd name="connsiteY0" fmla="*/ 44208 h 473976"/>
              <a:gd name="connsiteX1" fmla="*/ 521208 w 664078"/>
              <a:gd name="connsiteY1" fmla="*/ 464832 h 473976"/>
              <a:gd name="connsiteX2" fmla="*/ 658368 w 664078"/>
              <a:gd name="connsiteY2" fmla="*/ 35064 h 473976"/>
              <a:gd name="connsiteX3" fmla="*/ 640080 w 664078"/>
              <a:gd name="connsiteY3" fmla="*/ 25920 h 473976"/>
              <a:gd name="connsiteX4" fmla="*/ 640080 w 664078"/>
              <a:gd name="connsiteY4" fmla="*/ 25920 h 473976"/>
              <a:gd name="connsiteX5" fmla="*/ 292608 w 664078"/>
              <a:gd name="connsiteY5" fmla="*/ 473976 h 4739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64078" h="473976">
                <a:moveTo>
                  <a:pt x="0" y="44208"/>
                </a:moveTo>
                <a:cubicBezTo>
                  <a:pt x="205740" y="255282"/>
                  <a:pt x="411480" y="466356"/>
                  <a:pt x="521208" y="464832"/>
                </a:cubicBezTo>
                <a:cubicBezTo>
                  <a:pt x="630936" y="463308"/>
                  <a:pt x="638556" y="108216"/>
                  <a:pt x="658368" y="35064"/>
                </a:cubicBezTo>
                <a:cubicBezTo>
                  <a:pt x="678180" y="-38088"/>
                  <a:pt x="640080" y="25920"/>
                  <a:pt x="640080" y="25920"/>
                </a:cubicBezTo>
                <a:lnTo>
                  <a:pt x="640080" y="25920"/>
                </a:lnTo>
                <a:lnTo>
                  <a:pt x="292608" y="473976"/>
                </a:lnTo>
              </a:path>
            </a:pathLst>
          </a:cu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46" name="iBar:31/138">
            <a:extLst>
              <a:ext uri="{FF2B5EF4-FFF2-40B4-BE49-F238E27FC236}">
                <a16:creationId xmlns:a16="http://schemas.microsoft.com/office/drawing/2014/main" id="{565A5CDB-2DCF-085F-A4FC-04F83BDFA53F}"/>
              </a:ext>
            </a:extLst>
          </p:cNvPr>
          <p:cNvCxnSpPr>
            <a:cxnSpLocks/>
          </p:cNvCxnSpPr>
          <p:nvPr/>
        </p:nvCxnSpPr>
        <p:spPr>
          <a:xfrm>
            <a:off x="2940772" y="1335680"/>
            <a:ext cx="3642464" cy="6063"/>
          </a:xfrm>
          <a:prstGeom prst="line">
            <a:avLst/>
          </a:prstGeom>
          <a:ln w="12700">
            <a:solidFill>
              <a:srgbClr val="7B7B7B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TxtBox:31/138">
            <a:extLst>
              <a:ext uri="{FF2B5EF4-FFF2-40B4-BE49-F238E27FC236}">
                <a16:creationId xmlns:a16="http://schemas.microsoft.com/office/drawing/2014/main" id="{F671ED78-9353-726A-E459-72B052FFD9C0}"/>
              </a:ext>
            </a:extLst>
          </p:cNvPr>
          <p:cNvSpPr/>
          <p:nvPr/>
        </p:nvSpPr>
        <p:spPr>
          <a:xfrm>
            <a:off x="3795381" y="1230780"/>
            <a:ext cx="1966447" cy="184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9144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Times New Roman" panose="02020603050405020304" pitchFamily="18" charset="0"/>
              </a:rPr>
              <a:t>Activity for Each Asset</a:t>
            </a:r>
          </a:p>
        </p:txBody>
      </p:sp>
      <p:cxnSp>
        <p:nvCxnSpPr>
          <p:cNvPr id="55" name="iBar:31/138">
            <a:extLst>
              <a:ext uri="{FF2B5EF4-FFF2-40B4-BE49-F238E27FC236}">
                <a16:creationId xmlns:a16="http://schemas.microsoft.com/office/drawing/2014/main" id="{58F0B3C0-FB81-84BA-1AC2-F3FFFFA89CBF}"/>
              </a:ext>
            </a:extLst>
          </p:cNvPr>
          <p:cNvCxnSpPr>
            <a:cxnSpLocks/>
          </p:cNvCxnSpPr>
          <p:nvPr/>
        </p:nvCxnSpPr>
        <p:spPr>
          <a:xfrm flipV="1">
            <a:off x="6691432" y="1331588"/>
            <a:ext cx="5240259" cy="11946"/>
          </a:xfrm>
          <a:prstGeom prst="line">
            <a:avLst/>
          </a:prstGeom>
          <a:ln w="12700">
            <a:solidFill>
              <a:srgbClr val="7B7B7B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xtBox:31/138">
            <a:extLst>
              <a:ext uri="{FF2B5EF4-FFF2-40B4-BE49-F238E27FC236}">
                <a16:creationId xmlns:a16="http://schemas.microsoft.com/office/drawing/2014/main" id="{62B86A88-F4EC-0525-1F16-D7978FB1A252}"/>
              </a:ext>
            </a:extLst>
          </p:cNvPr>
          <p:cNvSpPr/>
          <p:nvPr/>
        </p:nvSpPr>
        <p:spPr>
          <a:xfrm>
            <a:off x="7692335" y="1241059"/>
            <a:ext cx="3186606" cy="1846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9144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Times New Roman" panose="02020603050405020304" pitchFamily="18" charset="0"/>
              </a:rPr>
              <a:t>Recurring Activity by Domain/Segment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88472CA-4FDB-F8F7-E09F-00EF9B32CD40}"/>
              </a:ext>
            </a:extLst>
          </p:cNvPr>
          <p:cNvSpPr/>
          <p:nvPr/>
        </p:nvSpPr>
        <p:spPr bwMode="gray">
          <a:xfrm>
            <a:off x="10276976" y="3601597"/>
            <a:ext cx="180264" cy="182880"/>
          </a:xfrm>
          <a:prstGeom prst="ellipse">
            <a:avLst/>
          </a:prstGeom>
          <a:solidFill>
            <a:schemeClr val="bg1"/>
          </a:solidFill>
          <a:ln w="22225" algn="ctr">
            <a:solidFill>
              <a:schemeClr val="bg1">
                <a:lumMod val="10000"/>
              </a:schemeClr>
            </a:solidFill>
            <a:miter lim="800000"/>
            <a:headEnd/>
            <a:tailEnd/>
          </a:ln>
        </p:spPr>
        <p:txBody>
          <a:bodyPr wrap="square" lIns="88900" tIns="88900" rIns="88900" bIns="88900" rtlCol="0" anchor="ctr"/>
          <a:lstStyle/>
          <a:p>
            <a:pPr marL="0" marR="0" lvl="0" indent="0" algn="ctr" defTabSz="914400" rtl="0" eaLnBrk="1" fontAlgn="base" latinLnBrk="0" hangingPunct="1">
              <a:lnSpc>
                <a:spcPct val="106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3345C51-113E-8618-92F6-EFC72C0CA5B7}"/>
              </a:ext>
            </a:extLst>
          </p:cNvPr>
          <p:cNvCxnSpPr>
            <a:cxnSpLocks/>
          </p:cNvCxnSpPr>
          <p:nvPr/>
        </p:nvCxnSpPr>
        <p:spPr>
          <a:xfrm>
            <a:off x="11013286" y="3301270"/>
            <a:ext cx="0" cy="260648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Curved Connector 39">
            <a:extLst>
              <a:ext uri="{FF2B5EF4-FFF2-40B4-BE49-F238E27FC236}">
                <a16:creationId xmlns:a16="http://schemas.microsoft.com/office/drawing/2014/main" id="{1985EF0D-7730-ECF7-DB91-BFCC7E520C6F}"/>
              </a:ext>
            </a:extLst>
          </p:cNvPr>
          <p:cNvCxnSpPr>
            <a:cxnSpLocks/>
            <a:endCxn id="5" idx="6"/>
          </p:cNvCxnSpPr>
          <p:nvPr/>
        </p:nvCxnSpPr>
        <p:spPr>
          <a:xfrm rot="10800000">
            <a:off x="3066944" y="3696175"/>
            <a:ext cx="1118788" cy="994811"/>
          </a:xfrm>
          <a:prstGeom prst="curvedConnector3">
            <a:avLst>
              <a:gd name="adj1" fmla="val 98319"/>
            </a:avLst>
          </a:prstGeom>
          <a:ln w="31750"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Freeform 50">
            <a:extLst>
              <a:ext uri="{FF2B5EF4-FFF2-40B4-BE49-F238E27FC236}">
                <a16:creationId xmlns:a16="http://schemas.microsoft.com/office/drawing/2014/main" id="{0820A084-B3ED-567E-FF65-F249947CE815}"/>
              </a:ext>
            </a:extLst>
          </p:cNvPr>
          <p:cNvSpPr/>
          <p:nvPr/>
        </p:nvSpPr>
        <p:spPr>
          <a:xfrm>
            <a:off x="-1190445" y="614311"/>
            <a:ext cx="1817298" cy="254491"/>
          </a:xfrm>
          <a:custGeom>
            <a:avLst/>
            <a:gdLst>
              <a:gd name="connsiteX0" fmla="*/ 0 w 1817298"/>
              <a:gd name="connsiteY0" fmla="*/ 0 h 254491"/>
              <a:gd name="connsiteX1" fmla="*/ 385313 w 1817298"/>
              <a:gd name="connsiteY1" fmla="*/ 189781 h 254491"/>
              <a:gd name="connsiteX2" fmla="*/ 540589 w 1817298"/>
              <a:gd name="connsiteY2" fmla="*/ 247290 h 254491"/>
              <a:gd name="connsiteX3" fmla="*/ 1420483 w 1817298"/>
              <a:gd name="connsiteY3" fmla="*/ 241539 h 254491"/>
              <a:gd name="connsiteX4" fmla="*/ 1685026 w 1817298"/>
              <a:gd name="connsiteY4" fmla="*/ 138022 h 254491"/>
              <a:gd name="connsiteX5" fmla="*/ 1817298 w 1817298"/>
              <a:gd name="connsiteY5" fmla="*/ 11501 h 2544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17298" h="254491">
                <a:moveTo>
                  <a:pt x="0" y="0"/>
                </a:moveTo>
                <a:cubicBezTo>
                  <a:pt x="147607" y="74283"/>
                  <a:pt x="295215" y="148566"/>
                  <a:pt x="385313" y="189781"/>
                </a:cubicBezTo>
                <a:cubicBezTo>
                  <a:pt x="475411" y="230996"/>
                  <a:pt x="368061" y="238664"/>
                  <a:pt x="540589" y="247290"/>
                </a:cubicBezTo>
                <a:cubicBezTo>
                  <a:pt x="713117" y="255916"/>
                  <a:pt x="1229744" y="259750"/>
                  <a:pt x="1420483" y="241539"/>
                </a:cubicBezTo>
                <a:cubicBezTo>
                  <a:pt x="1611223" y="223328"/>
                  <a:pt x="1618890" y="176362"/>
                  <a:pt x="1685026" y="138022"/>
                </a:cubicBezTo>
                <a:cubicBezTo>
                  <a:pt x="1751162" y="99682"/>
                  <a:pt x="1784230" y="55591"/>
                  <a:pt x="1817298" y="11501"/>
                </a:cubicBezTo>
              </a:path>
            </a:pathLst>
          </a:cu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DC6FA1EA-2C50-3DB7-59CF-84159901180B}"/>
              </a:ext>
            </a:extLst>
          </p:cNvPr>
          <p:cNvSpPr/>
          <p:nvPr/>
        </p:nvSpPr>
        <p:spPr>
          <a:xfrm>
            <a:off x="3072641" y="3692238"/>
            <a:ext cx="1783914" cy="250068"/>
          </a:xfrm>
          <a:custGeom>
            <a:avLst/>
            <a:gdLst>
              <a:gd name="connsiteX0" fmla="*/ 0 w 1826271"/>
              <a:gd name="connsiteY0" fmla="*/ 15929 h 230083"/>
              <a:gd name="connsiteX1" fmla="*/ 356558 w 1826271"/>
              <a:gd name="connsiteY1" fmla="*/ 211462 h 230083"/>
              <a:gd name="connsiteX2" fmla="*/ 1593011 w 1826271"/>
              <a:gd name="connsiteY2" fmla="*/ 199960 h 230083"/>
              <a:gd name="connsiteX3" fmla="*/ 1805796 w 1826271"/>
              <a:gd name="connsiteY3" fmla="*/ 15929 h 230083"/>
              <a:gd name="connsiteX4" fmla="*/ 1805796 w 1826271"/>
              <a:gd name="connsiteY4" fmla="*/ 21680 h 230083"/>
              <a:gd name="connsiteX0" fmla="*/ 0 w 1826271"/>
              <a:gd name="connsiteY0" fmla="*/ 15929 h 242986"/>
              <a:gd name="connsiteX1" fmla="*/ 356558 w 1826271"/>
              <a:gd name="connsiteY1" fmla="*/ 211462 h 242986"/>
              <a:gd name="connsiteX2" fmla="*/ 1339969 w 1826271"/>
              <a:gd name="connsiteY2" fmla="*/ 222964 h 242986"/>
              <a:gd name="connsiteX3" fmla="*/ 1805796 w 1826271"/>
              <a:gd name="connsiteY3" fmla="*/ 15929 h 242986"/>
              <a:gd name="connsiteX4" fmla="*/ 1805796 w 1826271"/>
              <a:gd name="connsiteY4" fmla="*/ 21680 h 242986"/>
              <a:gd name="connsiteX0" fmla="*/ 0 w 1826271"/>
              <a:gd name="connsiteY0" fmla="*/ 15929 h 259820"/>
              <a:gd name="connsiteX1" fmla="*/ 569343 w 1826271"/>
              <a:gd name="connsiteY1" fmla="*/ 240217 h 259820"/>
              <a:gd name="connsiteX2" fmla="*/ 1339969 w 1826271"/>
              <a:gd name="connsiteY2" fmla="*/ 222964 h 259820"/>
              <a:gd name="connsiteX3" fmla="*/ 1805796 w 1826271"/>
              <a:gd name="connsiteY3" fmla="*/ 15929 h 259820"/>
              <a:gd name="connsiteX4" fmla="*/ 1805796 w 1826271"/>
              <a:gd name="connsiteY4" fmla="*/ 21680 h 259820"/>
              <a:gd name="connsiteX0" fmla="*/ 0 w 1826271"/>
              <a:gd name="connsiteY0" fmla="*/ 15929 h 250068"/>
              <a:gd name="connsiteX1" fmla="*/ 569343 w 1826271"/>
              <a:gd name="connsiteY1" fmla="*/ 240217 h 250068"/>
              <a:gd name="connsiteX2" fmla="*/ 1339969 w 1826271"/>
              <a:gd name="connsiteY2" fmla="*/ 222964 h 250068"/>
              <a:gd name="connsiteX3" fmla="*/ 1805796 w 1826271"/>
              <a:gd name="connsiteY3" fmla="*/ 15929 h 250068"/>
              <a:gd name="connsiteX4" fmla="*/ 1805796 w 1826271"/>
              <a:gd name="connsiteY4" fmla="*/ 21680 h 250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6271" h="250068">
                <a:moveTo>
                  <a:pt x="0" y="15929"/>
                </a:moveTo>
                <a:cubicBezTo>
                  <a:pt x="45528" y="98359"/>
                  <a:pt x="288505" y="228715"/>
                  <a:pt x="569343" y="240217"/>
                </a:cubicBezTo>
                <a:cubicBezTo>
                  <a:pt x="850181" y="251719"/>
                  <a:pt x="1133894" y="260345"/>
                  <a:pt x="1339969" y="222964"/>
                </a:cubicBezTo>
                <a:cubicBezTo>
                  <a:pt x="1546044" y="185583"/>
                  <a:pt x="1805796" y="15929"/>
                  <a:pt x="1805796" y="15929"/>
                </a:cubicBezTo>
                <a:cubicBezTo>
                  <a:pt x="1841260" y="-13784"/>
                  <a:pt x="1823528" y="3948"/>
                  <a:pt x="1805796" y="21680"/>
                </a:cubicBezTo>
              </a:path>
            </a:pathLst>
          </a:custGeom>
          <a:ln w="31750">
            <a:solidFill>
              <a:srgbClr val="08748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78387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Nmqhxrjj_ZpBEgZL7BNFg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GSR Business Master (USE THIS)_v1">
  <a:themeElements>
    <a:clrScheme name="LM FINAL 2018 pallet">
      <a:dk1>
        <a:srgbClr val="F5F5F5"/>
      </a:dk1>
      <a:lt1>
        <a:srgbClr val="F5F5F5"/>
      </a:lt1>
      <a:dk2>
        <a:srgbClr val="FFFFFF"/>
      </a:dk2>
      <a:lt2>
        <a:srgbClr val="1A1446"/>
      </a:lt2>
      <a:accent1>
        <a:srgbClr val="FFD000"/>
      </a:accent1>
      <a:accent2>
        <a:srgbClr val="07B8C1"/>
      </a:accent2>
      <a:accent3>
        <a:srgbClr val="78E1E1"/>
      </a:accent3>
      <a:accent4>
        <a:srgbClr val="06748C"/>
      </a:accent4>
      <a:accent5>
        <a:srgbClr val="B0B0B0"/>
      </a:accent5>
      <a:accent6>
        <a:srgbClr val="6B6B6B"/>
      </a:accent6>
      <a:hlink>
        <a:srgbClr val="06748C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1DEF6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l">
          <a:defRPr sz="900" b="1" kern="100">
            <a:solidFill>
              <a:schemeClr val="bg2"/>
            </a:solidFill>
            <a:latin typeface="Aptos" panose="020B0004020202020204" pitchFamily="34" charset="0"/>
            <a:cs typeface="Times New Roman" panose="02020603050405020304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heme1" id="{95F633AA-5662-46EC-97DB-43EB4D840DB2}" vid="{49CF1C88-D596-4C5F-BB69-E4E0013BA5C7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710</Words>
  <Application>Microsoft Macintosh PowerPoint</Application>
  <PresentationFormat>Widescreen</PresentationFormat>
  <Paragraphs>110</Paragraphs>
  <Slides>3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Wingdings 2</vt:lpstr>
      <vt:lpstr>Office Theme</vt:lpstr>
      <vt:lpstr>1_GSR Business Master (USE THIS)_v1</vt:lpstr>
      <vt:lpstr>think-cell Slide</vt:lpstr>
      <vt:lpstr>PowerPoint Presentation</vt:lpstr>
      <vt:lpstr>PowerPoint Presentation</vt:lpstr>
      <vt:lpstr>Our Approach For Teradata Modernization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Pawar, AMIT</dc:creator>
  <cp:lastModifiedBy>Pawar, AMIT</cp:lastModifiedBy>
  <cp:revision>1</cp:revision>
  <dcterms:created xsi:type="dcterms:W3CDTF">2026-08-02T14:41:13Z</dcterms:created>
  <dcterms:modified xsi:type="dcterms:W3CDTF">2026-08-02T14:43:01Z</dcterms:modified>
</cp:coreProperties>
</file>