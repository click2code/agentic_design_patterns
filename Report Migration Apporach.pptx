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3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2956FD-2D21-1643-9643-0F2FE4569B42}" type="datetimeFigureOut">
              <a:rPr lang="en-US" smtClean="0"/>
              <a:t>8/2/26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FDFEE6-F60B-9642-9D02-935F2D136C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029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D5770-0165-A815-E568-6AE7A98DB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6F4A99-DF55-06B0-C33E-A27DDA883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86C812-6B02-A065-1E64-C3AAD826F6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67F66E-9745-6B73-43D7-85DB938639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50314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9CB4A-F3B4-9FC2-250E-81177FE564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26F386-D39F-FE1E-D287-517C7F0A68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808474-23B1-16D3-91F8-54C8A5B06F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75F8D-5130-E049-B250-ADAF720CF121}" type="datetimeFigureOut">
              <a:rPr lang="en-US" smtClean="0"/>
              <a:t>8/2/26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FCA3D2-689D-4FA5-7A05-A1565C3B6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07133-1FC0-1D4D-37D3-351C5BB1C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0F394-47BB-0945-8408-F2366CEA90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785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980E7-FC37-323F-F0E8-352BB0CC2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1BAE8-6B13-C941-0954-11C445A71E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512F40-E4F3-7E3B-2F3A-2DA5C2571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75F8D-5130-E049-B250-ADAF720CF121}" type="datetimeFigureOut">
              <a:rPr lang="en-US" smtClean="0"/>
              <a:t>8/2/26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106CCC-404E-5032-486F-683E1860D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79F549-5B00-2D70-7575-BBF26E592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0F394-47BB-0945-8408-F2366CEA90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5184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05C11-C234-A4AF-47C6-6212800C9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50335C-35FD-738E-7374-C38D1C263A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FB1C08-CC12-333A-112C-7C83067FF4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75F8D-5130-E049-B250-ADAF720CF121}" type="datetimeFigureOut">
              <a:rPr lang="en-US" smtClean="0"/>
              <a:t>8/2/26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6BFEA4-8487-3B1B-8CF4-E5032BE913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A1CB2E-AAD1-6BC3-F132-D93EC013F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0F394-47BB-0945-8408-F2366CEA90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3290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705CC0-4DAE-01E8-479D-6120FF9C3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366A37-C2A6-109E-9115-E312C13F97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445660-2430-0744-C4FF-DD85C96C08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0E4A67-3118-DE6B-9D4F-50980655A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75F8D-5130-E049-B250-ADAF720CF121}" type="datetimeFigureOut">
              <a:rPr lang="en-US" smtClean="0"/>
              <a:t>8/2/26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E59D74-306C-824A-5B1E-B26D6C09D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1ED74B-A7BE-592C-E3E6-92A0C1089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0F394-47BB-0945-8408-F2366CEA90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0077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E19B31-473B-8178-49A0-9A492A539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77B877-5595-A731-341E-82F8907ABA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90312E-A817-9CCD-ADF2-813E5099E5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B8C0AB-DEB5-43FA-1198-1B79FD5720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13D0DA-4194-4702-3195-D1156B48D7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374DD94-B98C-C50F-5893-CEED927C4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75F8D-5130-E049-B250-ADAF720CF121}" type="datetimeFigureOut">
              <a:rPr lang="en-US" smtClean="0"/>
              <a:t>8/2/26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F1B1FB-F76E-F7ED-A7FC-B6E661940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EE3EC03-9694-6825-E1AF-3C3756EE2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0F394-47BB-0945-8408-F2366CEA90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8496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71E4D-578F-DDFE-7DFC-90E692FF7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647B20-66A9-28CD-C4D7-B99F3B370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75F8D-5130-E049-B250-ADAF720CF121}" type="datetimeFigureOut">
              <a:rPr lang="en-US" smtClean="0"/>
              <a:t>8/2/26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493455-CFAA-4235-34E6-B965CB8705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DBE974-FD90-7505-FE96-927D23EA3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0F394-47BB-0945-8408-F2366CEA90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9285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B4793D-1D49-AA8A-BCE7-8FEBE0A49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75F8D-5130-E049-B250-ADAF720CF121}" type="datetimeFigureOut">
              <a:rPr lang="en-US" smtClean="0"/>
              <a:t>8/2/26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C022A8-1605-D56A-2549-BB2FC4962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185488-00F4-8EC1-6CDB-8875D7F30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0F394-47BB-0945-8408-F2366CEA90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693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EEAB7-BE99-C670-DD1D-143D55994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122B8A-2D16-1E4C-D61D-BA86657421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A70938-AF01-B9EB-563E-A6372BE09E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270DB0-6AD6-924A-432B-D6E758CCB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75F8D-5130-E049-B250-ADAF720CF121}" type="datetimeFigureOut">
              <a:rPr lang="en-US" smtClean="0"/>
              <a:t>8/2/26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EA123A-98D7-6036-3C56-A2AB8C297B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484FB5-E9DB-E2D8-5FDC-AEE504F15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0F394-47BB-0945-8408-F2366CEA90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6932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275A0-EA25-5329-B3E6-E5F8AE589E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83C446-8555-795A-E658-0D0B438EA9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828418-9CD9-EEB8-34CD-24F44ADADD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D50535-EAA3-2991-CCE1-9823CE937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75F8D-5130-E049-B250-ADAF720CF121}" type="datetimeFigureOut">
              <a:rPr lang="en-US" smtClean="0"/>
              <a:t>8/2/26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008F88-B9BE-CE60-1D11-F79A58CFCB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9C5B46-04BD-634C-3D49-7F0A25307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0F394-47BB-0945-8408-F2366CEA90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929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77FB7-593D-3839-2569-6D7EAA473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759894-309C-1C9E-10AD-8E6A5C58B1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1AB08A-906E-920E-FE98-06CA3801D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75F8D-5130-E049-B250-ADAF720CF121}" type="datetimeFigureOut">
              <a:rPr lang="en-US" smtClean="0"/>
              <a:t>8/2/26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7B3BF-2811-977B-F122-9B6BC9E20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1D908-D6A8-0FBF-3894-4CF9A147A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0F394-47BB-0945-8408-F2366CEA90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4464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1AF5A1-14AF-6A25-2D5E-B00755E34E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5CDE01-D41F-E373-D4DB-DC1FA87397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BD524C-C1F9-8099-0AC5-93E9E1EB18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75F8D-5130-E049-B250-ADAF720CF121}" type="datetimeFigureOut">
              <a:rPr lang="en-US" smtClean="0"/>
              <a:t>8/2/26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ED2E0-2C01-9DD8-C343-44D74DF39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A85DFE-BE63-71EB-F4CD-D980D89F9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0F394-47BB-0945-8408-F2366CEA90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4880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USE THIS_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463295" y="652461"/>
            <a:ext cx="11277600" cy="1742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50" b="0">
                <a:solidFill>
                  <a:schemeClr val="bg1">
                    <a:lumMod val="50000"/>
                  </a:schemeClr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>
              <a:spcAft>
                <a:spcPts val="0"/>
              </a:spcAft>
            </a:pPr>
            <a:r>
              <a:rPr lang="en-US"/>
              <a:t>Click to edit Master text styles</a:t>
            </a:r>
          </a:p>
        </p:txBody>
      </p:sp>
      <p:sp>
        <p:nvSpPr>
          <p:cNvPr id="7" name="Title Placeholder 1"/>
          <p:cNvSpPr>
            <a:spLocks noGrp="1"/>
          </p:cNvSpPr>
          <p:nvPr>
            <p:ph type="title"/>
          </p:nvPr>
        </p:nvSpPr>
        <p:spPr>
          <a:xfrm>
            <a:off x="463550" y="346075"/>
            <a:ext cx="11277600" cy="276999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en-US" sz="2000"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18E69C9B-B7B1-E448-56C4-0DAB74C78AE9}"/>
              </a:ext>
            </a:extLst>
          </p:cNvPr>
          <p:cNvSpPr/>
          <p:nvPr userDrawn="1"/>
        </p:nvSpPr>
        <p:spPr>
          <a:xfrm>
            <a:off x="-602984" y="1330960"/>
            <a:ext cx="267704" cy="267704"/>
          </a:xfrm>
          <a:prstGeom prst="ellips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B36D86E4-73B5-E0B0-5DE3-E5C0C01B7AA9}"/>
              </a:ext>
            </a:extLst>
          </p:cNvPr>
          <p:cNvSpPr/>
          <p:nvPr userDrawn="1"/>
        </p:nvSpPr>
        <p:spPr>
          <a:xfrm>
            <a:off x="-602984" y="1635169"/>
            <a:ext cx="267704" cy="267704"/>
          </a:xfrm>
          <a:prstGeom prst="ellipse">
            <a:avLst/>
          </a:prstGeom>
          <a:solidFill>
            <a:schemeClr val="accent2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8155BB41-F21B-B406-F55D-93807EBE38B3}"/>
              </a:ext>
            </a:extLst>
          </p:cNvPr>
          <p:cNvSpPr/>
          <p:nvPr userDrawn="1"/>
        </p:nvSpPr>
        <p:spPr>
          <a:xfrm>
            <a:off x="-602984" y="1939379"/>
            <a:ext cx="267704" cy="267704"/>
          </a:xfrm>
          <a:prstGeom prst="ellipse">
            <a:avLst/>
          </a:prstGeom>
          <a:solidFill>
            <a:schemeClr val="accent4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867A0774-2F81-11E6-A1E2-2D790E546286}"/>
              </a:ext>
            </a:extLst>
          </p:cNvPr>
          <p:cNvSpPr/>
          <p:nvPr userDrawn="1"/>
        </p:nvSpPr>
        <p:spPr>
          <a:xfrm>
            <a:off x="-602984" y="2243588"/>
            <a:ext cx="267704" cy="267704"/>
          </a:xfrm>
          <a:prstGeom prst="ellipse">
            <a:avLst/>
          </a:prstGeom>
          <a:solidFill>
            <a:schemeClr val="accent5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C94E68A2-0BF6-BE1D-C046-3073AD9123A2}"/>
              </a:ext>
            </a:extLst>
          </p:cNvPr>
          <p:cNvSpPr/>
          <p:nvPr userDrawn="1"/>
        </p:nvSpPr>
        <p:spPr>
          <a:xfrm>
            <a:off x="-602984" y="2547797"/>
            <a:ext cx="267704" cy="267704"/>
          </a:xfrm>
          <a:prstGeom prst="ellipse">
            <a:avLst/>
          </a:prstGeom>
          <a:solidFill>
            <a:schemeClr val="accent6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0FD02C4E-5E08-00B3-3E64-4CFD4FDCBD66}"/>
              </a:ext>
            </a:extLst>
          </p:cNvPr>
          <p:cNvSpPr/>
          <p:nvPr userDrawn="1"/>
        </p:nvSpPr>
        <p:spPr>
          <a:xfrm>
            <a:off x="-602984" y="2852007"/>
            <a:ext cx="267704" cy="267704"/>
          </a:xfrm>
          <a:prstGeom prst="ellipse">
            <a:avLst/>
          </a:prstGeom>
          <a:solidFill>
            <a:srgbClr val="C7EAFB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BD4C64D9-489D-1531-3F08-EBB1D8B2B6E4}"/>
              </a:ext>
            </a:extLst>
          </p:cNvPr>
          <p:cNvSpPr/>
          <p:nvPr userDrawn="1"/>
        </p:nvSpPr>
        <p:spPr>
          <a:xfrm>
            <a:off x="-602984" y="3156216"/>
            <a:ext cx="267704" cy="267704"/>
          </a:xfrm>
          <a:prstGeom prst="ellipse">
            <a:avLst/>
          </a:prstGeom>
          <a:solidFill>
            <a:srgbClr val="D9D9D9"/>
          </a:solidFill>
          <a:ln w="1905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290237848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11832">
          <p15:clr>
            <a:srgbClr val="FBAE40"/>
          </p15:clr>
        </p15:guide>
        <p15:guide id="2" pos="408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E6F980-44D2-D9E9-4758-88789E025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46B68E-E18E-B807-1296-83F2FBB9F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0B8C81-68DB-6FDD-B8F0-90A33336B3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F75F8D-5130-E049-B250-ADAF720CF121}" type="datetimeFigureOut">
              <a:rPr lang="en-US" smtClean="0"/>
              <a:t>8/2/26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E13A25-9078-CD5A-5A9A-E87D3FF36F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736686-C24F-375E-CEF4-6057F93EC0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80F394-47BB-0945-8408-F2366CEA90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3892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7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7" Type="http://schemas.openxmlformats.org/officeDocument/2006/relationships/image" Target="../media/image3.svg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.x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1.bin"/><Relationship Id="rId4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262D1-EF79-479B-2ACC-CCC648C9B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ue and black background&#10;&#10;AI-generated content may be incorrect.">
            <a:extLst>
              <a:ext uri="{FF2B5EF4-FFF2-40B4-BE49-F238E27FC236}">
                <a16:creationId xmlns:a16="http://schemas.microsoft.com/office/drawing/2014/main" id="{57D58D4A-A3A3-8ABF-FDE5-2D0E0484E3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4" t="64968" r="11017" b="5750"/>
          <a:stretch>
            <a:fillRect/>
          </a:stretch>
        </p:blipFill>
        <p:spPr>
          <a:xfrm flipH="1">
            <a:off x="7978002" y="952501"/>
            <a:ext cx="4225471" cy="4947051"/>
          </a:xfrm>
          <a:prstGeom prst="roundRect">
            <a:avLst>
              <a:gd name="adj" fmla="val 3594"/>
            </a:avLst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4542231-8283-E5D6-9388-E68D6273ED3B}"/>
              </a:ext>
            </a:extLst>
          </p:cNvPr>
          <p:cNvSpPr/>
          <p:nvPr/>
        </p:nvSpPr>
        <p:spPr>
          <a:xfrm>
            <a:off x="7990038" y="952502"/>
            <a:ext cx="4213436" cy="4947049"/>
          </a:xfrm>
          <a:prstGeom prst="roundRect">
            <a:avLst>
              <a:gd name="adj" fmla="val 3306"/>
            </a:avLst>
          </a:prstGeom>
          <a:gradFill flip="none" rotWithShape="1">
            <a:gsLst>
              <a:gs pos="30000">
                <a:srgbClr val="1A3673">
                  <a:alpha val="90000"/>
                </a:srgbClr>
              </a:gs>
              <a:gs pos="80000">
                <a:schemeClr val="bg2">
                  <a:lumMod val="10000"/>
                  <a:alpha val="8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aseline="3000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E58FBB8-06D3-4598-3BF2-EFA1D59D6AEE}"/>
              </a:ext>
            </a:extLst>
          </p:cNvPr>
          <p:cNvSpPr/>
          <p:nvPr/>
        </p:nvSpPr>
        <p:spPr>
          <a:xfrm>
            <a:off x="7643385" y="970683"/>
            <a:ext cx="4408358" cy="5012075"/>
          </a:xfrm>
          <a:prstGeom prst="roundRect">
            <a:avLst>
              <a:gd name="adj" fmla="val 3257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aseline="30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76" name="think-cell data - do not delete" hidden="1">
            <a:extLst>
              <a:ext uri="{FF2B5EF4-FFF2-40B4-BE49-F238E27FC236}">
                <a16:creationId xmlns:a16="http://schemas.microsoft.com/office/drawing/2014/main" id="{9237E232-904D-E0D5-6002-C77FCD47862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92" y="1589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7772400" imgH="10058400" progId="TCLayout.ActiveDocument.1">
                  <p:embed/>
                </p:oleObj>
              </mc:Choice>
              <mc:Fallback>
                <p:oleObj name="think-cell Slide" r:id="rId5" imgW="7772400" imgH="10058400" progId="TCLayout.ActiveDocument.1">
                  <p:embed/>
                  <p:pic>
                    <p:nvPicPr>
                      <p:cNvPr id="7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237E232-904D-E0D5-6002-C77FCD47862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92" y="1589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03F57EC4-C0B3-3AC3-A9AD-1D17B19B388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63295" y="652460"/>
            <a:ext cx="11277600" cy="347339"/>
          </a:xfrm>
        </p:spPr>
        <p:txBody>
          <a:bodyPr/>
          <a:lstStyle/>
          <a:p>
            <a:r>
              <a:rPr lang="en-US"/>
              <a:t>Our team is organized into cross-functional, self-organizing agile PODs and consists of members across the US &amp; India. Each POD will be responsible for managing and delivering the team’s backlog. </a:t>
            </a:r>
          </a:p>
        </p:txBody>
      </p:sp>
      <p:sp>
        <p:nvSpPr>
          <p:cNvPr id="61" name="Title 9">
            <a:extLst>
              <a:ext uri="{FF2B5EF4-FFF2-40B4-BE49-F238E27FC236}">
                <a16:creationId xmlns:a16="http://schemas.microsoft.com/office/drawing/2014/main" id="{88BFE633-1412-3252-154D-96A41185F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550" y="346076"/>
            <a:ext cx="11277600" cy="276999"/>
          </a:xfrm>
        </p:spPr>
        <p:txBody>
          <a:bodyPr vert="horz"/>
          <a:lstStyle/>
          <a:p>
            <a:r>
              <a:rPr lang="en-GB"/>
              <a:t>2. Migration – Agile Pod-Based Delivery</a:t>
            </a:r>
          </a:p>
        </p:txBody>
      </p:sp>
      <p:sp>
        <p:nvSpPr>
          <p:cNvPr id="1221" name="Rectangle 1220">
            <a:extLst>
              <a:ext uri="{FF2B5EF4-FFF2-40B4-BE49-F238E27FC236}">
                <a16:creationId xmlns:a16="http://schemas.microsoft.com/office/drawing/2014/main" id="{7880011B-269A-530C-5C3C-D33EB6375CD9}"/>
              </a:ext>
            </a:extLst>
          </p:cNvPr>
          <p:cNvSpPr/>
          <p:nvPr/>
        </p:nvSpPr>
        <p:spPr>
          <a:xfrm>
            <a:off x="0" y="5975996"/>
            <a:ext cx="12192000" cy="393619"/>
          </a:xfrm>
          <a:prstGeom prst="rect">
            <a:avLst/>
          </a:prstGeom>
          <a:solidFill>
            <a:srgbClr val="E1ED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50" b="1" i="1">
                <a:solidFill>
                  <a:schemeClr val="tx1">
                    <a:lumMod val="50000"/>
                  </a:schemeClr>
                </a:solidFill>
                <a:ea typeface="Calibri" panose="020F0502020204030204" pitchFamily="34" charset="0"/>
                <a:cs typeface="Calibri" panose="020F0502020204030204" pitchFamily="34" charset="0"/>
              </a:rPr>
              <a:t>Pods offer a balance of skills and Elevance Health experience across shores.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927592-32C5-A50C-1445-A4CD1B3EE717}"/>
              </a:ext>
            </a:extLst>
          </p:cNvPr>
          <p:cNvSpPr txBox="1"/>
          <p:nvPr/>
        </p:nvSpPr>
        <p:spPr>
          <a:xfrm>
            <a:off x="8421741" y="1183277"/>
            <a:ext cx="3525571" cy="4837222"/>
          </a:xfrm>
          <a:prstGeom prst="roundRect">
            <a:avLst>
              <a:gd name="adj" fmla="val 0"/>
            </a:avLst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8"/>
              </a:spcBef>
              <a:spcAft>
                <a:spcPts val="188"/>
              </a:spcAft>
            </a:pPr>
            <a:r>
              <a:rPr lang="en-US" sz="1250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We will enable an AI Foundation POD to drive incremental efficiencies through innovation and automation across PODs. Activities include but are not limited to:</a:t>
            </a:r>
          </a:p>
          <a:p>
            <a:pPr marL="178594" indent="-178594">
              <a:spcBef>
                <a:spcPts val="188"/>
              </a:spcBef>
              <a:spcAft>
                <a:spcPts val="188"/>
              </a:spcAft>
              <a:buFont typeface="Arial" panose="020B0604020202020204" pitchFamily="34" charset="0"/>
              <a:buChar char="•"/>
            </a:pPr>
            <a:r>
              <a:rPr lang="en-US" sz="1125" b="1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Leverage agents/accelerators </a:t>
            </a:r>
            <a:r>
              <a:rPr lang="en-US" sz="1125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to efficiently conduct Discovery, Migration, Testing &amp; Optimization within each POD. Agents detect data anomalies post migration and notify Developers. These agents/ accelerators will also apply</a:t>
            </a:r>
            <a:r>
              <a:rPr lang="en-US" sz="1125" b="1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 intelligent code Modernizations </a:t>
            </a:r>
            <a:r>
              <a:rPr lang="en-US" sz="1125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and </a:t>
            </a:r>
            <a:r>
              <a:rPr lang="en-US" sz="1125" b="1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performance optimization suggestions </a:t>
            </a:r>
            <a:r>
              <a:rPr lang="en-US" sz="1125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across large codebases efficiently — </a:t>
            </a:r>
            <a:r>
              <a:rPr lang="en-US" sz="1125" b="1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accelerating transformation </a:t>
            </a:r>
            <a:r>
              <a:rPr lang="en-US" sz="1125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while ensuring consistency</a:t>
            </a:r>
          </a:p>
          <a:p>
            <a:pPr>
              <a:spcBef>
                <a:spcPts val="188"/>
              </a:spcBef>
              <a:spcAft>
                <a:spcPts val="188"/>
              </a:spcAft>
            </a:pPr>
            <a:endParaRPr lang="en-US" sz="1125">
              <a:solidFill>
                <a:schemeClr val="bg1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spcBef>
                <a:spcPts val="188"/>
              </a:spcBef>
              <a:spcAft>
                <a:spcPts val="188"/>
              </a:spcAft>
            </a:pPr>
            <a:r>
              <a:rPr lang="en-US" sz="1125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We will have </a:t>
            </a:r>
            <a:r>
              <a:rPr lang="en-US" sz="1125" b="1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approximately 20 pods </a:t>
            </a:r>
            <a:r>
              <a:rPr lang="en-US" sz="1125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comprised</a:t>
            </a:r>
            <a:r>
              <a:rPr lang="en-US" sz="1125" b="1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125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split across the following areas</a:t>
            </a:r>
            <a:r>
              <a:rPr lang="en-US" sz="1125" b="1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178594" indent="-178594">
              <a:spcBef>
                <a:spcPts val="188"/>
              </a:spcBef>
              <a:spcAft>
                <a:spcPts val="188"/>
              </a:spcAft>
              <a:buFont typeface="Arial" panose="020B0604020202020204" pitchFamily="34" charset="0"/>
              <a:buChar char="•"/>
            </a:pPr>
            <a:r>
              <a:rPr lang="en-US" sz="1125" b="1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Data Migration </a:t>
            </a:r>
            <a:r>
              <a:rPr lang="en-US" sz="1125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– EDWARD, DX Data, DX APIT, Data Lab PODs/Other Apps</a:t>
            </a:r>
          </a:p>
          <a:p>
            <a:pPr marL="178594" indent="-178594">
              <a:spcBef>
                <a:spcPts val="188"/>
              </a:spcBef>
              <a:spcAft>
                <a:spcPts val="188"/>
              </a:spcAft>
              <a:buFont typeface="Arial" panose="020B0604020202020204" pitchFamily="34" charset="0"/>
              <a:buChar char="•"/>
            </a:pPr>
            <a:r>
              <a:rPr lang="en-US" sz="1125" b="1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Report Repointing/Migration  – SAS/BI Reports</a:t>
            </a:r>
          </a:p>
          <a:p>
            <a:pPr marL="178594" indent="-178594">
              <a:spcBef>
                <a:spcPts val="188"/>
              </a:spcBef>
              <a:spcAft>
                <a:spcPts val="188"/>
              </a:spcAft>
              <a:buFont typeface="Arial" panose="020B0604020202020204" pitchFamily="34" charset="0"/>
              <a:buChar char="•"/>
            </a:pPr>
            <a:r>
              <a:rPr lang="en-US" sz="1125" b="1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FinOps </a:t>
            </a:r>
          </a:p>
          <a:p>
            <a:pPr marL="178594" indent="-178594">
              <a:spcBef>
                <a:spcPts val="188"/>
              </a:spcBef>
              <a:spcAft>
                <a:spcPts val="188"/>
              </a:spcAft>
              <a:buFont typeface="Arial" panose="020B0604020202020204" pitchFamily="34" charset="0"/>
              <a:buChar char="•"/>
            </a:pPr>
            <a:r>
              <a:rPr lang="en-US" sz="1125" b="1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SMEs </a:t>
            </a:r>
          </a:p>
          <a:p>
            <a:pPr marL="178594" indent="-178594">
              <a:spcBef>
                <a:spcPts val="188"/>
              </a:spcBef>
              <a:spcAft>
                <a:spcPts val="188"/>
              </a:spcAft>
              <a:buFont typeface="Arial" panose="020B0604020202020204" pitchFamily="34" charset="0"/>
              <a:buChar char="•"/>
            </a:pPr>
            <a:r>
              <a:rPr lang="en-US" sz="1125" b="1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Performance Optimization </a:t>
            </a:r>
          </a:p>
          <a:p>
            <a:pPr marL="178594" indent="-178594">
              <a:spcBef>
                <a:spcPts val="188"/>
              </a:spcBef>
              <a:spcAft>
                <a:spcPts val="188"/>
              </a:spcAft>
              <a:buFont typeface="Arial" panose="020B0604020202020204" pitchFamily="34" charset="0"/>
              <a:buChar char="•"/>
            </a:pPr>
            <a:r>
              <a:rPr lang="en-US" sz="1125" b="1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Change Management /Training</a:t>
            </a:r>
          </a:p>
          <a:p>
            <a:pPr marL="178594" indent="-178594">
              <a:spcBef>
                <a:spcPts val="188"/>
              </a:spcBef>
              <a:spcAft>
                <a:spcPts val="188"/>
              </a:spcAft>
              <a:buFont typeface="Arial" panose="020B0604020202020204" pitchFamily="34" charset="0"/>
              <a:buChar char="•"/>
            </a:pPr>
            <a:r>
              <a:rPr lang="en-US" sz="1125" b="1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Program Management </a:t>
            </a:r>
            <a:endParaRPr lang="en-US" sz="875" b="1">
              <a:solidFill>
                <a:schemeClr val="bg1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CB244F36-36F5-06B8-2BC0-35E75145C4DE}"/>
              </a:ext>
            </a:extLst>
          </p:cNvPr>
          <p:cNvSpPr/>
          <p:nvPr/>
        </p:nvSpPr>
        <p:spPr>
          <a:xfrm>
            <a:off x="450832" y="1166813"/>
            <a:ext cx="7903371" cy="4374875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>
            <a:noFill/>
          </a:ln>
          <a:effectLst>
            <a:outerShdw blurRad="127000" dist="38100" algn="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solidFill>
                <a:schemeClr val="accent1"/>
              </a:solidFill>
            </a:endParaRPr>
          </a:p>
        </p:txBody>
      </p:sp>
      <p:sp>
        <p:nvSpPr>
          <p:cNvPr id="963" name="Rectangle: Rounded Corners 962">
            <a:extLst>
              <a:ext uri="{FF2B5EF4-FFF2-40B4-BE49-F238E27FC236}">
                <a16:creationId xmlns:a16="http://schemas.microsoft.com/office/drawing/2014/main" id="{AF40E17C-7480-61C1-5C09-8345DC611C7F}"/>
              </a:ext>
            </a:extLst>
          </p:cNvPr>
          <p:cNvSpPr/>
          <p:nvPr/>
        </p:nvSpPr>
        <p:spPr bwMode="gray">
          <a:xfrm>
            <a:off x="5149676" y="3085553"/>
            <a:ext cx="1423401" cy="1490826"/>
          </a:xfrm>
          <a:prstGeom prst="roundRect">
            <a:avLst>
              <a:gd name="adj" fmla="val 3541"/>
            </a:avLst>
          </a:prstGeom>
          <a:solidFill>
            <a:schemeClr val="bg1"/>
          </a:solidFill>
          <a:ln w="12700" algn="ctr">
            <a:solidFill>
              <a:srgbClr val="1A3673"/>
            </a:solidFill>
            <a:miter lim="800000"/>
            <a:headEnd/>
            <a:tailEnd/>
          </a:ln>
        </p:spPr>
        <p:txBody>
          <a:bodyPr wrap="square" lIns="91440" tIns="54864" rIns="91440" bIns="54864" rtlCol="0" anchor="t">
            <a:noAutofit/>
          </a:bodyPr>
          <a:lstStyle/>
          <a:p>
            <a:pPr>
              <a:lnSpc>
                <a:spcPct val="106000"/>
              </a:lnSpc>
              <a:defRPr/>
            </a:pPr>
            <a:endParaRPr lang="en-US" sz="900" b="1">
              <a:solidFill>
                <a:schemeClr val="tx2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64" name="Rectangle: Rounded Corners 963">
            <a:extLst>
              <a:ext uri="{FF2B5EF4-FFF2-40B4-BE49-F238E27FC236}">
                <a16:creationId xmlns:a16="http://schemas.microsoft.com/office/drawing/2014/main" id="{537BCC69-A3B4-2074-83DA-C4C127251F4B}"/>
              </a:ext>
            </a:extLst>
          </p:cNvPr>
          <p:cNvSpPr/>
          <p:nvPr/>
        </p:nvSpPr>
        <p:spPr bwMode="gray">
          <a:xfrm>
            <a:off x="3544490" y="3097760"/>
            <a:ext cx="1423401" cy="1490826"/>
          </a:xfrm>
          <a:prstGeom prst="roundRect">
            <a:avLst>
              <a:gd name="adj" fmla="val 3541"/>
            </a:avLst>
          </a:prstGeom>
          <a:solidFill>
            <a:schemeClr val="bg1"/>
          </a:solidFill>
          <a:ln w="12700" algn="ctr">
            <a:solidFill>
              <a:srgbClr val="1A3673"/>
            </a:solidFill>
            <a:miter lim="800000"/>
            <a:headEnd/>
            <a:tailEnd/>
          </a:ln>
        </p:spPr>
        <p:txBody>
          <a:bodyPr wrap="square" lIns="91440" tIns="54864" rIns="91440" bIns="54864" rtlCol="0" anchor="t">
            <a:noAutofit/>
          </a:bodyPr>
          <a:lstStyle/>
          <a:p>
            <a:pPr>
              <a:lnSpc>
                <a:spcPct val="106000"/>
              </a:lnSpc>
              <a:defRPr/>
            </a:pPr>
            <a:endParaRPr lang="en-US" sz="900" b="1">
              <a:solidFill>
                <a:schemeClr val="tx2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67" name="Rectangle: Rounded Corners 966">
            <a:extLst>
              <a:ext uri="{FF2B5EF4-FFF2-40B4-BE49-F238E27FC236}">
                <a16:creationId xmlns:a16="http://schemas.microsoft.com/office/drawing/2014/main" id="{EEC5D983-D9A1-2FD7-F5D2-304A48E48F23}"/>
              </a:ext>
            </a:extLst>
          </p:cNvPr>
          <p:cNvSpPr/>
          <p:nvPr/>
        </p:nvSpPr>
        <p:spPr bwMode="gray">
          <a:xfrm>
            <a:off x="5113585" y="3129813"/>
            <a:ext cx="1423401" cy="1490826"/>
          </a:xfrm>
          <a:prstGeom prst="roundRect">
            <a:avLst>
              <a:gd name="adj" fmla="val 3541"/>
            </a:avLst>
          </a:prstGeom>
          <a:solidFill>
            <a:schemeClr val="bg1"/>
          </a:solidFill>
          <a:ln w="12700" algn="ctr">
            <a:solidFill>
              <a:srgbClr val="1A3673"/>
            </a:solidFill>
            <a:miter lim="800000"/>
            <a:headEnd/>
            <a:tailEnd/>
          </a:ln>
        </p:spPr>
        <p:txBody>
          <a:bodyPr wrap="square" lIns="91440" tIns="54864" rIns="91440" bIns="54864" rtlCol="0" anchor="t">
            <a:noAutofit/>
          </a:bodyPr>
          <a:lstStyle/>
          <a:p>
            <a:pPr>
              <a:lnSpc>
                <a:spcPct val="106000"/>
              </a:lnSpc>
              <a:defRPr/>
            </a:pPr>
            <a:endParaRPr lang="en-US" sz="900" b="1">
              <a:solidFill>
                <a:schemeClr val="tx2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68" name="Rectangle: Rounded Corners 967">
            <a:extLst>
              <a:ext uri="{FF2B5EF4-FFF2-40B4-BE49-F238E27FC236}">
                <a16:creationId xmlns:a16="http://schemas.microsoft.com/office/drawing/2014/main" id="{D86FE858-AD3B-5FD8-C32C-4D31471AF911}"/>
              </a:ext>
            </a:extLst>
          </p:cNvPr>
          <p:cNvSpPr/>
          <p:nvPr/>
        </p:nvSpPr>
        <p:spPr bwMode="gray">
          <a:xfrm>
            <a:off x="3504154" y="3129813"/>
            <a:ext cx="1423401" cy="1490826"/>
          </a:xfrm>
          <a:prstGeom prst="roundRect">
            <a:avLst>
              <a:gd name="adj" fmla="val 3541"/>
            </a:avLst>
          </a:prstGeom>
          <a:solidFill>
            <a:schemeClr val="bg1"/>
          </a:solidFill>
          <a:ln w="12700" algn="ctr">
            <a:solidFill>
              <a:srgbClr val="1A3673"/>
            </a:solidFill>
            <a:miter lim="800000"/>
            <a:headEnd/>
            <a:tailEnd/>
          </a:ln>
        </p:spPr>
        <p:txBody>
          <a:bodyPr wrap="square" lIns="91440" tIns="54864" rIns="91440" bIns="54864" rtlCol="0" anchor="t">
            <a:noAutofit/>
          </a:bodyPr>
          <a:lstStyle/>
          <a:p>
            <a:pPr>
              <a:lnSpc>
                <a:spcPct val="106000"/>
              </a:lnSpc>
              <a:defRPr/>
            </a:pPr>
            <a:endParaRPr lang="en-US" sz="900" b="1">
              <a:solidFill>
                <a:schemeClr val="tx2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71" name="Rectangle: Rounded Corners 970">
            <a:extLst>
              <a:ext uri="{FF2B5EF4-FFF2-40B4-BE49-F238E27FC236}">
                <a16:creationId xmlns:a16="http://schemas.microsoft.com/office/drawing/2014/main" id="{08ADE5B7-108A-FA76-0864-A21EA4E29E24}"/>
              </a:ext>
            </a:extLst>
          </p:cNvPr>
          <p:cNvSpPr/>
          <p:nvPr/>
        </p:nvSpPr>
        <p:spPr bwMode="gray">
          <a:xfrm>
            <a:off x="3471712" y="3160341"/>
            <a:ext cx="1423401" cy="1490826"/>
          </a:xfrm>
          <a:prstGeom prst="roundRect">
            <a:avLst>
              <a:gd name="adj" fmla="val 4157"/>
            </a:avLst>
          </a:prstGeom>
          <a:solidFill>
            <a:srgbClr val="E1EDFF"/>
          </a:solidFill>
          <a:ln w="12700" algn="ctr">
            <a:solidFill>
              <a:srgbClr val="1A3673"/>
            </a:solidFill>
            <a:miter lim="800000"/>
            <a:headEnd/>
            <a:tailEnd/>
          </a:ln>
        </p:spPr>
        <p:txBody>
          <a:bodyPr wrap="square" lIns="91440" tIns="54864" rIns="91440" bIns="54864" rtlCol="0" anchor="t"/>
          <a:lstStyle/>
          <a:p>
            <a:pPr>
              <a:lnSpc>
                <a:spcPct val="106000"/>
              </a:lnSpc>
              <a:defRPr/>
            </a:pPr>
            <a:r>
              <a:rPr lang="en-US" sz="900" b="1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EDW/DX POD</a:t>
            </a:r>
          </a:p>
        </p:txBody>
      </p:sp>
      <p:sp>
        <p:nvSpPr>
          <p:cNvPr id="972" name="Rectangle: Rounded Corners 971">
            <a:extLst>
              <a:ext uri="{FF2B5EF4-FFF2-40B4-BE49-F238E27FC236}">
                <a16:creationId xmlns:a16="http://schemas.microsoft.com/office/drawing/2014/main" id="{17294B4C-AE63-34BC-2075-F97185B886EE}"/>
              </a:ext>
            </a:extLst>
          </p:cNvPr>
          <p:cNvSpPr/>
          <p:nvPr/>
        </p:nvSpPr>
        <p:spPr bwMode="gray">
          <a:xfrm>
            <a:off x="5081229" y="3160341"/>
            <a:ext cx="1423401" cy="1490826"/>
          </a:xfrm>
          <a:prstGeom prst="roundRect">
            <a:avLst>
              <a:gd name="adj" fmla="val 2926"/>
            </a:avLst>
          </a:prstGeom>
          <a:solidFill>
            <a:srgbClr val="E1EDFF"/>
          </a:solidFill>
          <a:ln w="12700" algn="ctr">
            <a:solidFill>
              <a:srgbClr val="1A3673"/>
            </a:solidFill>
            <a:miter lim="800000"/>
            <a:headEnd/>
            <a:tailEnd/>
          </a:ln>
        </p:spPr>
        <p:txBody>
          <a:bodyPr wrap="square" lIns="91440" tIns="54864" rIns="91440" bIns="54864" rtlCol="0" anchor="t"/>
          <a:lstStyle/>
          <a:p>
            <a:pPr>
              <a:lnSpc>
                <a:spcPct val="106000"/>
              </a:lnSpc>
              <a:defRPr/>
            </a:pPr>
            <a:r>
              <a:rPr lang="en-US" sz="900" b="1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SAS/BI POD</a:t>
            </a:r>
          </a:p>
        </p:txBody>
      </p:sp>
      <p:sp>
        <p:nvSpPr>
          <p:cNvPr id="973" name="Rectangle: Rounded Corners 972">
            <a:extLst>
              <a:ext uri="{FF2B5EF4-FFF2-40B4-BE49-F238E27FC236}">
                <a16:creationId xmlns:a16="http://schemas.microsoft.com/office/drawing/2014/main" id="{56FA08B7-0E0F-78F2-6A5D-809329DD52A9}"/>
              </a:ext>
            </a:extLst>
          </p:cNvPr>
          <p:cNvSpPr/>
          <p:nvPr/>
        </p:nvSpPr>
        <p:spPr bwMode="gray">
          <a:xfrm>
            <a:off x="1923805" y="4783893"/>
            <a:ext cx="6303413" cy="679641"/>
          </a:xfrm>
          <a:prstGeom prst="roundRect">
            <a:avLst>
              <a:gd name="adj" fmla="val 6347"/>
            </a:avLst>
          </a:prstGeom>
          <a:solidFill>
            <a:srgbClr val="E1EDFF"/>
          </a:solidFill>
          <a:ln w="12700" algn="ctr">
            <a:solidFill>
              <a:srgbClr val="1A3673"/>
            </a:solidFill>
            <a:miter lim="800000"/>
            <a:headEnd/>
            <a:tailEnd/>
          </a:ln>
        </p:spPr>
        <p:txBody>
          <a:bodyPr wrap="square" lIns="91440" tIns="54864" rIns="91440" bIns="54864" rtlCol="0" anchor="t">
            <a:noAutofit/>
          </a:bodyPr>
          <a:lstStyle/>
          <a:p>
            <a:pPr>
              <a:lnSpc>
                <a:spcPct val="106000"/>
              </a:lnSpc>
              <a:defRPr/>
            </a:pPr>
            <a:r>
              <a:rPr lang="en-US" sz="900" b="1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 SMEs</a:t>
            </a:r>
          </a:p>
        </p:txBody>
      </p:sp>
      <p:sp>
        <p:nvSpPr>
          <p:cNvPr id="976" name="Shape 2652">
            <a:extLst>
              <a:ext uri="{FF2B5EF4-FFF2-40B4-BE49-F238E27FC236}">
                <a16:creationId xmlns:a16="http://schemas.microsoft.com/office/drawing/2014/main" id="{48310E59-A545-323F-21C5-F70B4193771C}"/>
              </a:ext>
            </a:extLst>
          </p:cNvPr>
          <p:cNvSpPr>
            <a:spLocks/>
          </p:cNvSpPr>
          <p:nvPr/>
        </p:nvSpPr>
        <p:spPr>
          <a:xfrm>
            <a:off x="3572699" y="3414888"/>
            <a:ext cx="1245526" cy="308940"/>
          </a:xfrm>
          <a:prstGeom prst="roundRect">
            <a:avLst>
              <a:gd name="adj" fmla="val 7985"/>
            </a:avLst>
          </a:prstGeom>
          <a:solidFill>
            <a:schemeClr val="bg1"/>
          </a:solidFill>
          <a:ln w="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miter lim="400000"/>
            <a:headEnd type="none" w="med" len="med"/>
            <a:tailEnd type="none" w="med" len="med"/>
          </a:ln>
          <a:effectLst/>
          <a:sp3d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rot="0" spcFirstLastPara="1" vertOverflow="overflow" horzOverflow="overflow" vert="horz" wrap="square" lIns="36820" tIns="36820" rIns="36820" bIns="36820" numCol="1" spcCol="38100" rtlCol="0" anchor="ctr" anchorCtr="0">
            <a:noAutofit/>
          </a:bodyPr>
          <a:lstStyle>
            <a:lvl1pPr defTabSz="825500">
              <a:defRPr sz="1800" b="0" spc="18">
                <a:latin typeface="Chronicle Display Black"/>
                <a:ea typeface="Chronicle Display Black"/>
                <a:cs typeface="Chronicle Display Black"/>
                <a:sym typeface="Chronicle Display Black"/>
              </a:defRPr>
            </a:lvl1pPr>
          </a:lstStyle>
          <a:p>
            <a:pPr lvl="0">
              <a:defRPr/>
            </a:pPr>
            <a:r>
              <a:rPr lang="en-GB" sz="900" spc="0">
                <a:solidFill>
                  <a:schemeClr val="tx2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Scrum Master (PT)</a:t>
            </a:r>
          </a:p>
        </p:txBody>
      </p:sp>
      <p:sp>
        <p:nvSpPr>
          <p:cNvPr id="1080" name="Shape 2652">
            <a:extLst>
              <a:ext uri="{FF2B5EF4-FFF2-40B4-BE49-F238E27FC236}">
                <a16:creationId xmlns:a16="http://schemas.microsoft.com/office/drawing/2014/main" id="{C6C7EA2C-3E2B-57B7-54E5-68B801988962}"/>
              </a:ext>
            </a:extLst>
          </p:cNvPr>
          <p:cNvSpPr>
            <a:spLocks/>
          </p:cNvSpPr>
          <p:nvPr/>
        </p:nvSpPr>
        <p:spPr>
          <a:xfrm>
            <a:off x="3572700" y="3837824"/>
            <a:ext cx="1245526" cy="308940"/>
          </a:xfrm>
          <a:prstGeom prst="roundRect">
            <a:avLst>
              <a:gd name="adj" fmla="val 9564"/>
            </a:avLst>
          </a:prstGeom>
          <a:solidFill>
            <a:schemeClr val="bg1"/>
          </a:solidFill>
          <a:ln w="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miter lim="400000"/>
            <a:headEnd type="none" w="med" len="med"/>
            <a:tailEnd type="none" w="med" len="med"/>
          </a:ln>
          <a:effectLst/>
          <a:sp3d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rot="0" spcFirstLastPara="1" vertOverflow="overflow" horzOverflow="overflow" vert="horz" wrap="square" lIns="36820" tIns="36820" rIns="36820" bIns="36820" numCol="1" spcCol="38100" rtlCol="0" anchor="ctr" anchorCtr="0">
            <a:noAutofit/>
          </a:bodyPr>
          <a:lstStyle>
            <a:lvl1pPr defTabSz="825500">
              <a:defRPr sz="1800" b="0" spc="18">
                <a:latin typeface="Chronicle Display Black"/>
                <a:ea typeface="Chronicle Display Black"/>
                <a:cs typeface="Chronicle Display Black"/>
                <a:sym typeface="Chronicle Display Black"/>
              </a:defRPr>
            </a:lvl1pPr>
          </a:lstStyle>
          <a:p>
            <a:pPr>
              <a:defRPr/>
            </a:pPr>
            <a:r>
              <a:rPr lang="en-GB" sz="900" spc="0">
                <a:solidFill>
                  <a:schemeClr val="tx2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Data Engineer(s)</a:t>
            </a:r>
          </a:p>
        </p:txBody>
      </p:sp>
      <p:sp>
        <p:nvSpPr>
          <p:cNvPr id="1076" name="Shape 2652">
            <a:extLst>
              <a:ext uri="{FF2B5EF4-FFF2-40B4-BE49-F238E27FC236}">
                <a16:creationId xmlns:a16="http://schemas.microsoft.com/office/drawing/2014/main" id="{9E73E2BA-3034-6694-0460-44A2B9D98B00}"/>
              </a:ext>
            </a:extLst>
          </p:cNvPr>
          <p:cNvSpPr>
            <a:spLocks/>
          </p:cNvSpPr>
          <p:nvPr/>
        </p:nvSpPr>
        <p:spPr>
          <a:xfrm>
            <a:off x="3572700" y="4262114"/>
            <a:ext cx="1245526" cy="308940"/>
          </a:xfrm>
          <a:prstGeom prst="roundRect">
            <a:avLst>
              <a:gd name="adj" fmla="val 11142"/>
            </a:avLst>
          </a:prstGeom>
          <a:solidFill>
            <a:schemeClr val="bg1"/>
          </a:solidFill>
          <a:ln w="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miter lim="400000"/>
            <a:headEnd type="none" w="med" len="med"/>
            <a:tailEnd type="none" w="med" len="med"/>
          </a:ln>
          <a:effectLst/>
          <a:sp3d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rot="0" spcFirstLastPara="1" vertOverflow="overflow" horzOverflow="overflow" vert="horz" wrap="square" lIns="36820" tIns="36820" rIns="36820" bIns="36820" numCol="1" spcCol="38100" rtlCol="0" anchor="ctr" anchorCtr="0">
            <a:noAutofit/>
          </a:bodyPr>
          <a:lstStyle>
            <a:lvl1pPr defTabSz="825500">
              <a:defRPr sz="1800" b="0" spc="18">
                <a:latin typeface="Chronicle Display Black"/>
                <a:ea typeface="Chronicle Display Black"/>
                <a:cs typeface="Chronicle Display Black"/>
                <a:sym typeface="Chronicle Display Black"/>
              </a:defRPr>
            </a:lvl1pPr>
          </a:lstStyle>
          <a:p>
            <a:r>
              <a:rPr lang="en-GB" sz="900" spc="0">
                <a:solidFill>
                  <a:schemeClr val="tx2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Tester(s)</a:t>
            </a:r>
          </a:p>
        </p:txBody>
      </p:sp>
      <p:sp>
        <p:nvSpPr>
          <p:cNvPr id="980" name="TextBox 979">
            <a:extLst>
              <a:ext uri="{FF2B5EF4-FFF2-40B4-BE49-F238E27FC236}">
                <a16:creationId xmlns:a16="http://schemas.microsoft.com/office/drawing/2014/main" id="{F4BCE276-46A5-E1B1-F62C-4A62498A0BA2}"/>
              </a:ext>
            </a:extLst>
          </p:cNvPr>
          <p:cNvSpPr txBox="1"/>
          <p:nvPr/>
        </p:nvSpPr>
        <p:spPr>
          <a:xfrm>
            <a:off x="577440" y="2056583"/>
            <a:ext cx="7685497" cy="292769"/>
          </a:xfrm>
          <a:prstGeom prst="roundRect">
            <a:avLst>
              <a:gd name="adj" fmla="val 16423"/>
            </a:avLst>
          </a:prstGeom>
          <a:solidFill>
            <a:schemeClr val="accent2"/>
          </a:solidFill>
          <a:ln w="19050" algn="ctr">
            <a:noFill/>
            <a:miter lim="800000"/>
            <a:headEnd/>
            <a:tailEnd/>
          </a:ln>
        </p:spPr>
        <p:txBody>
          <a:bodyPr wrap="square" lIns="91440" tIns="91440" rIns="91440" bIns="91440" rtlCol="0" anchor="ctr">
            <a:noAutofit/>
          </a:bodyPr>
          <a:lstStyle>
            <a:defPPr>
              <a:defRPr lang="en-US"/>
            </a:defPPr>
            <a:lvl1pPr defTabSz="914229">
              <a:spcAft>
                <a:spcPts val="600"/>
              </a:spcAft>
              <a:buSzPct val="75000"/>
              <a:defRPr sz="1300" b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spcAft>
                <a:spcPts val="0"/>
              </a:spcAft>
            </a:pPr>
            <a:r>
              <a:rPr lang="en-US" sz="1100">
                <a:latin typeface="+mn-lt"/>
              </a:rPr>
              <a:t>PROGRAM DELIVERY</a:t>
            </a:r>
          </a:p>
        </p:txBody>
      </p:sp>
      <p:sp>
        <p:nvSpPr>
          <p:cNvPr id="981" name="Rectangle: Rounded Corners 980">
            <a:extLst>
              <a:ext uri="{FF2B5EF4-FFF2-40B4-BE49-F238E27FC236}">
                <a16:creationId xmlns:a16="http://schemas.microsoft.com/office/drawing/2014/main" id="{459010B3-8EB2-06D4-A9D5-5D41DCB6A83B}"/>
              </a:ext>
            </a:extLst>
          </p:cNvPr>
          <p:cNvSpPr>
            <a:spLocks/>
          </p:cNvSpPr>
          <p:nvPr/>
        </p:nvSpPr>
        <p:spPr bwMode="gray">
          <a:xfrm>
            <a:off x="1931199" y="2391312"/>
            <a:ext cx="6296019" cy="607203"/>
          </a:xfrm>
          <a:prstGeom prst="roundRect">
            <a:avLst>
              <a:gd name="adj" fmla="val 5963"/>
            </a:avLst>
          </a:prstGeom>
          <a:solidFill>
            <a:srgbClr val="E1EDFF"/>
          </a:solidFill>
          <a:ln w="12700" cap="flat" cmpd="sng" algn="ctr">
            <a:solidFill>
              <a:srgbClr val="1A3673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wrap="square" lIns="91440" tIns="54864" rIns="91440" bIns="54864" rtlCol="0" anchor="t" anchorCtr="0">
            <a:noAutofit/>
          </a:bodyPr>
          <a:lstStyle/>
          <a:p>
            <a:pPr defTabSz="1219170">
              <a:spcBef>
                <a:spcPts val="5600"/>
              </a:spcBef>
              <a:defRPr/>
            </a:pPr>
            <a:r>
              <a:rPr lang="en-GB" sz="900" b="1">
                <a:solidFill>
                  <a:srgbClr val="00000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Program Governance</a:t>
            </a:r>
          </a:p>
        </p:txBody>
      </p:sp>
      <p:sp>
        <p:nvSpPr>
          <p:cNvPr id="982" name="Shape 2652">
            <a:extLst>
              <a:ext uri="{FF2B5EF4-FFF2-40B4-BE49-F238E27FC236}">
                <a16:creationId xmlns:a16="http://schemas.microsoft.com/office/drawing/2014/main" id="{1739D854-7B9E-65BE-2F2F-2F3DA09180FD}"/>
              </a:ext>
            </a:extLst>
          </p:cNvPr>
          <p:cNvSpPr>
            <a:spLocks/>
          </p:cNvSpPr>
          <p:nvPr/>
        </p:nvSpPr>
        <p:spPr>
          <a:xfrm>
            <a:off x="5045777" y="2628887"/>
            <a:ext cx="1363194" cy="308940"/>
          </a:xfrm>
          <a:prstGeom prst="roundRect">
            <a:avLst>
              <a:gd name="adj" fmla="val 10605"/>
            </a:avLst>
          </a:prstGeom>
          <a:solidFill>
            <a:schemeClr val="bg1"/>
          </a:solidFill>
          <a:ln w="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miter lim="400000"/>
            <a:headEnd type="none" w="med" len="med"/>
            <a:tailEnd type="none" w="med" len="med"/>
          </a:ln>
          <a:effectLst/>
          <a:sp3d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rot="0" spcFirstLastPara="1" vertOverflow="overflow" horzOverflow="overflow" vert="horz" wrap="square" lIns="36820" tIns="36820" rIns="36820" bIns="36820" numCol="1" spcCol="38100" rtlCol="0" anchor="ctr" anchorCtr="0">
            <a:noAutofit/>
          </a:bodyPr>
          <a:lstStyle>
            <a:lvl1pPr defTabSz="825500">
              <a:defRPr sz="1800" b="0" spc="18">
                <a:latin typeface="Chronicle Display Black"/>
                <a:ea typeface="Chronicle Display Black"/>
                <a:cs typeface="Chronicle Display Black"/>
                <a:sym typeface="Chronicle Display Black"/>
              </a:defRPr>
            </a:lvl1pPr>
          </a:lstStyle>
          <a:p>
            <a:r>
              <a:rPr lang="en-GB" sz="900" spc="0">
                <a:solidFill>
                  <a:schemeClr val="tx2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Delivery Lead</a:t>
            </a:r>
          </a:p>
        </p:txBody>
      </p:sp>
      <p:sp>
        <p:nvSpPr>
          <p:cNvPr id="983" name="Shape 2652">
            <a:extLst>
              <a:ext uri="{FF2B5EF4-FFF2-40B4-BE49-F238E27FC236}">
                <a16:creationId xmlns:a16="http://schemas.microsoft.com/office/drawing/2014/main" id="{2190EAE4-B0FA-CA04-629B-1F9FB5ADA9D0}"/>
              </a:ext>
            </a:extLst>
          </p:cNvPr>
          <p:cNvSpPr>
            <a:spLocks/>
          </p:cNvSpPr>
          <p:nvPr/>
        </p:nvSpPr>
        <p:spPr>
          <a:xfrm>
            <a:off x="3557881" y="2618568"/>
            <a:ext cx="1363194" cy="308940"/>
          </a:xfrm>
          <a:prstGeom prst="roundRect">
            <a:avLst>
              <a:gd name="adj" fmla="val 11471"/>
            </a:avLst>
          </a:prstGeom>
          <a:solidFill>
            <a:schemeClr val="bg1"/>
          </a:solidFill>
          <a:ln w="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miter lim="400000"/>
            <a:headEnd type="none" w="med" len="med"/>
            <a:tailEnd type="none" w="med" len="med"/>
          </a:ln>
          <a:effectLst/>
          <a:sp3d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rot="0" spcFirstLastPara="1" vertOverflow="overflow" horzOverflow="overflow" vert="horz" wrap="square" lIns="36820" tIns="36820" rIns="36820" bIns="36820" numCol="1" spcCol="38100" rtlCol="0" anchor="ctr" anchorCtr="0">
            <a:noAutofit/>
          </a:bodyPr>
          <a:lstStyle>
            <a:lvl1pPr defTabSz="825500">
              <a:defRPr sz="1800" b="0" spc="18">
                <a:latin typeface="Chronicle Display Black"/>
                <a:ea typeface="Chronicle Display Black"/>
                <a:cs typeface="Chronicle Display Black"/>
                <a:sym typeface="Chronicle Display Black"/>
              </a:defRPr>
            </a:lvl1pPr>
          </a:lstStyle>
          <a:p>
            <a:r>
              <a:rPr lang="en-GB" sz="900" spc="0">
                <a:solidFill>
                  <a:schemeClr val="tx2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Tech Architect</a:t>
            </a:r>
          </a:p>
        </p:txBody>
      </p:sp>
      <p:sp>
        <p:nvSpPr>
          <p:cNvPr id="984" name="Shape 2652">
            <a:extLst>
              <a:ext uri="{FF2B5EF4-FFF2-40B4-BE49-F238E27FC236}">
                <a16:creationId xmlns:a16="http://schemas.microsoft.com/office/drawing/2014/main" id="{78AC27CA-0472-E2BF-40A2-548CF97CC7E5}"/>
              </a:ext>
            </a:extLst>
          </p:cNvPr>
          <p:cNvSpPr>
            <a:spLocks/>
          </p:cNvSpPr>
          <p:nvPr/>
        </p:nvSpPr>
        <p:spPr>
          <a:xfrm>
            <a:off x="2016369" y="2618568"/>
            <a:ext cx="1363194" cy="308940"/>
          </a:xfrm>
          <a:prstGeom prst="roundRect">
            <a:avLst>
              <a:gd name="adj" fmla="val 10605"/>
            </a:avLst>
          </a:prstGeom>
          <a:solidFill>
            <a:schemeClr val="bg1"/>
          </a:solidFill>
          <a:ln w="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miter lim="400000"/>
            <a:headEnd type="none" w="med" len="med"/>
            <a:tailEnd type="none" w="med" len="med"/>
          </a:ln>
          <a:effectLst/>
          <a:sp3d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rot="0" spcFirstLastPara="1" vertOverflow="overflow" horzOverflow="overflow" vert="horz" wrap="square" lIns="36820" tIns="36820" rIns="36820" bIns="36820" numCol="1" spcCol="38100" rtlCol="0" anchor="ctr" anchorCtr="0">
            <a:noAutofit/>
          </a:bodyPr>
          <a:lstStyle>
            <a:lvl1pPr defTabSz="825500">
              <a:defRPr sz="1800" b="0" spc="18">
                <a:latin typeface="Chronicle Display Black"/>
                <a:ea typeface="Chronicle Display Black"/>
                <a:cs typeface="Chronicle Display Black"/>
                <a:sym typeface="Chronicle Display Black"/>
              </a:defRPr>
            </a:lvl1pPr>
          </a:lstStyle>
          <a:p>
            <a:r>
              <a:rPr lang="en-GB" sz="900" spc="0">
                <a:solidFill>
                  <a:schemeClr val="tx2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PMO Lead </a:t>
            </a:r>
          </a:p>
        </p:txBody>
      </p:sp>
      <p:sp>
        <p:nvSpPr>
          <p:cNvPr id="986" name="Rectangle: Rounded Corners 985">
            <a:extLst>
              <a:ext uri="{FF2B5EF4-FFF2-40B4-BE49-F238E27FC236}">
                <a16:creationId xmlns:a16="http://schemas.microsoft.com/office/drawing/2014/main" id="{A7147EBC-2BAE-15D5-7A50-CBE5C2DD0879}"/>
              </a:ext>
            </a:extLst>
          </p:cNvPr>
          <p:cNvSpPr>
            <a:spLocks/>
          </p:cNvSpPr>
          <p:nvPr/>
        </p:nvSpPr>
        <p:spPr bwMode="gray">
          <a:xfrm>
            <a:off x="4448082" y="1366468"/>
            <a:ext cx="3784978" cy="646156"/>
          </a:xfrm>
          <a:prstGeom prst="roundRect">
            <a:avLst>
              <a:gd name="adj" fmla="val 4207"/>
            </a:avLst>
          </a:prstGeom>
          <a:solidFill>
            <a:srgbClr val="E1EDFF"/>
          </a:solidFill>
          <a:ln w="12700" cap="flat" cmpd="sng" algn="ctr">
            <a:solidFill>
              <a:srgbClr val="1A3673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wrap="square" lIns="91440" tIns="54864" rIns="91440" bIns="54864" rtlCol="0" anchor="t" anchorCtr="0">
            <a:noAutofit/>
          </a:bodyPr>
          <a:lstStyle/>
          <a:p>
            <a:pPr defTabSz="1219170">
              <a:spcBef>
                <a:spcPts val="5600"/>
              </a:spcBef>
            </a:pPr>
            <a:r>
              <a:rPr lang="en-US" sz="900" b="1">
                <a:solidFill>
                  <a:srgbClr val="000000"/>
                </a:solidFill>
                <a:cs typeface="Calibri" panose="020F0502020204030204" pitchFamily="34" charset="0"/>
              </a:rPr>
              <a:t>Deloitte Engagement Leadership</a:t>
            </a:r>
          </a:p>
        </p:txBody>
      </p:sp>
      <p:sp>
        <p:nvSpPr>
          <p:cNvPr id="987" name="Rectangle: Rounded Corners 986">
            <a:extLst>
              <a:ext uri="{FF2B5EF4-FFF2-40B4-BE49-F238E27FC236}">
                <a16:creationId xmlns:a16="http://schemas.microsoft.com/office/drawing/2014/main" id="{5117F5E7-1736-B657-959A-4CA2E2057F89}"/>
              </a:ext>
            </a:extLst>
          </p:cNvPr>
          <p:cNvSpPr>
            <a:spLocks/>
          </p:cNvSpPr>
          <p:nvPr/>
        </p:nvSpPr>
        <p:spPr bwMode="gray">
          <a:xfrm>
            <a:off x="577440" y="1366468"/>
            <a:ext cx="3784978" cy="646156"/>
          </a:xfrm>
          <a:prstGeom prst="roundRect">
            <a:avLst>
              <a:gd name="adj" fmla="val 4207"/>
            </a:avLst>
          </a:prstGeom>
          <a:solidFill>
            <a:srgbClr val="1A3673"/>
          </a:solidFill>
          <a:ln w="12700" cap="flat" cmpd="sng" algn="ctr">
            <a:solidFill>
              <a:srgbClr val="1A3673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wrap="square" lIns="91440" tIns="54864" rIns="91440" bIns="54864" rtlCol="0" anchor="t" anchorCtr="0">
            <a:noAutofit/>
          </a:bodyPr>
          <a:lstStyle/>
          <a:p>
            <a:pPr defTabSz="1219170">
              <a:spcBef>
                <a:spcPts val="5600"/>
              </a:spcBef>
              <a:defRPr/>
            </a:pPr>
            <a:r>
              <a:rPr lang="en-US" sz="900" b="1">
                <a:solidFill>
                  <a:schemeClr val="bg1"/>
                </a:solidFill>
                <a:cs typeface="Calibri" panose="020F0502020204030204" pitchFamily="34" charset="0"/>
              </a:rPr>
              <a:t>Elevance Health Leadership Team</a:t>
            </a:r>
          </a:p>
        </p:txBody>
      </p:sp>
      <p:sp>
        <p:nvSpPr>
          <p:cNvPr id="988" name="Shape 2652">
            <a:extLst>
              <a:ext uri="{FF2B5EF4-FFF2-40B4-BE49-F238E27FC236}">
                <a16:creationId xmlns:a16="http://schemas.microsoft.com/office/drawing/2014/main" id="{9DF4F1D6-F1CB-E361-AC0C-B67CD6649199}"/>
              </a:ext>
            </a:extLst>
          </p:cNvPr>
          <p:cNvSpPr>
            <a:spLocks/>
          </p:cNvSpPr>
          <p:nvPr/>
        </p:nvSpPr>
        <p:spPr>
          <a:xfrm>
            <a:off x="693678" y="1602716"/>
            <a:ext cx="1710178" cy="308940"/>
          </a:xfrm>
          <a:prstGeom prst="roundRect">
            <a:avLst>
              <a:gd name="adj" fmla="val 9812"/>
            </a:avLst>
          </a:prstGeom>
          <a:solidFill>
            <a:schemeClr val="bg1"/>
          </a:solidFill>
          <a:ln w="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miter lim="400000"/>
            <a:headEnd type="none" w="med" len="med"/>
            <a:tailEnd type="none" w="med" len="med"/>
          </a:ln>
          <a:effectLst/>
          <a:sp3d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rot="0" spcFirstLastPara="1" vertOverflow="overflow" horzOverflow="overflow" vert="horz" wrap="square" lIns="36820" tIns="36820" rIns="36820" bIns="36820" numCol="1" spcCol="38100" rtlCol="0" anchor="ctr" anchorCtr="0">
            <a:noAutofit/>
          </a:bodyPr>
          <a:lstStyle>
            <a:lvl1pPr defTabSz="825500">
              <a:defRPr sz="1800" b="0" spc="18">
                <a:latin typeface="Chronicle Display Black"/>
                <a:ea typeface="Chronicle Display Black"/>
                <a:cs typeface="Chronicle Display Black"/>
                <a:sym typeface="Chronicle Display Black"/>
              </a:defRPr>
            </a:lvl1pPr>
          </a:lstStyle>
          <a:p>
            <a:pPr>
              <a:defRPr/>
            </a:pPr>
            <a:r>
              <a:rPr lang="en-GB" sz="900" spc="0">
                <a:solidFill>
                  <a:schemeClr val="tx2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Sponsor</a:t>
            </a:r>
          </a:p>
        </p:txBody>
      </p:sp>
      <p:sp>
        <p:nvSpPr>
          <p:cNvPr id="989" name="Shape 2652">
            <a:extLst>
              <a:ext uri="{FF2B5EF4-FFF2-40B4-BE49-F238E27FC236}">
                <a16:creationId xmlns:a16="http://schemas.microsoft.com/office/drawing/2014/main" id="{615A6D85-E068-7C7C-71F9-FFF98683B349}"/>
              </a:ext>
            </a:extLst>
          </p:cNvPr>
          <p:cNvSpPr>
            <a:spLocks/>
          </p:cNvSpPr>
          <p:nvPr/>
        </p:nvSpPr>
        <p:spPr>
          <a:xfrm>
            <a:off x="2567105" y="1602716"/>
            <a:ext cx="1710178" cy="308940"/>
          </a:xfrm>
          <a:prstGeom prst="roundRect">
            <a:avLst>
              <a:gd name="adj" fmla="val 9812"/>
            </a:avLst>
          </a:prstGeom>
          <a:solidFill>
            <a:schemeClr val="bg1"/>
          </a:solidFill>
          <a:ln w="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miter lim="400000"/>
            <a:headEnd type="none" w="med" len="med"/>
            <a:tailEnd type="none" w="med" len="med"/>
          </a:ln>
          <a:effectLst/>
          <a:sp3d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rot="0" spcFirstLastPara="1" vertOverflow="overflow" horzOverflow="overflow" vert="horz" wrap="square" lIns="36820" tIns="36820" rIns="36820" bIns="36820" numCol="1" spcCol="38100" rtlCol="0" anchor="ctr" anchorCtr="0">
            <a:noAutofit/>
          </a:bodyPr>
          <a:lstStyle>
            <a:lvl1pPr defTabSz="825500">
              <a:defRPr sz="1800" b="0" spc="18">
                <a:latin typeface="Chronicle Display Black"/>
                <a:ea typeface="Chronicle Display Black"/>
                <a:cs typeface="Chronicle Display Black"/>
                <a:sym typeface="Chronicle Display Black"/>
              </a:defRPr>
            </a:lvl1pPr>
          </a:lstStyle>
          <a:p>
            <a:pPr>
              <a:defRPr/>
            </a:pPr>
            <a:r>
              <a:rPr lang="en-GB" sz="900" spc="0">
                <a:solidFill>
                  <a:schemeClr val="tx2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Steering Committee </a:t>
            </a:r>
          </a:p>
        </p:txBody>
      </p:sp>
      <p:sp>
        <p:nvSpPr>
          <p:cNvPr id="990" name="Shape 2652">
            <a:extLst>
              <a:ext uri="{FF2B5EF4-FFF2-40B4-BE49-F238E27FC236}">
                <a16:creationId xmlns:a16="http://schemas.microsoft.com/office/drawing/2014/main" id="{FE781FB2-18B9-FD85-F6D4-73D85593503E}"/>
              </a:ext>
            </a:extLst>
          </p:cNvPr>
          <p:cNvSpPr>
            <a:spLocks/>
          </p:cNvSpPr>
          <p:nvPr/>
        </p:nvSpPr>
        <p:spPr>
          <a:xfrm>
            <a:off x="4693017" y="1602716"/>
            <a:ext cx="1568469" cy="308940"/>
          </a:xfrm>
          <a:prstGeom prst="roundRect">
            <a:avLst>
              <a:gd name="adj" fmla="val 9812"/>
            </a:avLst>
          </a:prstGeom>
          <a:solidFill>
            <a:schemeClr val="bg1"/>
          </a:solidFill>
          <a:ln w="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miter lim="400000"/>
            <a:headEnd type="none" w="med" len="med"/>
            <a:tailEnd type="none" w="med" len="med"/>
          </a:ln>
          <a:effectLst/>
          <a:sp3d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rot="0" spcFirstLastPara="1" vertOverflow="overflow" horzOverflow="overflow" vert="horz" wrap="square" lIns="36820" tIns="36820" rIns="36820" bIns="36820" numCol="1" spcCol="38100" rtlCol="0" anchor="ctr" anchorCtr="0">
            <a:noAutofit/>
          </a:bodyPr>
          <a:lstStyle>
            <a:lvl1pPr defTabSz="825500">
              <a:defRPr sz="1800" b="0" spc="18">
                <a:latin typeface="Chronicle Display Black"/>
                <a:ea typeface="Chronicle Display Black"/>
                <a:cs typeface="Chronicle Display Black"/>
                <a:sym typeface="Chronicle Display Black"/>
              </a:defRPr>
            </a:lvl1pPr>
          </a:lstStyle>
          <a:p>
            <a:pPr>
              <a:defRPr/>
            </a:pPr>
            <a:r>
              <a:rPr lang="en-GB" sz="900" spc="0">
                <a:solidFill>
                  <a:schemeClr val="tx2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Program Oversight </a:t>
            </a:r>
          </a:p>
        </p:txBody>
      </p:sp>
      <p:sp>
        <p:nvSpPr>
          <p:cNvPr id="991" name="Shape 2652">
            <a:extLst>
              <a:ext uri="{FF2B5EF4-FFF2-40B4-BE49-F238E27FC236}">
                <a16:creationId xmlns:a16="http://schemas.microsoft.com/office/drawing/2014/main" id="{50065454-1C80-3A15-EC43-4953E0A0F417}"/>
              </a:ext>
            </a:extLst>
          </p:cNvPr>
          <p:cNvSpPr>
            <a:spLocks/>
          </p:cNvSpPr>
          <p:nvPr/>
        </p:nvSpPr>
        <p:spPr>
          <a:xfrm>
            <a:off x="2165154" y="5022235"/>
            <a:ext cx="1066559" cy="288349"/>
          </a:xfrm>
          <a:prstGeom prst="roundRect">
            <a:avLst>
              <a:gd name="adj" fmla="val 11932"/>
            </a:avLst>
          </a:prstGeom>
          <a:solidFill>
            <a:schemeClr val="bg1"/>
          </a:solidFill>
          <a:ln w="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miter lim="400000"/>
            <a:headEnd type="none" w="med" len="med"/>
            <a:tailEnd type="none" w="med" len="med"/>
          </a:ln>
          <a:effectLst/>
          <a:sp3d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rot="0" spcFirstLastPara="1" vertOverflow="overflow" horzOverflow="overflow" vert="horz" wrap="square" lIns="36820" tIns="36820" rIns="36820" bIns="36820" numCol="1" spcCol="38100" rtlCol="0" anchor="ctr" anchorCtr="0">
            <a:noAutofit/>
          </a:bodyPr>
          <a:lstStyle>
            <a:lvl1pPr defTabSz="825500">
              <a:defRPr sz="1800" b="0" spc="18">
                <a:latin typeface="Chronicle Display Black"/>
                <a:ea typeface="Chronicle Display Black"/>
                <a:cs typeface="Chronicle Display Black"/>
                <a:sym typeface="Chronicle Display Black"/>
              </a:defRPr>
            </a:lvl1pPr>
          </a:lstStyle>
          <a:p>
            <a:pPr lvl="0">
              <a:defRPr/>
            </a:pPr>
            <a:r>
              <a:rPr lang="en-GB" sz="900" spc="0">
                <a:solidFill>
                  <a:schemeClr val="tx2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Teradata/Snowflake</a:t>
            </a:r>
          </a:p>
        </p:txBody>
      </p:sp>
      <p:sp>
        <p:nvSpPr>
          <p:cNvPr id="992" name="Shape 2652">
            <a:extLst>
              <a:ext uri="{FF2B5EF4-FFF2-40B4-BE49-F238E27FC236}">
                <a16:creationId xmlns:a16="http://schemas.microsoft.com/office/drawing/2014/main" id="{147DFEDD-EFE3-886C-E826-A4137D918F1C}"/>
              </a:ext>
            </a:extLst>
          </p:cNvPr>
          <p:cNvSpPr>
            <a:spLocks/>
          </p:cNvSpPr>
          <p:nvPr/>
        </p:nvSpPr>
        <p:spPr>
          <a:xfrm>
            <a:off x="3345805" y="5023441"/>
            <a:ext cx="1066559" cy="308940"/>
          </a:xfrm>
          <a:prstGeom prst="roundRect">
            <a:avLst>
              <a:gd name="adj" fmla="val 7985"/>
            </a:avLst>
          </a:prstGeom>
          <a:solidFill>
            <a:schemeClr val="bg1"/>
          </a:solidFill>
          <a:ln w="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miter lim="400000"/>
            <a:headEnd type="none" w="med" len="med"/>
            <a:tailEnd type="none" w="med" len="med"/>
          </a:ln>
          <a:effectLst/>
          <a:sp3d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rot="0" spcFirstLastPara="1" vertOverflow="overflow" horzOverflow="overflow" vert="horz" wrap="square" lIns="36820" tIns="36820" rIns="36820" bIns="36820" numCol="1" spcCol="38100" rtlCol="0" anchor="ctr" anchorCtr="0">
            <a:noAutofit/>
          </a:bodyPr>
          <a:lstStyle>
            <a:lvl1pPr defTabSz="825500">
              <a:defRPr sz="1800" b="0" spc="18">
                <a:latin typeface="Chronicle Display Black"/>
                <a:ea typeface="Chronicle Display Black"/>
                <a:cs typeface="Chronicle Display Black"/>
                <a:sym typeface="Chronicle Display Black"/>
              </a:defRPr>
            </a:lvl1pPr>
          </a:lstStyle>
          <a:p>
            <a:pPr lvl="0">
              <a:defRPr/>
            </a:pPr>
            <a:r>
              <a:rPr lang="en-GB" sz="900" spc="0">
                <a:solidFill>
                  <a:schemeClr val="tx2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SAS/BI Reporting</a:t>
            </a:r>
          </a:p>
        </p:txBody>
      </p:sp>
      <p:sp>
        <p:nvSpPr>
          <p:cNvPr id="993" name="Rectangle: Rounded Corners 992">
            <a:extLst>
              <a:ext uri="{FF2B5EF4-FFF2-40B4-BE49-F238E27FC236}">
                <a16:creationId xmlns:a16="http://schemas.microsoft.com/office/drawing/2014/main" id="{34D980BA-7618-78C7-CB4F-24C40BD262D8}"/>
              </a:ext>
            </a:extLst>
          </p:cNvPr>
          <p:cNvSpPr/>
          <p:nvPr/>
        </p:nvSpPr>
        <p:spPr bwMode="gray">
          <a:xfrm>
            <a:off x="1960428" y="3148894"/>
            <a:ext cx="1423401" cy="1513318"/>
          </a:xfrm>
          <a:prstGeom prst="roundRect">
            <a:avLst>
              <a:gd name="adj" fmla="val 5883"/>
            </a:avLst>
          </a:prstGeom>
          <a:solidFill>
            <a:srgbClr val="E1EDFF"/>
          </a:solidFill>
          <a:ln w="12700" algn="ctr">
            <a:solidFill>
              <a:srgbClr val="1A3673"/>
            </a:solidFill>
            <a:miter lim="800000"/>
            <a:headEnd/>
            <a:tailEnd/>
          </a:ln>
        </p:spPr>
        <p:txBody>
          <a:bodyPr wrap="square" lIns="91440" tIns="54864" rIns="91440" bIns="54864" rtlCol="0" anchor="t">
            <a:noAutofit/>
          </a:bodyPr>
          <a:lstStyle/>
          <a:p>
            <a:pPr>
              <a:lnSpc>
                <a:spcPct val="106000"/>
              </a:lnSpc>
              <a:defRPr/>
            </a:pPr>
            <a:r>
              <a:rPr lang="en-US" sz="900" b="1" dirty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AI Foundation POD</a:t>
            </a:r>
          </a:p>
        </p:txBody>
      </p:sp>
      <p:sp>
        <p:nvSpPr>
          <p:cNvPr id="994" name="Shape 2652">
            <a:extLst>
              <a:ext uri="{FF2B5EF4-FFF2-40B4-BE49-F238E27FC236}">
                <a16:creationId xmlns:a16="http://schemas.microsoft.com/office/drawing/2014/main" id="{10530A80-E974-5CCC-B25C-D0A5A26ECE55}"/>
              </a:ext>
            </a:extLst>
          </p:cNvPr>
          <p:cNvSpPr>
            <a:spLocks/>
          </p:cNvSpPr>
          <p:nvPr/>
        </p:nvSpPr>
        <p:spPr>
          <a:xfrm>
            <a:off x="2058071" y="3414888"/>
            <a:ext cx="1245526" cy="308940"/>
          </a:xfrm>
          <a:prstGeom prst="roundRect">
            <a:avLst>
              <a:gd name="adj" fmla="val 9812"/>
            </a:avLst>
          </a:prstGeom>
          <a:solidFill>
            <a:schemeClr val="bg1"/>
          </a:solidFill>
          <a:ln w="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miter lim="400000"/>
            <a:headEnd type="none" w="med" len="med"/>
            <a:tailEnd type="none" w="med" len="med"/>
          </a:ln>
          <a:effectLst/>
          <a:sp3d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rot="0" spcFirstLastPara="1" vertOverflow="overflow" horzOverflow="overflow" vert="horz" wrap="square" lIns="36820" tIns="36820" rIns="36820" bIns="36820" numCol="1" spcCol="38100" rtlCol="0" anchor="ctr" anchorCtr="0">
            <a:noAutofit/>
          </a:bodyPr>
          <a:lstStyle>
            <a:lvl1pPr defTabSz="825500">
              <a:defRPr sz="1800" b="0" spc="18">
                <a:latin typeface="Chronicle Display Black"/>
                <a:ea typeface="Chronicle Display Black"/>
                <a:cs typeface="Chronicle Display Black"/>
                <a:sym typeface="Chronicle Display Black"/>
              </a:defRPr>
            </a:lvl1pPr>
          </a:lstStyle>
          <a:p>
            <a:pPr>
              <a:defRPr/>
            </a:pPr>
            <a:r>
              <a:rPr lang="en-GB" sz="900" spc="0">
                <a:solidFill>
                  <a:schemeClr val="tx2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AI Lead</a:t>
            </a:r>
          </a:p>
        </p:txBody>
      </p:sp>
      <p:sp>
        <p:nvSpPr>
          <p:cNvPr id="995" name="Shape 2652">
            <a:extLst>
              <a:ext uri="{FF2B5EF4-FFF2-40B4-BE49-F238E27FC236}">
                <a16:creationId xmlns:a16="http://schemas.microsoft.com/office/drawing/2014/main" id="{62D3CA8C-3A37-0830-184A-C924403C729C}"/>
              </a:ext>
            </a:extLst>
          </p:cNvPr>
          <p:cNvSpPr>
            <a:spLocks/>
          </p:cNvSpPr>
          <p:nvPr/>
        </p:nvSpPr>
        <p:spPr>
          <a:xfrm>
            <a:off x="4526457" y="5023441"/>
            <a:ext cx="1066559" cy="308940"/>
          </a:xfrm>
          <a:prstGeom prst="roundRect">
            <a:avLst>
              <a:gd name="adj" fmla="val 7985"/>
            </a:avLst>
          </a:prstGeom>
          <a:solidFill>
            <a:schemeClr val="bg1"/>
          </a:solidFill>
          <a:ln w="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miter lim="400000"/>
            <a:headEnd type="none" w="med" len="med"/>
            <a:tailEnd type="none" w="med" len="med"/>
          </a:ln>
          <a:effectLst/>
          <a:sp3d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rot="0" spcFirstLastPara="1" vertOverflow="overflow" horzOverflow="overflow" vert="horz" wrap="square" lIns="36820" tIns="36820" rIns="36820" bIns="36820" numCol="1" spcCol="38100" rtlCol="0" anchor="ctr" anchorCtr="0">
            <a:noAutofit/>
          </a:bodyPr>
          <a:lstStyle>
            <a:lvl1pPr defTabSz="825500">
              <a:defRPr sz="1800" b="0" spc="18">
                <a:latin typeface="Chronicle Display Black"/>
                <a:ea typeface="Chronicle Display Black"/>
                <a:cs typeface="Chronicle Display Black"/>
                <a:sym typeface="Chronicle Display Black"/>
              </a:defRPr>
            </a:lvl1pPr>
          </a:lstStyle>
          <a:p>
            <a:pPr lvl="0">
              <a:defRPr/>
            </a:pPr>
            <a:r>
              <a:rPr lang="en-GB" sz="900" spc="0">
                <a:solidFill>
                  <a:schemeClr val="tx2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AWS</a:t>
            </a:r>
          </a:p>
        </p:txBody>
      </p:sp>
      <p:sp>
        <p:nvSpPr>
          <p:cNvPr id="998" name="Rectangle: Rounded Corners 997">
            <a:extLst>
              <a:ext uri="{FF2B5EF4-FFF2-40B4-BE49-F238E27FC236}">
                <a16:creationId xmlns:a16="http://schemas.microsoft.com/office/drawing/2014/main" id="{BFE586C2-1A58-C00F-E9BF-EF6B5944C365}"/>
              </a:ext>
            </a:extLst>
          </p:cNvPr>
          <p:cNvSpPr>
            <a:spLocks/>
          </p:cNvSpPr>
          <p:nvPr/>
        </p:nvSpPr>
        <p:spPr bwMode="gray">
          <a:xfrm>
            <a:off x="577441" y="2383862"/>
            <a:ext cx="1203739" cy="3094458"/>
          </a:xfrm>
          <a:prstGeom prst="roundRect">
            <a:avLst>
              <a:gd name="adj" fmla="val 4207"/>
            </a:avLst>
          </a:prstGeom>
          <a:solidFill>
            <a:srgbClr val="1A3673"/>
          </a:solidFill>
          <a:ln w="12700" cap="flat" cmpd="sng" algn="ctr">
            <a:solidFill>
              <a:srgbClr val="1A3673"/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wrap="square" lIns="91440" tIns="54864" rIns="91440" bIns="54864" rtlCol="0" anchor="t" anchorCtr="0">
            <a:noAutofit/>
          </a:bodyPr>
          <a:lstStyle/>
          <a:p>
            <a:pPr marL="7938">
              <a:spcBef>
                <a:spcPts val="66"/>
              </a:spcBef>
              <a:defRPr/>
            </a:pPr>
            <a:r>
              <a:rPr lang="en-US" sz="875" b="1" dirty="0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NYU</a:t>
            </a:r>
          </a:p>
          <a:p>
            <a:pPr marL="7938">
              <a:spcBef>
                <a:spcPts val="66"/>
              </a:spcBef>
              <a:defRPr/>
            </a:pPr>
            <a:r>
              <a:rPr lang="en-US" sz="875" b="1" dirty="0">
                <a:solidFill>
                  <a:schemeClr val="bg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Project team</a:t>
            </a:r>
            <a:endParaRPr lang="en-US" sz="875" dirty="0">
              <a:solidFill>
                <a:schemeClr val="bg1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99" name="Shape 2652">
            <a:extLst>
              <a:ext uri="{FF2B5EF4-FFF2-40B4-BE49-F238E27FC236}">
                <a16:creationId xmlns:a16="http://schemas.microsoft.com/office/drawing/2014/main" id="{72D65381-9D85-65CC-6E00-1B392B3DE478}"/>
              </a:ext>
            </a:extLst>
          </p:cNvPr>
          <p:cNvSpPr>
            <a:spLocks/>
          </p:cNvSpPr>
          <p:nvPr/>
        </p:nvSpPr>
        <p:spPr>
          <a:xfrm>
            <a:off x="669866" y="3103049"/>
            <a:ext cx="1009649" cy="325285"/>
          </a:xfrm>
          <a:prstGeom prst="roundRect">
            <a:avLst>
              <a:gd name="adj" fmla="val 10605"/>
            </a:avLst>
          </a:prstGeom>
          <a:solidFill>
            <a:schemeClr val="bg1"/>
          </a:solidFill>
          <a:ln w="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miter lim="400000"/>
            <a:headEnd type="none" w="med" len="med"/>
            <a:tailEnd type="none" w="med" len="med"/>
          </a:ln>
          <a:effectLst/>
          <a:sp3d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rot="0" spcFirstLastPara="1" vertOverflow="overflow" horzOverflow="overflow" vert="horz" wrap="square" lIns="36820" tIns="36820" rIns="36820" bIns="36820" numCol="1" spcCol="38100" rtlCol="0" anchor="ctr" anchorCtr="0">
            <a:noAutofit/>
          </a:bodyPr>
          <a:lstStyle>
            <a:lvl1pPr defTabSz="825500">
              <a:defRPr sz="1800" b="0" spc="18">
                <a:latin typeface="Chronicle Display Black"/>
                <a:ea typeface="Chronicle Display Black"/>
                <a:cs typeface="Chronicle Display Black"/>
                <a:sym typeface="Chronicle Display Black"/>
              </a:defRPr>
            </a:lvl1pPr>
          </a:lstStyle>
          <a:p>
            <a:r>
              <a:rPr lang="en-GB" sz="900" spc="0">
                <a:solidFill>
                  <a:schemeClr val="accent1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Product Owners</a:t>
            </a:r>
          </a:p>
        </p:txBody>
      </p:sp>
      <p:sp>
        <p:nvSpPr>
          <p:cNvPr id="1000" name="Shape 2652">
            <a:extLst>
              <a:ext uri="{FF2B5EF4-FFF2-40B4-BE49-F238E27FC236}">
                <a16:creationId xmlns:a16="http://schemas.microsoft.com/office/drawing/2014/main" id="{E28F8526-076F-2116-679F-86589446C2FC}"/>
              </a:ext>
            </a:extLst>
          </p:cNvPr>
          <p:cNvSpPr>
            <a:spLocks/>
          </p:cNvSpPr>
          <p:nvPr/>
        </p:nvSpPr>
        <p:spPr>
          <a:xfrm>
            <a:off x="669866" y="3538424"/>
            <a:ext cx="1009649" cy="325285"/>
          </a:xfrm>
          <a:prstGeom prst="roundRect">
            <a:avLst>
              <a:gd name="adj" fmla="val 10605"/>
            </a:avLst>
          </a:prstGeom>
          <a:solidFill>
            <a:schemeClr val="bg1"/>
          </a:solidFill>
          <a:ln w="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miter lim="400000"/>
            <a:headEnd type="none" w="med" len="med"/>
            <a:tailEnd type="none" w="med" len="med"/>
          </a:ln>
          <a:effectLst/>
          <a:sp3d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rot="0" spcFirstLastPara="1" vertOverflow="overflow" horzOverflow="overflow" vert="horz" wrap="square" lIns="36820" tIns="36820" rIns="36820" bIns="36820" numCol="1" spcCol="38100" rtlCol="0" anchor="ctr" anchorCtr="0">
            <a:noAutofit/>
          </a:bodyPr>
          <a:lstStyle>
            <a:lvl1pPr defTabSz="825500">
              <a:defRPr sz="1800" b="0" spc="18">
                <a:latin typeface="Chronicle Display Black"/>
                <a:ea typeface="Chronicle Display Black"/>
                <a:cs typeface="Chronicle Display Black"/>
                <a:sym typeface="Chronicle Display Black"/>
              </a:defRPr>
            </a:lvl1pPr>
          </a:lstStyle>
          <a:p>
            <a:r>
              <a:rPr lang="en-GB" sz="900" spc="0">
                <a:solidFill>
                  <a:schemeClr val="accent1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Business Lead</a:t>
            </a:r>
          </a:p>
        </p:txBody>
      </p:sp>
      <p:sp>
        <p:nvSpPr>
          <p:cNvPr id="1001" name="Shape 2652">
            <a:extLst>
              <a:ext uri="{FF2B5EF4-FFF2-40B4-BE49-F238E27FC236}">
                <a16:creationId xmlns:a16="http://schemas.microsoft.com/office/drawing/2014/main" id="{729F8A77-862C-4456-FF6F-60D7E3E33888}"/>
              </a:ext>
            </a:extLst>
          </p:cNvPr>
          <p:cNvSpPr>
            <a:spLocks/>
          </p:cNvSpPr>
          <p:nvPr/>
        </p:nvSpPr>
        <p:spPr>
          <a:xfrm>
            <a:off x="669866" y="3973798"/>
            <a:ext cx="1009649" cy="325285"/>
          </a:xfrm>
          <a:prstGeom prst="roundRect">
            <a:avLst>
              <a:gd name="adj" fmla="val 10605"/>
            </a:avLst>
          </a:prstGeom>
          <a:solidFill>
            <a:schemeClr val="bg1"/>
          </a:solidFill>
          <a:ln w="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miter lim="400000"/>
            <a:headEnd type="none" w="med" len="med"/>
            <a:tailEnd type="none" w="med" len="med"/>
          </a:ln>
          <a:effectLst/>
          <a:sp3d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rot="0" spcFirstLastPara="1" vertOverflow="overflow" horzOverflow="overflow" vert="horz" wrap="square" lIns="36820" tIns="36820" rIns="36820" bIns="36820" numCol="1" spcCol="38100" rtlCol="0" anchor="ctr" anchorCtr="0">
            <a:noAutofit/>
          </a:bodyPr>
          <a:lstStyle>
            <a:lvl1pPr defTabSz="825500">
              <a:defRPr sz="1800" b="0" spc="18">
                <a:latin typeface="Chronicle Display Black"/>
                <a:ea typeface="Chronicle Display Black"/>
                <a:cs typeface="Chronicle Display Black"/>
                <a:sym typeface="Chronicle Display Black"/>
              </a:defRPr>
            </a:lvl1pPr>
          </a:lstStyle>
          <a:p>
            <a:r>
              <a:rPr lang="en-GB" sz="900" spc="0">
                <a:solidFill>
                  <a:schemeClr val="accent1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Technical Lead </a:t>
            </a:r>
          </a:p>
        </p:txBody>
      </p:sp>
      <p:sp>
        <p:nvSpPr>
          <p:cNvPr id="1002" name="Shape 2652">
            <a:extLst>
              <a:ext uri="{FF2B5EF4-FFF2-40B4-BE49-F238E27FC236}">
                <a16:creationId xmlns:a16="http://schemas.microsoft.com/office/drawing/2014/main" id="{E2309CD3-CDFE-1851-6566-0B89B2083775}"/>
              </a:ext>
            </a:extLst>
          </p:cNvPr>
          <p:cNvSpPr>
            <a:spLocks/>
          </p:cNvSpPr>
          <p:nvPr/>
        </p:nvSpPr>
        <p:spPr>
          <a:xfrm>
            <a:off x="669866" y="4409173"/>
            <a:ext cx="1009649" cy="325285"/>
          </a:xfrm>
          <a:prstGeom prst="roundRect">
            <a:avLst>
              <a:gd name="adj" fmla="val 10605"/>
            </a:avLst>
          </a:prstGeom>
          <a:solidFill>
            <a:schemeClr val="bg1"/>
          </a:solidFill>
          <a:ln w="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miter lim="400000"/>
            <a:headEnd type="none" w="med" len="med"/>
            <a:tailEnd type="none" w="med" len="med"/>
          </a:ln>
          <a:effectLst/>
          <a:sp3d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rot="0" spcFirstLastPara="1" vertOverflow="overflow" horzOverflow="overflow" vert="horz" wrap="square" lIns="36820" tIns="36820" rIns="36820" bIns="36820" numCol="1" spcCol="38100" rtlCol="0" anchor="ctr" anchorCtr="0">
            <a:noAutofit/>
          </a:bodyPr>
          <a:lstStyle>
            <a:lvl1pPr defTabSz="825500">
              <a:defRPr sz="1800" b="0" spc="18">
                <a:latin typeface="Chronicle Display Black"/>
                <a:ea typeface="Chronicle Display Black"/>
                <a:cs typeface="Chronicle Display Black"/>
                <a:sym typeface="Chronicle Display Black"/>
              </a:defRPr>
            </a:lvl1pPr>
          </a:lstStyle>
          <a:p>
            <a:r>
              <a:rPr lang="en-GB" sz="900" spc="0">
                <a:solidFill>
                  <a:schemeClr val="accent1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Infrastructure Support</a:t>
            </a:r>
          </a:p>
        </p:txBody>
      </p:sp>
      <p:sp>
        <p:nvSpPr>
          <p:cNvPr id="1009" name="TextBox 1008">
            <a:extLst>
              <a:ext uri="{FF2B5EF4-FFF2-40B4-BE49-F238E27FC236}">
                <a16:creationId xmlns:a16="http://schemas.microsoft.com/office/drawing/2014/main" id="{B1B6F4ED-7EE8-2E7F-048C-F5CBA9C32D75}"/>
              </a:ext>
            </a:extLst>
          </p:cNvPr>
          <p:cNvSpPr txBox="1"/>
          <p:nvPr/>
        </p:nvSpPr>
        <p:spPr>
          <a:xfrm>
            <a:off x="6432425" y="5701276"/>
            <a:ext cx="106655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en-GB" sz="800">
                <a:solidFill>
                  <a:srgbClr val="00000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Cross-pod governance</a:t>
            </a:r>
          </a:p>
        </p:txBody>
      </p:sp>
      <p:sp>
        <p:nvSpPr>
          <p:cNvPr id="1012" name="Shape 2652">
            <a:extLst>
              <a:ext uri="{FF2B5EF4-FFF2-40B4-BE49-F238E27FC236}">
                <a16:creationId xmlns:a16="http://schemas.microsoft.com/office/drawing/2014/main" id="{274876D8-A593-4577-9D86-84AD151C2411}"/>
              </a:ext>
            </a:extLst>
          </p:cNvPr>
          <p:cNvSpPr>
            <a:spLocks/>
          </p:cNvSpPr>
          <p:nvPr/>
        </p:nvSpPr>
        <p:spPr>
          <a:xfrm>
            <a:off x="2058071" y="3837824"/>
            <a:ext cx="1245526" cy="308940"/>
          </a:xfrm>
          <a:prstGeom prst="roundRect">
            <a:avLst>
              <a:gd name="adj" fmla="val 9812"/>
            </a:avLst>
          </a:prstGeom>
          <a:solidFill>
            <a:schemeClr val="bg1"/>
          </a:solidFill>
          <a:ln w="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miter lim="400000"/>
            <a:headEnd type="none" w="med" len="med"/>
            <a:tailEnd type="none" w="med" len="med"/>
          </a:ln>
          <a:effectLst/>
          <a:sp3d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rot="0" spcFirstLastPara="1" vertOverflow="overflow" horzOverflow="overflow" vert="horz" wrap="square" lIns="36820" tIns="36820" rIns="36820" bIns="36820" numCol="1" spcCol="38100" rtlCol="0" anchor="ctr" anchorCtr="0">
            <a:noAutofit/>
          </a:bodyPr>
          <a:lstStyle>
            <a:lvl1pPr defTabSz="825500">
              <a:defRPr sz="1800" b="0" spc="18">
                <a:latin typeface="Chronicle Display Black"/>
                <a:ea typeface="Chronicle Display Black"/>
                <a:cs typeface="Chronicle Display Black"/>
                <a:sym typeface="Chronicle Display Black"/>
              </a:defRPr>
            </a:lvl1pPr>
          </a:lstStyle>
          <a:p>
            <a:pPr>
              <a:defRPr/>
            </a:pPr>
            <a:r>
              <a:rPr lang="en-GB" sz="900" spc="0">
                <a:solidFill>
                  <a:schemeClr val="tx2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Agent Builder</a:t>
            </a:r>
          </a:p>
        </p:txBody>
      </p:sp>
      <p:sp>
        <p:nvSpPr>
          <p:cNvPr id="1013" name="Shape 2652">
            <a:extLst>
              <a:ext uri="{FF2B5EF4-FFF2-40B4-BE49-F238E27FC236}">
                <a16:creationId xmlns:a16="http://schemas.microsoft.com/office/drawing/2014/main" id="{5573087E-EC24-9FEF-4209-85BF39EA9898}"/>
              </a:ext>
            </a:extLst>
          </p:cNvPr>
          <p:cNvSpPr>
            <a:spLocks/>
          </p:cNvSpPr>
          <p:nvPr/>
        </p:nvSpPr>
        <p:spPr>
          <a:xfrm>
            <a:off x="2058071" y="4262114"/>
            <a:ext cx="1245526" cy="308940"/>
          </a:xfrm>
          <a:prstGeom prst="roundRect">
            <a:avLst>
              <a:gd name="adj" fmla="val 9812"/>
            </a:avLst>
          </a:prstGeom>
          <a:solidFill>
            <a:schemeClr val="bg1"/>
          </a:solidFill>
          <a:ln w="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miter lim="400000"/>
            <a:headEnd type="none" w="med" len="med"/>
            <a:tailEnd type="none" w="med" len="med"/>
          </a:ln>
          <a:effectLst/>
          <a:sp3d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rot="0" spcFirstLastPara="1" vertOverflow="overflow" horzOverflow="overflow" vert="horz" wrap="square" lIns="36820" tIns="36820" rIns="36820" bIns="36820" numCol="1" spcCol="38100" rtlCol="0" anchor="ctr" anchorCtr="0">
            <a:noAutofit/>
          </a:bodyPr>
          <a:lstStyle>
            <a:lvl1pPr defTabSz="825500">
              <a:defRPr sz="1800" b="0" spc="18">
                <a:latin typeface="Chronicle Display Black"/>
                <a:ea typeface="Chronicle Display Black"/>
                <a:cs typeface="Chronicle Display Black"/>
                <a:sym typeface="Chronicle Display Black"/>
              </a:defRPr>
            </a:lvl1pPr>
          </a:lstStyle>
          <a:p>
            <a:pPr>
              <a:defRPr/>
            </a:pPr>
            <a:r>
              <a:rPr lang="en-GB" sz="900" spc="0">
                <a:solidFill>
                  <a:schemeClr val="tx2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AgentOPs</a:t>
            </a:r>
          </a:p>
        </p:txBody>
      </p:sp>
      <p:sp>
        <p:nvSpPr>
          <p:cNvPr id="1014" name="Shape 2652">
            <a:extLst>
              <a:ext uri="{FF2B5EF4-FFF2-40B4-BE49-F238E27FC236}">
                <a16:creationId xmlns:a16="http://schemas.microsoft.com/office/drawing/2014/main" id="{AE781A11-0907-FADA-771F-ED15FEC4B6A4}"/>
              </a:ext>
            </a:extLst>
          </p:cNvPr>
          <p:cNvSpPr>
            <a:spLocks/>
          </p:cNvSpPr>
          <p:nvPr/>
        </p:nvSpPr>
        <p:spPr>
          <a:xfrm>
            <a:off x="6432285" y="1602716"/>
            <a:ext cx="1568469" cy="308940"/>
          </a:xfrm>
          <a:prstGeom prst="roundRect">
            <a:avLst>
              <a:gd name="adj" fmla="val 9812"/>
            </a:avLst>
          </a:prstGeom>
          <a:solidFill>
            <a:schemeClr val="bg1"/>
          </a:solidFill>
          <a:ln w="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miter lim="400000"/>
            <a:headEnd type="none" w="med" len="med"/>
            <a:tailEnd type="none" w="med" len="med"/>
          </a:ln>
          <a:effectLst/>
          <a:sp3d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rot="0" spcFirstLastPara="1" vertOverflow="overflow" horzOverflow="overflow" vert="horz" wrap="square" lIns="36820" tIns="36820" rIns="36820" bIns="36820" numCol="1" spcCol="38100" rtlCol="0" anchor="ctr" anchorCtr="0">
            <a:noAutofit/>
          </a:bodyPr>
          <a:lstStyle>
            <a:lvl1pPr defTabSz="825500">
              <a:defRPr sz="1800" b="0" spc="18">
                <a:latin typeface="Chronicle Display Black"/>
                <a:ea typeface="Chronicle Display Black"/>
                <a:cs typeface="Chronicle Display Black"/>
                <a:sym typeface="Chronicle Display Black"/>
              </a:defRPr>
            </a:lvl1pPr>
          </a:lstStyle>
          <a:p>
            <a:pPr>
              <a:defRPr/>
            </a:pPr>
            <a:r>
              <a:rPr lang="en-GB" sz="900" spc="0">
                <a:solidFill>
                  <a:schemeClr val="tx2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Program Engagement Lead</a:t>
            </a:r>
          </a:p>
        </p:txBody>
      </p:sp>
      <p:grpSp>
        <p:nvGrpSpPr>
          <p:cNvPr id="906" name="Group 905">
            <a:extLst>
              <a:ext uri="{FF2B5EF4-FFF2-40B4-BE49-F238E27FC236}">
                <a16:creationId xmlns:a16="http://schemas.microsoft.com/office/drawing/2014/main" id="{3BA2C18D-4382-B9E4-C66E-AEF106BE6C83}"/>
              </a:ext>
            </a:extLst>
          </p:cNvPr>
          <p:cNvGrpSpPr/>
          <p:nvPr/>
        </p:nvGrpSpPr>
        <p:grpSpPr>
          <a:xfrm>
            <a:off x="1823927" y="2337446"/>
            <a:ext cx="234154" cy="2552795"/>
            <a:chOff x="2887794" y="3739913"/>
            <a:chExt cx="365837" cy="4084472"/>
          </a:xfrm>
        </p:grpSpPr>
        <p:sp>
          <p:nvSpPr>
            <p:cNvPr id="961" name="Oval 960">
              <a:extLst>
                <a:ext uri="{FF2B5EF4-FFF2-40B4-BE49-F238E27FC236}">
                  <a16:creationId xmlns:a16="http://schemas.microsoft.com/office/drawing/2014/main" id="{A3246C9E-2811-5846-A9B6-0C70A6A66A6A}"/>
                </a:ext>
              </a:extLst>
            </p:cNvPr>
            <p:cNvSpPr/>
            <p:nvPr/>
          </p:nvSpPr>
          <p:spPr>
            <a:xfrm>
              <a:off x="2890396" y="3768385"/>
              <a:ext cx="335793" cy="335137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25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1015" name="Group 1014">
              <a:extLst>
                <a:ext uri="{FF2B5EF4-FFF2-40B4-BE49-F238E27FC236}">
                  <a16:creationId xmlns:a16="http://schemas.microsoft.com/office/drawing/2014/main" id="{7F19C9FF-B966-B15B-C7F0-1DF86B0ED553}"/>
                </a:ext>
              </a:extLst>
            </p:cNvPr>
            <p:cNvGrpSpPr/>
            <p:nvPr/>
          </p:nvGrpSpPr>
          <p:grpSpPr>
            <a:xfrm>
              <a:off x="2887794" y="3739913"/>
              <a:ext cx="354017" cy="363610"/>
              <a:chOff x="17716072" y="2222443"/>
              <a:chExt cx="1192398" cy="1226135"/>
            </a:xfrm>
          </p:grpSpPr>
          <p:sp>
            <p:nvSpPr>
              <p:cNvPr id="1022" name="Oval 1021">
                <a:extLst>
                  <a:ext uri="{FF2B5EF4-FFF2-40B4-BE49-F238E27FC236}">
                    <a16:creationId xmlns:a16="http://schemas.microsoft.com/office/drawing/2014/main" id="{3E2C2CE6-B993-D9C1-BF00-B44879985DE6}"/>
                  </a:ext>
                </a:extLst>
              </p:cNvPr>
              <p:cNvSpPr/>
              <p:nvPr/>
            </p:nvSpPr>
            <p:spPr>
              <a:xfrm>
                <a:off x="17716072" y="2222443"/>
                <a:ext cx="1192398" cy="122613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5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125"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1023" name="Graphic 1022" descr="Arrow circle with solid fill">
                <a:extLst>
                  <a:ext uri="{FF2B5EF4-FFF2-40B4-BE49-F238E27FC236}">
                    <a16:creationId xmlns:a16="http://schemas.microsoft.com/office/drawing/2014/main" id="{4314C87C-7F7E-D0C9-E873-F09BAACE2D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7758825" y="2297956"/>
                <a:ext cx="1106893" cy="1106895"/>
              </a:xfrm>
              <a:prstGeom prst="rect">
                <a:avLst/>
              </a:prstGeom>
            </p:spPr>
          </p:pic>
        </p:grpSp>
        <p:grpSp>
          <p:nvGrpSpPr>
            <p:cNvPr id="1016" name="Group 1015">
              <a:extLst>
                <a:ext uri="{FF2B5EF4-FFF2-40B4-BE49-F238E27FC236}">
                  <a16:creationId xmlns:a16="http://schemas.microsoft.com/office/drawing/2014/main" id="{DF85BC5B-5D83-EEFC-93EB-763CB0737CAC}"/>
                </a:ext>
              </a:extLst>
            </p:cNvPr>
            <p:cNvGrpSpPr/>
            <p:nvPr/>
          </p:nvGrpSpPr>
          <p:grpSpPr>
            <a:xfrm>
              <a:off x="2899614" y="7460775"/>
              <a:ext cx="354017" cy="363610"/>
              <a:chOff x="17716072" y="2222443"/>
              <a:chExt cx="1192398" cy="1226135"/>
            </a:xfrm>
          </p:grpSpPr>
          <p:sp>
            <p:nvSpPr>
              <p:cNvPr id="1020" name="Oval 1019">
                <a:extLst>
                  <a:ext uri="{FF2B5EF4-FFF2-40B4-BE49-F238E27FC236}">
                    <a16:creationId xmlns:a16="http://schemas.microsoft.com/office/drawing/2014/main" id="{2920DAAC-045A-7B3F-CD54-E816261B1A18}"/>
                  </a:ext>
                </a:extLst>
              </p:cNvPr>
              <p:cNvSpPr/>
              <p:nvPr/>
            </p:nvSpPr>
            <p:spPr>
              <a:xfrm>
                <a:off x="17716072" y="2222443"/>
                <a:ext cx="1192398" cy="122613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accent5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125"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1021" name="Graphic 1020" descr="Arrow circle with solid fill">
                <a:extLst>
                  <a:ext uri="{FF2B5EF4-FFF2-40B4-BE49-F238E27FC236}">
                    <a16:creationId xmlns:a16="http://schemas.microsoft.com/office/drawing/2014/main" id="{05CE2AD9-DBD9-6D5B-F834-85B64D047B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7758825" y="2297956"/>
                <a:ext cx="1106893" cy="1106895"/>
              </a:xfrm>
              <a:prstGeom prst="rect">
                <a:avLst/>
              </a:prstGeom>
            </p:spPr>
          </p:pic>
        </p:grpSp>
      </p:grpSp>
      <p:grpSp>
        <p:nvGrpSpPr>
          <p:cNvPr id="1017" name="Group 1016">
            <a:extLst>
              <a:ext uri="{FF2B5EF4-FFF2-40B4-BE49-F238E27FC236}">
                <a16:creationId xmlns:a16="http://schemas.microsoft.com/office/drawing/2014/main" id="{01C20D02-1A66-B330-3F89-503FD53E59B9}"/>
              </a:ext>
            </a:extLst>
          </p:cNvPr>
          <p:cNvGrpSpPr/>
          <p:nvPr/>
        </p:nvGrpSpPr>
        <p:grpSpPr>
          <a:xfrm>
            <a:off x="6118746" y="5627197"/>
            <a:ext cx="225696" cy="227256"/>
            <a:chOff x="17716072" y="2222443"/>
            <a:chExt cx="1192398" cy="1226135"/>
          </a:xfrm>
        </p:grpSpPr>
        <p:sp>
          <p:nvSpPr>
            <p:cNvPr id="1018" name="Oval 1017">
              <a:extLst>
                <a:ext uri="{FF2B5EF4-FFF2-40B4-BE49-F238E27FC236}">
                  <a16:creationId xmlns:a16="http://schemas.microsoft.com/office/drawing/2014/main" id="{81AB67A6-A714-F527-BE2B-147B8275B01E}"/>
                </a:ext>
              </a:extLst>
            </p:cNvPr>
            <p:cNvSpPr/>
            <p:nvPr/>
          </p:nvSpPr>
          <p:spPr>
            <a:xfrm>
              <a:off x="17716072" y="2222443"/>
              <a:ext cx="1192398" cy="122613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25"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pic>
          <p:nvPicPr>
            <p:cNvPr id="1019" name="Graphic 1018" descr="Arrow circle with solid fill">
              <a:extLst>
                <a:ext uri="{FF2B5EF4-FFF2-40B4-BE49-F238E27FC236}">
                  <a16:creationId xmlns:a16="http://schemas.microsoft.com/office/drawing/2014/main" id="{A2B124D3-E4B9-F3E4-266E-E962F01DEAA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7758825" y="2297956"/>
              <a:ext cx="1106893" cy="1106895"/>
            </a:xfrm>
            <a:prstGeom prst="rect">
              <a:avLst/>
            </a:prstGeom>
          </p:spPr>
        </p:pic>
      </p:grpSp>
      <p:sp>
        <p:nvSpPr>
          <p:cNvPr id="1083" name="Shape 2652">
            <a:extLst>
              <a:ext uri="{FF2B5EF4-FFF2-40B4-BE49-F238E27FC236}">
                <a16:creationId xmlns:a16="http://schemas.microsoft.com/office/drawing/2014/main" id="{91A6E842-7B97-01BD-A8B1-D09215E2F3B4}"/>
              </a:ext>
            </a:extLst>
          </p:cNvPr>
          <p:cNvSpPr>
            <a:spLocks/>
          </p:cNvSpPr>
          <p:nvPr/>
        </p:nvSpPr>
        <p:spPr>
          <a:xfrm>
            <a:off x="5707108" y="5026488"/>
            <a:ext cx="1066559" cy="308940"/>
          </a:xfrm>
          <a:prstGeom prst="roundRect">
            <a:avLst>
              <a:gd name="adj" fmla="val 7985"/>
            </a:avLst>
          </a:prstGeom>
          <a:solidFill>
            <a:schemeClr val="bg1"/>
          </a:solidFill>
          <a:ln w="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miter lim="400000"/>
            <a:headEnd type="none" w="med" len="med"/>
            <a:tailEnd type="none" w="med" len="med"/>
          </a:ln>
          <a:effectLst/>
          <a:sp3d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rot="0" spcFirstLastPara="1" vertOverflow="overflow" horzOverflow="overflow" vert="horz" wrap="square" lIns="36820" tIns="36820" rIns="36820" bIns="36820" numCol="1" spcCol="38100" rtlCol="0" anchor="ctr" anchorCtr="0">
            <a:noAutofit/>
          </a:bodyPr>
          <a:lstStyle>
            <a:lvl1pPr defTabSz="825500">
              <a:defRPr sz="1800" b="0" spc="18">
                <a:latin typeface="Chronicle Display Black"/>
                <a:ea typeface="Chronicle Display Black"/>
                <a:cs typeface="Chronicle Display Black"/>
                <a:sym typeface="Chronicle Display Black"/>
              </a:defRPr>
            </a:lvl1pPr>
          </a:lstStyle>
          <a:p>
            <a:pPr lvl="0">
              <a:defRPr/>
            </a:pPr>
            <a:r>
              <a:rPr lang="en-GB" sz="900" spc="0">
                <a:solidFill>
                  <a:schemeClr val="tx2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Informatica</a:t>
            </a:r>
          </a:p>
        </p:txBody>
      </p:sp>
      <p:sp>
        <p:nvSpPr>
          <p:cNvPr id="1084" name="Shape 2652">
            <a:extLst>
              <a:ext uri="{FF2B5EF4-FFF2-40B4-BE49-F238E27FC236}">
                <a16:creationId xmlns:a16="http://schemas.microsoft.com/office/drawing/2014/main" id="{C2058165-837B-C463-C597-3C87C12FCA34}"/>
              </a:ext>
            </a:extLst>
          </p:cNvPr>
          <p:cNvSpPr>
            <a:spLocks/>
          </p:cNvSpPr>
          <p:nvPr/>
        </p:nvSpPr>
        <p:spPr>
          <a:xfrm>
            <a:off x="6887760" y="5026488"/>
            <a:ext cx="1066559" cy="308940"/>
          </a:xfrm>
          <a:prstGeom prst="roundRect">
            <a:avLst>
              <a:gd name="adj" fmla="val 7985"/>
            </a:avLst>
          </a:prstGeom>
          <a:solidFill>
            <a:schemeClr val="bg1"/>
          </a:solidFill>
          <a:ln w="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miter lim="400000"/>
            <a:headEnd type="none" w="med" len="med"/>
            <a:tailEnd type="none" w="med" len="med"/>
          </a:ln>
          <a:effectLst/>
          <a:sp3d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rot="0" spcFirstLastPara="1" vertOverflow="overflow" horzOverflow="overflow" vert="horz" wrap="square" lIns="36820" tIns="36820" rIns="36820" bIns="36820" numCol="1" spcCol="38100" rtlCol="0" anchor="ctr" anchorCtr="0">
            <a:noAutofit/>
          </a:bodyPr>
          <a:lstStyle>
            <a:lvl1pPr defTabSz="825500">
              <a:defRPr sz="1800" b="0" spc="18">
                <a:latin typeface="Chronicle Display Black"/>
                <a:ea typeface="Chronicle Display Black"/>
                <a:cs typeface="Chronicle Display Black"/>
                <a:sym typeface="Chronicle Display Black"/>
              </a:defRPr>
            </a:lvl1pPr>
          </a:lstStyle>
          <a:p>
            <a:pPr lvl="0">
              <a:defRPr/>
            </a:pPr>
            <a:r>
              <a:rPr lang="en-GB" sz="900" spc="0">
                <a:solidFill>
                  <a:schemeClr val="tx2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Test Automation</a:t>
            </a:r>
          </a:p>
        </p:txBody>
      </p:sp>
      <p:sp>
        <p:nvSpPr>
          <p:cNvPr id="1220" name="TextBox 1219">
            <a:extLst>
              <a:ext uri="{FF2B5EF4-FFF2-40B4-BE49-F238E27FC236}">
                <a16:creationId xmlns:a16="http://schemas.microsoft.com/office/drawing/2014/main" id="{D4AEF3A4-A8BB-D06F-4A54-117E5D7E031C}"/>
              </a:ext>
            </a:extLst>
          </p:cNvPr>
          <p:cNvSpPr txBox="1"/>
          <p:nvPr/>
        </p:nvSpPr>
        <p:spPr>
          <a:xfrm>
            <a:off x="7687057" y="1207408"/>
            <a:ext cx="564649" cy="115416"/>
          </a:xfrm>
          <a:prstGeom prst="rect">
            <a:avLst/>
          </a:prstGeom>
          <a:noFill/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en-US" sz="750" i="1" u="sng">
                <a:solidFill>
                  <a:srgbClr val="FF000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illustrative</a:t>
            </a:r>
          </a:p>
        </p:txBody>
      </p:sp>
      <p:sp>
        <p:nvSpPr>
          <p:cNvPr id="2" name="Shape 2652">
            <a:extLst>
              <a:ext uri="{FF2B5EF4-FFF2-40B4-BE49-F238E27FC236}">
                <a16:creationId xmlns:a16="http://schemas.microsoft.com/office/drawing/2014/main" id="{689810D3-F6CE-5346-D319-B46CFC1A62A5}"/>
              </a:ext>
            </a:extLst>
          </p:cNvPr>
          <p:cNvSpPr>
            <a:spLocks/>
          </p:cNvSpPr>
          <p:nvPr/>
        </p:nvSpPr>
        <p:spPr>
          <a:xfrm>
            <a:off x="6570434" y="2634140"/>
            <a:ext cx="1363194" cy="308940"/>
          </a:xfrm>
          <a:prstGeom prst="roundRect">
            <a:avLst>
              <a:gd name="adj" fmla="val 10605"/>
            </a:avLst>
          </a:prstGeom>
          <a:solidFill>
            <a:schemeClr val="bg1"/>
          </a:solidFill>
          <a:ln w="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miter lim="400000"/>
            <a:headEnd type="none" w="med" len="med"/>
            <a:tailEnd type="none" w="med" len="med"/>
          </a:ln>
          <a:effectLst/>
          <a:sp3d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rot="0" spcFirstLastPara="1" vertOverflow="overflow" horzOverflow="overflow" vert="horz" wrap="square" lIns="36820" tIns="36820" rIns="36820" bIns="36820" numCol="1" spcCol="38100" rtlCol="0" anchor="ctr" anchorCtr="0">
            <a:noAutofit/>
          </a:bodyPr>
          <a:lstStyle>
            <a:lvl1pPr defTabSz="825500">
              <a:defRPr sz="1800" b="0" spc="18">
                <a:latin typeface="Chronicle Display Black"/>
                <a:ea typeface="Chronicle Display Black"/>
                <a:cs typeface="Chronicle Display Black"/>
                <a:sym typeface="Chronicle Display Black"/>
              </a:defRPr>
            </a:lvl1pPr>
          </a:lstStyle>
          <a:p>
            <a:r>
              <a:rPr lang="en-GB" sz="900" spc="0">
                <a:solidFill>
                  <a:schemeClr val="tx2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Testing Lead</a:t>
            </a:r>
          </a:p>
        </p:txBody>
      </p:sp>
      <p:sp>
        <p:nvSpPr>
          <p:cNvPr id="958" name="Shape 2652">
            <a:extLst>
              <a:ext uri="{FF2B5EF4-FFF2-40B4-BE49-F238E27FC236}">
                <a16:creationId xmlns:a16="http://schemas.microsoft.com/office/drawing/2014/main" id="{579A87C2-3BDC-968E-C091-098B2C5AD38E}"/>
              </a:ext>
            </a:extLst>
          </p:cNvPr>
          <p:cNvSpPr>
            <a:spLocks/>
          </p:cNvSpPr>
          <p:nvPr/>
        </p:nvSpPr>
        <p:spPr>
          <a:xfrm>
            <a:off x="5177933" y="3414888"/>
            <a:ext cx="1245526" cy="308940"/>
          </a:xfrm>
          <a:prstGeom prst="roundRect">
            <a:avLst>
              <a:gd name="adj" fmla="val 7985"/>
            </a:avLst>
          </a:prstGeom>
          <a:solidFill>
            <a:schemeClr val="bg1"/>
          </a:solidFill>
          <a:ln w="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miter lim="400000"/>
            <a:headEnd type="none" w="med" len="med"/>
            <a:tailEnd type="none" w="med" len="med"/>
          </a:ln>
          <a:effectLst/>
          <a:sp3d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rot="0" spcFirstLastPara="1" vertOverflow="overflow" horzOverflow="overflow" vert="horz" wrap="square" lIns="36820" tIns="36820" rIns="36820" bIns="36820" numCol="1" spcCol="38100" rtlCol="0" anchor="ctr" anchorCtr="0">
            <a:noAutofit/>
          </a:bodyPr>
          <a:lstStyle>
            <a:lvl1pPr defTabSz="825500">
              <a:defRPr sz="1800" b="0" spc="18">
                <a:latin typeface="Chronicle Display Black"/>
                <a:ea typeface="Chronicle Display Black"/>
                <a:cs typeface="Chronicle Display Black"/>
                <a:sym typeface="Chronicle Display Black"/>
              </a:defRPr>
            </a:lvl1pPr>
          </a:lstStyle>
          <a:p>
            <a:pPr lvl="0">
              <a:defRPr/>
            </a:pPr>
            <a:r>
              <a:rPr lang="en-GB" sz="900" spc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Scrum Master (PT)</a:t>
            </a:r>
          </a:p>
        </p:txBody>
      </p:sp>
      <p:sp>
        <p:nvSpPr>
          <p:cNvPr id="959" name="Shape 2652">
            <a:extLst>
              <a:ext uri="{FF2B5EF4-FFF2-40B4-BE49-F238E27FC236}">
                <a16:creationId xmlns:a16="http://schemas.microsoft.com/office/drawing/2014/main" id="{BAEC0A51-8C20-5875-B68C-533CA69CF64C}"/>
              </a:ext>
            </a:extLst>
          </p:cNvPr>
          <p:cNvSpPr>
            <a:spLocks/>
          </p:cNvSpPr>
          <p:nvPr/>
        </p:nvSpPr>
        <p:spPr>
          <a:xfrm>
            <a:off x="5177933" y="3837824"/>
            <a:ext cx="1245526" cy="308940"/>
          </a:xfrm>
          <a:prstGeom prst="roundRect">
            <a:avLst>
              <a:gd name="adj" fmla="val 9564"/>
            </a:avLst>
          </a:prstGeom>
          <a:solidFill>
            <a:schemeClr val="bg1"/>
          </a:solidFill>
          <a:ln w="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miter lim="400000"/>
            <a:headEnd type="none" w="med" len="med"/>
            <a:tailEnd type="none" w="med" len="med"/>
          </a:ln>
          <a:effectLst/>
          <a:sp3d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rot="0" spcFirstLastPara="1" vertOverflow="overflow" horzOverflow="overflow" vert="horz" wrap="square" lIns="36820" tIns="36820" rIns="36820" bIns="36820" numCol="1" spcCol="38100" rtlCol="0" anchor="ctr" anchorCtr="0">
            <a:noAutofit/>
          </a:bodyPr>
          <a:lstStyle>
            <a:lvl1pPr defTabSz="825500">
              <a:defRPr sz="1800" b="0" spc="18">
                <a:latin typeface="Chronicle Display Black"/>
                <a:ea typeface="Chronicle Display Black"/>
                <a:cs typeface="Chronicle Display Black"/>
                <a:sym typeface="Chronicle Display Black"/>
              </a:defRPr>
            </a:lvl1pPr>
          </a:lstStyle>
          <a:p>
            <a:pPr>
              <a:defRPr/>
            </a:pPr>
            <a:r>
              <a:rPr lang="en-GB" sz="900" spc="0">
                <a:solidFill>
                  <a:schemeClr val="tx2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Report Developer(s)</a:t>
            </a:r>
          </a:p>
        </p:txBody>
      </p:sp>
      <p:sp>
        <p:nvSpPr>
          <p:cNvPr id="64" name="Shape 2652">
            <a:extLst>
              <a:ext uri="{FF2B5EF4-FFF2-40B4-BE49-F238E27FC236}">
                <a16:creationId xmlns:a16="http://schemas.microsoft.com/office/drawing/2014/main" id="{42A3D0D3-B1E5-7F63-F092-0C8532D27060}"/>
              </a:ext>
            </a:extLst>
          </p:cNvPr>
          <p:cNvSpPr>
            <a:spLocks/>
          </p:cNvSpPr>
          <p:nvPr/>
        </p:nvSpPr>
        <p:spPr>
          <a:xfrm>
            <a:off x="5177933" y="4262114"/>
            <a:ext cx="1245526" cy="308940"/>
          </a:xfrm>
          <a:prstGeom prst="roundRect">
            <a:avLst>
              <a:gd name="adj" fmla="val 11142"/>
            </a:avLst>
          </a:prstGeom>
          <a:solidFill>
            <a:schemeClr val="bg1"/>
          </a:solidFill>
          <a:ln w="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miter lim="400000"/>
            <a:headEnd type="none" w="med" len="med"/>
            <a:tailEnd type="none" w="med" len="med"/>
          </a:ln>
          <a:effectLst/>
          <a:sp3d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rot="0" spcFirstLastPara="1" vertOverflow="overflow" horzOverflow="overflow" vert="horz" wrap="square" lIns="36820" tIns="36820" rIns="36820" bIns="36820" numCol="1" spcCol="38100" rtlCol="0" anchor="ctr" anchorCtr="0">
            <a:noAutofit/>
          </a:bodyPr>
          <a:lstStyle>
            <a:lvl1pPr defTabSz="825500">
              <a:defRPr sz="1800" b="0" spc="18">
                <a:latin typeface="Chronicle Display Black"/>
                <a:ea typeface="Chronicle Display Black"/>
                <a:cs typeface="Chronicle Display Black"/>
                <a:sym typeface="Chronicle Display Black"/>
              </a:defRPr>
            </a:lvl1pPr>
          </a:lstStyle>
          <a:p>
            <a:r>
              <a:rPr lang="en-GB" sz="900" spc="0">
                <a:solidFill>
                  <a:schemeClr val="tx2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Tester(s)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CE181C2-3193-C5B9-99A4-E52413D7948C}"/>
              </a:ext>
            </a:extLst>
          </p:cNvPr>
          <p:cNvSpPr/>
          <p:nvPr/>
        </p:nvSpPr>
        <p:spPr bwMode="gray">
          <a:xfrm>
            <a:off x="6723101" y="3118365"/>
            <a:ext cx="1423401" cy="1490826"/>
          </a:xfrm>
          <a:prstGeom prst="roundRect">
            <a:avLst>
              <a:gd name="adj" fmla="val 3541"/>
            </a:avLst>
          </a:prstGeom>
          <a:solidFill>
            <a:schemeClr val="bg1"/>
          </a:solidFill>
          <a:ln w="12700" algn="ctr">
            <a:solidFill>
              <a:srgbClr val="1A3673"/>
            </a:solidFill>
            <a:miter lim="800000"/>
            <a:headEnd/>
            <a:tailEnd/>
          </a:ln>
        </p:spPr>
        <p:txBody>
          <a:bodyPr wrap="square" lIns="91440" tIns="54864" rIns="91440" bIns="54864" rtlCol="0" anchor="t">
            <a:noAutofit/>
          </a:bodyPr>
          <a:lstStyle/>
          <a:p>
            <a:pPr>
              <a:lnSpc>
                <a:spcPct val="106000"/>
              </a:lnSpc>
              <a:defRPr/>
            </a:pPr>
            <a:endParaRPr lang="en-US" sz="900" b="1">
              <a:solidFill>
                <a:schemeClr val="tx2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9DCDF72-D723-3EBC-54B6-CD481F21C5A2}"/>
              </a:ext>
            </a:extLst>
          </p:cNvPr>
          <p:cNvSpPr/>
          <p:nvPr/>
        </p:nvSpPr>
        <p:spPr bwMode="gray">
          <a:xfrm>
            <a:off x="6690746" y="3148894"/>
            <a:ext cx="1423401" cy="1490826"/>
          </a:xfrm>
          <a:prstGeom prst="roundRect">
            <a:avLst>
              <a:gd name="adj" fmla="val 2926"/>
            </a:avLst>
          </a:prstGeom>
          <a:solidFill>
            <a:srgbClr val="E1EDFF"/>
          </a:solidFill>
          <a:ln w="12700" algn="ctr">
            <a:solidFill>
              <a:srgbClr val="1A3673"/>
            </a:solidFill>
            <a:miter lim="800000"/>
            <a:headEnd/>
            <a:tailEnd/>
          </a:ln>
        </p:spPr>
        <p:txBody>
          <a:bodyPr wrap="square" lIns="91440" tIns="54864" rIns="91440" bIns="54864" rtlCol="0" anchor="t"/>
          <a:lstStyle/>
          <a:p>
            <a:pPr>
              <a:lnSpc>
                <a:spcPct val="106000"/>
              </a:lnSpc>
              <a:defRPr/>
            </a:pPr>
            <a:r>
              <a:rPr lang="en-US" sz="900" b="1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OTHER APPs</a:t>
            </a:r>
          </a:p>
        </p:txBody>
      </p:sp>
      <p:sp>
        <p:nvSpPr>
          <p:cNvPr id="7" name="Shape 2652">
            <a:extLst>
              <a:ext uri="{FF2B5EF4-FFF2-40B4-BE49-F238E27FC236}">
                <a16:creationId xmlns:a16="http://schemas.microsoft.com/office/drawing/2014/main" id="{5B920402-01CF-4930-D107-36B0584172A1}"/>
              </a:ext>
            </a:extLst>
          </p:cNvPr>
          <p:cNvSpPr>
            <a:spLocks/>
          </p:cNvSpPr>
          <p:nvPr/>
        </p:nvSpPr>
        <p:spPr>
          <a:xfrm>
            <a:off x="6787450" y="3403440"/>
            <a:ext cx="1245526" cy="308940"/>
          </a:xfrm>
          <a:prstGeom prst="roundRect">
            <a:avLst>
              <a:gd name="adj" fmla="val 7985"/>
            </a:avLst>
          </a:prstGeom>
          <a:solidFill>
            <a:schemeClr val="bg1"/>
          </a:solidFill>
          <a:ln w="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miter lim="400000"/>
            <a:headEnd type="none" w="med" len="med"/>
            <a:tailEnd type="none" w="med" len="med"/>
          </a:ln>
          <a:effectLst/>
          <a:sp3d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rot="0" spcFirstLastPara="1" vertOverflow="overflow" horzOverflow="overflow" vert="horz" wrap="square" lIns="36820" tIns="36820" rIns="36820" bIns="36820" numCol="1" spcCol="38100" rtlCol="0" anchor="ctr" anchorCtr="0">
            <a:noAutofit/>
          </a:bodyPr>
          <a:lstStyle>
            <a:lvl1pPr defTabSz="825500">
              <a:defRPr sz="1800" b="0" spc="18">
                <a:latin typeface="Chronicle Display Black"/>
                <a:ea typeface="Chronicle Display Black"/>
                <a:cs typeface="Chronicle Display Black"/>
                <a:sym typeface="Chronicle Display Black"/>
              </a:defRPr>
            </a:lvl1pPr>
          </a:lstStyle>
          <a:p>
            <a:pPr lvl="0">
              <a:defRPr/>
            </a:pPr>
            <a:r>
              <a:rPr lang="en-GB" sz="900" spc="0">
                <a:solidFill>
                  <a:schemeClr val="tx2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Scrum Master (PT)</a:t>
            </a:r>
          </a:p>
        </p:txBody>
      </p:sp>
      <p:sp>
        <p:nvSpPr>
          <p:cNvPr id="9" name="Shape 2652">
            <a:extLst>
              <a:ext uri="{FF2B5EF4-FFF2-40B4-BE49-F238E27FC236}">
                <a16:creationId xmlns:a16="http://schemas.microsoft.com/office/drawing/2014/main" id="{723FC6E7-0798-06CE-BA62-D6BEC36BEAC9}"/>
              </a:ext>
            </a:extLst>
          </p:cNvPr>
          <p:cNvSpPr>
            <a:spLocks/>
          </p:cNvSpPr>
          <p:nvPr/>
        </p:nvSpPr>
        <p:spPr>
          <a:xfrm>
            <a:off x="6787450" y="3826376"/>
            <a:ext cx="1245526" cy="308940"/>
          </a:xfrm>
          <a:prstGeom prst="roundRect">
            <a:avLst>
              <a:gd name="adj" fmla="val 9564"/>
            </a:avLst>
          </a:prstGeom>
          <a:solidFill>
            <a:schemeClr val="bg1"/>
          </a:solidFill>
          <a:ln w="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miter lim="400000"/>
            <a:headEnd type="none" w="med" len="med"/>
            <a:tailEnd type="none" w="med" len="med"/>
          </a:ln>
          <a:effectLst/>
          <a:sp3d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rot="0" spcFirstLastPara="1" vertOverflow="overflow" horzOverflow="overflow" vert="horz" wrap="square" lIns="36820" tIns="36820" rIns="36820" bIns="36820" numCol="1" spcCol="38100" rtlCol="0" anchor="ctr" anchorCtr="0">
            <a:noAutofit/>
          </a:bodyPr>
          <a:lstStyle>
            <a:lvl1pPr defTabSz="825500">
              <a:defRPr sz="1800" b="0" spc="18">
                <a:latin typeface="Chronicle Display Black"/>
                <a:ea typeface="Chronicle Display Black"/>
                <a:cs typeface="Chronicle Display Black"/>
                <a:sym typeface="Chronicle Display Black"/>
              </a:defRPr>
            </a:lvl1pPr>
          </a:lstStyle>
          <a:p>
            <a:pPr>
              <a:defRPr/>
            </a:pPr>
            <a:r>
              <a:rPr lang="en-GB" sz="900" spc="0">
                <a:solidFill>
                  <a:schemeClr val="tx2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Report Developer(s)</a:t>
            </a:r>
          </a:p>
        </p:txBody>
      </p:sp>
      <p:sp>
        <p:nvSpPr>
          <p:cNvPr id="13" name="Shape 2652">
            <a:extLst>
              <a:ext uri="{FF2B5EF4-FFF2-40B4-BE49-F238E27FC236}">
                <a16:creationId xmlns:a16="http://schemas.microsoft.com/office/drawing/2014/main" id="{0F7ED29D-58ED-1107-72BA-19201D87FA71}"/>
              </a:ext>
            </a:extLst>
          </p:cNvPr>
          <p:cNvSpPr>
            <a:spLocks/>
          </p:cNvSpPr>
          <p:nvPr/>
        </p:nvSpPr>
        <p:spPr>
          <a:xfrm>
            <a:off x="6787450" y="4250667"/>
            <a:ext cx="1245526" cy="308940"/>
          </a:xfrm>
          <a:prstGeom prst="roundRect">
            <a:avLst>
              <a:gd name="adj" fmla="val 11142"/>
            </a:avLst>
          </a:prstGeom>
          <a:solidFill>
            <a:schemeClr val="bg1"/>
          </a:solidFill>
          <a:ln w="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miter lim="400000"/>
            <a:headEnd type="none" w="med" len="med"/>
            <a:tailEnd type="none" w="med" len="med"/>
          </a:ln>
          <a:effectLst/>
          <a:sp3d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rot="0" spcFirstLastPara="1" vertOverflow="overflow" horzOverflow="overflow" vert="horz" wrap="square" lIns="36820" tIns="36820" rIns="36820" bIns="36820" numCol="1" spcCol="38100" rtlCol="0" anchor="ctr" anchorCtr="0">
            <a:noAutofit/>
          </a:bodyPr>
          <a:lstStyle>
            <a:lvl1pPr defTabSz="825500">
              <a:defRPr sz="1800" b="0" spc="18">
                <a:latin typeface="Chronicle Display Black"/>
                <a:ea typeface="Chronicle Display Black"/>
                <a:cs typeface="Chronicle Display Black"/>
                <a:sym typeface="Chronicle Display Black"/>
              </a:defRPr>
            </a:lvl1pPr>
          </a:lstStyle>
          <a:p>
            <a:r>
              <a:rPr lang="en-GB" sz="900" spc="0">
                <a:solidFill>
                  <a:schemeClr val="tx2"/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Tester(s)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332AFB28-567F-0018-70FF-85E4DC0D04BE}"/>
              </a:ext>
            </a:extLst>
          </p:cNvPr>
          <p:cNvSpPr txBox="1">
            <a:spLocks/>
          </p:cNvSpPr>
          <p:nvPr/>
        </p:nvSpPr>
        <p:spPr>
          <a:xfrm>
            <a:off x="501650" y="170822"/>
            <a:ext cx="11188700" cy="26386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8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SzPct val="100000"/>
              <a:buFontTx/>
              <a:buNone/>
              <a:defRPr sz="1000" b="1" kern="1200" cap="all" spc="300" baseline="0">
                <a:solidFill>
                  <a:schemeClr val="bg1">
                    <a:lumMod val="6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104775" indent="-104775" algn="l" defTabSz="685800" rtl="0" eaLnBrk="1" latinLnBrk="0" hangingPunct="1">
              <a:spcBef>
                <a:spcPts val="0"/>
              </a:spcBef>
              <a:spcAft>
                <a:spcPts val="750"/>
              </a:spcAft>
              <a:buClrTx/>
              <a:buSzPct val="100000"/>
              <a:buFont typeface="Arial" panose="020B0604020202020204" pitchFamily="34" charset="0"/>
              <a:buChar char="•"/>
              <a:defRPr lang="en-US" sz="1100" b="1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228600" indent="-104775" algn="l" defTabSz="685800" rtl="0" eaLnBrk="1" latinLnBrk="0" hangingPunct="1">
              <a:spcBef>
                <a:spcPts val="0"/>
              </a:spcBef>
              <a:spcAft>
                <a:spcPts val="750"/>
              </a:spcAft>
              <a:buClrTx/>
              <a:buSzPct val="100000"/>
              <a:buFont typeface="Arial" panose="020B0604020202020204" pitchFamily="34" charset="0"/>
              <a:buChar char="−"/>
              <a:defRPr lang="en-US" sz="1100" kern="1200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352425" indent="-104775" algn="l" defTabSz="685800" rtl="0" eaLnBrk="1" latinLnBrk="0" hangingPunct="1">
              <a:spcBef>
                <a:spcPts val="0"/>
              </a:spcBef>
              <a:spcAft>
                <a:spcPts val="750"/>
              </a:spcAft>
              <a:buClrTx/>
              <a:buSzPct val="100000"/>
              <a:buFont typeface="Arial" panose="020B0604020202020204" pitchFamily="34" charset="0"/>
              <a:buChar char="◦"/>
              <a:defRPr lang="en-US" sz="11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476250" indent="-104775" algn="l" defTabSz="598885" rtl="0" eaLnBrk="1" latinLnBrk="0" hangingPunct="1">
              <a:spcBef>
                <a:spcPts val="0"/>
              </a:spcBef>
              <a:spcAft>
                <a:spcPts val="750"/>
              </a:spcAft>
              <a:buClrTx/>
              <a:buSzPct val="100000"/>
              <a:buFont typeface="Arial" panose="020B0604020202020204" pitchFamily="34" charset="0"/>
              <a:buChar char="−"/>
              <a:tabLst/>
              <a:defRPr lang="en-US" sz="1100" kern="1200" baseline="0" dirty="0" smtClean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399600" indent="-132300" algn="l" defTabSz="685800" rtl="0" eaLnBrk="1" latinLnBrk="0" hangingPunct="1">
              <a:spcBef>
                <a:spcPts val="0"/>
              </a:spcBef>
              <a:spcAft>
                <a:spcPts val="750"/>
              </a:spcAft>
              <a:buFont typeface="Verdana" panose="020B0604030504040204" pitchFamily="34" charset="0"/>
              <a:buChar char="−"/>
              <a:defRPr sz="9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9600" indent="-132300" algn="l" defTabSz="685800" rtl="0" eaLnBrk="1" latinLnBrk="0" hangingPunct="1">
              <a:spcBef>
                <a:spcPts val="0"/>
              </a:spcBef>
              <a:spcAft>
                <a:spcPts val="750"/>
              </a:spcAft>
              <a:buFont typeface="Verdana" panose="020B0604030504040204" pitchFamily="34" charset="0"/>
              <a:buChar char="−"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99600" indent="-132300" algn="l" defTabSz="685800" rtl="0" eaLnBrk="1" latinLnBrk="0" hangingPunct="1">
              <a:spcBef>
                <a:spcPts val="0"/>
              </a:spcBef>
              <a:spcAft>
                <a:spcPts val="750"/>
              </a:spcAft>
              <a:buFont typeface="Verdana" panose="020B0604030504040204" pitchFamily="34" charset="0"/>
              <a:buChar char="−"/>
              <a:defRPr sz="9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9600" indent="-132300" algn="l" defTabSz="685800" rtl="0" eaLnBrk="1" latinLnBrk="0" hangingPunct="1">
              <a:spcBef>
                <a:spcPts val="0"/>
              </a:spcBef>
              <a:spcAft>
                <a:spcPts val="750"/>
              </a:spcAft>
              <a:buFont typeface="Verdana" panose="020B0604030504040204" pitchFamily="34" charset="0"/>
              <a:buChar char="−"/>
              <a:defRPr sz="9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>
                <a:solidFill>
                  <a:sysClr val="window" lastClr="FFFFFF">
                    <a:lumMod val="65000"/>
                  </a:sysClr>
                </a:solidFill>
              </a:rPr>
              <a:t>OUR approach</a:t>
            </a:r>
          </a:p>
        </p:txBody>
      </p:sp>
    </p:spTree>
    <p:extLst>
      <p:ext uri="{BB962C8B-B14F-4D97-AF65-F5344CB8AC3E}">
        <p14:creationId xmlns:p14="http://schemas.microsoft.com/office/powerpoint/2010/main" val="13385001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296</Words>
  <Application>Microsoft Macintosh PowerPoint</Application>
  <PresentationFormat>Widescreen</PresentationFormat>
  <Paragraphs>57</Paragraphs>
  <Slides>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Office Theme</vt:lpstr>
      <vt:lpstr>think-cell Slide</vt:lpstr>
      <vt:lpstr>2. Migration – Agile Pod-Based Delivery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Pawar, AMIT</dc:creator>
  <cp:lastModifiedBy>Pawar, AMIT</cp:lastModifiedBy>
  <cp:revision>4</cp:revision>
  <dcterms:created xsi:type="dcterms:W3CDTF">2026-08-02T14:41:13Z</dcterms:created>
  <dcterms:modified xsi:type="dcterms:W3CDTF">2026-08-02T19:54:12Z</dcterms:modified>
</cp:coreProperties>
</file>